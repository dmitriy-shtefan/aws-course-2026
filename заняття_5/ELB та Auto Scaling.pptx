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477"/>
    <p:restoredTop sz="94610"/>
  </p:normalViewPr>
  <p:slideViewPr>
    <p:cSldViewPr snapToGrid="0" snapToObjects="1">
      <p:cViewPr varScale="1">
        <p:scale>
          <a:sx n="149" d="100"/>
          <a:sy n="149" d="100"/>
        </p:scale>
        <p:origin x="19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12279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Вітаю на новому занятті! Ми вже вміємо запускати EC2-інстанс і налаштовувати мережу навколо нього — але один сервер це завжди єдина точка відмови: якщо він впаде або не впорається з навантаженням, застосунок стане недоступним. Сьогодні розберемо два сервіси, які вирішують цю проблему разом. Elastic Load Balancing, ELB, розподіляє вхідний трафік між кількома серверами, щоб жоден з них не був перевантажений і щоб трафік автоматично оминав несправні сервери. Auto Scaling Group, ASG, автоматично додає чи прибирає сервери залежно від реального навантаження — вночі, коли трафіку мало, працює два сервери, а під час пікового навантаження вдень система сама піднімає ще п'ять. Наприкінці заняття побачимо, як ці два сервіси працюють у зв'язці, утворюючи основу відмовостійкої, самовідновлюваної архітектури — стандарт для будь-якого серйозного продакшн-застосунку на AWS.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ELB вирішує фундаментальну проблему масштабованості: коли у вас один сервер, він же і вузьке місце, і єдина точка відмови. Розберемо термінологію. Listener — це "вухо" балансувальника: він слухає вхідні з'єднання на конкретному порту й протоколі, наприклад HTTPS на порту 443, і вирішує, куди направити кожен запит. Target Group — це група серверів чи інших обчислювальних ресурсів, які отримують трафік; можна мати кілька Target Groups для різних частин застосунку, наприклад окремо для API й окремо для статичного контенту. Target — це вже конкретний елемент усередині групи: окремий EC2-інстанс, IP-адреса чи навіть Lambda-функція. І Health Check — механізм, який ми детальніше розглянемо через кілька слайдів: балансувальник регулярно "стукає" в кожну ціль, щоб переконатись, що вона жива і здатна обробляти запити, і якщо ціль не відповідає — тимчасово прибирає її з ротації, доки вона не відновиться.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AWS пропонує чотири типи балансувальників, і вибір залежить від рівня мережевої моделі, на якому потрібно приймати рішення. Application Load Balancer, ALB, працює на 7-му рівні, рівні застосунку — він "розуміє" HTTP і HTTPS, тому вміє маршрутизувати за шляхом URL чи доменним іменем; це найпопулярніший вибір для сучасних вебзастосунків і мікросервісів, і саме його ми детально розберемо на наступному слайді. Network Load Balancer, NLB, працює на 4-му рівні, транспортному: він не заглядає всередину пакетів, тому обробляє мільйони запитів на секунду з мінімальною затримкою, і, на відміну від ALB, може мати статичну IP-адресу — важливо для деяких корпоративних інтеграцій. Gateway Load Balancer — вузькоспеціалізований інструмент для інтеграції сторонніх мережевих застосунків, наприклад фаєрволів від Palo Alto чи Check Point, які повинні перевіряти весь трафік ще до того, як він потрапить у вашу мережу. І Classic Load Balancer — це, по суті, "дідусь" усіх сучасних балансувальників AWS, він досі підтримується для сумісності зі старими системами, але для нових проєктів AWS однозначно рекомендує ALB чи NLB.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Розберемо, як саме балансувальник вирішує, куди направити конкретний запит. Усе починається з Listener — він приймає з'єднання на порту 443 для HTTPS. Далі спрацьовують Rules, правила прослуховувача: кожне правило має умову й дію. На діаграмі показано класичний приклад маршрутизації за шляхом URL: якщо запит починається з /api/, наприклад example.com/api/users, ALB направляє його в Target Group "api", де живуть сервери, які обробляють бізнес-логіку. Усі інші запити, за замовчуванням, потрапляють у Target Group "web" — там, наприклад, живе сервер, що віддає статичний вебсайт. Це надзвичайно потужна можливість: ви можете розгорнути API та фронтенд на абсолютно різних серверах, з різними Instance Type, різною кількістю реплік, різними Auto Scaling Group — і при цьому користувач звертається до одного й того самого домену, а ALB прозоро розводить трафік. Крім маршрутизації за шляхом, правила можуть перевіряти домен (host-based routing), HTTP-заголовки, навіть параметри запиту — це дає гнучкість, порівнянну з повноцінним API Gateway, хоча для складніших сценаріїв AWS має й окремий сервіс API Gateway.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Health Check — механізм, що робить балансувальник по-справжньому "розумним", а не просто розподільником за колом. ELB регулярно надсилає запит на визначений шлях, часто /health чи /ping — ендпоінт, який ви самі реалізуєте в застосунку так, щоб він повертав HTTP 200, коли сервіс дійсно готовий обробляти трафік, а не просто "процес запущений". Interval визначає, як часто виконується перевірка, наприклад раз на 30 секунд, а Timeout — скільки часу балансувальник чекає на відповідь, перш ніж вважати спробу невдалою. А ось tHealthy threshold і Unhealthy threshold — це запобіжник від хибних спрацювань: система не виключає ціль після однієї невдалої перевірки, а чекає, наприклад, трьох невдач поспіль, перш ніж позначити її unhealthy, і так само вимагає кількох успішних перевірок поспіль, перш ніж повернути в ротацію. На картці праворуч — типовий стан Target Group: два інстанси healthy, отримують трафік як зазвичай, а третій unhealthy — можливо, впав застосунок чи вичерпалась пам'ять — і ELB автоматично перестав надсилати на нього запити користувачів, тоді як Auto Scaling Group, з якою ми познайомимось далі, може паралельно вже готувати заміну цьому інстансу.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 Scaling Group вирішує другу половину задачі відмовостійкості: ELB розподіляє трафік між серверами, а ASG подбає про те, щоб потрібна кількість серверів взагалі існувала. П'ять понять, які варто запам'ятати. Minimum capacity — абсолютний мінімум інстансів, який ASG ніколи не дозволить опуститись нижче, навіть якщо навантаження впаде до нуля, — гарантія базової доступності. Maximum capacity — верхня межа, головним чином фінансовий запобіжник: навіть якщо метрики покажуть шалене навантаження, ASG не почне запускати тисячі інстансів і не спустошить бюджет компанії за ніч. Desired capacity — це те, до чого ASG прагне прямо зараз, число між мінімумом і максимумом, яке постійно перераховується на основі Scaling Policy. Launch Template — конфігураційний шаблон: AMI, тип інстансу, Security Group, Key Pair, скрипт ініціалізації — усе, що потрібно, щоб ASG міг сам, без втручання людини, запустити ідентичну копію сервера. І Scaling Policy — правило, яке ми детально розглянемо за два слайди: воно вирішує, коли Desired capacity потрібно збільшити чи зменшити.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Розглянемо чотири підходи до масштабування, від найпростішого до найскладнішого. Manual scaling — найпростіший варіант: людина сама, вручну, змінює Desired capacity, коли вважає за потрібне; підходить хіба що для тестових середовищ чи разових подій. Scheduled scaling — масштабування за розкладом: якщо ви точно знаєте патерн навантаження, наприклад інтернет-магазин, де трафік завжди зростає о 9 ранку і спадає вночі, можна заздалегідь запланувати зміну ємності на конкретний час. Dynamic scaling, або target tracking — найпоширеніший підхід у продакшені: ви вказуєте цільову метрику, наприклад "тримай середнє завантаження CPU на рівні 50%", і CloudWatch безперервно постачає ASG свіжі дані, а той сам додає чи прибирає інстанси, щоб утримати цей показник. І нарешті Predictive scaling — наймолодша й найсучасніша можливість: AWS аналізує історичні патерни навантаження за допомогою машинного навчання і завчасно, ще до фактичного зростання трафіку, готує додаткові інстанси — це усуває затримку, характерну для реактивного dynamic scaling, коли нові сервери встигають піднятись лише через кілька хвилин після початку сплеску навантаження.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Розглянемо, як ці два поняття виглядають на практиці. Launch Template — це, по суті, специфікація сервера: який AMI використати як базовий образ, який Instance Type, який Key Pair для доступу, які Security Groups застосувати, і, що особливо важливо, поле UserData — скрипт, що виконається одразу при першому запуску інстансу; саме тут зазвичай автоматично встановлюють залежності, підтягують останню версію коду застосунку, реєструють сервер у моніторингу. Це вирішальна частина автоматизації: жодна людина не бере участь у запуску нового сервера, все відбувається за шаблоном. Scaling Policy на прикладі target tracking виглядає лаконічно: TargetValue 50 означає "тримай середнє завантаження CPU на рівні 50 відсотків", а PredefinedMetricType ASGAverageCPUUtilization каже AWS, яку саме метрику CloudWatch відстежувати — це вбудована метрика, не потрібно налаштовувати нічого додатково. І насамкінець — команда CLI, яка об'єднує все разом: створює Auto Scaling Group на основі Launch Template, із мінімумом 2, максимумом 10 і початковою бажаною ємністю 2 інстанси. Зверніть увагу, як природно тут застосовуються знання з попереднього заняття про CLI — синтаксис команди той самий підхід aws &lt;сервіс&gt; &lt;дія&gt; з параметрами.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Зберемо все воєдино в типову архітектуру, яку ви побачите практично в кожному серйозному AWS-проєкті. Користувач ніколи не звертається до конкретного сервера напряму — він завжди йде через один стабільний DNS-ендпоінт балансувальника. ELB приймає запит, за Health Check перевіряє, які цілі зараз здорові, і за правилами прослуховувача направляє трафік у відповідну Target Group. А самі сервери в цій Target Group більше не є статичним, вручну керованим списком — ними повністю керує Auto Scaling Group. Зверніть увагу на діаграму: ASG розподіляє інстанси одразу по кількох зонах доступності — це той самий принцип відмовостійкості, що ми розглядали на занятті про архітектуру AWS: якщо впаде ціла зона доступності, застосунок продовжить працювати на інстансах з іншої зони. Коли навантаження зростає, Scaling Policy на основі метрик CloudWatch збільшує Desired capacity, ASG запускає нові інстанси за Launch Template — і щойно новий інстанс проходить перший успішний Health Check, ELB автоматично, без жодного втручання людини, починає направляти на нього трафік. Це і є суть самовідновлюваної інфраструктури: система сама виявляє проблеми, сама масштабується і сама лікує себе.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Підсумуємо різницю між двома сервісами, яку варто чітко тримати в голові. ELB відповідає за трафік: він приймає вхідні запити користувачів, вирішує, у яку Target Group і за яким правилом їх направити, і безперервно перевіряє, які сервери зараз здатні відповідати. ASG відповідає за самі сервери: скільки їх повинно бути прямо зараз, коли додати нові, коли прибрати зайві, і як швидко замінити сервер, що вийшов з ладу. Ці два сервіси спеціально спроєктовані для роботи в парі: коли ASG додає новий інстанс, він автоматично реєструється у відповідній Target Group балансувальника; коли ASG вирішує прибрати інстанс, скажімо через dynamic scaling, ELB спочатку плавно перестає надсилати на нього новий трафік, даючи завершитись уже розпочатим запитам, і лише потім інстанс безпечно зупиняється. Саме ця пара сервісів — ELB плюс ASG — є фундаментом практично будь-якої серйозної, відмовостійкої архітектури на AWS, незалежно від того, чи це маленький стартап, чи компанія рівня Netflix. На наступному занятті ми перейдемо від обчислень до збереження стану — розберемо, як AWS пропонує керовані бази даних через RDS і DynamoDB.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cons/shareAlt_slate.png"/>
          <p:cNvPicPr>
            <a:picLocks noChangeAspect="1"/>
          </p:cNvPicPr>
          <p:nvPr/>
        </p:nvPicPr>
        <p:blipFill>
          <a:blip r:embed="rId3">
            <a:alphaModFix amt="26000"/>
          </a:blip>
          <a:stretch>
            <a:fillRect/>
          </a:stretch>
        </p:blipFill>
        <p:spPr>
          <a:xfrm>
            <a:off x="8595360" y="3291840"/>
            <a:ext cx="3931920" cy="3931920"/>
          </a:xfrm>
          <a:prstGeom prst="rect">
            <a:avLst/>
          </a:prstGeom>
        </p:spPr>
      </p:pic>
      <p:pic>
        <p:nvPicPr>
          <p:cNvPr id="3" name="Image 1" descr="/home/claude/icons/scale_slate.png"/>
          <p:cNvPicPr>
            <a:picLocks noChangeAspect="1"/>
          </p:cNvPicPr>
          <p:nvPr/>
        </p:nvPicPr>
        <p:blipFill>
          <a:blip r:embed="rId4">
            <a:alphaModFix amt="20000"/>
          </a:blip>
          <a:stretch>
            <a:fillRect/>
          </a:stretch>
        </p:blipFill>
        <p:spPr>
          <a:xfrm>
            <a:off x="7223760" y="4709160"/>
            <a:ext cx="2286000" cy="2286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uk-UA" sz="1400" b="1" kern="0" spc="2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СТВОРЕННЯ </a:t>
            </a:r>
            <a:r>
              <a:rPr lang="en-US" sz="1400" b="1" kern="0" spc="2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ХМАРНИХ </a:t>
            </a:r>
            <a:r>
              <a:rPr lang="uk-UA" sz="1400" b="1" kern="0" spc="2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РІШЕНЬ З ВИКОРИСТАННЯМ </a:t>
            </a:r>
            <a:r>
              <a:rPr lang="en-US" sz="1400" b="1" kern="0" spc="2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4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1828800"/>
            <a:ext cx="9875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ELB та Auto Scaling</a:t>
            </a:r>
            <a:endParaRPr lang="en-US" sz="46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520440"/>
            <a:ext cx="8869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розподілити навантаження між серверами і автоматично масштабувати інфраструктуру під попит</a:t>
            </a:r>
            <a:endParaRPr lang="en-US" dirty="0"/>
          </a:p>
        </p:txBody>
      </p:sp>
      <p:sp>
        <p:nvSpPr>
          <p:cNvPr id="7" name="Shape 3"/>
          <p:cNvSpPr/>
          <p:nvPr/>
        </p:nvSpPr>
        <p:spPr>
          <a:xfrm>
            <a:off x="1318620" y="5349240"/>
            <a:ext cx="502920" cy="502920"/>
          </a:xfrm>
          <a:prstGeom prst="ellipse">
            <a:avLst/>
          </a:prstGeom>
          <a:solidFill>
            <a:srgbClr val="37475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8" name="Image 2" descr="/home/claude/icons/shareAlt_oran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9204" y="5449824"/>
            <a:ext cx="301752" cy="301752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59738" y="58978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Балансування навантаження</a:t>
            </a:r>
            <a:endParaRPr lang="en-US" sz="1050" dirty="0"/>
          </a:p>
        </p:txBody>
      </p:sp>
      <p:sp>
        <p:nvSpPr>
          <p:cNvPr id="10" name="Shape 5"/>
          <p:cNvSpPr/>
          <p:nvPr/>
        </p:nvSpPr>
        <p:spPr>
          <a:xfrm>
            <a:off x="3245272" y="5349240"/>
            <a:ext cx="502920" cy="502920"/>
          </a:xfrm>
          <a:prstGeom prst="ellipse">
            <a:avLst/>
          </a:prstGeom>
          <a:solidFill>
            <a:srgbClr val="37475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1" name="Image 3" descr="/home/claude/icons/scale_oran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45856" y="5449824"/>
            <a:ext cx="301752" cy="301752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2808578" y="58978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Автомасштабування</a:t>
            </a:r>
            <a:endParaRPr lang="en-US" sz="1050" dirty="0"/>
          </a:p>
        </p:txBody>
      </p:sp>
      <p:sp>
        <p:nvSpPr>
          <p:cNvPr id="13" name="Shape 7"/>
          <p:cNvSpPr/>
          <p:nvPr/>
        </p:nvSpPr>
        <p:spPr>
          <a:xfrm>
            <a:off x="5069368" y="5349240"/>
            <a:ext cx="502920" cy="502920"/>
          </a:xfrm>
          <a:prstGeom prst="ellipse">
            <a:avLst/>
          </a:prstGeom>
          <a:solidFill>
            <a:srgbClr val="37475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4" name="Image 4" descr="/home/claude/icons/heartbeat_oran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9952" y="5449824"/>
            <a:ext cx="301752" cy="30175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4846320" y="58978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Checks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57034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Elastic Load Balancing: основні поняття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212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Load Balancing (ELB) </a:t>
            </a:r>
            <a:r>
              <a:rPr lang="en-US" sz="16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сервіс, що автоматично розподіляє вхідний трафік між кількома цілями в одній або кількох зонах доступності.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5212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Аналогія: ELB — це диспетчер таксі-парку. Він розподіляє виклики між вільними водіями, не даючи жодному з них перевантажитись, і не надсилає виклик водієві, що зламався.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172200" y="1600200"/>
            <a:ext cx="5468112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 txBox="1"/>
          <p:nvPr/>
        </p:nvSpPr>
        <p:spPr>
          <a:xfrm>
            <a:off x="6492240" y="1810512"/>
            <a:ext cx="4828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Чотири базові поняття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92240" y="2377440"/>
            <a:ext cx="457200" cy="457200"/>
          </a:xfrm>
          <a:prstGeom prst="ellipse">
            <a:avLst/>
          </a:prstGeom>
          <a:solidFill>
            <a:srgbClr val="F2F3F3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9" name="Image 0" descr="/home/claude/icons/signIn_darkoran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68" y="2487168"/>
            <a:ext cx="237744" cy="23774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086600" y="2359152"/>
            <a:ext cx="4233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Listener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086600" y="2593732"/>
            <a:ext cx="4370832" cy="3265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Слухає вхідні запити на певному порту й протоколі (напр. HTTPS:443).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92240" y="3182112"/>
            <a:ext cx="457200" cy="457200"/>
          </a:xfrm>
          <a:prstGeom prst="ellipse">
            <a:avLst/>
          </a:prstGeom>
          <a:solidFill>
            <a:srgbClr val="F2F3F3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3" name="Image 1" descr="/home/claude/icons/users_darkora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1968" y="3291840"/>
            <a:ext cx="237744" cy="23774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086600" y="3163824"/>
            <a:ext cx="4233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Group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7086600" y="3398404"/>
            <a:ext cx="4233672" cy="3265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 цілей (EC2, контейнери, Lambda), що отримують трафік.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492240" y="3986784"/>
            <a:ext cx="457200" cy="457200"/>
          </a:xfrm>
          <a:prstGeom prst="ellipse">
            <a:avLst/>
          </a:prstGeom>
          <a:solidFill>
            <a:srgbClr val="F2F3F3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7" name="Image 2" descr="/home/claude/icons/server_darkoran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1968" y="4096512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086600" y="3968496"/>
            <a:ext cx="4233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7086600" y="4203076"/>
            <a:ext cx="4233672" cy="3265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Окрема ціль усередині групи — конкретний сервер чи функція.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92240" y="4791456"/>
            <a:ext cx="457200" cy="457200"/>
          </a:xfrm>
          <a:prstGeom prst="ellipse">
            <a:avLst/>
          </a:prstGeom>
          <a:solidFill>
            <a:srgbClr val="F2F3F3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1" name="Image 3" descr="/home/claude/icons/heartbeat_darkoran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1968" y="4901184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086600" y="4773168"/>
            <a:ext cx="4233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Check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086600" y="5007748"/>
            <a:ext cx="4233672" cy="3265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Періодична перевірка стану цілей для виключення несправних.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ELB та Auto Scaling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433613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Типи балансувальників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040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пропонує чотири типи ELB, кожен — для свого рівня мережевої моделі OSI та сценарію використання.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2606040" cy="39776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804672" y="2286000"/>
            <a:ext cx="594360" cy="59436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7" name="Image 0" descr="/home/claude/icons/route_oran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" y="2436876"/>
            <a:ext cx="292608" cy="29260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286000" y="2331720"/>
            <a:ext cx="640080" cy="365760"/>
          </a:xfrm>
          <a:prstGeom prst="roundRect">
            <a:avLst>
              <a:gd name="adj" fmla="val 20000"/>
            </a:avLst>
          </a:prstGeom>
          <a:solidFill>
            <a:srgbClr val="F2F3F3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9" name="Text 6"/>
          <p:cNvSpPr txBox="1"/>
          <p:nvPr/>
        </p:nvSpPr>
        <p:spPr>
          <a:xfrm>
            <a:off x="2286000" y="233172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C7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L7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017520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 (ALB)</a:t>
            </a:r>
            <a:endParaRPr lang="en-US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611880"/>
            <a:ext cx="21488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Маршрутизація HTTP/HTTPS за шляхом чи доменом. Найпопулярніший вибір для вебзастосунків.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383280" y="2011680"/>
            <a:ext cx="2606040" cy="39776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3" name="Shape 10"/>
          <p:cNvSpPr/>
          <p:nvPr/>
        </p:nvSpPr>
        <p:spPr>
          <a:xfrm>
            <a:off x="3639312" y="2286000"/>
            <a:ext cx="594360" cy="59436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4" name="Image 1" descr="/home/claude/icons/bolt_ora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0188" y="2436876"/>
            <a:ext cx="292608" cy="29260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120640" y="2331720"/>
            <a:ext cx="640080" cy="365760"/>
          </a:xfrm>
          <a:prstGeom prst="roundRect">
            <a:avLst>
              <a:gd name="adj" fmla="val 20000"/>
            </a:avLst>
          </a:prstGeom>
          <a:solidFill>
            <a:srgbClr val="F2F3F3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6" name="Text 12"/>
          <p:cNvSpPr txBox="1"/>
          <p:nvPr/>
        </p:nvSpPr>
        <p:spPr>
          <a:xfrm>
            <a:off x="5120640" y="233172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C7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L4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3611880" y="3017520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 (NLB)</a:t>
            </a:r>
            <a:endParaRPr lang="en-US" dirty="0"/>
          </a:p>
        </p:txBody>
      </p:sp>
      <p:sp>
        <p:nvSpPr>
          <p:cNvPr id="18" name="Text 14"/>
          <p:cNvSpPr txBox="1"/>
          <p:nvPr/>
        </p:nvSpPr>
        <p:spPr>
          <a:xfrm>
            <a:off x="3611880" y="3611880"/>
            <a:ext cx="21488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Наднизька затримка, статична IP-адреса. Для TCP/UDP-трафіку з екстремальним навантаженням.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6217920" y="2011680"/>
            <a:ext cx="2606040" cy="39776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0" name="Shape 16"/>
          <p:cNvSpPr/>
          <p:nvPr/>
        </p:nvSpPr>
        <p:spPr>
          <a:xfrm>
            <a:off x="6473952" y="2286000"/>
            <a:ext cx="594360" cy="59436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1" name="Image 2" descr="/home/claude/icons/shield_oran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4828" y="2436876"/>
            <a:ext cx="292608" cy="292608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7955280" y="2331720"/>
            <a:ext cx="640080" cy="365760"/>
          </a:xfrm>
          <a:prstGeom prst="roundRect">
            <a:avLst>
              <a:gd name="adj" fmla="val 20000"/>
            </a:avLst>
          </a:prstGeom>
          <a:solidFill>
            <a:srgbClr val="F2F3F3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3" name="Text 18"/>
          <p:cNvSpPr txBox="1"/>
          <p:nvPr/>
        </p:nvSpPr>
        <p:spPr>
          <a:xfrm>
            <a:off x="7955280" y="233172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C7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L3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6446520" y="3017520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 (GWLB)</a:t>
            </a:r>
            <a:endParaRPr lang="en-US" dirty="0"/>
          </a:p>
        </p:txBody>
      </p:sp>
      <p:sp>
        <p:nvSpPr>
          <p:cNvPr id="25" name="Text 20"/>
          <p:cNvSpPr txBox="1"/>
          <p:nvPr/>
        </p:nvSpPr>
        <p:spPr>
          <a:xfrm>
            <a:off x="6446520" y="3611880"/>
            <a:ext cx="21488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сторонніх мережевих застосунків — фаєрволів, систем виявлення вторгнень.</a:t>
            </a:r>
            <a:endParaRPr lang="en-US" sz="1400" dirty="0"/>
          </a:p>
        </p:txBody>
      </p:sp>
      <p:sp>
        <p:nvSpPr>
          <p:cNvPr id="26" name="Shape 21"/>
          <p:cNvSpPr/>
          <p:nvPr/>
        </p:nvSpPr>
        <p:spPr>
          <a:xfrm>
            <a:off x="9052560" y="2011680"/>
            <a:ext cx="2606040" cy="39776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7" name="Shape 22"/>
          <p:cNvSpPr/>
          <p:nvPr/>
        </p:nvSpPr>
        <p:spPr>
          <a:xfrm>
            <a:off x="9308592" y="2286000"/>
            <a:ext cx="594360" cy="59436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8" name="Image 3" descr="/home/claude/icons/history_oran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9468" y="2436876"/>
            <a:ext cx="292608" cy="292608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10789920" y="2331720"/>
            <a:ext cx="640080" cy="365760"/>
          </a:xfrm>
          <a:prstGeom prst="roundRect">
            <a:avLst>
              <a:gd name="adj" fmla="val 20000"/>
            </a:avLst>
          </a:prstGeom>
          <a:solidFill>
            <a:srgbClr val="F2F3F3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30" name="Text 24"/>
          <p:cNvSpPr txBox="1"/>
          <p:nvPr/>
        </p:nvSpPr>
        <p:spPr>
          <a:xfrm>
            <a:off x="10789920" y="233172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C7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Legacy</a:t>
            </a:r>
            <a:endParaRPr lang="en-US" sz="1100" dirty="0"/>
          </a:p>
        </p:txBody>
      </p:sp>
      <p:sp>
        <p:nvSpPr>
          <p:cNvPr id="31" name="Text 25"/>
          <p:cNvSpPr txBox="1"/>
          <p:nvPr/>
        </p:nvSpPr>
        <p:spPr>
          <a:xfrm>
            <a:off x="9281160" y="3017520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(CLB)</a:t>
            </a:r>
            <a:endParaRPr lang="en-US" dirty="0"/>
          </a:p>
        </p:txBody>
      </p:sp>
      <p:sp>
        <p:nvSpPr>
          <p:cNvPr id="32" name="Text 26"/>
          <p:cNvSpPr txBox="1"/>
          <p:nvPr/>
        </p:nvSpPr>
        <p:spPr>
          <a:xfrm>
            <a:off x="9281160" y="3611880"/>
            <a:ext cx="21488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Застарілий тип, попередник ALB/NLB. Для нових проєктів не рекомендується.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ELB та Auto Scaling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492665" y="48065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Цілі та правила розподілу навантаження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92665" y="149546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Listener приймає запит і за правилами (Rules) направляє його у відповідну Target Group.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892040" y="2148840"/>
            <a:ext cx="2377440" cy="868680"/>
          </a:xfrm>
          <a:prstGeom prst="roundRect">
            <a:avLst>
              <a:gd name="adj" fmla="val 10526"/>
            </a:avLst>
          </a:prstGeom>
          <a:solidFill>
            <a:srgbClr val="37475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6" name="Image 0" descr="/home/claude/icons/signIn_oran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4728" y="2267712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892040" y="267004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Listener HTTPS:443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080760" y="3017520"/>
            <a:ext cx="0" cy="365760"/>
          </a:xfrm>
          <a:prstGeom prst="line">
            <a:avLst/>
          </a:prstGeom>
          <a:noFill/>
          <a:ln w="254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Shape 6"/>
          <p:cNvSpPr/>
          <p:nvPr/>
        </p:nvSpPr>
        <p:spPr>
          <a:xfrm>
            <a:off x="2651760" y="3383280"/>
            <a:ext cx="6858000" cy="0"/>
          </a:xfrm>
          <a:prstGeom prst="line">
            <a:avLst/>
          </a:prstGeom>
          <a:noFill/>
          <a:ln w="254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Shape 7"/>
          <p:cNvSpPr/>
          <p:nvPr/>
        </p:nvSpPr>
        <p:spPr>
          <a:xfrm>
            <a:off x="2651760" y="3511470"/>
            <a:ext cx="0" cy="320040"/>
          </a:xfrm>
          <a:prstGeom prst="line">
            <a:avLst/>
          </a:prstGeom>
          <a:noFill/>
          <a:ln w="25400">
            <a:solidFill>
              <a:srgbClr val="FF9900"/>
            </a:solidFill>
            <a:prstDash val="solid"/>
            <a:tailEnd type="triangle"/>
          </a:ln>
        </p:spPr>
        <p:txBody>
          <a:bodyPr/>
          <a:lstStyle/>
          <a:p>
            <a:endParaRPr lang="en-UA"/>
          </a:p>
        </p:txBody>
      </p:sp>
      <p:sp>
        <p:nvSpPr>
          <p:cNvPr id="11" name="Shape 8"/>
          <p:cNvSpPr/>
          <p:nvPr/>
        </p:nvSpPr>
        <p:spPr>
          <a:xfrm>
            <a:off x="9509760" y="3511470"/>
            <a:ext cx="0" cy="320040"/>
          </a:xfrm>
          <a:prstGeom prst="line">
            <a:avLst/>
          </a:prstGeom>
          <a:noFill/>
          <a:ln w="25400">
            <a:solidFill>
              <a:srgbClr val="FF9900"/>
            </a:solidFill>
            <a:prstDash val="solid"/>
            <a:tailEnd type="triangle"/>
          </a:ln>
        </p:spPr>
        <p:txBody>
          <a:bodyPr/>
          <a:lstStyle/>
          <a:p>
            <a:endParaRPr lang="en-UA"/>
          </a:p>
        </p:txBody>
      </p:sp>
      <p:sp>
        <p:nvSpPr>
          <p:cNvPr id="12" name="Shape 9"/>
          <p:cNvSpPr/>
          <p:nvPr/>
        </p:nvSpPr>
        <p:spPr>
          <a:xfrm>
            <a:off x="1737360" y="319143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FF9900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3" name="Text 10"/>
          <p:cNvSpPr txBox="1"/>
          <p:nvPr/>
        </p:nvSpPr>
        <p:spPr>
          <a:xfrm>
            <a:off x="1737360" y="319143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32F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Path: /api/*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595360" y="319143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FF9900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5" name="Text 12"/>
          <p:cNvSpPr txBox="1"/>
          <p:nvPr/>
        </p:nvSpPr>
        <p:spPr>
          <a:xfrm>
            <a:off x="8595360" y="319143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32F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Path: /*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1005840" y="3869108"/>
            <a:ext cx="3383280" cy="1737360"/>
          </a:xfrm>
          <a:prstGeom prst="roundRect">
            <a:avLst>
              <a:gd name="adj" fmla="val 5263"/>
            </a:avLst>
          </a:prstGeom>
          <a:solidFill>
            <a:srgbClr val="2E3B4E"/>
          </a:solidFill>
          <a:ln w="12700">
            <a:solidFill>
              <a:srgbClr val="3A47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4"/>
          <p:cNvSpPr txBox="1"/>
          <p:nvPr/>
        </p:nvSpPr>
        <p:spPr>
          <a:xfrm>
            <a:off x="1005840" y="400626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Group: api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" y="4280588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— API-сервери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1325880" y="4646348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0" name="Image 1" descr="/home/claude/icons/server_ora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6464" y="4746932"/>
            <a:ext cx="301752" cy="301752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423160" y="4646348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2" name="Image 2" descr="/home/claude/icons/server_ora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3744" y="4746932"/>
            <a:ext cx="301752" cy="301752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3520440" y="4646348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4" name="Image 3" descr="/home/claude/icons/server_ora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1024" y="4746932"/>
            <a:ext cx="301752" cy="301752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7863840" y="3869108"/>
            <a:ext cx="3383280" cy="1737360"/>
          </a:xfrm>
          <a:prstGeom prst="roundRect">
            <a:avLst>
              <a:gd name="adj" fmla="val 5263"/>
            </a:avLst>
          </a:prstGeom>
          <a:solidFill>
            <a:srgbClr val="2E3B4E"/>
          </a:solidFill>
          <a:ln w="12700">
            <a:solidFill>
              <a:srgbClr val="3A47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0"/>
          <p:cNvSpPr txBox="1"/>
          <p:nvPr/>
        </p:nvSpPr>
        <p:spPr>
          <a:xfrm>
            <a:off x="7863840" y="400626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Group: web</a:t>
            </a:r>
            <a:endParaRPr lang="en-US" sz="1600" dirty="0"/>
          </a:p>
        </p:txBody>
      </p:sp>
      <p:sp>
        <p:nvSpPr>
          <p:cNvPr id="27" name="Text 21"/>
          <p:cNvSpPr txBox="1"/>
          <p:nvPr/>
        </p:nvSpPr>
        <p:spPr>
          <a:xfrm>
            <a:off x="7863840" y="4280588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— Web-сервери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8183880" y="4646348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9" name="Image 4" descr="/home/claude/icons/server_ora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4464" y="4746932"/>
            <a:ext cx="301752" cy="301752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9281160" y="4646348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31" name="Image 5" descr="/home/claude/icons/server_ora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1744" y="4746932"/>
            <a:ext cx="301752" cy="301752"/>
          </a:xfrm>
          <a:prstGeom prst="rect">
            <a:avLst/>
          </a:prstGeom>
        </p:spPr>
      </p:pic>
      <p:sp>
        <p:nvSpPr>
          <p:cNvPr id="32" name="Shape 24"/>
          <p:cNvSpPr/>
          <p:nvPr/>
        </p:nvSpPr>
        <p:spPr>
          <a:xfrm>
            <a:off x="10378440" y="4646348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33" name="Image 6" descr="/home/claude/icons/server_ora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9024" y="4746932"/>
            <a:ext cx="301752" cy="30175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ELB та Auto Scaling</a:t>
            </a:r>
            <a:endParaRPr lang="en-US" sz="1000" dirty="0"/>
          </a:p>
        </p:txBody>
      </p:sp>
      <p:sp>
        <p:nvSpPr>
          <p:cNvPr id="35" name="Text 2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4343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Моніторинг через Health Checks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63168" y="1487781"/>
            <a:ext cx="5212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Check </a:t>
            </a:r>
            <a:r>
              <a:rPr lang="en-US" sz="16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періодичний запит, яким ELB перевіряє стан кожної цілі. Несправні цілі автоматично виключаються з балансування.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57274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параметри налаштування: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36875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7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880360" y="32918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 — ендпоінт, що перевіряється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87167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7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Interval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880360" y="3794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сек — як часто виконується перевірка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7459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7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Timeout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880360" y="42976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сек — час очікування відповіді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87751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7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Healthy/Unhealthy threshold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48006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3 — скільки перевірок поспіль для зміни статусу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72200" y="1600200"/>
            <a:ext cx="5468112" cy="4434840"/>
          </a:xfrm>
          <a:prstGeom prst="roundRect">
            <a:avLst>
              <a:gd name="adj" fmla="val 2474"/>
            </a:avLst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5" name="Image 0" descr="/home/claude/icons/stethoscope_oran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874520"/>
            <a:ext cx="365760" cy="36576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995160" y="1892808"/>
            <a:ext cx="4370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Group Health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492240" y="2468880"/>
            <a:ext cx="4828032" cy="713232"/>
          </a:xfrm>
          <a:prstGeom prst="roundRect">
            <a:avLst>
              <a:gd name="adj" fmla="val 10256"/>
            </a:avLst>
          </a:prstGeom>
          <a:solidFill>
            <a:srgbClr val="2E3B4E"/>
          </a:solidFill>
          <a:ln w="12700">
            <a:solidFill>
              <a:srgbClr val="3A47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5"/>
          <p:cNvSpPr txBox="1"/>
          <p:nvPr/>
        </p:nvSpPr>
        <p:spPr>
          <a:xfrm>
            <a:off x="6720840" y="2468880"/>
            <a:ext cx="3108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i-0a1b2c3 (10.0.1.12)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9857232" y="2624328"/>
            <a:ext cx="1463040" cy="402336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0" name="Image 1" descr="/home/claude/icons/check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4392" y="2706624"/>
            <a:ext cx="237744" cy="237744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296144" y="2624328"/>
            <a:ext cx="960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492240" y="3319272"/>
            <a:ext cx="4828032" cy="713232"/>
          </a:xfrm>
          <a:prstGeom prst="roundRect">
            <a:avLst>
              <a:gd name="adj" fmla="val 10256"/>
            </a:avLst>
          </a:prstGeom>
          <a:solidFill>
            <a:srgbClr val="2E3B4E"/>
          </a:solidFill>
          <a:ln w="12700">
            <a:solidFill>
              <a:srgbClr val="3A47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19"/>
          <p:cNvSpPr txBox="1"/>
          <p:nvPr/>
        </p:nvSpPr>
        <p:spPr>
          <a:xfrm>
            <a:off x="6720840" y="3319272"/>
            <a:ext cx="3108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i-0d4e5f6 (10.0.1.34)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9857232" y="3474720"/>
            <a:ext cx="1463040" cy="402336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5" name="Image 2" descr="/home/claude/icons/check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4392" y="3557016"/>
            <a:ext cx="237744" cy="237744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10296144" y="3474720"/>
            <a:ext cx="960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6492240" y="4169664"/>
            <a:ext cx="4828032" cy="713232"/>
          </a:xfrm>
          <a:prstGeom prst="roundRect">
            <a:avLst>
              <a:gd name="adj" fmla="val 10256"/>
            </a:avLst>
          </a:prstGeom>
          <a:solidFill>
            <a:srgbClr val="2E3B4E"/>
          </a:solidFill>
          <a:ln w="12700">
            <a:solidFill>
              <a:srgbClr val="3A47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8" name="Text 23"/>
          <p:cNvSpPr txBox="1"/>
          <p:nvPr/>
        </p:nvSpPr>
        <p:spPr>
          <a:xfrm>
            <a:off x="6720840" y="4169664"/>
            <a:ext cx="3108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i-0g7h8i9 (10.0.2.10)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9857232" y="4325112"/>
            <a:ext cx="1463040" cy="40233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30" name="Image 3" descr="/home/claude/icons/ban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392" y="4407408"/>
            <a:ext cx="237744" cy="23774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10296144" y="4325112"/>
            <a:ext cx="960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unhealthy</a:t>
            </a:r>
            <a:endParaRPr lang="en-US" sz="1100" dirty="0"/>
          </a:p>
        </p:txBody>
      </p:sp>
      <p:sp>
        <p:nvSpPr>
          <p:cNvPr id="32" name="Text 26"/>
          <p:cNvSpPr txBox="1"/>
          <p:nvPr/>
        </p:nvSpPr>
        <p:spPr>
          <a:xfrm>
            <a:off x="6492240" y="5129784"/>
            <a:ext cx="4828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Трафік більше не направляється на i-0g7h8i9, доки 2 перевірки поспіль знову не пройдуть успішно.</a:t>
            </a:r>
            <a:endParaRPr lang="en-US" sz="1100" dirty="0"/>
          </a:p>
        </p:txBody>
      </p:sp>
      <p:sp>
        <p:nvSpPr>
          <p:cNvPr id="33" name="Text 2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ELB та Auto Scaling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41651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 Scaling Group: основні поняття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212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Scaling Group (ASG) </a:t>
            </a:r>
            <a:r>
              <a:rPr lang="en-US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сервіс, що автоматично підтримує потрібну кількість EC2-інстансів, запускаючи чи зупиняючи їх залежно від навантаження.</a:t>
            </a:r>
            <a:endParaRPr lang="en-US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57600"/>
            <a:ext cx="5212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i="1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Аналогія: ASG — термостат для інфраструктури. Ви задаєте бажану "температуру" (кількість серверів), а система сама вмикає чи вимикає обігрів.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172200" y="1600200"/>
            <a:ext cx="5468112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 txBox="1"/>
          <p:nvPr/>
        </p:nvSpPr>
        <p:spPr>
          <a:xfrm>
            <a:off x="6492240" y="1810512"/>
            <a:ext cx="4828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базових понять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6492240" y="2388552"/>
            <a:ext cx="420624" cy="420624"/>
          </a:xfrm>
          <a:prstGeom prst="ellipse">
            <a:avLst/>
          </a:prstGeom>
          <a:solidFill>
            <a:srgbClr val="F2F3F3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9" name="Image 0" descr="/home/claude/icons/arrowDown_darkoran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824" y="2489136"/>
            <a:ext cx="219456" cy="21945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040880" y="2370264"/>
            <a:ext cx="42793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capacity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040880" y="2533486"/>
            <a:ext cx="42793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Мінімальна кількість інстансів, яка завжди має працювати.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92240" y="3053074"/>
            <a:ext cx="420624" cy="420624"/>
          </a:xfrm>
          <a:prstGeom prst="ellipse">
            <a:avLst/>
          </a:prstGeom>
          <a:solidFill>
            <a:srgbClr val="F2F3F3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3" name="Image 1" descr="/home/claude/icons/balanceScale_darkora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824" y="3153658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040880" y="3034786"/>
            <a:ext cx="42793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Desired capacity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040880" y="3198008"/>
            <a:ext cx="42793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Поточна цільова кількість інстансів — те, до чого прагне ASG.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492240" y="3734688"/>
            <a:ext cx="420624" cy="420624"/>
          </a:xfrm>
          <a:prstGeom prst="ellipse">
            <a:avLst/>
          </a:prstGeom>
          <a:solidFill>
            <a:srgbClr val="F2F3F3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7" name="Image 2" descr="/home/claude/icons/arrowUp_darkoran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4" y="3835272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040880" y="3716400"/>
            <a:ext cx="42793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capacity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7040880" y="3973628"/>
            <a:ext cx="42793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Верхня межа — захист від неконтрольованого й дорогого масштабування.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92240" y="4510308"/>
            <a:ext cx="420624" cy="420624"/>
          </a:xfrm>
          <a:prstGeom prst="ellipse">
            <a:avLst/>
          </a:prstGeom>
          <a:solidFill>
            <a:srgbClr val="F2F3F3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1" name="Image 3" descr="/home/claude/icons/clone_darkoran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2824" y="4610892"/>
            <a:ext cx="219456" cy="21945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040880" y="4492020"/>
            <a:ext cx="42793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Template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7040880" y="4655242"/>
            <a:ext cx="42793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Шаблон конфігурації, з якого запускається кожен новий інстанс.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6492240" y="5234652"/>
            <a:ext cx="420624" cy="420624"/>
          </a:xfrm>
          <a:prstGeom prst="ellipse">
            <a:avLst/>
          </a:prstGeom>
          <a:solidFill>
            <a:srgbClr val="F2F3F3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5" name="Image 4" descr="/home/claude/icons/slidersH_darkoran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2824" y="5335236"/>
            <a:ext cx="219456" cy="21945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40880" y="5216364"/>
            <a:ext cx="42793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Policy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7040880" y="5379586"/>
            <a:ext cx="42793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Правило, яке визначає, коли й наскільки масштабувати.</a:t>
            </a:r>
            <a:endParaRPr lang="en-US" sz="1100" dirty="0"/>
          </a:p>
        </p:txBody>
      </p:sp>
      <p:sp>
        <p:nvSpPr>
          <p:cNvPr id="28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ELB та Auto Scaling</a:t>
            </a:r>
            <a:endParaRPr lang="en-US" sz="1000" dirty="0"/>
          </a:p>
        </p:txBody>
      </p:sp>
      <p:sp>
        <p:nvSpPr>
          <p:cNvPr id="29" name="Text 22"/>
          <p:cNvSpPr/>
          <p:nvPr/>
        </p:nvSpPr>
        <p:spPr>
          <a:xfrm>
            <a:off x="11274552" y="653377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33106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Принципи масштабування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2044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Чотири стратегії визначення того, коли і наскільки змінювати кількість інстансів.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2606040" cy="39776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881586" y="2311638"/>
            <a:ext cx="594360" cy="59436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7" name="Image 0" descr="/home/claude/icons/userCog_oran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462" y="2462514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77240" y="3131608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794760"/>
            <a:ext cx="2148840" cy="15549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Адміністратор вручну змінює Desired capacity через консоль, CLI чи SDK.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606040" cy="39776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Shape 8"/>
          <p:cNvSpPr/>
          <p:nvPr/>
        </p:nvSpPr>
        <p:spPr>
          <a:xfrm>
            <a:off x="3716226" y="2311638"/>
            <a:ext cx="594360" cy="59436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2" name="Image 1" descr="/home/claude/icons/clock_ora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7102" y="2462514"/>
            <a:ext cx="292608" cy="29260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11880" y="3131608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Scheduled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611880" y="3794760"/>
            <a:ext cx="2148840" cy="15549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Масштабування за розкладом — наприклад, більше серверів щобудня о 9:00.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217920" y="2011680"/>
            <a:ext cx="2606040" cy="39776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6" name="Shape 12"/>
          <p:cNvSpPr/>
          <p:nvPr/>
        </p:nvSpPr>
        <p:spPr>
          <a:xfrm>
            <a:off x="6550866" y="2311638"/>
            <a:ext cx="594360" cy="59436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7" name="Image 2" descr="/home/claude/icons/tachometer_oran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1742" y="2462514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46520" y="3131608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Dynamic (Target Tracking)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446520" y="3794760"/>
            <a:ext cx="2148840" cy="15549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Автоматична реакція на метрику CloudWatch, напр. середнє завантаження CPU 50%.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9052560" y="2011680"/>
            <a:ext cx="2606040" cy="39776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1" name="Shape 16"/>
          <p:cNvSpPr/>
          <p:nvPr/>
        </p:nvSpPr>
        <p:spPr>
          <a:xfrm>
            <a:off x="9385506" y="2311638"/>
            <a:ext cx="594360" cy="59436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2" name="Image 3" descr="/home/claude/icons/brain_oran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36382" y="2462514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81160" y="3131608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Predictive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9281160" y="3794760"/>
            <a:ext cx="2148840" cy="15549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Прогнозування навантаження за допомогою машинного навчання наперед.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ELB та Auto Scaling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 Template і Scaling Policies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62456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Template описує, ЩО запускати; Scaling Policy визначає, КОЛИ це робити.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89488"/>
            <a:ext cx="5468112" cy="2961974"/>
          </a:xfrm>
          <a:prstGeom prst="roundRect">
            <a:avLst>
              <a:gd name="adj" fmla="val 3226"/>
            </a:avLst>
          </a:prstGeom>
          <a:solidFill>
            <a:srgbClr val="1A2431"/>
          </a:solidFill>
          <a:ln w="12700">
            <a:solidFill>
              <a:srgbClr val="37475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777240" y="1990656"/>
            <a:ext cx="128016" cy="128016"/>
          </a:xfrm>
          <a:prstGeom prst="ellipse">
            <a:avLst/>
          </a:prstGeom>
          <a:solidFill>
            <a:srgbClr val="E0605A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987552" y="1990656"/>
            <a:ext cx="128016" cy="128016"/>
          </a:xfrm>
          <a:prstGeom prst="ellipse">
            <a:avLst/>
          </a:prstGeom>
          <a:solidFill>
            <a:srgbClr val="E8B84B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1197864" y="1990656"/>
            <a:ext cx="128016" cy="128016"/>
          </a:xfrm>
          <a:prstGeom prst="ellipse">
            <a:avLst/>
          </a:prstGeom>
          <a:solidFill>
            <a:srgbClr val="5CB86B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 txBox="1"/>
          <p:nvPr/>
        </p:nvSpPr>
        <p:spPr>
          <a:xfrm>
            <a:off x="548640" y="1917504"/>
            <a:ext cx="5468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A9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Launch Template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292408"/>
            <a:ext cx="4828032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8A9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launch-template.json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"ImageId": "ami-0abcd1234",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"InstanceType": "t3.micro",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"KeyName": "my-key",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"SecurityGroupIds": [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"sg-0a1b2c3"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],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"UserData": "&lt;base64 script&gt;"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72200" y="1789487"/>
            <a:ext cx="5468112" cy="2961973"/>
          </a:xfrm>
          <a:prstGeom prst="roundRect">
            <a:avLst>
              <a:gd name="adj" fmla="val 3226"/>
            </a:avLst>
          </a:prstGeom>
          <a:solidFill>
            <a:srgbClr val="1A2431"/>
          </a:solidFill>
          <a:ln w="12700">
            <a:solidFill>
              <a:srgbClr val="37475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Shape 10"/>
          <p:cNvSpPr/>
          <p:nvPr/>
        </p:nvSpPr>
        <p:spPr>
          <a:xfrm>
            <a:off x="6400800" y="1990656"/>
            <a:ext cx="128016" cy="128016"/>
          </a:xfrm>
          <a:prstGeom prst="ellipse">
            <a:avLst/>
          </a:prstGeom>
          <a:solidFill>
            <a:srgbClr val="E0605A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6611112" y="1990656"/>
            <a:ext cx="128016" cy="128016"/>
          </a:xfrm>
          <a:prstGeom prst="ellipse">
            <a:avLst/>
          </a:prstGeom>
          <a:solidFill>
            <a:srgbClr val="E8B84B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4" name="Shape 12"/>
          <p:cNvSpPr/>
          <p:nvPr/>
        </p:nvSpPr>
        <p:spPr>
          <a:xfrm>
            <a:off x="6821424" y="1990656"/>
            <a:ext cx="128016" cy="128016"/>
          </a:xfrm>
          <a:prstGeom prst="ellipse">
            <a:avLst/>
          </a:prstGeom>
          <a:solidFill>
            <a:srgbClr val="5CB86B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 txBox="1"/>
          <p:nvPr/>
        </p:nvSpPr>
        <p:spPr>
          <a:xfrm>
            <a:off x="6172200" y="1917504"/>
            <a:ext cx="5468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A9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Scaling Policy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2292408"/>
            <a:ext cx="4828032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8A9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target-tracking-policy.json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FF99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"TargetValue": 50.0,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"PredefinedMetricSpecification": {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"PredefinedMetricType":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"ASGAverageCPUUtilization"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852728"/>
            <a:ext cx="11064240" cy="1548072"/>
          </a:xfrm>
          <a:prstGeom prst="roundRect">
            <a:avLst>
              <a:gd name="adj" fmla="val 6897"/>
            </a:avLst>
          </a:prstGeom>
          <a:solidFill>
            <a:srgbClr val="1A2431"/>
          </a:solidFill>
          <a:ln w="12700">
            <a:solidFill>
              <a:srgbClr val="37475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Shape 16"/>
          <p:cNvSpPr/>
          <p:nvPr/>
        </p:nvSpPr>
        <p:spPr>
          <a:xfrm>
            <a:off x="777240" y="5053896"/>
            <a:ext cx="128016" cy="128016"/>
          </a:xfrm>
          <a:prstGeom prst="ellipse">
            <a:avLst/>
          </a:prstGeom>
          <a:solidFill>
            <a:srgbClr val="E0605A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9" name="Shape 17"/>
          <p:cNvSpPr/>
          <p:nvPr/>
        </p:nvSpPr>
        <p:spPr>
          <a:xfrm>
            <a:off x="987552" y="5053896"/>
            <a:ext cx="128016" cy="128016"/>
          </a:xfrm>
          <a:prstGeom prst="ellipse">
            <a:avLst/>
          </a:prstGeom>
          <a:solidFill>
            <a:srgbClr val="E8B84B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0" name="Shape 18"/>
          <p:cNvSpPr/>
          <p:nvPr/>
        </p:nvSpPr>
        <p:spPr>
          <a:xfrm>
            <a:off x="1197864" y="5053896"/>
            <a:ext cx="128016" cy="128016"/>
          </a:xfrm>
          <a:prstGeom prst="ellipse">
            <a:avLst/>
          </a:prstGeom>
          <a:solidFill>
            <a:srgbClr val="5CB86B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 txBox="1"/>
          <p:nvPr/>
        </p:nvSpPr>
        <p:spPr>
          <a:xfrm>
            <a:off x="868680" y="5355648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B8E9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aws autoscaling create-auto-scaling-group \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B8E9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--auto-scaling-group-name my-asg \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B8E9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--launch-template LaunchTemplateName=my-template \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B8E9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--min-size 2 --max-size 10 --desired-capacity 2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ELB та Auto Scaling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501977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Як ELB і ASG працюють разом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91682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Типова відмовостійка архітектура: користувачі ніколи не звертаються до серверів напряму.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774436" y="2205244"/>
            <a:ext cx="640080" cy="640080"/>
          </a:xfrm>
          <a:prstGeom prst="ellipse">
            <a:avLst/>
          </a:prstGeom>
          <a:solidFill>
            <a:srgbClr val="37475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6" name="Image 0" descr="/home/claude/icons/users_oran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596" y="2342404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180076" y="1915021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Користувачі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8" name="Shape 5"/>
          <p:cNvSpPr/>
          <p:nvPr/>
        </p:nvSpPr>
        <p:spPr>
          <a:xfrm>
            <a:off x="6094476" y="2845324"/>
            <a:ext cx="0" cy="294405"/>
          </a:xfrm>
          <a:prstGeom prst="line">
            <a:avLst/>
          </a:prstGeom>
          <a:noFill/>
          <a:ln w="25400">
            <a:solidFill>
              <a:srgbClr val="FF9900"/>
            </a:solidFill>
            <a:prstDash val="solid"/>
            <a:tailEnd type="triangle"/>
          </a:ln>
        </p:spPr>
        <p:txBody>
          <a:bodyPr/>
          <a:lstStyle/>
          <a:p>
            <a:endParaRPr lang="en-UA"/>
          </a:p>
        </p:txBody>
      </p:sp>
      <p:sp>
        <p:nvSpPr>
          <p:cNvPr id="9" name="Shape 6"/>
          <p:cNvSpPr/>
          <p:nvPr/>
        </p:nvSpPr>
        <p:spPr>
          <a:xfrm>
            <a:off x="4448556" y="3156818"/>
            <a:ext cx="3291840" cy="640080"/>
          </a:xfrm>
          <a:prstGeom prst="roundRect">
            <a:avLst>
              <a:gd name="adj" fmla="val 14286"/>
            </a:avLst>
          </a:prstGeom>
          <a:solidFill>
            <a:srgbClr val="FF9900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0" name="Image 1" descr="/home/claude/icons/shareAlt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1436" y="3275690"/>
            <a:ext cx="384048" cy="3840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180076" y="3156818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Load Balancer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094476" y="3796898"/>
            <a:ext cx="0" cy="320040"/>
          </a:xfrm>
          <a:prstGeom prst="line">
            <a:avLst/>
          </a:prstGeom>
          <a:noFill/>
          <a:ln w="25400">
            <a:solidFill>
              <a:srgbClr val="FF9900"/>
            </a:solidFill>
            <a:prstDash val="solid"/>
            <a:tailEnd type="triangle"/>
          </a:ln>
        </p:spPr>
        <p:txBody>
          <a:bodyPr/>
          <a:lstStyle/>
          <a:p>
            <a:endParaRPr lang="en-UA"/>
          </a:p>
        </p:txBody>
      </p:sp>
      <p:sp>
        <p:nvSpPr>
          <p:cNvPr id="13" name="Shape 9"/>
          <p:cNvSpPr/>
          <p:nvPr/>
        </p:nvSpPr>
        <p:spPr>
          <a:xfrm>
            <a:off x="1188720" y="4114800"/>
            <a:ext cx="9811512" cy="2103120"/>
          </a:xfrm>
          <a:prstGeom prst="roundRect">
            <a:avLst>
              <a:gd name="adj" fmla="val 5217"/>
            </a:avLst>
          </a:prstGeom>
          <a:ln w="25400">
            <a:solidFill>
              <a:srgbClr val="FF9900"/>
            </a:solidFill>
            <a:prstDash val="dash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0"/>
          <p:cNvSpPr txBox="1"/>
          <p:nvPr/>
        </p:nvSpPr>
        <p:spPr>
          <a:xfrm>
            <a:off x="1417320" y="4224528"/>
            <a:ext cx="93543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Scaling Group  (min: 2 · desired: 4 · max: 10)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1554480" y="4663440"/>
            <a:ext cx="4480560" cy="1325880"/>
          </a:xfrm>
          <a:prstGeom prst="roundRect">
            <a:avLst>
              <a:gd name="adj" fmla="val 5517"/>
            </a:avLst>
          </a:prstGeom>
          <a:solidFill>
            <a:srgbClr val="2E3B4E"/>
          </a:solidFill>
          <a:ln w="12700">
            <a:solidFill>
              <a:srgbClr val="3A47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2"/>
          <p:cNvSpPr txBox="1"/>
          <p:nvPr/>
        </p:nvSpPr>
        <p:spPr>
          <a:xfrm>
            <a:off x="1554480" y="4736592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eu-central-1a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2011680" y="507492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8" name="Image 2" descr="/home/claude/icons/server_oran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48840" y="5212080"/>
            <a:ext cx="320040" cy="32004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3291840" y="507492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0" name="Image 3" descr="/home/claude/icons/server_oran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5212080"/>
            <a:ext cx="320040" cy="32004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4572000" y="507492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2" name="Image 4" descr="/home/claude/icons/server_oran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5212080"/>
            <a:ext cx="320040" cy="32004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6153912" y="4663440"/>
            <a:ext cx="4480560" cy="1325880"/>
          </a:xfrm>
          <a:prstGeom prst="roundRect">
            <a:avLst>
              <a:gd name="adj" fmla="val 5517"/>
            </a:avLst>
          </a:prstGeom>
          <a:solidFill>
            <a:srgbClr val="2E3B4E"/>
          </a:solidFill>
          <a:ln w="12700">
            <a:solidFill>
              <a:srgbClr val="3A47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4" name="Text 17"/>
          <p:cNvSpPr txBox="1"/>
          <p:nvPr/>
        </p:nvSpPr>
        <p:spPr>
          <a:xfrm>
            <a:off x="6153912" y="4736592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eu-central-1b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6611112" y="507492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6" name="Image 5" descr="/home/claude/icons/server_oran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8272" y="5212080"/>
            <a:ext cx="320040" cy="320040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7891272" y="507492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8" name="Image 6" descr="/home/claude/icons/server_oran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8432" y="5212080"/>
            <a:ext cx="320040" cy="320040"/>
          </a:xfrm>
          <a:prstGeom prst="rect">
            <a:avLst/>
          </a:prstGeom>
        </p:spPr>
      </p:pic>
      <p:sp>
        <p:nvSpPr>
          <p:cNvPr id="29" name="Shape 20"/>
          <p:cNvSpPr/>
          <p:nvPr/>
        </p:nvSpPr>
        <p:spPr>
          <a:xfrm>
            <a:off x="9171432" y="507492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30" name="Image 7" descr="/home/claude/icons/server_oran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8592" y="5212080"/>
            <a:ext cx="320040" cy="320040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ELB та Auto Scaling</a:t>
            </a:r>
            <a:endParaRPr lang="en-US" sz="1000" dirty="0"/>
          </a:p>
        </p:txBody>
      </p:sp>
      <p:sp>
        <p:nvSpPr>
          <p:cNvPr id="32" name="Text 2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ПІДСУМОК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ELB і ASG: хто за що відповідає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212080" cy="374904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868680" y="2011680"/>
            <a:ext cx="594360" cy="59436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6" name="Image 0" descr="/home/claude/icons/shareAlt_oran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748" y="214884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057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ELB</a:t>
            </a:r>
            <a:endParaRPr lang="en-US" dirty="0"/>
          </a:p>
        </p:txBody>
      </p:sp>
      <p:sp>
        <p:nvSpPr>
          <p:cNvPr id="8" name="Text 5"/>
          <p:cNvSpPr txBox="1"/>
          <p:nvPr/>
        </p:nvSpPr>
        <p:spPr>
          <a:xfrm>
            <a:off x="1600200" y="2481188"/>
            <a:ext cx="39802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Розподіляє вхідний трафік між здоровими цілями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971800"/>
            <a:ext cx="4572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стабільний DNS-ендпоінт для користувачів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Маршрутизує за правилами (шлях, домен)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Постійно перевіряє здоров'я цілей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Розподіляє трафік між кількома зонами доступності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00800" y="1737360"/>
            <a:ext cx="5212080" cy="374904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Shape 8"/>
          <p:cNvSpPr/>
          <p:nvPr/>
        </p:nvSpPr>
        <p:spPr>
          <a:xfrm>
            <a:off x="6720840" y="2011680"/>
            <a:ext cx="594360" cy="59436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2" name="Image 1" descr="/home/claude/icons/scale_ora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9454" y="2140294"/>
            <a:ext cx="320040" cy="3200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52360" y="20574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ASG</a:t>
            </a:r>
            <a:endParaRPr lang="en-US" dirty="0"/>
          </a:p>
        </p:txBody>
      </p:sp>
      <p:sp>
        <p:nvSpPr>
          <p:cNvPr id="14" name="Text 10"/>
          <p:cNvSpPr txBox="1"/>
          <p:nvPr/>
        </p:nvSpPr>
        <p:spPr>
          <a:xfrm>
            <a:off x="7452360" y="24688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Підтримує потрібну кількість інстансів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6720840" y="2971800"/>
            <a:ext cx="4572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Автоматично запускає й зупиняє інстанси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Керується Launch Template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Реагує на метрики (CPU, запити, розклад)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Замінює несправні інстанси новими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48640" y="5715000"/>
            <a:ext cx="11064240" cy="0"/>
          </a:xfrm>
          <a:prstGeom prst="line">
            <a:avLst/>
          </a:prstGeom>
          <a:noFill/>
          <a:ln w="12700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3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00" i="1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Наступне заняття: Amazon S3, </a:t>
            </a:r>
            <a:r>
              <a:rPr lang="ru-RU" sz="1300" i="1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 і життєвий цикл даних</a:t>
            </a:r>
            <a:r>
              <a:rPr lang="en-US" sz="1300" i="1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ELB та Auto Scaling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2731</Words>
  <Application>Microsoft Macintosh PowerPoint</Application>
  <PresentationFormat>Widescreen</PresentationFormat>
  <Paragraphs>170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Дмитро Штефан</cp:lastModifiedBy>
  <cp:revision>2</cp:revision>
  <dcterms:created xsi:type="dcterms:W3CDTF">2026-09-25T06:27:11Z</dcterms:created>
  <dcterms:modified xsi:type="dcterms:W3CDTF">2026-09-25T15:15:19Z</dcterms:modified>
</cp:coreProperties>
</file>