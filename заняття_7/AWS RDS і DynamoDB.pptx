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52"/>
    <p:restoredTop sz="94610"/>
  </p:normalViewPr>
  <p:slideViewPr>
    <p:cSldViewPr snapToGrid="0" snapToObjects="1">
      <p:cViewPr varScale="1">
        <p:scale>
          <a:sx n="156" d="100"/>
          <a:sy n="156" d="100"/>
        </p:scale>
        <p:origin x="69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6232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A"/>
          </a:p>
        </p:txBody>
      </p:sp>
      <p:sp>
        <p:nvSpPr>
          <p:cNvPr id="3" name="Notes Placeholder 2"/>
          <p:cNvSpPr>
            <a:spLocks noGrp="1"/>
          </p:cNvSpPr>
          <p:nvPr>
            <p:ph type="body" idx="1"/>
          </p:nvPr>
        </p:nvSpPr>
        <p:spPr/>
        <p:txBody>
          <a:bodyPr/>
          <a:lstStyle/>
          <a:p>
            <a:r>
              <a:rPr lang="en-US" dirty="0"/>
              <a:t>Вітаю на новому занятті! Ми вже пройшли шлях від обчислень до збереження файлів у S3, а сьогодні переходимо до структурованих даних — баз даних. Розглянемо два принципово різні підходи, які пропонує AWS. Amazon RDS — керована реляційна база даних: якщо ви коли-небудь працювали з MySQL, PostgreSQL чи будь-якою SQL-базою — RDS дає вам ту саму знайому модель, тільки AWS сам бере на себе бекапи, патчі, відмовостійкість. Amazon DynamoDB — цілком інша філософія: NoSQL база даних типу ключ-значення, спроєктована для надзвичайного масштабу й передбачуваної швидкодії незалежно від навантаження. До кінця заняття ми навчимось запускати й моніторити RDS-інстанс, розберемо основні поняття DynamoDB — таблиці, елементи, ключі, індекси — попрацюємо з даними через CRUD-операції та Query/Scan, і, найголовніше, навчимось усвідомлено обирати між цими двома підходами залежно від задачі.</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A"/>
          </a:p>
        </p:txBody>
      </p:sp>
      <p:sp>
        <p:nvSpPr>
          <p:cNvPr id="3" name="Notes Placeholder 2"/>
          <p:cNvSpPr>
            <a:spLocks noGrp="1"/>
          </p:cNvSpPr>
          <p:nvPr>
            <p:ph type="body" idx="1"/>
          </p:nvPr>
        </p:nvSpPr>
        <p:spPr/>
        <p:txBody>
          <a:bodyPr/>
          <a:lstStyle/>
          <a:p>
            <a:r>
              <a:rPr lang="en-US" dirty="0"/>
              <a:t>RDS вирішує одну конкретну, але дуже поширену проблему: реляційні бази даних потужні й звичні, проте самостійне адміністрування СУБД на голому EC2-інстансі — це купа рутинної, критично важливої роботи: налаштування реплікації, розклад бекапів, встановлення патчів безпеки, моніторинг дискового простору. RDS підтримує всі популярні рушії — MySQL, PostgreSQL, MariaDB, комерційні Oracle та SQL Server, а також Amazon Aurora, власну розробку AWS, сумісну з MySQL і PostgreSQL, але зі значно вищою продуктивністю. Розберемо чотири головні переваги. Автоматичні бекапи — RDS щодня створює знімок бази даних і зберігає журнал транзакцій, що дозволяє відновити стан бази на будь-яку секунду в межах періоду зберігання, а не лише на момент останнього бекапу. Патчі — AWS сам стежить за версіями СУБД і критичними оновленнями безпеки, вам лише потрібно підтвердити вікно обслуговування. Multi-AZ — детальніше розглянемо за два слайди, але коротко: резервна копія бази в іншій зоні доступності, готова прийняти навантаження за хвилини при збої основної. І масштабування сховища — можна збільшити диск бази даних "на льоту", без зупинки застосунку, чого майже неможливо безболісно досягти на самостійно керованому сервері.</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A"/>
          </a:p>
        </p:txBody>
      </p:sp>
      <p:sp>
        <p:nvSpPr>
          <p:cNvPr id="3" name="Notes Placeholder 2"/>
          <p:cNvSpPr>
            <a:spLocks noGrp="1"/>
          </p:cNvSpPr>
          <p:nvPr>
            <p:ph type="body" idx="1"/>
          </p:nvPr>
        </p:nvSpPr>
        <p:spPr/>
        <p:txBody>
          <a:bodyPr/>
          <a:lstStyle/>
          <a:p>
            <a:r>
              <a:rPr lang="en-US" dirty="0"/>
              <a:t>Пройдемо шлях створення бази даних так само, як зробимо на практичному занятті. Крок перший — обираємо рушій: якщо команда вже має досвід з конкретною СУБД, найпростіше продовжити з нею; для нових проєктів багато хто обирає PostgreSQL за багатство можливостей або Amazon Aurora за продуктивність. Крок другий — клас інстансу, тут діє та сама логіка типів, що й для EC2: db.t3.micro для розробки й навчання, потужніші класи для реального навантаження. Крок третій — сховище: обираєте обсяг у гігабайтах і тип диска, що визначає пропускну здатність, IOPS, — для баз даних із інтенсивним записом це критично важливий параметр. Крок четвертий — мережа: точно так само, як і для EC2, обираєте VPC, підмережу, і, що особливо важливо, Security Group, яка визначає, з яких адрес чи яких інших ресурсів дозволено підключатись до бази — найкраща практика — дозволяти доступ лише з Security Group ваших застосунків, ніколи не відкривати порт бази даних у весь інтернет. Крок п'ятий — автентифікація: можна використовувати класичний пароль майстер-користувача, або ввімкнути IAM database authentication, коли доступ до бази контролюється тими самими IAM-політиками, які ми детально розглядали раніше. І крок шостий — підключення: через вбудований Query Editor прямо в консолі AWS, через стандартний клієнт командного рядка psql чи mysql, або програмно через SDK застосунку.</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A"/>
          </a:p>
        </p:txBody>
      </p:sp>
      <p:sp>
        <p:nvSpPr>
          <p:cNvPr id="3" name="Notes Placeholder 2"/>
          <p:cNvSpPr>
            <a:spLocks noGrp="1"/>
          </p:cNvSpPr>
          <p:nvPr>
            <p:ph type="body" idx="1"/>
          </p:nvPr>
        </p:nvSpPr>
        <p:spPr/>
        <p:txBody>
          <a:bodyPr/>
          <a:lstStyle/>
          <a:p>
            <a:r>
              <a:rPr lang="en-US" dirty="0"/>
              <a:t>Розглянемо, як RDS забезпечує надійність експлуатації бази даних без постійного ручного втручання. Бекапи та Snapshots — автоматичні щоденні бекапи зберігаються від 7 до 35 днів залежно від налаштування, і дозволяють відновити базу на будь-яку секунду в цьому вікні; поруч є ручні Snapshots, які ви створюєте самі перед ризикованою операцією, наприклад міграцією схеми, і які зберігаються доти, доки ви їх явно не видалите. Multi-AZ — механізм високої доступності: RDS підтримує синхронну, тобто миттєву, копію бази в іншій зоні доступності, і якщо основний інстанс раптом падає, система автоматично перемикається на резервну копію за одну-дві хвилини, застосунку достатньо перепідключитись за тим самим DNS-іменем. Read Replicas вирішують іншу задачу — не відмовостійкість, а продуктивність: якщо застосунок робить багато операцій читання, наприклад для аналітики чи звітів, можна направити ці запити на асинхронну репліку, звільнивши основний інстанс для операцій запису. І, нарешті, CloudWatch — той самий сервіс моніторингу, що й для EC2 — автоматично збирає ключові метрики бази даних: завантаження CPU, затримку виконання запитів, кількість активних підключень, і на основі цих метрик можна налаштувати сповіщення задовго до того, як проблема стане помітною користувачам.</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A"/>
          </a:p>
        </p:txBody>
      </p:sp>
      <p:sp>
        <p:nvSpPr>
          <p:cNvPr id="3" name="Notes Placeholder 2"/>
          <p:cNvSpPr>
            <a:spLocks noGrp="1"/>
          </p:cNvSpPr>
          <p:nvPr>
            <p:ph type="body" idx="1"/>
          </p:nvPr>
        </p:nvSpPr>
        <p:spPr/>
        <p:txBody>
          <a:bodyPr/>
          <a:lstStyle/>
          <a:p>
            <a:r>
              <a:rPr lang="en-US" dirty="0"/>
              <a:t>DynamoDB — це принципово інша філософія роботи з даними порівняно з RDS. Замість фіксованої схеми з однаковими колонками в кожному рядку, DynamoDB дозволяє кожному елементу мати власний, унікальний набір полів. Це вирішує задачу, з якою реляційні бази справляються гірше: обробку колосальних обсягів даних з непередбачуваним чи змінним навантаженням, де DynamoDB гарантує стабільну затримку на рівні одиниць мілісекунд незалежно від того, чи у вас тисяча, чи мільярд записів. Розберемо базову термінологію, яка навмисно перекликається з реляційним світом для полегшення переходу. Table — аналог таблиці, контейнер для записів, але, на відміну від SQL, без жорсткої схеми колонок наперед. Item — аналог рядка, це один конкретний запис. Attribute — аналог колонки, окреме поле; але, і це найважливіша відмінність, різні елементи однієї таблиці можуть мати абсолютно різний набір атрибутів — один товар може мати поле "розмір", інший — ні, і це не проблема. І Primary Key — унікальний ідентифікатор елемента, механізм якого в DynamoDB значно цікавіший, ніж просте цілочисельне ID, тому наступний слайд присвятимо саме йому.</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A"/>
          </a:p>
        </p:txBody>
      </p:sp>
      <p:sp>
        <p:nvSpPr>
          <p:cNvPr id="3" name="Notes Placeholder 2"/>
          <p:cNvSpPr>
            <a:spLocks noGrp="1"/>
          </p:cNvSpPr>
          <p:nvPr>
            <p:ph type="body" idx="1"/>
          </p:nvPr>
        </p:nvSpPr>
        <p:spPr/>
        <p:txBody>
          <a:bodyPr/>
          <a:lstStyle/>
          <a:p>
            <a:r>
              <a:rPr lang="en-US" dirty="0"/>
              <a:t>Проєктування ключів у DynamoDB — це, мабуть, найважливіше архітектурне рішення, яке значно складніше змінити пізніше, ніж у реляційній базі, тому варто розібратись детально. Partition Key, ключ розділу, — обов'язковий компонент: DynamoDB хешує його значення, щоб рівномірно розподілити дані й навантаження між фізичними розділами системи; вдалий вибір Partition Key з високою кардинальністю, наприклад ID користувача, критично важливий для продуктивності. Sort Key, ключ сортування, — необов'язковий другий компонент: якщо він доданий, разом вони утворюють складений первинний ключ, що дозволяє зберігати кілька елементів з однаковим Partition Key, відсортованих за Sort Key, — це і є той самий приклад із замовленнями клієнта внизу слайду. А що робити, якщо потрібно шукати дані за атрибутом, який не входить у первинний ключ? Для цього існують вторинні індекси. Global Secondary Index, GSI, — повністю окремий набір ключів, який можна додати чи видалити в будь-який момент навіть для вже існуючої таблиці, і який дозволяє шукати за геть іншими атрибутами. Local Secondary Index, LSI, — обмеженіший варіант: альтернативний Sort Key у межах того самого Partition Key, але, на відміну від GSI, LSI обов'язково потрібно визначити одразу при створенні таблиці — додати його пізніше неможливо.</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A"/>
          </a:p>
        </p:txBody>
      </p:sp>
      <p:sp>
        <p:nvSpPr>
          <p:cNvPr id="3" name="Notes Placeholder 2"/>
          <p:cNvSpPr>
            <a:spLocks noGrp="1"/>
          </p:cNvSpPr>
          <p:nvPr>
            <p:ph type="body" idx="1"/>
          </p:nvPr>
        </p:nvSpPr>
        <p:spPr/>
        <p:txBody>
          <a:bodyPr/>
          <a:lstStyle/>
          <a:p>
            <a:r>
              <a:rPr lang="en-US" dirty="0"/>
              <a:t>Розглянемо, як виглядає повсякденна робота з DynamoDB через boto3. Чотири базові CRUD-операції максимально прямолінійні: put_item створює або повністю перезаписує елемент, get_item читає один елемент за його первинним ключем, update_item змінює конкретні атрибути без перезапису всього елемента, а delete_item видаляє елемент. Але значно важливіше зрозуміти різницю між Query і Scan, і це питання буквально визначає, наскільки дорого й повільно працюватиме ваш застосунок на масштабі. Query шукає ефективно: він використовує Partition Key, а опційно й Sort Key, щоб звернутись напряму до потрібного розділу даних і прочитати лише те, що дійсно потрібно — швидкість не залежить від загального розміру таблиці. Scan, натомість, послідовно перечитує абсолютно кожен елемент усієї таблиці, а вже потім фільтрує результат на льоту — уявіть, що вам потрібно знайти одну книгу в бібліотеці, але замість каталогу ви перевіряєте кожну книгу на кожній полиці одну за одною. На маленькій таблиці різниця непомітна, але на мільйонах записів Scan може коштувати в сотні разів дорожче й повільніше за Query. Золоте правило DynamoDB: спроєктуйте ключі й індекси так, щоб усі часті запити виконувались через Query, а Scan залишався винятком, а не правилом.</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A"/>
          </a:p>
        </p:txBody>
      </p:sp>
      <p:sp>
        <p:nvSpPr>
          <p:cNvPr id="3" name="Notes Placeholder 2"/>
          <p:cNvSpPr>
            <a:spLocks noGrp="1"/>
          </p:cNvSpPr>
          <p:nvPr>
            <p:ph type="body" idx="1"/>
          </p:nvPr>
        </p:nvSpPr>
        <p:spPr/>
        <p:txBody>
          <a:bodyPr/>
          <a:lstStyle/>
          <a:p>
            <a:r>
              <a:rPr lang="en-US" dirty="0"/>
              <a:t>DynamoDB вимірює пропускну здатність у одиницях місткості для читання й запису, RCU та WCU, і пропонує два режими оплати цієї місткості. Provisioned Capacity — ви заздалегідь резервуєте конкретну кількість одиниць на годину, і платите за неї незалежно від того, використали ви її повністю чи ні; це дешевше в перерахунку на одиницю, якщо навантаження стабільне й ви вмієте його спрогнозувати, а Auto Scaling для DynamoDB дозволяє автоматично коригувати резерв, хоча й з певною затримкою реакції на різкі сплески. On-Demand Capacity — простіша модель: ви платите виключно за фактично виконані запити читання й запису, без жодного попереднього планування, і DynamoDB миттєво, без затримки, обробляє будь-який сплеск навантаження. Практична порада, яку варто запам'ятати: для нового застосунку, де ви ще не знаєте реального патерна навантаження, починайте з On-Demand — це усуває ризик або переплатити за зарезервовану, але не використану місткість, або, навпаки, отримати обмеження пропускної здатності через невдале планування. І лише коли трафік стабілізується і стає передбачуваним, є сенс порахувати економіку й, можливо, перейти на Provisioned Capacity заради нижчої вартості за одиницю.</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A"/>
          </a:p>
        </p:txBody>
      </p:sp>
      <p:sp>
        <p:nvSpPr>
          <p:cNvPr id="3" name="Notes Placeholder 2"/>
          <p:cNvSpPr>
            <a:spLocks noGrp="1"/>
          </p:cNvSpPr>
          <p:nvPr>
            <p:ph type="body" idx="1"/>
          </p:nvPr>
        </p:nvSpPr>
        <p:spPr/>
        <p:txBody>
          <a:bodyPr/>
          <a:lstStyle/>
          <a:p>
            <a:r>
              <a:rPr lang="en-US" dirty="0"/>
              <a:t>Зведемо все, що ми сьогодні розглянули, в одну порівняльну таблицю. Найфундаментальніша відмінність — модель даних: RDS реляційна, з таблицями, зв'язками через зовнішні ключі та можливістю робити складні JOIN-запити; DynamoDB — NoSQL, де дані здебільшого денормалізовані й зберігаються так, як їх зручно читати, а не так, як зручно уникати дублювання. Схема в RDS фіксована наперед і змінюється через міграції, тоді як у DynamoDB кожен елемент може мати власний набір полів. Мова запитів — це класичний SQL проти прямих API-викликів Query й Scan, які ми розглядали. Масштабування — можливо, найпрактичніша відмінність: RDS масштабується вертикально, збільшенням потужності одного інстансу, плюс Read Replicas для читання, тоді як DynamoDB спроєктована для горизонтального масштабування фактично без верхньої межі. Транзакції підтримують обидва рішення, але RDS має повноцінну підтримку ACID-транзакцій з коробки, історично це сильна сторона реляційних баз, тоді як у DynamoDB транзакційність з'явилась пізніше й має практичні обмеження за розміром. Найважливіший висновок цього слайду — унизу: це не змагання, хто краще, а два різні інструменти, і у великих реальних системах ви часто побачите обидва одночасно, кожен для тієї частини даних, де він розкриває свої сильні сторони.</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A"/>
          </a:p>
        </p:txBody>
      </p:sp>
      <p:sp>
        <p:nvSpPr>
          <p:cNvPr id="3" name="Notes Placeholder 2"/>
          <p:cNvSpPr>
            <a:spLocks noGrp="1"/>
          </p:cNvSpPr>
          <p:nvPr>
            <p:ph type="body" idx="1"/>
          </p:nvPr>
        </p:nvSpPr>
        <p:spPr/>
        <p:txBody>
          <a:bodyPr/>
          <a:lstStyle/>
          <a:p>
            <a:r>
              <a:rPr lang="en-US" dirty="0"/>
              <a:t>Підсумуємо заняття практичним орієнтиром для вибору бази даних у реальному проєкті. Обирайте RDS, якщо ваші дані мають природні складні зв'язки — наприклад, класична система замовлень із клієнтами, товарами, замовленнями й платежами, де регулярно потрібні JOIN-запити між таблицями; якщо критично важлива повна підтримка ACID-транзакцій, наприклад для фінансових операцій; якщо команда вже впевнено володіє SQL; і якщо навантаження в цілому передбачуване. Обирайте DynamoDB, якщо потрібна гарантовано передбачувана затримка навіть при вибуховому зростанні масштабу — класичний приклад, гра чи застосунок, що раптово став вірусним; якщо структура даних природно неоднорідна між записами; якщо ви наперед знаєте основні патерни доступу до даних і можете спроєктувати під них ключі та індекси; і якщо навантаження може різко й непередбачувано зростати, а керована інфраструктура повинна витримати це без втручання інженерів. На практиці досвідчені архітектори рідко обирають "або-або" на рівні всього проєкту — типова сучасна система використовує RDS для основних транзакційних даних і DynamoDB для окремих високонавантажених компонентів, таких як лічильники, сесії користувачів чи журнали подій. На наступному занятті ми підемо ще далі в бік автоматизації — розберемо AWS Lambda та безсерверну архітектуру, де вам взагалі не потрібно керувати жодними серверами.</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F3E"/>
        </a:solidFill>
        <a:effectLst/>
      </p:bgPr>
    </p:bg>
    <p:spTree>
      <p:nvGrpSpPr>
        <p:cNvPr id="1" name=""/>
        <p:cNvGrpSpPr/>
        <p:nvPr/>
      </p:nvGrpSpPr>
      <p:grpSpPr>
        <a:xfrm>
          <a:off x="0" y="0"/>
          <a:ext cx="0" cy="0"/>
          <a:chOff x="0" y="0"/>
          <a:chExt cx="0" cy="0"/>
        </a:xfrm>
      </p:grpSpPr>
      <p:pic>
        <p:nvPicPr>
          <p:cNvPr id="2" name="Image 0" descr="/home/claude/icons/database_slate.png"/>
          <p:cNvPicPr>
            <a:picLocks noChangeAspect="1"/>
          </p:cNvPicPr>
          <p:nvPr/>
        </p:nvPicPr>
        <p:blipFill>
          <a:blip r:embed="rId3">
            <a:alphaModFix amt="26000"/>
          </a:blip>
          <a:stretch>
            <a:fillRect/>
          </a:stretch>
        </p:blipFill>
        <p:spPr>
          <a:xfrm>
            <a:off x="8595360" y="3291840"/>
            <a:ext cx="3931920" cy="3931920"/>
          </a:xfrm>
          <a:prstGeom prst="rect">
            <a:avLst/>
          </a:prstGeom>
        </p:spPr>
      </p:pic>
      <p:pic>
        <p:nvPicPr>
          <p:cNvPr id="3" name="Image 1" descr="/home/claude/icons/table_slate.png"/>
          <p:cNvPicPr>
            <a:picLocks noChangeAspect="1"/>
          </p:cNvPicPr>
          <p:nvPr/>
        </p:nvPicPr>
        <p:blipFill>
          <a:blip r:embed="rId4">
            <a:alphaModFix amt="20000"/>
          </a:blip>
          <a:stretch>
            <a:fillRect/>
          </a:stretch>
        </p:blipFill>
        <p:spPr>
          <a:xfrm>
            <a:off x="7223760" y="4709160"/>
            <a:ext cx="2286000" cy="2286000"/>
          </a:xfrm>
          <a:prstGeom prst="rect">
            <a:avLst/>
          </a:prstGeom>
        </p:spPr>
      </p:pic>
      <p:sp>
        <p:nvSpPr>
          <p:cNvPr id="4" name="Text 0"/>
          <p:cNvSpPr txBox="1"/>
          <p:nvPr/>
        </p:nvSpPr>
        <p:spPr>
          <a:xfrm>
            <a:off x="822960" y="1371600"/>
            <a:ext cx="8229600" cy="365760"/>
          </a:xfrm>
          <a:prstGeom prst="rect">
            <a:avLst/>
          </a:prstGeom>
          <a:noFill/>
          <a:ln/>
        </p:spPr>
        <p:txBody>
          <a:bodyPr wrap="square" rtlCol="0" anchor="ctr"/>
          <a:lstStyle/>
          <a:p>
            <a:r>
              <a:rPr lang="uk-UA" sz="1400" b="1" kern="0" spc="200" dirty="0">
                <a:solidFill>
                  <a:srgbClr val="FF9900"/>
                </a:solidFill>
                <a:latin typeface="Calibri" pitchFamily="34" charset="0"/>
                <a:ea typeface="Calibri" pitchFamily="34" charset="-122"/>
                <a:cs typeface="Calibri" pitchFamily="34" charset="-120"/>
              </a:rPr>
              <a:t>СТВОРЕННЯ </a:t>
            </a:r>
            <a:r>
              <a:rPr lang="en-US" sz="1400" b="1" kern="0" spc="200" dirty="0">
                <a:solidFill>
                  <a:srgbClr val="FF9900"/>
                </a:solidFill>
                <a:latin typeface="Calibri" pitchFamily="34" charset="0"/>
                <a:ea typeface="Calibri" pitchFamily="34" charset="-122"/>
                <a:cs typeface="Calibri" pitchFamily="34" charset="-120"/>
              </a:rPr>
              <a:t>ХМАРНИХ </a:t>
            </a:r>
            <a:r>
              <a:rPr lang="uk-UA" sz="1400" b="1" kern="0" spc="200" dirty="0">
                <a:solidFill>
                  <a:srgbClr val="FF9900"/>
                </a:solidFill>
                <a:latin typeface="Calibri" pitchFamily="34" charset="0"/>
                <a:ea typeface="Calibri" pitchFamily="34" charset="-122"/>
                <a:cs typeface="Calibri" pitchFamily="34" charset="-120"/>
              </a:rPr>
              <a:t>РІШЕНЬ З ВИКОРИСТАННЯМ </a:t>
            </a:r>
            <a:r>
              <a:rPr lang="en-US" sz="1400" b="1" kern="0" spc="200" dirty="0">
                <a:solidFill>
                  <a:srgbClr val="FF9900"/>
                </a:solidFill>
                <a:latin typeface="Calibri" pitchFamily="34" charset="0"/>
                <a:ea typeface="Calibri" pitchFamily="34" charset="-122"/>
                <a:cs typeface="Calibri" pitchFamily="34" charset="-120"/>
              </a:rPr>
              <a:t>AWS</a:t>
            </a:r>
            <a:endParaRPr lang="en-US" sz="1400" dirty="0"/>
          </a:p>
        </p:txBody>
      </p:sp>
      <p:sp>
        <p:nvSpPr>
          <p:cNvPr id="5" name="Text 1"/>
          <p:cNvSpPr txBox="1"/>
          <p:nvPr/>
        </p:nvSpPr>
        <p:spPr>
          <a:xfrm>
            <a:off x="777240" y="1828800"/>
            <a:ext cx="9875520" cy="1371600"/>
          </a:xfrm>
          <a:prstGeom prst="rect">
            <a:avLst/>
          </a:prstGeom>
          <a:noFill/>
          <a:ln/>
        </p:spPr>
        <p:txBody>
          <a:bodyPr wrap="square" rtlCol="0" anchor="ctr"/>
          <a:lstStyle/>
          <a:p>
            <a:pPr marL="0" indent="0">
              <a:lnSpc>
                <a:spcPct val="105000"/>
              </a:lnSpc>
              <a:buNone/>
            </a:pPr>
            <a:r>
              <a:rPr lang="en-US" sz="4800" b="1" dirty="0">
                <a:solidFill>
                  <a:srgbClr val="FFFFFF"/>
                </a:solidFill>
                <a:latin typeface="Cambria" pitchFamily="34" charset="0"/>
                <a:ea typeface="Cambria" pitchFamily="34" charset="-122"/>
                <a:cs typeface="Cambria" pitchFamily="34" charset="-120"/>
              </a:rPr>
              <a:t>AWS RDS і DynamoDB</a:t>
            </a:r>
            <a:endParaRPr lang="en-US" sz="4800" dirty="0"/>
          </a:p>
        </p:txBody>
      </p:sp>
      <p:sp>
        <p:nvSpPr>
          <p:cNvPr id="6" name="Text 2"/>
          <p:cNvSpPr txBox="1"/>
          <p:nvPr/>
        </p:nvSpPr>
        <p:spPr>
          <a:xfrm>
            <a:off x="822960" y="3246120"/>
            <a:ext cx="8869680" cy="822960"/>
          </a:xfrm>
          <a:prstGeom prst="rect">
            <a:avLst/>
          </a:prstGeom>
          <a:noFill/>
          <a:ln/>
        </p:spPr>
        <p:txBody>
          <a:bodyPr wrap="square" rtlCol="0" anchor="ctr"/>
          <a:lstStyle/>
          <a:p>
            <a:pPr marL="0" indent="0">
              <a:buNone/>
            </a:pPr>
            <a:r>
              <a:rPr lang="en-US" i="1" dirty="0">
                <a:solidFill>
                  <a:srgbClr val="CADCFC"/>
                </a:solidFill>
                <a:latin typeface="Calibri" pitchFamily="34" charset="0"/>
                <a:ea typeface="Calibri" pitchFamily="34" charset="-122"/>
                <a:cs typeface="Calibri" pitchFamily="34" charset="-120"/>
              </a:rPr>
              <a:t>Керовані бази даних AWS: реляційний та NoSQL підходи до зберігання структурованих даних</a:t>
            </a:r>
            <a:endParaRPr lang="en-US" dirty="0"/>
          </a:p>
        </p:txBody>
      </p:sp>
      <p:sp>
        <p:nvSpPr>
          <p:cNvPr id="7" name="Shape 3"/>
          <p:cNvSpPr/>
          <p:nvPr/>
        </p:nvSpPr>
        <p:spPr>
          <a:xfrm>
            <a:off x="1010972" y="5349240"/>
            <a:ext cx="502920" cy="502920"/>
          </a:xfrm>
          <a:prstGeom prst="ellipse">
            <a:avLst/>
          </a:prstGeom>
          <a:solidFill>
            <a:srgbClr val="37475A"/>
          </a:solidFill>
          <a:ln/>
        </p:spPr>
        <p:txBody>
          <a:bodyPr/>
          <a:lstStyle/>
          <a:p>
            <a:endParaRPr lang="en-UA"/>
          </a:p>
        </p:txBody>
      </p:sp>
      <p:pic>
        <p:nvPicPr>
          <p:cNvPr id="8" name="Image 2" descr="/home/claude/icons/database_orange.png"/>
          <p:cNvPicPr>
            <a:picLocks noChangeAspect="1"/>
          </p:cNvPicPr>
          <p:nvPr/>
        </p:nvPicPr>
        <p:blipFill>
          <a:blip r:embed="rId5"/>
          <a:stretch>
            <a:fillRect/>
          </a:stretch>
        </p:blipFill>
        <p:spPr>
          <a:xfrm>
            <a:off x="1111556" y="5449824"/>
            <a:ext cx="301752" cy="301752"/>
          </a:xfrm>
          <a:prstGeom prst="rect">
            <a:avLst/>
          </a:prstGeom>
        </p:spPr>
      </p:pic>
      <p:sp>
        <p:nvSpPr>
          <p:cNvPr id="9" name="Text 4"/>
          <p:cNvSpPr txBox="1"/>
          <p:nvPr/>
        </p:nvSpPr>
        <p:spPr>
          <a:xfrm>
            <a:off x="645637" y="5897880"/>
            <a:ext cx="1354080" cy="457200"/>
          </a:xfrm>
          <a:prstGeom prst="rect">
            <a:avLst/>
          </a:prstGeom>
          <a:noFill/>
          <a:ln/>
        </p:spPr>
        <p:txBody>
          <a:bodyPr wrap="square" rtlCol="0" anchor="ctr"/>
          <a:lstStyle/>
          <a:p>
            <a:pPr marL="0" indent="0" algn="l">
              <a:buNone/>
            </a:pPr>
            <a:r>
              <a:rPr lang="en-US" sz="1050" dirty="0">
                <a:solidFill>
                  <a:srgbClr val="A9B7C6"/>
                </a:solidFill>
                <a:latin typeface="Calibri" pitchFamily="34" charset="0"/>
                <a:ea typeface="Calibri" pitchFamily="34" charset="-122"/>
                <a:cs typeface="Calibri" pitchFamily="34" charset="-120"/>
              </a:rPr>
              <a:t>RDS: реляційні БД</a:t>
            </a:r>
            <a:endParaRPr lang="en-US" sz="1050" dirty="0"/>
          </a:p>
        </p:txBody>
      </p:sp>
      <p:sp>
        <p:nvSpPr>
          <p:cNvPr id="10" name="Shape 5"/>
          <p:cNvSpPr/>
          <p:nvPr/>
        </p:nvSpPr>
        <p:spPr>
          <a:xfrm>
            <a:off x="3108536" y="5349240"/>
            <a:ext cx="502920" cy="502920"/>
          </a:xfrm>
          <a:prstGeom prst="ellipse">
            <a:avLst/>
          </a:prstGeom>
          <a:solidFill>
            <a:srgbClr val="37475A"/>
          </a:solidFill>
          <a:ln/>
        </p:spPr>
        <p:txBody>
          <a:bodyPr/>
          <a:lstStyle/>
          <a:p>
            <a:endParaRPr lang="en-UA"/>
          </a:p>
        </p:txBody>
      </p:sp>
      <p:pic>
        <p:nvPicPr>
          <p:cNvPr id="11" name="Image 3" descr="/home/claude/icons/table_orange.png"/>
          <p:cNvPicPr>
            <a:picLocks noChangeAspect="1"/>
          </p:cNvPicPr>
          <p:nvPr/>
        </p:nvPicPr>
        <p:blipFill>
          <a:blip r:embed="rId6"/>
          <a:stretch>
            <a:fillRect/>
          </a:stretch>
        </p:blipFill>
        <p:spPr>
          <a:xfrm>
            <a:off x="3209120" y="5449824"/>
            <a:ext cx="301752" cy="301752"/>
          </a:xfrm>
          <a:prstGeom prst="rect">
            <a:avLst/>
          </a:prstGeom>
        </p:spPr>
      </p:pic>
      <p:sp>
        <p:nvSpPr>
          <p:cNvPr id="12" name="Text 6"/>
          <p:cNvSpPr txBox="1"/>
          <p:nvPr/>
        </p:nvSpPr>
        <p:spPr>
          <a:xfrm>
            <a:off x="2743200" y="5897880"/>
            <a:ext cx="2011680" cy="457200"/>
          </a:xfrm>
          <a:prstGeom prst="rect">
            <a:avLst/>
          </a:prstGeom>
          <a:noFill/>
          <a:ln/>
        </p:spPr>
        <p:txBody>
          <a:bodyPr wrap="square" rtlCol="0" anchor="ctr"/>
          <a:lstStyle/>
          <a:p>
            <a:pPr marL="0" indent="0" algn="l">
              <a:buNone/>
            </a:pPr>
            <a:r>
              <a:rPr lang="en-US" sz="1050" dirty="0">
                <a:solidFill>
                  <a:srgbClr val="A9B7C6"/>
                </a:solidFill>
                <a:latin typeface="Calibri" pitchFamily="34" charset="0"/>
                <a:ea typeface="Calibri" pitchFamily="34" charset="-122"/>
                <a:cs typeface="Calibri" pitchFamily="34" charset="-120"/>
              </a:rPr>
              <a:t>DynamoDB: NoSQL</a:t>
            </a:r>
            <a:endParaRPr lang="en-US" sz="1050" dirty="0"/>
          </a:p>
        </p:txBody>
      </p:sp>
      <p:sp>
        <p:nvSpPr>
          <p:cNvPr id="13" name="Shape 7"/>
          <p:cNvSpPr/>
          <p:nvPr/>
        </p:nvSpPr>
        <p:spPr>
          <a:xfrm>
            <a:off x="5257376" y="5349240"/>
            <a:ext cx="502920" cy="502920"/>
          </a:xfrm>
          <a:prstGeom prst="ellipse">
            <a:avLst/>
          </a:prstGeom>
          <a:solidFill>
            <a:srgbClr val="37475A"/>
          </a:solidFill>
          <a:ln/>
        </p:spPr>
        <p:txBody>
          <a:bodyPr/>
          <a:lstStyle/>
          <a:p>
            <a:endParaRPr lang="en-UA"/>
          </a:p>
        </p:txBody>
      </p:sp>
      <p:pic>
        <p:nvPicPr>
          <p:cNvPr id="14" name="Image 4" descr="/home/claude/icons/chartBar_orange.png"/>
          <p:cNvPicPr>
            <a:picLocks noChangeAspect="1"/>
          </p:cNvPicPr>
          <p:nvPr/>
        </p:nvPicPr>
        <p:blipFill>
          <a:blip r:embed="rId7"/>
          <a:stretch>
            <a:fillRect/>
          </a:stretch>
        </p:blipFill>
        <p:spPr>
          <a:xfrm>
            <a:off x="5357960" y="5449824"/>
            <a:ext cx="301752" cy="301752"/>
          </a:xfrm>
          <a:prstGeom prst="rect">
            <a:avLst/>
          </a:prstGeom>
        </p:spPr>
      </p:pic>
      <p:sp>
        <p:nvSpPr>
          <p:cNvPr id="15" name="Text 8"/>
          <p:cNvSpPr txBox="1"/>
          <p:nvPr/>
        </p:nvSpPr>
        <p:spPr>
          <a:xfrm>
            <a:off x="4892040" y="5897880"/>
            <a:ext cx="2011680" cy="457200"/>
          </a:xfrm>
          <a:prstGeom prst="rect">
            <a:avLst/>
          </a:prstGeom>
          <a:noFill/>
          <a:ln/>
        </p:spPr>
        <p:txBody>
          <a:bodyPr wrap="square" rtlCol="0" anchor="ctr"/>
          <a:lstStyle/>
          <a:p>
            <a:pPr marL="0" indent="0" algn="l">
              <a:buNone/>
            </a:pPr>
            <a:r>
              <a:rPr lang="en-US" sz="1050" dirty="0">
                <a:solidFill>
                  <a:srgbClr val="A9B7C6"/>
                </a:solidFill>
                <a:latin typeface="Calibri" pitchFamily="34" charset="0"/>
                <a:ea typeface="Calibri" pitchFamily="34" charset="-122"/>
                <a:cs typeface="Calibri" pitchFamily="34" charset="-120"/>
              </a:rPr>
              <a:t>Моніторинг і вибір</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3F3"/>
        </a:solidFill>
        <a:effectLst/>
      </p:bgPr>
    </p:bg>
    <p:spTree>
      <p:nvGrpSpPr>
        <p:cNvPr id="1" name=""/>
        <p:cNvGrpSpPr/>
        <p:nvPr/>
      </p:nvGrpSpPr>
      <p:grpSpPr>
        <a:xfrm>
          <a:off x="0" y="0"/>
          <a:ext cx="0" cy="0"/>
          <a:chOff x="0" y="0"/>
          <a:chExt cx="0" cy="0"/>
        </a:xfrm>
      </p:grpSpPr>
      <p:sp>
        <p:nvSpPr>
          <p:cNvPr id="3" name="Text 1"/>
          <p:cNvSpPr txBox="1"/>
          <p:nvPr/>
        </p:nvSpPr>
        <p:spPr>
          <a:xfrm>
            <a:off x="548640" y="448056"/>
            <a:ext cx="11064240" cy="822960"/>
          </a:xfrm>
          <a:prstGeom prst="rect">
            <a:avLst/>
          </a:prstGeom>
          <a:noFill/>
          <a:ln/>
        </p:spPr>
        <p:txBody>
          <a:bodyPr wrap="square" rtlCol="0" anchor="ctr"/>
          <a:lstStyle/>
          <a:p>
            <a:pPr marL="0" indent="0">
              <a:buNone/>
            </a:pPr>
            <a:r>
              <a:rPr lang="en-US" sz="3600" b="1" dirty="0">
                <a:solidFill>
                  <a:srgbClr val="16191F"/>
                </a:solidFill>
                <a:latin typeface="Cambria" pitchFamily="34" charset="0"/>
                <a:ea typeface="Cambria" pitchFamily="34" charset="-122"/>
                <a:cs typeface="Cambria" pitchFamily="34" charset="-120"/>
              </a:rPr>
              <a:t>Amazon RDS: керовані реляційні бази даних</a:t>
            </a:r>
            <a:endParaRPr lang="en-US" sz="3600" dirty="0"/>
          </a:p>
        </p:txBody>
      </p:sp>
      <p:sp>
        <p:nvSpPr>
          <p:cNvPr id="4" name="Text 2"/>
          <p:cNvSpPr txBox="1"/>
          <p:nvPr/>
        </p:nvSpPr>
        <p:spPr>
          <a:xfrm>
            <a:off x="548640" y="1691640"/>
            <a:ext cx="5212080" cy="1280160"/>
          </a:xfrm>
          <a:prstGeom prst="rect">
            <a:avLst/>
          </a:prstGeom>
          <a:noFill/>
          <a:ln/>
        </p:spPr>
        <p:txBody>
          <a:bodyPr wrap="square" rtlCol="0" anchor="ctr"/>
          <a:lstStyle/>
          <a:p>
            <a:pPr marL="0" indent="0">
              <a:lnSpc>
                <a:spcPct val="130000"/>
              </a:lnSpc>
              <a:buNone/>
            </a:pPr>
            <a:r>
              <a:rPr lang="en-US" b="1" dirty="0">
                <a:solidFill>
                  <a:srgbClr val="16191F"/>
                </a:solidFill>
                <a:latin typeface="Calibri" pitchFamily="34" charset="0"/>
                <a:ea typeface="Calibri" pitchFamily="34" charset="-122"/>
                <a:cs typeface="Calibri" pitchFamily="34" charset="-120"/>
              </a:rPr>
              <a:t>Amazon RDS (Relational Database Service) </a:t>
            </a:r>
            <a:r>
              <a:rPr lang="en-US" dirty="0">
                <a:solidFill>
                  <a:srgbClr val="16191F"/>
                </a:solidFill>
                <a:latin typeface="Calibri" pitchFamily="34" charset="0"/>
                <a:ea typeface="Calibri" pitchFamily="34" charset="-122"/>
                <a:cs typeface="Calibri" pitchFamily="34" charset="-120"/>
              </a:rPr>
              <a:t>— керований сервіс реляційних БД. Підтримує MySQL, PostgreSQL, MariaDB, Oracle, SQL Server та Amazon Aurora.</a:t>
            </a:r>
            <a:endParaRPr lang="en-US" dirty="0"/>
          </a:p>
        </p:txBody>
      </p:sp>
      <p:sp>
        <p:nvSpPr>
          <p:cNvPr id="5" name="Text 3"/>
          <p:cNvSpPr txBox="1"/>
          <p:nvPr/>
        </p:nvSpPr>
        <p:spPr>
          <a:xfrm>
            <a:off x="548640" y="3735324"/>
            <a:ext cx="5212080" cy="1005840"/>
          </a:xfrm>
          <a:prstGeom prst="rect">
            <a:avLst/>
          </a:prstGeom>
          <a:noFill/>
          <a:ln/>
        </p:spPr>
        <p:txBody>
          <a:bodyPr wrap="square" rtlCol="0" anchor="ctr"/>
          <a:lstStyle/>
          <a:p>
            <a:pPr marL="0" indent="0">
              <a:lnSpc>
                <a:spcPct val="125000"/>
              </a:lnSpc>
              <a:buNone/>
            </a:pPr>
            <a:r>
              <a:rPr lang="en-US" sz="1600" i="1" dirty="0">
                <a:solidFill>
                  <a:srgbClr val="5A6674"/>
                </a:solidFill>
                <a:latin typeface="Calibri" pitchFamily="34" charset="0"/>
                <a:ea typeface="Calibri" pitchFamily="34" charset="-122"/>
                <a:cs typeface="Calibri" pitchFamily="34" charset="-120"/>
              </a:rPr>
              <a:t>Типові сценарії: бекенд вебзастосунку, будь-які дані зі складними зв'язками, де потрібні SQL-запити й транзакції.</a:t>
            </a:r>
            <a:endParaRPr lang="en-US" sz="1600" dirty="0"/>
          </a:p>
        </p:txBody>
      </p:sp>
      <p:sp>
        <p:nvSpPr>
          <p:cNvPr id="6" name="Shape 4"/>
          <p:cNvSpPr/>
          <p:nvPr/>
        </p:nvSpPr>
        <p:spPr>
          <a:xfrm>
            <a:off x="6172200" y="1600200"/>
            <a:ext cx="5468112" cy="4480560"/>
          </a:xfrm>
          <a:prstGeom prst="roundRect">
            <a:avLst>
              <a:gd name="adj" fmla="val 2449"/>
            </a:avLst>
          </a:prstGeom>
          <a:solidFill>
            <a:srgbClr val="FFFFFF"/>
          </a:solidFill>
          <a:ln w="12700">
            <a:solidFill>
              <a:srgbClr val="DDE1E6"/>
            </a:solidFill>
            <a:prstDash val="solid"/>
          </a:ln>
          <a:effectLst>
            <a:outerShdw blurRad="101600" dist="38100" dir="5400000" algn="bl" rotWithShape="0">
              <a:srgbClr val="000000">
                <a:alpha val="12000"/>
              </a:srgbClr>
            </a:outerShdw>
          </a:effectLst>
        </p:spPr>
        <p:txBody>
          <a:bodyPr/>
          <a:lstStyle/>
          <a:p>
            <a:endParaRPr lang="en-UA"/>
          </a:p>
        </p:txBody>
      </p:sp>
      <p:sp>
        <p:nvSpPr>
          <p:cNvPr id="7" name="Text 5"/>
          <p:cNvSpPr txBox="1"/>
          <p:nvPr/>
        </p:nvSpPr>
        <p:spPr>
          <a:xfrm>
            <a:off x="6492240" y="1810512"/>
            <a:ext cx="4828032" cy="365760"/>
          </a:xfrm>
          <a:prstGeom prst="rect">
            <a:avLst/>
          </a:prstGeom>
          <a:noFill/>
          <a:ln/>
        </p:spPr>
        <p:txBody>
          <a:bodyPr wrap="square" rtlCol="0" anchor="ctr"/>
          <a:lstStyle/>
          <a:p>
            <a:pPr marL="0" indent="0">
              <a:buNone/>
            </a:pPr>
            <a:r>
              <a:rPr lang="en-US" sz="1600" b="1" dirty="0">
                <a:solidFill>
                  <a:srgbClr val="16191F"/>
                </a:solidFill>
                <a:latin typeface="Calibri" pitchFamily="34" charset="0"/>
                <a:ea typeface="Calibri" pitchFamily="34" charset="-122"/>
                <a:cs typeface="Calibri" pitchFamily="34" charset="-120"/>
              </a:rPr>
              <a:t>Переваги проти власної БД на EC2</a:t>
            </a:r>
            <a:endParaRPr lang="en-US" sz="1600" dirty="0"/>
          </a:p>
        </p:txBody>
      </p:sp>
      <p:sp>
        <p:nvSpPr>
          <p:cNvPr id="8" name="Shape 6"/>
          <p:cNvSpPr/>
          <p:nvPr/>
        </p:nvSpPr>
        <p:spPr>
          <a:xfrm>
            <a:off x="6492240" y="2462900"/>
            <a:ext cx="457200" cy="457200"/>
          </a:xfrm>
          <a:prstGeom prst="ellipse">
            <a:avLst/>
          </a:prstGeom>
          <a:solidFill>
            <a:srgbClr val="F2F3F3"/>
          </a:solidFill>
          <a:ln/>
        </p:spPr>
        <p:txBody>
          <a:bodyPr/>
          <a:lstStyle/>
          <a:p>
            <a:endParaRPr lang="en-UA"/>
          </a:p>
        </p:txBody>
      </p:sp>
      <p:pic>
        <p:nvPicPr>
          <p:cNvPr id="9" name="Image 0" descr="/home/claude/icons/history_darkorange.png"/>
          <p:cNvPicPr>
            <a:picLocks noChangeAspect="1"/>
          </p:cNvPicPr>
          <p:nvPr/>
        </p:nvPicPr>
        <p:blipFill>
          <a:blip r:embed="rId3"/>
          <a:stretch>
            <a:fillRect/>
          </a:stretch>
        </p:blipFill>
        <p:spPr>
          <a:xfrm>
            <a:off x="6601968" y="2572628"/>
            <a:ext cx="237744" cy="237744"/>
          </a:xfrm>
          <a:prstGeom prst="rect">
            <a:avLst/>
          </a:prstGeom>
        </p:spPr>
      </p:pic>
      <p:sp>
        <p:nvSpPr>
          <p:cNvPr id="10" name="Text 7"/>
          <p:cNvSpPr txBox="1"/>
          <p:nvPr/>
        </p:nvSpPr>
        <p:spPr>
          <a:xfrm>
            <a:off x="7086600" y="2359152"/>
            <a:ext cx="4233672" cy="320040"/>
          </a:xfrm>
          <a:prstGeom prst="rect">
            <a:avLst/>
          </a:prstGeom>
          <a:noFill/>
          <a:ln/>
        </p:spPr>
        <p:txBody>
          <a:bodyPr wrap="square" rtlCol="0" anchor="t"/>
          <a:lstStyle/>
          <a:p>
            <a:pPr marL="0" indent="0">
              <a:buNone/>
            </a:pPr>
            <a:r>
              <a:rPr lang="en-US" sz="1400" b="1" dirty="0">
                <a:solidFill>
                  <a:srgbClr val="16191F"/>
                </a:solidFill>
                <a:latin typeface="Calibri" pitchFamily="34" charset="0"/>
                <a:ea typeface="Calibri" pitchFamily="34" charset="-122"/>
                <a:cs typeface="Calibri" pitchFamily="34" charset="-120"/>
              </a:rPr>
              <a:t>Автоматичні бекапи</a:t>
            </a:r>
            <a:endParaRPr lang="en-US" sz="1400" dirty="0"/>
          </a:p>
        </p:txBody>
      </p:sp>
      <p:sp>
        <p:nvSpPr>
          <p:cNvPr id="11" name="Text 8"/>
          <p:cNvSpPr txBox="1"/>
          <p:nvPr/>
        </p:nvSpPr>
        <p:spPr>
          <a:xfrm>
            <a:off x="7086600" y="2585186"/>
            <a:ext cx="4233672" cy="502920"/>
          </a:xfrm>
          <a:prstGeom prst="rect">
            <a:avLst/>
          </a:prstGeom>
          <a:noFill/>
          <a:ln/>
        </p:spPr>
        <p:txBody>
          <a:bodyPr wrap="square" rtlCol="0" anchor="t"/>
          <a:lstStyle/>
          <a:p>
            <a:pPr marL="0" indent="0">
              <a:lnSpc>
                <a:spcPct val="120000"/>
              </a:lnSpc>
              <a:buNone/>
            </a:pPr>
            <a:r>
              <a:rPr lang="en-US" sz="1200" dirty="0">
                <a:solidFill>
                  <a:srgbClr val="5A6674"/>
                </a:solidFill>
                <a:latin typeface="Calibri" pitchFamily="34" charset="0"/>
                <a:ea typeface="Calibri" pitchFamily="34" charset="-122"/>
                <a:cs typeface="Calibri" pitchFamily="34" charset="-120"/>
              </a:rPr>
              <a:t>Щоденні знімки й відновлення на довільний момент часу без ручних скриптів.</a:t>
            </a:r>
            <a:endParaRPr lang="en-US" sz="1200" dirty="0"/>
          </a:p>
        </p:txBody>
      </p:sp>
      <p:sp>
        <p:nvSpPr>
          <p:cNvPr id="12" name="Shape 9"/>
          <p:cNvSpPr/>
          <p:nvPr/>
        </p:nvSpPr>
        <p:spPr>
          <a:xfrm>
            <a:off x="6492240" y="3267572"/>
            <a:ext cx="457200" cy="457200"/>
          </a:xfrm>
          <a:prstGeom prst="ellipse">
            <a:avLst/>
          </a:prstGeom>
          <a:solidFill>
            <a:srgbClr val="F2F3F3"/>
          </a:solidFill>
          <a:ln/>
        </p:spPr>
        <p:txBody>
          <a:bodyPr/>
          <a:lstStyle/>
          <a:p>
            <a:endParaRPr lang="en-UA"/>
          </a:p>
        </p:txBody>
      </p:sp>
      <p:pic>
        <p:nvPicPr>
          <p:cNvPr id="13" name="Image 1" descr="/home/claude/icons/wrench_darkorange.png"/>
          <p:cNvPicPr>
            <a:picLocks noChangeAspect="1"/>
          </p:cNvPicPr>
          <p:nvPr/>
        </p:nvPicPr>
        <p:blipFill>
          <a:blip r:embed="rId4"/>
          <a:stretch>
            <a:fillRect/>
          </a:stretch>
        </p:blipFill>
        <p:spPr>
          <a:xfrm>
            <a:off x="6601968" y="3377300"/>
            <a:ext cx="237744" cy="237744"/>
          </a:xfrm>
          <a:prstGeom prst="rect">
            <a:avLst/>
          </a:prstGeom>
        </p:spPr>
      </p:pic>
      <p:sp>
        <p:nvSpPr>
          <p:cNvPr id="14" name="Text 10"/>
          <p:cNvSpPr txBox="1"/>
          <p:nvPr/>
        </p:nvSpPr>
        <p:spPr>
          <a:xfrm>
            <a:off x="7086600" y="3163824"/>
            <a:ext cx="4233672" cy="320040"/>
          </a:xfrm>
          <a:prstGeom prst="rect">
            <a:avLst/>
          </a:prstGeom>
          <a:noFill/>
          <a:ln/>
        </p:spPr>
        <p:txBody>
          <a:bodyPr wrap="square" rtlCol="0" anchor="t"/>
          <a:lstStyle/>
          <a:p>
            <a:pPr marL="0" indent="0">
              <a:buNone/>
            </a:pPr>
            <a:r>
              <a:rPr lang="en-US" sz="1400" b="1" dirty="0">
                <a:solidFill>
                  <a:srgbClr val="16191F"/>
                </a:solidFill>
                <a:latin typeface="Calibri" pitchFamily="34" charset="0"/>
                <a:ea typeface="Calibri" pitchFamily="34" charset="-122"/>
                <a:cs typeface="Calibri" pitchFamily="34" charset="-120"/>
              </a:rPr>
              <a:t>Патчі та оновлення</a:t>
            </a:r>
            <a:endParaRPr lang="en-US" sz="1400" dirty="0"/>
          </a:p>
        </p:txBody>
      </p:sp>
      <p:sp>
        <p:nvSpPr>
          <p:cNvPr id="15" name="Text 11"/>
          <p:cNvSpPr txBox="1"/>
          <p:nvPr/>
        </p:nvSpPr>
        <p:spPr>
          <a:xfrm>
            <a:off x="7086600" y="3389858"/>
            <a:ext cx="4233672" cy="502920"/>
          </a:xfrm>
          <a:prstGeom prst="rect">
            <a:avLst/>
          </a:prstGeom>
          <a:noFill/>
          <a:ln/>
        </p:spPr>
        <p:txBody>
          <a:bodyPr wrap="square" rtlCol="0" anchor="t"/>
          <a:lstStyle/>
          <a:p>
            <a:pPr marL="0" indent="0">
              <a:lnSpc>
                <a:spcPct val="120000"/>
              </a:lnSpc>
              <a:buNone/>
            </a:pPr>
            <a:r>
              <a:rPr lang="en-US" sz="1200" dirty="0">
                <a:solidFill>
                  <a:srgbClr val="5A6674"/>
                </a:solidFill>
                <a:latin typeface="Calibri" pitchFamily="34" charset="0"/>
                <a:ea typeface="Calibri" pitchFamily="34" charset="-122"/>
                <a:cs typeface="Calibri" pitchFamily="34" charset="-120"/>
              </a:rPr>
              <a:t>AWS сам оновлює версії СУБД та застосовує критичні виправлення безпеки.</a:t>
            </a:r>
            <a:endParaRPr lang="en-US" sz="1200" dirty="0"/>
          </a:p>
        </p:txBody>
      </p:sp>
      <p:sp>
        <p:nvSpPr>
          <p:cNvPr id="16" name="Shape 12"/>
          <p:cNvSpPr/>
          <p:nvPr/>
        </p:nvSpPr>
        <p:spPr>
          <a:xfrm>
            <a:off x="6492240" y="4072244"/>
            <a:ext cx="457200" cy="457200"/>
          </a:xfrm>
          <a:prstGeom prst="ellipse">
            <a:avLst/>
          </a:prstGeom>
          <a:solidFill>
            <a:srgbClr val="F2F3F3"/>
          </a:solidFill>
          <a:ln/>
        </p:spPr>
        <p:txBody>
          <a:bodyPr/>
          <a:lstStyle/>
          <a:p>
            <a:endParaRPr lang="en-UA"/>
          </a:p>
        </p:txBody>
      </p:sp>
      <p:pic>
        <p:nvPicPr>
          <p:cNvPr id="17" name="Image 2" descr="/home/claude/icons/copy_darkorange.png"/>
          <p:cNvPicPr>
            <a:picLocks noChangeAspect="1"/>
          </p:cNvPicPr>
          <p:nvPr/>
        </p:nvPicPr>
        <p:blipFill>
          <a:blip r:embed="rId5"/>
          <a:stretch>
            <a:fillRect/>
          </a:stretch>
        </p:blipFill>
        <p:spPr>
          <a:xfrm>
            <a:off x="6601968" y="4181972"/>
            <a:ext cx="237744" cy="237744"/>
          </a:xfrm>
          <a:prstGeom prst="rect">
            <a:avLst/>
          </a:prstGeom>
        </p:spPr>
      </p:pic>
      <p:sp>
        <p:nvSpPr>
          <p:cNvPr id="18" name="Text 13"/>
          <p:cNvSpPr txBox="1"/>
          <p:nvPr/>
        </p:nvSpPr>
        <p:spPr>
          <a:xfrm>
            <a:off x="7086600" y="3968496"/>
            <a:ext cx="4233672" cy="320040"/>
          </a:xfrm>
          <a:prstGeom prst="rect">
            <a:avLst/>
          </a:prstGeom>
          <a:noFill/>
          <a:ln/>
        </p:spPr>
        <p:txBody>
          <a:bodyPr wrap="square" rtlCol="0" anchor="t"/>
          <a:lstStyle/>
          <a:p>
            <a:pPr marL="0" indent="0">
              <a:buNone/>
            </a:pPr>
            <a:r>
              <a:rPr lang="en-US" sz="1400" b="1" dirty="0">
                <a:solidFill>
                  <a:srgbClr val="16191F"/>
                </a:solidFill>
                <a:latin typeface="Calibri" pitchFamily="34" charset="0"/>
                <a:ea typeface="Calibri" pitchFamily="34" charset="-122"/>
                <a:cs typeface="Calibri" pitchFamily="34" charset="-120"/>
              </a:rPr>
              <a:t>Multi-AZ відмовостійкість</a:t>
            </a:r>
            <a:endParaRPr lang="en-US" sz="1400" dirty="0"/>
          </a:p>
        </p:txBody>
      </p:sp>
      <p:sp>
        <p:nvSpPr>
          <p:cNvPr id="19" name="Text 14"/>
          <p:cNvSpPr txBox="1"/>
          <p:nvPr/>
        </p:nvSpPr>
        <p:spPr>
          <a:xfrm>
            <a:off x="7086600" y="4194530"/>
            <a:ext cx="4233672" cy="502920"/>
          </a:xfrm>
          <a:prstGeom prst="rect">
            <a:avLst/>
          </a:prstGeom>
          <a:noFill/>
          <a:ln/>
        </p:spPr>
        <p:txBody>
          <a:bodyPr wrap="square" rtlCol="0" anchor="t"/>
          <a:lstStyle/>
          <a:p>
            <a:pPr marL="0" indent="0">
              <a:lnSpc>
                <a:spcPct val="120000"/>
              </a:lnSpc>
              <a:buNone/>
            </a:pPr>
            <a:r>
              <a:rPr lang="en-US" sz="1200" dirty="0">
                <a:solidFill>
                  <a:srgbClr val="5A6674"/>
                </a:solidFill>
                <a:latin typeface="Calibri" pitchFamily="34" charset="0"/>
                <a:ea typeface="Calibri" pitchFamily="34" charset="-122"/>
                <a:cs typeface="Calibri" pitchFamily="34" charset="-120"/>
              </a:rPr>
              <a:t>Автоматичний перехід на резервну репліку за лічені хвилини при збої.</a:t>
            </a:r>
            <a:endParaRPr lang="en-US" sz="1200" dirty="0"/>
          </a:p>
        </p:txBody>
      </p:sp>
      <p:sp>
        <p:nvSpPr>
          <p:cNvPr id="20" name="Shape 15"/>
          <p:cNvSpPr/>
          <p:nvPr/>
        </p:nvSpPr>
        <p:spPr>
          <a:xfrm>
            <a:off x="6492240" y="4876916"/>
            <a:ext cx="457200" cy="457200"/>
          </a:xfrm>
          <a:prstGeom prst="ellipse">
            <a:avLst/>
          </a:prstGeom>
          <a:solidFill>
            <a:srgbClr val="F2F3F3"/>
          </a:solidFill>
          <a:ln/>
        </p:spPr>
        <p:txBody>
          <a:bodyPr/>
          <a:lstStyle/>
          <a:p>
            <a:endParaRPr lang="en-UA"/>
          </a:p>
        </p:txBody>
      </p:sp>
      <p:pic>
        <p:nvPicPr>
          <p:cNvPr id="21" name="Image 3" descr="/home/claude/icons/scale_darkorange.png"/>
          <p:cNvPicPr>
            <a:picLocks noChangeAspect="1"/>
          </p:cNvPicPr>
          <p:nvPr/>
        </p:nvPicPr>
        <p:blipFill>
          <a:blip r:embed="rId6"/>
          <a:stretch>
            <a:fillRect/>
          </a:stretch>
        </p:blipFill>
        <p:spPr>
          <a:xfrm>
            <a:off x="6601968" y="4986644"/>
            <a:ext cx="237744" cy="237744"/>
          </a:xfrm>
          <a:prstGeom prst="rect">
            <a:avLst/>
          </a:prstGeom>
        </p:spPr>
      </p:pic>
      <p:sp>
        <p:nvSpPr>
          <p:cNvPr id="22" name="Text 16"/>
          <p:cNvSpPr txBox="1"/>
          <p:nvPr/>
        </p:nvSpPr>
        <p:spPr>
          <a:xfrm>
            <a:off x="7086600" y="4773168"/>
            <a:ext cx="4233672" cy="320040"/>
          </a:xfrm>
          <a:prstGeom prst="rect">
            <a:avLst/>
          </a:prstGeom>
          <a:noFill/>
          <a:ln/>
        </p:spPr>
        <p:txBody>
          <a:bodyPr wrap="square" rtlCol="0" anchor="t"/>
          <a:lstStyle/>
          <a:p>
            <a:pPr marL="0" indent="0">
              <a:buNone/>
            </a:pPr>
            <a:r>
              <a:rPr lang="en-US" sz="1400" b="1" dirty="0">
                <a:solidFill>
                  <a:srgbClr val="16191F"/>
                </a:solidFill>
                <a:latin typeface="Calibri" pitchFamily="34" charset="0"/>
                <a:ea typeface="Calibri" pitchFamily="34" charset="-122"/>
                <a:cs typeface="Calibri" pitchFamily="34" charset="-120"/>
              </a:rPr>
              <a:t>Легке масштабування</a:t>
            </a:r>
            <a:endParaRPr lang="en-US" sz="1400" dirty="0"/>
          </a:p>
        </p:txBody>
      </p:sp>
      <p:sp>
        <p:nvSpPr>
          <p:cNvPr id="23" name="Text 17"/>
          <p:cNvSpPr txBox="1"/>
          <p:nvPr/>
        </p:nvSpPr>
        <p:spPr>
          <a:xfrm>
            <a:off x="7086600" y="4999202"/>
            <a:ext cx="4233672" cy="502920"/>
          </a:xfrm>
          <a:prstGeom prst="rect">
            <a:avLst/>
          </a:prstGeom>
          <a:noFill/>
          <a:ln/>
        </p:spPr>
        <p:txBody>
          <a:bodyPr wrap="square" rtlCol="0" anchor="t"/>
          <a:lstStyle/>
          <a:p>
            <a:pPr marL="0" indent="0">
              <a:lnSpc>
                <a:spcPct val="120000"/>
              </a:lnSpc>
              <a:buNone/>
            </a:pPr>
            <a:r>
              <a:rPr lang="en-US" sz="1200" dirty="0">
                <a:solidFill>
                  <a:srgbClr val="5A6674"/>
                </a:solidFill>
                <a:latin typeface="Calibri" pitchFamily="34" charset="0"/>
                <a:ea typeface="Calibri" pitchFamily="34" charset="-122"/>
                <a:cs typeface="Calibri" pitchFamily="34" charset="-120"/>
              </a:rPr>
              <a:t>Збільшення обсягу сховища й потужності — за кілька кліків, без простою.</a:t>
            </a:r>
            <a:endParaRPr lang="en-US" sz="1200" dirty="0"/>
          </a:p>
        </p:txBody>
      </p:sp>
      <p:sp>
        <p:nvSpPr>
          <p:cNvPr id="24" name="Text 18"/>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5A6674"/>
                </a:solidFill>
                <a:latin typeface="Calibri" pitchFamily="34" charset="0"/>
                <a:ea typeface="Calibri" pitchFamily="34" charset="-122"/>
                <a:cs typeface="Calibri" pitchFamily="34" charset="-120"/>
              </a:rPr>
              <a:t>Amazon RDS і DynamoDB</a:t>
            </a:r>
            <a:endParaRPr lang="en-US" sz="1000" dirty="0"/>
          </a:p>
        </p:txBody>
      </p:sp>
      <p:sp>
        <p:nvSpPr>
          <p:cNvPr id="25" name="Text 19"/>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A667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3F3"/>
        </a:solidFill>
        <a:effectLst/>
      </p:bgPr>
    </p:bg>
    <p:spTree>
      <p:nvGrpSpPr>
        <p:cNvPr id="1" name=""/>
        <p:cNvGrpSpPr/>
        <p:nvPr/>
      </p:nvGrpSpPr>
      <p:grpSpPr>
        <a:xfrm>
          <a:off x="0" y="0"/>
          <a:ext cx="0" cy="0"/>
          <a:chOff x="0" y="0"/>
          <a:chExt cx="0" cy="0"/>
        </a:xfrm>
      </p:grpSpPr>
      <p:sp>
        <p:nvSpPr>
          <p:cNvPr id="3" name="Text 1"/>
          <p:cNvSpPr txBox="1"/>
          <p:nvPr/>
        </p:nvSpPr>
        <p:spPr>
          <a:xfrm>
            <a:off x="548640" y="292608"/>
            <a:ext cx="11064240" cy="822960"/>
          </a:xfrm>
          <a:prstGeom prst="rect">
            <a:avLst/>
          </a:prstGeom>
          <a:noFill/>
          <a:ln/>
        </p:spPr>
        <p:txBody>
          <a:bodyPr wrap="square" rtlCol="0" anchor="ctr"/>
          <a:lstStyle/>
          <a:p>
            <a:pPr marL="0" indent="0">
              <a:buNone/>
            </a:pPr>
            <a:r>
              <a:rPr lang="en-US" sz="3600" b="1" dirty="0">
                <a:solidFill>
                  <a:srgbClr val="16191F"/>
                </a:solidFill>
                <a:latin typeface="Cambria" pitchFamily="34" charset="0"/>
                <a:ea typeface="Cambria" pitchFamily="34" charset="-122"/>
                <a:cs typeface="Cambria" pitchFamily="34" charset="-120"/>
              </a:rPr>
              <a:t>Створення та налаштування RDS-інстансу</a:t>
            </a:r>
            <a:endParaRPr lang="en-US" sz="3600" dirty="0"/>
          </a:p>
        </p:txBody>
      </p:sp>
      <p:sp>
        <p:nvSpPr>
          <p:cNvPr id="4" name="Text 2"/>
          <p:cNvSpPr txBox="1"/>
          <p:nvPr/>
        </p:nvSpPr>
        <p:spPr>
          <a:xfrm>
            <a:off x="548640" y="1229868"/>
            <a:ext cx="10789920" cy="365760"/>
          </a:xfrm>
          <a:prstGeom prst="rect">
            <a:avLst/>
          </a:prstGeom>
          <a:noFill/>
          <a:ln/>
        </p:spPr>
        <p:txBody>
          <a:bodyPr wrap="square" rtlCol="0" anchor="ctr"/>
          <a:lstStyle/>
          <a:p>
            <a:pPr marL="0" indent="0">
              <a:buNone/>
            </a:pPr>
            <a:r>
              <a:rPr lang="en-US" sz="1600" i="1" dirty="0">
                <a:solidFill>
                  <a:srgbClr val="5A6674"/>
                </a:solidFill>
                <a:latin typeface="Calibri" pitchFamily="34" charset="0"/>
                <a:ea typeface="Calibri" pitchFamily="34" charset="-122"/>
                <a:cs typeface="Calibri" pitchFamily="34" charset="-120"/>
              </a:rPr>
              <a:t>Шість кроків від порожнього акаунту до бази даних, готової приймати підключення.</a:t>
            </a:r>
            <a:endParaRPr lang="en-US" sz="1600" dirty="0"/>
          </a:p>
        </p:txBody>
      </p:sp>
      <p:sp>
        <p:nvSpPr>
          <p:cNvPr id="5" name="Shape 3"/>
          <p:cNvSpPr/>
          <p:nvPr/>
        </p:nvSpPr>
        <p:spPr>
          <a:xfrm>
            <a:off x="548640" y="2114656"/>
            <a:ext cx="457200" cy="457200"/>
          </a:xfrm>
          <a:prstGeom prst="ellipse">
            <a:avLst/>
          </a:prstGeom>
          <a:solidFill>
            <a:srgbClr val="232F3E"/>
          </a:solidFill>
          <a:ln/>
        </p:spPr>
        <p:txBody>
          <a:bodyPr/>
          <a:lstStyle/>
          <a:p>
            <a:endParaRPr lang="en-UA"/>
          </a:p>
        </p:txBody>
      </p:sp>
      <p:sp>
        <p:nvSpPr>
          <p:cNvPr id="6" name="Text 4"/>
          <p:cNvSpPr txBox="1"/>
          <p:nvPr/>
        </p:nvSpPr>
        <p:spPr>
          <a:xfrm>
            <a:off x="548640" y="2114656"/>
            <a:ext cx="457200" cy="457200"/>
          </a:xfrm>
          <a:prstGeom prst="rect">
            <a:avLst/>
          </a:prstGeom>
          <a:noFill/>
          <a:ln/>
        </p:spPr>
        <p:txBody>
          <a:bodyPr wrap="square" rtlCol="0" anchor="ctr"/>
          <a:lstStyle/>
          <a:p>
            <a:pPr marL="0" indent="0" algn="ctr">
              <a:buNone/>
            </a:pPr>
            <a:r>
              <a:rPr lang="en-US" sz="1600" b="1" dirty="0">
                <a:solidFill>
                  <a:srgbClr val="FF9900"/>
                </a:solidFill>
                <a:latin typeface="Cambria" pitchFamily="34" charset="0"/>
                <a:ea typeface="Cambria" pitchFamily="34" charset="-122"/>
                <a:cs typeface="Cambria" pitchFamily="34" charset="-120"/>
              </a:rPr>
              <a:t>1</a:t>
            </a:r>
            <a:endParaRPr lang="en-US" sz="1600" dirty="0"/>
          </a:p>
        </p:txBody>
      </p:sp>
      <p:sp>
        <p:nvSpPr>
          <p:cNvPr id="7" name="Shape 5"/>
          <p:cNvSpPr/>
          <p:nvPr/>
        </p:nvSpPr>
        <p:spPr>
          <a:xfrm>
            <a:off x="777240" y="2571856"/>
            <a:ext cx="914" cy="182880"/>
          </a:xfrm>
          <a:prstGeom prst="line">
            <a:avLst/>
          </a:prstGeom>
          <a:noFill/>
          <a:ln w="25400">
            <a:solidFill>
              <a:srgbClr val="D5DAE0"/>
            </a:solidFill>
            <a:prstDash val="solid"/>
          </a:ln>
        </p:spPr>
        <p:txBody>
          <a:bodyPr/>
          <a:lstStyle/>
          <a:p>
            <a:endParaRPr lang="en-UA"/>
          </a:p>
        </p:txBody>
      </p:sp>
      <p:sp>
        <p:nvSpPr>
          <p:cNvPr id="8" name="Shape 6"/>
          <p:cNvSpPr/>
          <p:nvPr/>
        </p:nvSpPr>
        <p:spPr>
          <a:xfrm>
            <a:off x="1298448" y="2050648"/>
            <a:ext cx="530352" cy="530352"/>
          </a:xfrm>
          <a:prstGeom prst="ellipse">
            <a:avLst/>
          </a:prstGeom>
          <a:solidFill>
            <a:srgbClr val="F2F3F3"/>
          </a:solidFill>
          <a:ln w="12700">
            <a:solidFill>
              <a:srgbClr val="DDE1E6"/>
            </a:solidFill>
            <a:prstDash val="solid"/>
          </a:ln>
        </p:spPr>
        <p:txBody>
          <a:bodyPr/>
          <a:lstStyle/>
          <a:p>
            <a:endParaRPr lang="en-UA"/>
          </a:p>
        </p:txBody>
      </p:sp>
      <p:pic>
        <p:nvPicPr>
          <p:cNvPr id="9" name="Image 0" descr="/home/claude/icons/database_darkorange.png"/>
          <p:cNvPicPr>
            <a:picLocks noChangeAspect="1"/>
          </p:cNvPicPr>
          <p:nvPr/>
        </p:nvPicPr>
        <p:blipFill>
          <a:blip r:embed="rId3"/>
          <a:stretch>
            <a:fillRect/>
          </a:stretch>
        </p:blipFill>
        <p:spPr>
          <a:xfrm>
            <a:off x="1426464" y="2178664"/>
            <a:ext cx="274320" cy="274320"/>
          </a:xfrm>
          <a:prstGeom prst="rect">
            <a:avLst/>
          </a:prstGeom>
        </p:spPr>
      </p:pic>
      <p:sp>
        <p:nvSpPr>
          <p:cNvPr id="10" name="Text 7"/>
          <p:cNvSpPr txBox="1"/>
          <p:nvPr/>
        </p:nvSpPr>
        <p:spPr>
          <a:xfrm>
            <a:off x="2011680" y="2075688"/>
            <a:ext cx="3063240" cy="502920"/>
          </a:xfrm>
          <a:prstGeom prst="rect">
            <a:avLst/>
          </a:prstGeom>
          <a:noFill/>
          <a:ln/>
        </p:spPr>
        <p:txBody>
          <a:bodyPr wrap="square" rtlCol="0" anchor="ctr"/>
          <a:lstStyle/>
          <a:p>
            <a:pPr marL="0" indent="0">
              <a:buNone/>
            </a:pPr>
            <a:r>
              <a:rPr lang="en-US" sz="1600" b="1" dirty="0">
                <a:solidFill>
                  <a:srgbClr val="16191F"/>
                </a:solidFill>
                <a:latin typeface="Calibri" pitchFamily="34" charset="0"/>
                <a:ea typeface="Calibri" pitchFamily="34" charset="-122"/>
                <a:cs typeface="Calibri" pitchFamily="34" charset="-120"/>
              </a:rPr>
              <a:t>Обрати рушій</a:t>
            </a:r>
            <a:endParaRPr lang="en-US" sz="1600" dirty="0"/>
          </a:p>
        </p:txBody>
      </p:sp>
      <p:sp>
        <p:nvSpPr>
          <p:cNvPr id="11" name="Text 8"/>
          <p:cNvSpPr txBox="1"/>
          <p:nvPr/>
        </p:nvSpPr>
        <p:spPr>
          <a:xfrm>
            <a:off x="5166360" y="2050050"/>
            <a:ext cx="6263640" cy="548640"/>
          </a:xfrm>
          <a:prstGeom prst="rect">
            <a:avLst/>
          </a:prstGeom>
          <a:noFill/>
          <a:ln/>
        </p:spPr>
        <p:txBody>
          <a:bodyPr wrap="square" rtlCol="0" anchor="ctr"/>
          <a:lstStyle/>
          <a:p>
            <a:pPr marL="0" indent="0">
              <a:lnSpc>
                <a:spcPct val="115000"/>
              </a:lnSpc>
              <a:buNone/>
            </a:pPr>
            <a:r>
              <a:rPr lang="en-US" sz="1400" dirty="0">
                <a:solidFill>
                  <a:srgbClr val="5A6674"/>
                </a:solidFill>
                <a:latin typeface="Calibri" pitchFamily="34" charset="0"/>
                <a:ea typeface="Calibri" pitchFamily="34" charset="-122"/>
                <a:cs typeface="Calibri" pitchFamily="34" charset="-120"/>
              </a:rPr>
              <a:t>MySQL, PostgreSQL, MariaDB чи інший підтримуваний движок СУБД.</a:t>
            </a:r>
            <a:endParaRPr lang="en-US" sz="1400" dirty="0"/>
          </a:p>
        </p:txBody>
      </p:sp>
      <p:sp>
        <p:nvSpPr>
          <p:cNvPr id="12" name="Shape 9"/>
          <p:cNvSpPr/>
          <p:nvPr/>
        </p:nvSpPr>
        <p:spPr>
          <a:xfrm>
            <a:off x="548640" y="2800456"/>
            <a:ext cx="457200" cy="457200"/>
          </a:xfrm>
          <a:prstGeom prst="ellipse">
            <a:avLst/>
          </a:prstGeom>
          <a:solidFill>
            <a:srgbClr val="232F3E"/>
          </a:solidFill>
          <a:ln/>
        </p:spPr>
        <p:txBody>
          <a:bodyPr/>
          <a:lstStyle/>
          <a:p>
            <a:endParaRPr lang="en-UA"/>
          </a:p>
        </p:txBody>
      </p:sp>
      <p:sp>
        <p:nvSpPr>
          <p:cNvPr id="13" name="Text 10"/>
          <p:cNvSpPr txBox="1"/>
          <p:nvPr/>
        </p:nvSpPr>
        <p:spPr>
          <a:xfrm>
            <a:off x="548640" y="2800456"/>
            <a:ext cx="457200" cy="457200"/>
          </a:xfrm>
          <a:prstGeom prst="rect">
            <a:avLst/>
          </a:prstGeom>
          <a:noFill/>
          <a:ln/>
        </p:spPr>
        <p:txBody>
          <a:bodyPr wrap="square" rtlCol="0" anchor="ctr"/>
          <a:lstStyle/>
          <a:p>
            <a:pPr marL="0" indent="0" algn="ctr">
              <a:buNone/>
            </a:pPr>
            <a:r>
              <a:rPr lang="en-US" sz="1600" b="1" dirty="0">
                <a:solidFill>
                  <a:srgbClr val="FF9900"/>
                </a:solidFill>
                <a:latin typeface="Cambria" pitchFamily="34" charset="0"/>
                <a:ea typeface="Cambria" pitchFamily="34" charset="-122"/>
                <a:cs typeface="Cambria" pitchFamily="34" charset="-120"/>
              </a:rPr>
              <a:t>2</a:t>
            </a:r>
            <a:endParaRPr lang="en-US" sz="1600" dirty="0"/>
          </a:p>
        </p:txBody>
      </p:sp>
      <p:sp>
        <p:nvSpPr>
          <p:cNvPr id="14" name="Shape 11"/>
          <p:cNvSpPr/>
          <p:nvPr/>
        </p:nvSpPr>
        <p:spPr>
          <a:xfrm>
            <a:off x="777240" y="3257656"/>
            <a:ext cx="914" cy="182880"/>
          </a:xfrm>
          <a:prstGeom prst="line">
            <a:avLst/>
          </a:prstGeom>
          <a:noFill/>
          <a:ln w="25400">
            <a:solidFill>
              <a:srgbClr val="D5DAE0"/>
            </a:solidFill>
            <a:prstDash val="solid"/>
          </a:ln>
        </p:spPr>
        <p:txBody>
          <a:bodyPr/>
          <a:lstStyle/>
          <a:p>
            <a:endParaRPr lang="en-UA"/>
          </a:p>
        </p:txBody>
      </p:sp>
      <p:sp>
        <p:nvSpPr>
          <p:cNvPr id="15" name="Shape 12"/>
          <p:cNvSpPr/>
          <p:nvPr/>
        </p:nvSpPr>
        <p:spPr>
          <a:xfrm>
            <a:off x="1298448" y="2736448"/>
            <a:ext cx="530352" cy="530352"/>
          </a:xfrm>
          <a:prstGeom prst="ellipse">
            <a:avLst/>
          </a:prstGeom>
          <a:solidFill>
            <a:srgbClr val="F2F3F3"/>
          </a:solidFill>
          <a:ln w="12700">
            <a:solidFill>
              <a:srgbClr val="DDE1E6"/>
            </a:solidFill>
            <a:prstDash val="solid"/>
          </a:ln>
        </p:spPr>
        <p:txBody>
          <a:bodyPr/>
          <a:lstStyle/>
          <a:p>
            <a:endParaRPr lang="en-UA"/>
          </a:p>
        </p:txBody>
      </p:sp>
      <p:pic>
        <p:nvPicPr>
          <p:cNvPr id="16" name="Image 1" descr="/home/claude/icons/microchip_darkorange.png"/>
          <p:cNvPicPr>
            <a:picLocks noChangeAspect="1"/>
          </p:cNvPicPr>
          <p:nvPr/>
        </p:nvPicPr>
        <p:blipFill>
          <a:blip r:embed="rId4"/>
          <a:stretch>
            <a:fillRect/>
          </a:stretch>
        </p:blipFill>
        <p:spPr>
          <a:xfrm>
            <a:off x="1426464" y="2864464"/>
            <a:ext cx="274320" cy="274320"/>
          </a:xfrm>
          <a:prstGeom prst="rect">
            <a:avLst/>
          </a:prstGeom>
        </p:spPr>
      </p:pic>
      <p:sp>
        <p:nvSpPr>
          <p:cNvPr id="17" name="Text 13"/>
          <p:cNvSpPr txBox="1"/>
          <p:nvPr/>
        </p:nvSpPr>
        <p:spPr>
          <a:xfrm>
            <a:off x="2011680" y="2761488"/>
            <a:ext cx="3063240" cy="502920"/>
          </a:xfrm>
          <a:prstGeom prst="rect">
            <a:avLst/>
          </a:prstGeom>
          <a:noFill/>
          <a:ln/>
        </p:spPr>
        <p:txBody>
          <a:bodyPr wrap="square" rtlCol="0" anchor="ctr"/>
          <a:lstStyle/>
          <a:p>
            <a:pPr marL="0" indent="0">
              <a:buNone/>
            </a:pPr>
            <a:r>
              <a:rPr lang="en-US" sz="1600" b="1" dirty="0">
                <a:solidFill>
                  <a:srgbClr val="16191F"/>
                </a:solidFill>
                <a:latin typeface="Calibri" pitchFamily="34" charset="0"/>
                <a:ea typeface="Calibri" pitchFamily="34" charset="-122"/>
                <a:cs typeface="Calibri" pitchFamily="34" charset="-120"/>
              </a:rPr>
              <a:t>Обрати клас інстансу</a:t>
            </a:r>
            <a:endParaRPr lang="en-US" sz="1600" dirty="0"/>
          </a:p>
        </p:txBody>
      </p:sp>
      <p:sp>
        <p:nvSpPr>
          <p:cNvPr id="18" name="Text 14"/>
          <p:cNvSpPr txBox="1"/>
          <p:nvPr/>
        </p:nvSpPr>
        <p:spPr>
          <a:xfrm>
            <a:off x="5166360" y="2735850"/>
            <a:ext cx="6263640" cy="548640"/>
          </a:xfrm>
          <a:prstGeom prst="rect">
            <a:avLst/>
          </a:prstGeom>
          <a:noFill/>
          <a:ln/>
        </p:spPr>
        <p:txBody>
          <a:bodyPr wrap="square" rtlCol="0" anchor="ctr"/>
          <a:lstStyle/>
          <a:p>
            <a:pPr marL="0" indent="0">
              <a:lnSpc>
                <a:spcPct val="115000"/>
              </a:lnSpc>
              <a:buNone/>
            </a:pPr>
            <a:r>
              <a:rPr lang="en-US" sz="1400" dirty="0">
                <a:solidFill>
                  <a:srgbClr val="5A6674"/>
                </a:solidFill>
                <a:latin typeface="Calibri" pitchFamily="34" charset="0"/>
                <a:ea typeface="Calibri" pitchFamily="34" charset="-122"/>
                <a:cs typeface="Calibri" pitchFamily="34" charset="-120"/>
              </a:rPr>
              <a:t>Наприклад, db.t3.micro для тестів або db.r6g.xlarge для продакшену.</a:t>
            </a:r>
            <a:endParaRPr lang="en-US" sz="1400" dirty="0"/>
          </a:p>
        </p:txBody>
      </p:sp>
      <p:sp>
        <p:nvSpPr>
          <p:cNvPr id="19" name="Shape 15"/>
          <p:cNvSpPr/>
          <p:nvPr/>
        </p:nvSpPr>
        <p:spPr>
          <a:xfrm>
            <a:off x="548640" y="3486256"/>
            <a:ext cx="457200" cy="457200"/>
          </a:xfrm>
          <a:prstGeom prst="ellipse">
            <a:avLst/>
          </a:prstGeom>
          <a:solidFill>
            <a:srgbClr val="232F3E"/>
          </a:solidFill>
          <a:ln/>
        </p:spPr>
        <p:txBody>
          <a:bodyPr/>
          <a:lstStyle/>
          <a:p>
            <a:endParaRPr lang="en-UA"/>
          </a:p>
        </p:txBody>
      </p:sp>
      <p:sp>
        <p:nvSpPr>
          <p:cNvPr id="20" name="Text 16"/>
          <p:cNvSpPr txBox="1"/>
          <p:nvPr/>
        </p:nvSpPr>
        <p:spPr>
          <a:xfrm>
            <a:off x="548640" y="3486256"/>
            <a:ext cx="457200" cy="457200"/>
          </a:xfrm>
          <a:prstGeom prst="rect">
            <a:avLst/>
          </a:prstGeom>
          <a:noFill/>
          <a:ln/>
        </p:spPr>
        <p:txBody>
          <a:bodyPr wrap="square" rtlCol="0" anchor="ctr"/>
          <a:lstStyle/>
          <a:p>
            <a:pPr marL="0" indent="0" algn="ctr">
              <a:buNone/>
            </a:pPr>
            <a:r>
              <a:rPr lang="en-US" sz="1600" b="1" dirty="0">
                <a:solidFill>
                  <a:srgbClr val="FF9900"/>
                </a:solidFill>
                <a:latin typeface="Cambria" pitchFamily="34" charset="0"/>
                <a:ea typeface="Cambria" pitchFamily="34" charset="-122"/>
                <a:cs typeface="Cambria" pitchFamily="34" charset="-120"/>
              </a:rPr>
              <a:t>3</a:t>
            </a:r>
            <a:endParaRPr lang="en-US" sz="1600" dirty="0"/>
          </a:p>
        </p:txBody>
      </p:sp>
      <p:sp>
        <p:nvSpPr>
          <p:cNvPr id="21" name="Shape 17"/>
          <p:cNvSpPr/>
          <p:nvPr/>
        </p:nvSpPr>
        <p:spPr>
          <a:xfrm>
            <a:off x="777240" y="3943456"/>
            <a:ext cx="914" cy="182880"/>
          </a:xfrm>
          <a:prstGeom prst="line">
            <a:avLst/>
          </a:prstGeom>
          <a:noFill/>
          <a:ln w="25400">
            <a:solidFill>
              <a:srgbClr val="D5DAE0"/>
            </a:solidFill>
            <a:prstDash val="solid"/>
          </a:ln>
        </p:spPr>
        <p:txBody>
          <a:bodyPr/>
          <a:lstStyle/>
          <a:p>
            <a:endParaRPr lang="en-UA"/>
          </a:p>
        </p:txBody>
      </p:sp>
      <p:sp>
        <p:nvSpPr>
          <p:cNvPr id="22" name="Shape 18"/>
          <p:cNvSpPr/>
          <p:nvPr/>
        </p:nvSpPr>
        <p:spPr>
          <a:xfrm>
            <a:off x="1298448" y="3422248"/>
            <a:ext cx="530352" cy="530352"/>
          </a:xfrm>
          <a:prstGeom prst="ellipse">
            <a:avLst/>
          </a:prstGeom>
          <a:solidFill>
            <a:srgbClr val="F2F3F3"/>
          </a:solidFill>
          <a:ln w="12700">
            <a:solidFill>
              <a:srgbClr val="DDE1E6"/>
            </a:solidFill>
            <a:prstDash val="solid"/>
          </a:ln>
        </p:spPr>
        <p:txBody>
          <a:bodyPr/>
          <a:lstStyle/>
          <a:p>
            <a:endParaRPr lang="en-UA"/>
          </a:p>
        </p:txBody>
      </p:sp>
      <p:pic>
        <p:nvPicPr>
          <p:cNvPr id="23" name="Image 2" descr="/home/claude/icons/hdd_darkorange.png"/>
          <p:cNvPicPr>
            <a:picLocks noChangeAspect="1"/>
          </p:cNvPicPr>
          <p:nvPr/>
        </p:nvPicPr>
        <p:blipFill>
          <a:blip r:embed="rId5"/>
          <a:stretch>
            <a:fillRect/>
          </a:stretch>
        </p:blipFill>
        <p:spPr>
          <a:xfrm>
            <a:off x="1426464" y="3550264"/>
            <a:ext cx="274320" cy="274320"/>
          </a:xfrm>
          <a:prstGeom prst="rect">
            <a:avLst/>
          </a:prstGeom>
        </p:spPr>
      </p:pic>
      <p:sp>
        <p:nvSpPr>
          <p:cNvPr id="24" name="Text 19"/>
          <p:cNvSpPr txBox="1"/>
          <p:nvPr/>
        </p:nvSpPr>
        <p:spPr>
          <a:xfrm>
            <a:off x="2011680" y="3447288"/>
            <a:ext cx="3063240" cy="502920"/>
          </a:xfrm>
          <a:prstGeom prst="rect">
            <a:avLst/>
          </a:prstGeom>
          <a:noFill/>
          <a:ln/>
        </p:spPr>
        <p:txBody>
          <a:bodyPr wrap="square" rtlCol="0" anchor="ctr"/>
          <a:lstStyle/>
          <a:p>
            <a:pPr marL="0" indent="0">
              <a:buNone/>
            </a:pPr>
            <a:r>
              <a:rPr lang="en-US" sz="1600" b="1" dirty="0">
                <a:solidFill>
                  <a:srgbClr val="16191F"/>
                </a:solidFill>
                <a:latin typeface="Calibri" pitchFamily="34" charset="0"/>
                <a:ea typeface="Calibri" pitchFamily="34" charset="-122"/>
                <a:cs typeface="Calibri" pitchFamily="34" charset="-120"/>
              </a:rPr>
              <a:t>Налаштувати сховище</a:t>
            </a:r>
            <a:endParaRPr lang="en-US" sz="1600" dirty="0"/>
          </a:p>
        </p:txBody>
      </p:sp>
      <p:sp>
        <p:nvSpPr>
          <p:cNvPr id="25" name="Text 20"/>
          <p:cNvSpPr txBox="1"/>
          <p:nvPr/>
        </p:nvSpPr>
        <p:spPr>
          <a:xfrm>
            <a:off x="5166360" y="3421650"/>
            <a:ext cx="6263640" cy="548640"/>
          </a:xfrm>
          <a:prstGeom prst="rect">
            <a:avLst/>
          </a:prstGeom>
          <a:noFill/>
          <a:ln/>
        </p:spPr>
        <p:txBody>
          <a:bodyPr wrap="square" rtlCol="0" anchor="ctr"/>
          <a:lstStyle/>
          <a:p>
            <a:pPr marL="0" indent="0">
              <a:lnSpc>
                <a:spcPct val="115000"/>
              </a:lnSpc>
              <a:buNone/>
            </a:pPr>
            <a:r>
              <a:rPr lang="en-US" sz="1400" dirty="0">
                <a:solidFill>
                  <a:srgbClr val="5A6674"/>
                </a:solidFill>
                <a:latin typeface="Calibri" pitchFamily="34" charset="0"/>
                <a:ea typeface="Calibri" pitchFamily="34" charset="-122"/>
                <a:cs typeface="Calibri" pitchFamily="34" charset="-120"/>
              </a:rPr>
              <a:t>Обсяг (GB) і тип диска — впливає на пропускну здатність (IOPS).</a:t>
            </a:r>
            <a:endParaRPr lang="en-US" sz="1400" dirty="0"/>
          </a:p>
        </p:txBody>
      </p:sp>
      <p:sp>
        <p:nvSpPr>
          <p:cNvPr id="26" name="Shape 21"/>
          <p:cNvSpPr/>
          <p:nvPr/>
        </p:nvSpPr>
        <p:spPr>
          <a:xfrm>
            <a:off x="548640" y="4172056"/>
            <a:ext cx="457200" cy="457200"/>
          </a:xfrm>
          <a:prstGeom prst="ellipse">
            <a:avLst/>
          </a:prstGeom>
          <a:solidFill>
            <a:srgbClr val="232F3E"/>
          </a:solidFill>
          <a:ln/>
        </p:spPr>
        <p:txBody>
          <a:bodyPr/>
          <a:lstStyle/>
          <a:p>
            <a:endParaRPr lang="en-UA"/>
          </a:p>
        </p:txBody>
      </p:sp>
      <p:sp>
        <p:nvSpPr>
          <p:cNvPr id="27" name="Text 22"/>
          <p:cNvSpPr txBox="1"/>
          <p:nvPr/>
        </p:nvSpPr>
        <p:spPr>
          <a:xfrm>
            <a:off x="548640" y="4172056"/>
            <a:ext cx="457200" cy="457200"/>
          </a:xfrm>
          <a:prstGeom prst="rect">
            <a:avLst/>
          </a:prstGeom>
          <a:noFill/>
          <a:ln/>
        </p:spPr>
        <p:txBody>
          <a:bodyPr wrap="square" rtlCol="0" anchor="ctr"/>
          <a:lstStyle/>
          <a:p>
            <a:pPr marL="0" indent="0" algn="ctr">
              <a:buNone/>
            </a:pPr>
            <a:r>
              <a:rPr lang="en-US" sz="1600" b="1" dirty="0">
                <a:solidFill>
                  <a:srgbClr val="FF9900"/>
                </a:solidFill>
                <a:latin typeface="Cambria" pitchFamily="34" charset="0"/>
                <a:ea typeface="Cambria" pitchFamily="34" charset="-122"/>
                <a:cs typeface="Cambria" pitchFamily="34" charset="-120"/>
              </a:rPr>
              <a:t>4</a:t>
            </a:r>
            <a:endParaRPr lang="en-US" sz="1600" dirty="0"/>
          </a:p>
        </p:txBody>
      </p:sp>
      <p:sp>
        <p:nvSpPr>
          <p:cNvPr id="28" name="Shape 23"/>
          <p:cNvSpPr/>
          <p:nvPr/>
        </p:nvSpPr>
        <p:spPr>
          <a:xfrm>
            <a:off x="777240" y="4629256"/>
            <a:ext cx="914" cy="182880"/>
          </a:xfrm>
          <a:prstGeom prst="line">
            <a:avLst/>
          </a:prstGeom>
          <a:noFill/>
          <a:ln w="25400">
            <a:solidFill>
              <a:srgbClr val="D5DAE0"/>
            </a:solidFill>
            <a:prstDash val="solid"/>
          </a:ln>
        </p:spPr>
        <p:txBody>
          <a:bodyPr/>
          <a:lstStyle/>
          <a:p>
            <a:endParaRPr lang="en-UA"/>
          </a:p>
        </p:txBody>
      </p:sp>
      <p:sp>
        <p:nvSpPr>
          <p:cNvPr id="29" name="Shape 24"/>
          <p:cNvSpPr/>
          <p:nvPr/>
        </p:nvSpPr>
        <p:spPr>
          <a:xfrm>
            <a:off x="1298448" y="4108048"/>
            <a:ext cx="530352" cy="530352"/>
          </a:xfrm>
          <a:prstGeom prst="ellipse">
            <a:avLst/>
          </a:prstGeom>
          <a:solidFill>
            <a:srgbClr val="F2F3F3"/>
          </a:solidFill>
          <a:ln w="12700">
            <a:solidFill>
              <a:srgbClr val="DDE1E6"/>
            </a:solidFill>
            <a:prstDash val="solid"/>
          </a:ln>
        </p:spPr>
        <p:txBody>
          <a:bodyPr/>
          <a:lstStyle/>
          <a:p>
            <a:endParaRPr lang="en-UA"/>
          </a:p>
        </p:txBody>
      </p:sp>
      <p:pic>
        <p:nvPicPr>
          <p:cNvPr id="30" name="Image 3" descr="/home/claude/icons/projectDiagram_darkorange.png"/>
          <p:cNvPicPr>
            <a:picLocks noChangeAspect="1"/>
          </p:cNvPicPr>
          <p:nvPr/>
        </p:nvPicPr>
        <p:blipFill>
          <a:blip r:embed="rId6"/>
          <a:stretch>
            <a:fillRect/>
          </a:stretch>
        </p:blipFill>
        <p:spPr>
          <a:xfrm>
            <a:off x="1426464" y="4236064"/>
            <a:ext cx="274320" cy="274320"/>
          </a:xfrm>
          <a:prstGeom prst="rect">
            <a:avLst/>
          </a:prstGeom>
        </p:spPr>
      </p:pic>
      <p:sp>
        <p:nvSpPr>
          <p:cNvPr id="31" name="Text 25"/>
          <p:cNvSpPr txBox="1"/>
          <p:nvPr/>
        </p:nvSpPr>
        <p:spPr>
          <a:xfrm>
            <a:off x="2011680" y="4133088"/>
            <a:ext cx="3063240" cy="502920"/>
          </a:xfrm>
          <a:prstGeom prst="rect">
            <a:avLst/>
          </a:prstGeom>
          <a:noFill/>
          <a:ln/>
        </p:spPr>
        <p:txBody>
          <a:bodyPr wrap="square" rtlCol="0" anchor="ctr"/>
          <a:lstStyle/>
          <a:p>
            <a:pPr marL="0" indent="0">
              <a:buNone/>
            </a:pPr>
            <a:r>
              <a:rPr lang="en-US" sz="1600" b="1" dirty="0">
                <a:solidFill>
                  <a:srgbClr val="16191F"/>
                </a:solidFill>
                <a:latin typeface="Calibri" pitchFamily="34" charset="0"/>
                <a:ea typeface="Calibri" pitchFamily="34" charset="-122"/>
                <a:cs typeface="Calibri" pitchFamily="34" charset="-120"/>
              </a:rPr>
              <a:t>Налаштувати мережу</a:t>
            </a:r>
            <a:endParaRPr lang="en-US" sz="1600" dirty="0"/>
          </a:p>
        </p:txBody>
      </p:sp>
      <p:sp>
        <p:nvSpPr>
          <p:cNvPr id="32" name="Text 26"/>
          <p:cNvSpPr txBox="1"/>
          <p:nvPr/>
        </p:nvSpPr>
        <p:spPr>
          <a:xfrm>
            <a:off x="5166360" y="4107450"/>
            <a:ext cx="6263640" cy="548640"/>
          </a:xfrm>
          <a:prstGeom prst="rect">
            <a:avLst/>
          </a:prstGeom>
          <a:noFill/>
          <a:ln/>
        </p:spPr>
        <p:txBody>
          <a:bodyPr wrap="square" rtlCol="0" anchor="ctr"/>
          <a:lstStyle/>
          <a:p>
            <a:pPr marL="0" indent="0">
              <a:lnSpc>
                <a:spcPct val="115000"/>
              </a:lnSpc>
              <a:buNone/>
            </a:pPr>
            <a:r>
              <a:rPr lang="en-US" sz="1400" dirty="0">
                <a:solidFill>
                  <a:srgbClr val="5A6674"/>
                </a:solidFill>
                <a:latin typeface="Calibri" pitchFamily="34" charset="0"/>
                <a:ea typeface="Calibri" pitchFamily="34" charset="-122"/>
                <a:cs typeface="Calibri" pitchFamily="34" charset="-120"/>
              </a:rPr>
              <a:t>VPC, підмережа та Security Group, яка контролюватиме доступ.</a:t>
            </a:r>
            <a:endParaRPr lang="en-US" sz="1400" dirty="0"/>
          </a:p>
        </p:txBody>
      </p:sp>
      <p:sp>
        <p:nvSpPr>
          <p:cNvPr id="33" name="Shape 27"/>
          <p:cNvSpPr/>
          <p:nvPr/>
        </p:nvSpPr>
        <p:spPr>
          <a:xfrm>
            <a:off x="548640" y="4857856"/>
            <a:ext cx="457200" cy="457200"/>
          </a:xfrm>
          <a:prstGeom prst="ellipse">
            <a:avLst/>
          </a:prstGeom>
          <a:solidFill>
            <a:srgbClr val="232F3E"/>
          </a:solidFill>
          <a:ln/>
        </p:spPr>
        <p:txBody>
          <a:bodyPr/>
          <a:lstStyle/>
          <a:p>
            <a:endParaRPr lang="en-UA"/>
          </a:p>
        </p:txBody>
      </p:sp>
      <p:sp>
        <p:nvSpPr>
          <p:cNvPr id="34" name="Text 28"/>
          <p:cNvSpPr txBox="1"/>
          <p:nvPr/>
        </p:nvSpPr>
        <p:spPr>
          <a:xfrm>
            <a:off x="548640" y="4857856"/>
            <a:ext cx="457200" cy="457200"/>
          </a:xfrm>
          <a:prstGeom prst="rect">
            <a:avLst/>
          </a:prstGeom>
          <a:noFill/>
          <a:ln/>
        </p:spPr>
        <p:txBody>
          <a:bodyPr wrap="square" rtlCol="0" anchor="ctr"/>
          <a:lstStyle/>
          <a:p>
            <a:pPr marL="0" indent="0" algn="ctr">
              <a:buNone/>
            </a:pPr>
            <a:r>
              <a:rPr lang="en-US" sz="1600" b="1" dirty="0">
                <a:solidFill>
                  <a:srgbClr val="FF9900"/>
                </a:solidFill>
                <a:latin typeface="Cambria" pitchFamily="34" charset="0"/>
                <a:ea typeface="Cambria" pitchFamily="34" charset="-122"/>
                <a:cs typeface="Cambria" pitchFamily="34" charset="-120"/>
              </a:rPr>
              <a:t>5</a:t>
            </a:r>
            <a:endParaRPr lang="en-US" sz="1600" dirty="0"/>
          </a:p>
        </p:txBody>
      </p:sp>
      <p:sp>
        <p:nvSpPr>
          <p:cNvPr id="35" name="Shape 29"/>
          <p:cNvSpPr/>
          <p:nvPr/>
        </p:nvSpPr>
        <p:spPr>
          <a:xfrm>
            <a:off x="777240" y="5315056"/>
            <a:ext cx="914" cy="182880"/>
          </a:xfrm>
          <a:prstGeom prst="line">
            <a:avLst/>
          </a:prstGeom>
          <a:noFill/>
          <a:ln w="25400">
            <a:solidFill>
              <a:srgbClr val="D5DAE0"/>
            </a:solidFill>
            <a:prstDash val="solid"/>
          </a:ln>
        </p:spPr>
        <p:txBody>
          <a:bodyPr/>
          <a:lstStyle/>
          <a:p>
            <a:endParaRPr lang="en-UA"/>
          </a:p>
        </p:txBody>
      </p:sp>
      <p:sp>
        <p:nvSpPr>
          <p:cNvPr id="36" name="Shape 30"/>
          <p:cNvSpPr/>
          <p:nvPr/>
        </p:nvSpPr>
        <p:spPr>
          <a:xfrm>
            <a:off x="1298448" y="4793848"/>
            <a:ext cx="530352" cy="530352"/>
          </a:xfrm>
          <a:prstGeom prst="ellipse">
            <a:avLst/>
          </a:prstGeom>
          <a:solidFill>
            <a:srgbClr val="F2F3F3"/>
          </a:solidFill>
          <a:ln w="12700">
            <a:solidFill>
              <a:srgbClr val="DDE1E6"/>
            </a:solidFill>
            <a:prstDash val="solid"/>
          </a:ln>
        </p:spPr>
        <p:txBody>
          <a:bodyPr/>
          <a:lstStyle/>
          <a:p>
            <a:endParaRPr lang="en-UA"/>
          </a:p>
        </p:txBody>
      </p:sp>
      <p:pic>
        <p:nvPicPr>
          <p:cNvPr id="37" name="Image 4" descr="/home/claude/icons/userShield_darkorange.png"/>
          <p:cNvPicPr>
            <a:picLocks noChangeAspect="1"/>
          </p:cNvPicPr>
          <p:nvPr/>
        </p:nvPicPr>
        <p:blipFill>
          <a:blip r:embed="rId7"/>
          <a:stretch>
            <a:fillRect/>
          </a:stretch>
        </p:blipFill>
        <p:spPr>
          <a:xfrm>
            <a:off x="1426464" y="4921864"/>
            <a:ext cx="274320" cy="274320"/>
          </a:xfrm>
          <a:prstGeom prst="rect">
            <a:avLst/>
          </a:prstGeom>
        </p:spPr>
      </p:pic>
      <p:sp>
        <p:nvSpPr>
          <p:cNvPr id="38" name="Text 31"/>
          <p:cNvSpPr txBox="1"/>
          <p:nvPr/>
        </p:nvSpPr>
        <p:spPr>
          <a:xfrm>
            <a:off x="2011680" y="4818888"/>
            <a:ext cx="3063240" cy="502920"/>
          </a:xfrm>
          <a:prstGeom prst="rect">
            <a:avLst/>
          </a:prstGeom>
          <a:noFill/>
          <a:ln/>
        </p:spPr>
        <p:txBody>
          <a:bodyPr wrap="square" rtlCol="0" anchor="ctr"/>
          <a:lstStyle/>
          <a:p>
            <a:pPr marL="0" indent="0">
              <a:buNone/>
            </a:pPr>
            <a:r>
              <a:rPr lang="en-US" sz="1600" b="1" dirty="0">
                <a:solidFill>
                  <a:srgbClr val="16191F"/>
                </a:solidFill>
                <a:latin typeface="Calibri" pitchFamily="34" charset="0"/>
                <a:ea typeface="Calibri" pitchFamily="34" charset="-122"/>
                <a:cs typeface="Calibri" pitchFamily="34" charset="-120"/>
              </a:rPr>
              <a:t>Налаштувати автентифікацію</a:t>
            </a:r>
            <a:endParaRPr lang="en-US" sz="1600" dirty="0"/>
          </a:p>
        </p:txBody>
      </p:sp>
      <p:sp>
        <p:nvSpPr>
          <p:cNvPr id="39" name="Text 32"/>
          <p:cNvSpPr txBox="1"/>
          <p:nvPr/>
        </p:nvSpPr>
        <p:spPr>
          <a:xfrm>
            <a:off x="5166360" y="4793250"/>
            <a:ext cx="6263640" cy="548640"/>
          </a:xfrm>
          <a:prstGeom prst="rect">
            <a:avLst/>
          </a:prstGeom>
          <a:noFill/>
          <a:ln/>
        </p:spPr>
        <p:txBody>
          <a:bodyPr wrap="square" rtlCol="0" anchor="ctr"/>
          <a:lstStyle/>
          <a:p>
            <a:pPr marL="0" indent="0">
              <a:lnSpc>
                <a:spcPct val="115000"/>
              </a:lnSpc>
              <a:buNone/>
            </a:pPr>
            <a:r>
              <a:rPr lang="en-US" sz="1400" dirty="0">
                <a:solidFill>
                  <a:srgbClr val="5A6674"/>
                </a:solidFill>
                <a:latin typeface="Calibri" pitchFamily="34" charset="0"/>
                <a:ea typeface="Calibri" pitchFamily="34" charset="-122"/>
                <a:cs typeface="Calibri" pitchFamily="34" charset="-120"/>
              </a:rPr>
              <a:t>Пароль майстер-користувача або IAM database authentication.</a:t>
            </a:r>
            <a:endParaRPr lang="en-US" sz="1400" dirty="0"/>
          </a:p>
        </p:txBody>
      </p:sp>
      <p:sp>
        <p:nvSpPr>
          <p:cNvPr id="40" name="Shape 33"/>
          <p:cNvSpPr/>
          <p:nvPr/>
        </p:nvSpPr>
        <p:spPr>
          <a:xfrm>
            <a:off x="548640" y="5543656"/>
            <a:ext cx="457200" cy="457200"/>
          </a:xfrm>
          <a:prstGeom prst="ellipse">
            <a:avLst/>
          </a:prstGeom>
          <a:solidFill>
            <a:srgbClr val="232F3E"/>
          </a:solidFill>
          <a:ln/>
        </p:spPr>
        <p:txBody>
          <a:bodyPr/>
          <a:lstStyle/>
          <a:p>
            <a:endParaRPr lang="en-UA"/>
          </a:p>
        </p:txBody>
      </p:sp>
      <p:sp>
        <p:nvSpPr>
          <p:cNvPr id="41" name="Text 34"/>
          <p:cNvSpPr txBox="1"/>
          <p:nvPr/>
        </p:nvSpPr>
        <p:spPr>
          <a:xfrm>
            <a:off x="548640" y="5543656"/>
            <a:ext cx="457200" cy="457200"/>
          </a:xfrm>
          <a:prstGeom prst="rect">
            <a:avLst/>
          </a:prstGeom>
          <a:noFill/>
          <a:ln/>
        </p:spPr>
        <p:txBody>
          <a:bodyPr wrap="square" rtlCol="0" anchor="ctr"/>
          <a:lstStyle/>
          <a:p>
            <a:pPr marL="0" indent="0" algn="ctr">
              <a:buNone/>
            </a:pPr>
            <a:r>
              <a:rPr lang="en-US" sz="1600" b="1" dirty="0">
                <a:solidFill>
                  <a:srgbClr val="FF9900"/>
                </a:solidFill>
                <a:latin typeface="Cambria" pitchFamily="34" charset="0"/>
                <a:ea typeface="Cambria" pitchFamily="34" charset="-122"/>
                <a:cs typeface="Cambria" pitchFamily="34" charset="-120"/>
              </a:rPr>
              <a:t>6</a:t>
            </a:r>
            <a:endParaRPr lang="en-US" sz="1600" dirty="0"/>
          </a:p>
        </p:txBody>
      </p:sp>
      <p:sp>
        <p:nvSpPr>
          <p:cNvPr id="42" name="Shape 35"/>
          <p:cNvSpPr/>
          <p:nvPr/>
        </p:nvSpPr>
        <p:spPr>
          <a:xfrm>
            <a:off x="1298448" y="5479648"/>
            <a:ext cx="530352" cy="530352"/>
          </a:xfrm>
          <a:prstGeom prst="ellipse">
            <a:avLst/>
          </a:prstGeom>
          <a:solidFill>
            <a:srgbClr val="F2F3F3"/>
          </a:solidFill>
          <a:ln w="12700">
            <a:solidFill>
              <a:srgbClr val="DDE1E6"/>
            </a:solidFill>
            <a:prstDash val="solid"/>
          </a:ln>
        </p:spPr>
        <p:txBody>
          <a:bodyPr/>
          <a:lstStyle/>
          <a:p>
            <a:endParaRPr lang="en-UA"/>
          </a:p>
        </p:txBody>
      </p:sp>
      <p:pic>
        <p:nvPicPr>
          <p:cNvPr id="43" name="Image 5" descr="/home/claude/icons/plug_darkorange.png"/>
          <p:cNvPicPr>
            <a:picLocks noChangeAspect="1"/>
          </p:cNvPicPr>
          <p:nvPr/>
        </p:nvPicPr>
        <p:blipFill>
          <a:blip r:embed="rId8"/>
          <a:stretch>
            <a:fillRect/>
          </a:stretch>
        </p:blipFill>
        <p:spPr>
          <a:xfrm>
            <a:off x="1426464" y="5607664"/>
            <a:ext cx="274320" cy="274320"/>
          </a:xfrm>
          <a:prstGeom prst="rect">
            <a:avLst/>
          </a:prstGeom>
        </p:spPr>
      </p:pic>
      <p:sp>
        <p:nvSpPr>
          <p:cNvPr id="44" name="Text 36"/>
          <p:cNvSpPr txBox="1"/>
          <p:nvPr/>
        </p:nvSpPr>
        <p:spPr>
          <a:xfrm>
            <a:off x="2011680" y="5504688"/>
            <a:ext cx="3063240" cy="502920"/>
          </a:xfrm>
          <a:prstGeom prst="rect">
            <a:avLst/>
          </a:prstGeom>
          <a:noFill/>
          <a:ln/>
        </p:spPr>
        <p:txBody>
          <a:bodyPr wrap="square" rtlCol="0" anchor="ctr"/>
          <a:lstStyle/>
          <a:p>
            <a:pPr marL="0" indent="0">
              <a:buNone/>
            </a:pPr>
            <a:r>
              <a:rPr lang="en-US" sz="1600" b="1" dirty="0">
                <a:solidFill>
                  <a:srgbClr val="16191F"/>
                </a:solidFill>
                <a:latin typeface="Calibri" pitchFamily="34" charset="0"/>
                <a:ea typeface="Calibri" pitchFamily="34" charset="-122"/>
                <a:cs typeface="Calibri" pitchFamily="34" charset="-120"/>
              </a:rPr>
              <a:t>Підключитися</a:t>
            </a:r>
            <a:endParaRPr lang="en-US" sz="1600" dirty="0"/>
          </a:p>
        </p:txBody>
      </p:sp>
      <p:sp>
        <p:nvSpPr>
          <p:cNvPr id="45" name="Text 37"/>
          <p:cNvSpPr txBox="1"/>
          <p:nvPr/>
        </p:nvSpPr>
        <p:spPr>
          <a:xfrm>
            <a:off x="5166360" y="5479050"/>
            <a:ext cx="6263640" cy="548640"/>
          </a:xfrm>
          <a:prstGeom prst="rect">
            <a:avLst/>
          </a:prstGeom>
          <a:noFill/>
          <a:ln/>
        </p:spPr>
        <p:txBody>
          <a:bodyPr wrap="square" rtlCol="0" anchor="ctr"/>
          <a:lstStyle/>
          <a:p>
            <a:pPr marL="0" indent="0">
              <a:lnSpc>
                <a:spcPct val="115000"/>
              </a:lnSpc>
              <a:buNone/>
            </a:pPr>
            <a:r>
              <a:rPr lang="en-US" sz="1400" dirty="0">
                <a:solidFill>
                  <a:srgbClr val="5A6674"/>
                </a:solidFill>
                <a:latin typeface="Calibri" pitchFamily="34" charset="0"/>
                <a:ea typeface="Calibri" pitchFamily="34" charset="-122"/>
                <a:cs typeface="Calibri" pitchFamily="34" charset="-120"/>
              </a:rPr>
              <a:t>Через Query Editor у консолі, psql/mysql CLI, або SDK застосунку.</a:t>
            </a:r>
            <a:endParaRPr lang="en-US" sz="1400" dirty="0"/>
          </a:p>
        </p:txBody>
      </p:sp>
      <p:sp>
        <p:nvSpPr>
          <p:cNvPr id="46" name="Text 38"/>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5A6674"/>
                </a:solidFill>
                <a:latin typeface="Calibri" pitchFamily="34" charset="0"/>
                <a:ea typeface="Calibri" pitchFamily="34" charset="-122"/>
                <a:cs typeface="Calibri" pitchFamily="34" charset="-120"/>
              </a:rPr>
              <a:t>Amazon RDS і DynamoDB</a:t>
            </a:r>
            <a:endParaRPr lang="en-US" sz="1000" dirty="0"/>
          </a:p>
        </p:txBody>
      </p:sp>
      <p:sp>
        <p:nvSpPr>
          <p:cNvPr id="47" name="Text 39"/>
          <p:cNvSpPr/>
          <p:nvPr/>
        </p:nvSpPr>
        <p:spPr>
          <a:xfrm>
            <a:off x="11274552" y="6448314"/>
            <a:ext cx="457200" cy="274320"/>
          </a:xfrm>
          <a:prstGeom prst="rect">
            <a:avLst/>
          </a:prstGeom>
          <a:noFill/>
          <a:ln/>
        </p:spPr>
        <p:txBody>
          <a:bodyPr wrap="square" rtlCol="0" anchor="ctr"/>
          <a:lstStyle/>
          <a:p>
            <a:pPr marL="0" indent="0" algn="r">
              <a:buNone/>
            </a:pPr>
            <a:r>
              <a:rPr lang="en-US" sz="1000" dirty="0">
                <a:solidFill>
                  <a:srgbClr val="5A667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32F3E"/>
        </a:solidFill>
        <a:effectLst/>
      </p:bgPr>
    </p:bg>
    <p:spTree>
      <p:nvGrpSpPr>
        <p:cNvPr id="1" name=""/>
        <p:cNvGrpSpPr/>
        <p:nvPr/>
      </p:nvGrpSpPr>
      <p:grpSpPr>
        <a:xfrm>
          <a:off x="0" y="0"/>
          <a:ext cx="0" cy="0"/>
          <a:chOff x="0" y="0"/>
          <a:chExt cx="0" cy="0"/>
        </a:xfrm>
      </p:grpSpPr>
      <p:sp>
        <p:nvSpPr>
          <p:cNvPr id="3" name="Text 1"/>
          <p:cNvSpPr txBox="1"/>
          <p:nvPr/>
        </p:nvSpPr>
        <p:spPr>
          <a:xfrm>
            <a:off x="548640" y="329184"/>
            <a:ext cx="11064240" cy="82296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Керування та моніторинг RDS</a:t>
            </a:r>
            <a:endParaRPr lang="en-US" sz="3600" dirty="0"/>
          </a:p>
        </p:txBody>
      </p:sp>
      <p:sp>
        <p:nvSpPr>
          <p:cNvPr id="4" name="Text 2"/>
          <p:cNvSpPr txBox="1"/>
          <p:nvPr/>
        </p:nvSpPr>
        <p:spPr>
          <a:xfrm>
            <a:off x="548640" y="1289304"/>
            <a:ext cx="10789920" cy="365760"/>
          </a:xfrm>
          <a:prstGeom prst="rect">
            <a:avLst/>
          </a:prstGeom>
          <a:noFill/>
          <a:ln/>
        </p:spPr>
        <p:txBody>
          <a:bodyPr wrap="square" rtlCol="0" anchor="ctr"/>
          <a:lstStyle/>
          <a:p>
            <a:pPr marL="0" indent="0">
              <a:buNone/>
            </a:pPr>
            <a:r>
              <a:rPr lang="uk-UA" sz="1600" i="1" dirty="0">
                <a:solidFill>
                  <a:srgbClr val="CADCFC"/>
                </a:solidFill>
                <a:latin typeface="Calibri" pitchFamily="34" charset="0"/>
                <a:ea typeface="Calibri" pitchFamily="34" charset="-122"/>
                <a:cs typeface="Calibri" pitchFamily="34" charset="-120"/>
              </a:rPr>
              <a:t>Механізми</a:t>
            </a:r>
            <a:r>
              <a:rPr lang="en-US" sz="1600" i="1" dirty="0">
                <a:solidFill>
                  <a:srgbClr val="CADCFC"/>
                </a:solidFill>
                <a:latin typeface="Calibri" pitchFamily="34" charset="0"/>
                <a:ea typeface="Calibri" pitchFamily="34" charset="-122"/>
                <a:cs typeface="Calibri" pitchFamily="34" charset="-120"/>
              </a:rPr>
              <a:t>, що разом забезпечують надійність і прозорість роботи бази даних.</a:t>
            </a:r>
            <a:endParaRPr lang="en-US" sz="1600" dirty="0"/>
          </a:p>
        </p:txBody>
      </p:sp>
      <p:sp>
        <p:nvSpPr>
          <p:cNvPr id="5" name="Shape 3"/>
          <p:cNvSpPr/>
          <p:nvPr/>
        </p:nvSpPr>
        <p:spPr>
          <a:xfrm>
            <a:off x="548640" y="2148840"/>
            <a:ext cx="5349240" cy="1143000"/>
          </a:xfrm>
          <a:prstGeom prst="roundRect">
            <a:avLst>
              <a:gd name="adj" fmla="val 8000"/>
            </a:avLst>
          </a:prstGeom>
          <a:solidFill>
            <a:srgbClr val="2E3B4E"/>
          </a:solidFill>
          <a:ln w="12700">
            <a:solidFill>
              <a:srgbClr val="3A4757"/>
            </a:solidFill>
            <a:prstDash val="solid"/>
          </a:ln>
        </p:spPr>
        <p:txBody>
          <a:bodyPr/>
          <a:lstStyle/>
          <a:p>
            <a:endParaRPr lang="en-UA"/>
          </a:p>
        </p:txBody>
      </p:sp>
      <p:sp>
        <p:nvSpPr>
          <p:cNvPr id="6" name="Shape 4"/>
          <p:cNvSpPr/>
          <p:nvPr/>
        </p:nvSpPr>
        <p:spPr>
          <a:xfrm>
            <a:off x="822960" y="2377440"/>
            <a:ext cx="502920" cy="502920"/>
          </a:xfrm>
          <a:prstGeom prst="ellipse">
            <a:avLst/>
          </a:prstGeom>
          <a:solidFill>
            <a:srgbClr val="FF9900"/>
          </a:solidFill>
          <a:ln/>
        </p:spPr>
        <p:txBody>
          <a:bodyPr/>
          <a:lstStyle/>
          <a:p>
            <a:endParaRPr lang="en-UA"/>
          </a:p>
        </p:txBody>
      </p:sp>
      <p:pic>
        <p:nvPicPr>
          <p:cNvPr id="7" name="Image 0" descr="/home/claude/icons/history_navy.png"/>
          <p:cNvPicPr>
            <a:picLocks noChangeAspect="1"/>
          </p:cNvPicPr>
          <p:nvPr/>
        </p:nvPicPr>
        <p:blipFill>
          <a:blip r:embed="rId3"/>
          <a:stretch>
            <a:fillRect/>
          </a:stretch>
        </p:blipFill>
        <p:spPr>
          <a:xfrm>
            <a:off x="950976" y="2505456"/>
            <a:ext cx="246888" cy="246888"/>
          </a:xfrm>
          <a:prstGeom prst="rect">
            <a:avLst/>
          </a:prstGeom>
        </p:spPr>
      </p:pic>
      <p:sp>
        <p:nvSpPr>
          <p:cNvPr id="8" name="Text 5"/>
          <p:cNvSpPr txBox="1"/>
          <p:nvPr/>
        </p:nvSpPr>
        <p:spPr>
          <a:xfrm>
            <a:off x="1508760" y="2313432"/>
            <a:ext cx="4160520" cy="320040"/>
          </a:xfrm>
          <a:prstGeom prst="rect">
            <a:avLst/>
          </a:prstGeom>
          <a:noFill/>
          <a:ln/>
        </p:spPr>
        <p:txBody>
          <a:bodyPr wrap="square" rtlCol="0" anchor="t"/>
          <a:lstStyle/>
          <a:p>
            <a:pPr marL="0" indent="0">
              <a:buNone/>
            </a:pPr>
            <a:r>
              <a:rPr lang="en-US" sz="1600" b="1" dirty="0">
                <a:solidFill>
                  <a:srgbClr val="FF9900"/>
                </a:solidFill>
                <a:latin typeface="Calibri" pitchFamily="34" charset="0"/>
                <a:ea typeface="Calibri" pitchFamily="34" charset="-122"/>
                <a:cs typeface="Calibri" pitchFamily="34" charset="-120"/>
              </a:rPr>
              <a:t>Бекапи та Snapshots</a:t>
            </a:r>
            <a:endParaRPr lang="en-US" sz="1600" dirty="0"/>
          </a:p>
        </p:txBody>
      </p:sp>
      <p:sp>
        <p:nvSpPr>
          <p:cNvPr id="9" name="Text 6"/>
          <p:cNvSpPr txBox="1"/>
          <p:nvPr/>
        </p:nvSpPr>
        <p:spPr>
          <a:xfrm>
            <a:off x="1508760" y="2624328"/>
            <a:ext cx="4160520" cy="640080"/>
          </a:xfrm>
          <a:prstGeom prst="rect">
            <a:avLst/>
          </a:prstGeom>
          <a:noFill/>
          <a:ln/>
        </p:spPr>
        <p:txBody>
          <a:bodyPr wrap="square" rtlCol="0" anchor="t"/>
          <a:lstStyle/>
          <a:p>
            <a:pPr marL="0" indent="0">
              <a:lnSpc>
                <a:spcPct val="120000"/>
              </a:lnSpc>
              <a:buNone/>
            </a:pPr>
            <a:r>
              <a:rPr lang="en-US" sz="1200" dirty="0">
                <a:solidFill>
                  <a:srgbClr val="E6EAF0"/>
                </a:solidFill>
                <a:latin typeface="Calibri" pitchFamily="34" charset="0"/>
                <a:ea typeface="Calibri" pitchFamily="34" charset="-122"/>
                <a:cs typeface="Calibri" pitchFamily="34" charset="-120"/>
              </a:rPr>
              <a:t>Автоматичні щоденні бекапи (зберігаються 7-35 днів) плюс ручні знімки (Snapshots) для довгострокового архіву.</a:t>
            </a:r>
            <a:endParaRPr lang="en-US" sz="1200" dirty="0"/>
          </a:p>
        </p:txBody>
      </p:sp>
      <p:sp>
        <p:nvSpPr>
          <p:cNvPr id="10" name="Shape 7"/>
          <p:cNvSpPr/>
          <p:nvPr/>
        </p:nvSpPr>
        <p:spPr>
          <a:xfrm>
            <a:off x="6446520" y="2148840"/>
            <a:ext cx="5349240" cy="1143000"/>
          </a:xfrm>
          <a:prstGeom prst="roundRect">
            <a:avLst>
              <a:gd name="adj" fmla="val 8000"/>
            </a:avLst>
          </a:prstGeom>
          <a:solidFill>
            <a:srgbClr val="2E3B4E"/>
          </a:solidFill>
          <a:ln w="12700">
            <a:solidFill>
              <a:srgbClr val="3A4757"/>
            </a:solidFill>
            <a:prstDash val="solid"/>
          </a:ln>
        </p:spPr>
        <p:txBody>
          <a:bodyPr/>
          <a:lstStyle/>
          <a:p>
            <a:endParaRPr lang="en-UA"/>
          </a:p>
        </p:txBody>
      </p:sp>
      <p:sp>
        <p:nvSpPr>
          <p:cNvPr id="11" name="Shape 8"/>
          <p:cNvSpPr/>
          <p:nvPr/>
        </p:nvSpPr>
        <p:spPr>
          <a:xfrm>
            <a:off x="6720840" y="2377440"/>
            <a:ext cx="502920" cy="502920"/>
          </a:xfrm>
          <a:prstGeom prst="ellipse">
            <a:avLst/>
          </a:prstGeom>
          <a:solidFill>
            <a:srgbClr val="FF9900"/>
          </a:solidFill>
          <a:ln/>
        </p:spPr>
        <p:txBody>
          <a:bodyPr/>
          <a:lstStyle/>
          <a:p>
            <a:endParaRPr lang="en-UA"/>
          </a:p>
        </p:txBody>
      </p:sp>
      <p:pic>
        <p:nvPicPr>
          <p:cNvPr id="12" name="Image 1" descr="/home/claude/icons/copy_navy.png"/>
          <p:cNvPicPr>
            <a:picLocks noChangeAspect="1"/>
          </p:cNvPicPr>
          <p:nvPr/>
        </p:nvPicPr>
        <p:blipFill>
          <a:blip r:embed="rId4"/>
          <a:stretch>
            <a:fillRect/>
          </a:stretch>
        </p:blipFill>
        <p:spPr>
          <a:xfrm>
            <a:off x="6848856" y="2505456"/>
            <a:ext cx="246888" cy="246888"/>
          </a:xfrm>
          <a:prstGeom prst="rect">
            <a:avLst/>
          </a:prstGeom>
        </p:spPr>
      </p:pic>
      <p:sp>
        <p:nvSpPr>
          <p:cNvPr id="13" name="Text 9"/>
          <p:cNvSpPr txBox="1"/>
          <p:nvPr/>
        </p:nvSpPr>
        <p:spPr>
          <a:xfrm>
            <a:off x="7406640" y="2313432"/>
            <a:ext cx="4160520" cy="320040"/>
          </a:xfrm>
          <a:prstGeom prst="rect">
            <a:avLst/>
          </a:prstGeom>
          <a:noFill/>
          <a:ln/>
        </p:spPr>
        <p:txBody>
          <a:bodyPr wrap="square" rtlCol="0" anchor="t"/>
          <a:lstStyle/>
          <a:p>
            <a:pPr marL="0" indent="0">
              <a:buNone/>
            </a:pPr>
            <a:r>
              <a:rPr lang="en-US" sz="1600" b="1" dirty="0">
                <a:solidFill>
                  <a:srgbClr val="FF9900"/>
                </a:solidFill>
                <a:latin typeface="Calibri" pitchFamily="34" charset="0"/>
                <a:ea typeface="Calibri" pitchFamily="34" charset="-122"/>
                <a:cs typeface="Calibri" pitchFamily="34" charset="-120"/>
              </a:rPr>
              <a:t>Multi-AZ</a:t>
            </a:r>
            <a:endParaRPr lang="en-US" sz="1600" dirty="0"/>
          </a:p>
        </p:txBody>
      </p:sp>
      <p:sp>
        <p:nvSpPr>
          <p:cNvPr id="14" name="Text 10"/>
          <p:cNvSpPr txBox="1"/>
          <p:nvPr/>
        </p:nvSpPr>
        <p:spPr>
          <a:xfrm>
            <a:off x="7406640" y="2624328"/>
            <a:ext cx="4160520" cy="640080"/>
          </a:xfrm>
          <a:prstGeom prst="rect">
            <a:avLst/>
          </a:prstGeom>
          <a:noFill/>
          <a:ln/>
        </p:spPr>
        <p:txBody>
          <a:bodyPr wrap="square" rtlCol="0" anchor="t"/>
          <a:lstStyle/>
          <a:p>
            <a:pPr marL="0" indent="0">
              <a:lnSpc>
                <a:spcPct val="120000"/>
              </a:lnSpc>
              <a:buNone/>
            </a:pPr>
            <a:r>
              <a:rPr lang="en-US" sz="1200" dirty="0">
                <a:solidFill>
                  <a:srgbClr val="E6EAF0"/>
                </a:solidFill>
                <a:latin typeface="Calibri" pitchFamily="34" charset="0"/>
                <a:ea typeface="Calibri" pitchFamily="34" charset="-122"/>
                <a:cs typeface="Calibri" pitchFamily="34" charset="-120"/>
              </a:rPr>
              <a:t>Синхронна реплікація в резервну зону доступності; автоматичний перехід (failover) за 1-2 хвилини при збої.</a:t>
            </a:r>
            <a:endParaRPr lang="en-US" sz="1200" dirty="0"/>
          </a:p>
        </p:txBody>
      </p:sp>
      <p:sp>
        <p:nvSpPr>
          <p:cNvPr id="15" name="Shape 11"/>
          <p:cNvSpPr/>
          <p:nvPr/>
        </p:nvSpPr>
        <p:spPr>
          <a:xfrm>
            <a:off x="548640" y="3566160"/>
            <a:ext cx="5349240" cy="1143000"/>
          </a:xfrm>
          <a:prstGeom prst="roundRect">
            <a:avLst>
              <a:gd name="adj" fmla="val 8000"/>
            </a:avLst>
          </a:prstGeom>
          <a:solidFill>
            <a:srgbClr val="2E3B4E"/>
          </a:solidFill>
          <a:ln w="12700">
            <a:solidFill>
              <a:srgbClr val="3A4757"/>
            </a:solidFill>
            <a:prstDash val="solid"/>
          </a:ln>
        </p:spPr>
        <p:txBody>
          <a:bodyPr/>
          <a:lstStyle/>
          <a:p>
            <a:endParaRPr lang="en-UA"/>
          </a:p>
        </p:txBody>
      </p:sp>
      <p:sp>
        <p:nvSpPr>
          <p:cNvPr id="16" name="Shape 12"/>
          <p:cNvSpPr/>
          <p:nvPr/>
        </p:nvSpPr>
        <p:spPr>
          <a:xfrm>
            <a:off x="822960" y="3794760"/>
            <a:ext cx="502920" cy="502920"/>
          </a:xfrm>
          <a:prstGeom prst="ellipse">
            <a:avLst/>
          </a:prstGeom>
          <a:solidFill>
            <a:srgbClr val="FF9900"/>
          </a:solidFill>
          <a:ln/>
        </p:spPr>
        <p:txBody>
          <a:bodyPr/>
          <a:lstStyle/>
          <a:p>
            <a:endParaRPr lang="en-UA"/>
          </a:p>
        </p:txBody>
      </p:sp>
      <p:pic>
        <p:nvPicPr>
          <p:cNvPr id="17" name="Image 2" descr="/home/claude/icons/syncAlt_navy.png"/>
          <p:cNvPicPr>
            <a:picLocks noChangeAspect="1"/>
          </p:cNvPicPr>
          <p:nvPr/>
        </p:nvPicPr>
        <p:blipFill>
          <a:blip r:embed="rId5"/>
          <a:stretch>
            <a:fillRect/>
          </a:stretch>
        </p:blipFill>
        <p:spPr>
          <a:xfrm>
            <a:off x="950976" y="3922776"/>
            <a:ext cx="246888" cy="246888"/>
          </a:xfrm>
          <a:prstGeom prst="rect">
            <a:avLst/>
          </a:prstGeom>
        </p:spPr>
      </p:pic>
      <p:sp>
        <p:nvSpPr>
          <p:cNvPr id="18" name="Text 13"/>
          <p:cNvSpPr txBox="1"/>
          <p:nvPr/>
        </p:nvSpPr>
        <p:spPr>
          <a:xfrm>
            <a:off x="1508760" y="3730752"/>
            <a:ext cx="4160520" cy="320040"/>
          </a:xfrm>
          <a:prstGeom prst="rect">
            <a:avLst/>
          </a:prstGeom>
          <a:noFill/>
          <a:ln/>
        </p:spPr>
        <p:txBody>
          <a:bodyPr wrap="square" rtlCol="0" anchor="t"/>
          <a:lstStyle/>
          <a:p>
            <a:pPr marL="0" indent="0">
              <a:buNone/>
            </a:pPr>
            <a:r>
              <a:rPr lang="en-US" sz="1600" b="1" dirty="0">
                <a:solidFill>
                  <a:srgbClr val="FF9900"/>
                </a:solidFill>
                <a:latin typeface="Calibri" pitchFamily="34" charset="0"/>
                <a:ea typeface="Calibri" pitchFamily="34" charset="-122"/>
                <a:cs typeface="Calibri" pitchFamily="34" charset="-120"/>
              </a:rPr>
              <a:t>Read Replicas</a:t>
            </a:r>
            <a:endParaRPr lang="en-US" sz="1600" dirty="0"/>
          </a:p>
        </p:txBody>
      </p:sp>
      <p:sp>
        <p:nvSpPr>
          <p:cNvPr id="19" name="Text 14"/>
          <p:cNvSpPr txBox="1"/>
          <p:nvPr/>
        </p:nvSpPr>
        <p:spPr>
          <a:xfrm>
            <a:off x="1508760" y="4041648"/>
            <a:ext cx="4160520" cy="640080"/>
          </a:xfrm>
          <a:prstGeom prst="rect">
            <a:avLst/>
          </a:prstGeom>
          <a:noFill/>
          <a:ln/>
        </p:spPr>
        <p:txBody>
          <a:bodyPr wrap="square" rtlCol="0" anchor="t"/>
          <a:lstStyle/>
          <a:p>
            <a:pPr marL="0" indent="0">
              <a:lnSpc>
                <a:spcPct val="120000"/>
              </a:lnSpc>
              <a:buNone/>
            </a:pPr>
            <a:r>
              <a:rPr lang="en-US" sz="1200" dirty="0">
                <a:solidFill>
                  <a:srgbClr val="E6EAF0"/>
                </a:solidFill>
                <a:latin typeface="Calibri" pitchFamily="34" charset="0"/>
                <a:ea typeface="Calibri" pitchFamily="34" charset="-122"/>
                <a:cs typeface="Calibri" pitchFamily="34" charset="-120"/>
              </a:rPr>
              <a:t>Асинхронні репліки лише для читання, що знімають навантаження з основного інстансу.</a:t>
            </a:r>
            <a:endParaRPr lang="en-US" sz="1200" dirty="0"/>
          </a:p>
        </p:txBody>
      </p:sp>
      <p:sp>
        <p:nvSpPr>
          <p:cNvPr id="20" name="Shape 15"/>
          <p:cNvSpPr/>
          <p:nvPr/>
        </p:nvSpPr>
        <p:spPr>
          <a:xfrm>
            <a:off x="6446520" y="3566160"/>
            <a:ext cx="5349240" cy="1143000"/>
          </a:xfrm>
          <a:prstGeom prst="roundRect">
            <a:avLst>
              <a:gd name="adj" fmla="val 8000"/>
            </a:avLst>
          </a:prstGeom>
          <a:solidFill>
            <a:srgbClr val="2E3B4E"/>
          </a:solidFill>
          <a:ln w="12700">
            <a:solidFill>
              <a:srgbClr val="3A4757"/>
            </a:solidFill>
            <a:prstDash val="solid"/>
          </a:ln>
        </p:spPr>
        <p:txBody>
          <a:bodyPr/>
          <a:lstStyle/>
          <a:p>
            <a:endParaRPr lang="en-UA"/>
          </a:p>
        </p:txBody>
      </p:sp>
      <p:sp>
        <p:nvSpPr>
          <p:cNvPr id="21" name="Shape 16"/>
          <p:cNvSpPr/>
          <p:nvPr/>
        </p:nvSpPr>
        <p:spPr>
          <a:xfrm>
            <a:off x="6720840" y="3794760"/>
            <a:ext cx="502920" cy="502920"/>
          </a:xfrm>
          <a:prstGeom prst="ellipse">
            <a:avLst/>
          </a:prstGeom>
          <a:solidFill>
            <a:srgbClr val="FF9900"/>
          </a:solidFill>
          <a:ln/>
        </p:spPr>
        <p:txBody>
          <a:bodyPr/>
          <a:lstStyle/>
          <a:p>
            <a:endParaRPr lang="en-UA"/>
          </a:p>
        </p:txBody>
      </p:sp>
      <p:pic>
        <p:nvPicPr>
          <p:cNvPr id="22" name="Image 3" descr="/home/claude/icons/chartBar_navy.png"/>
          <p:cNvPicPr>
            <a:picLocks noChangeAspect="1"/>
          </p:cNvPicPr>
          <p:nvPr/>
        </p:nvPicPr>
        <p:blipFill>
          <a:blip r:embed="rId6"/>
          <a:stretch>
            <a:fillRect/>
          </a:stretch>
        </p:blipFill>
        <p:spPr>
          <a:xfrm>
            <a:off x="6848856" y="3922776"/>
            <a:ext cx="246888" cy="246888"/>
          </a:xfrm>
          <a:prstGeom prst="rect">
            <a:avLst/>
          </a:prstGeom>
        </p:spPr>
      </p:pic>
      <p:sp>
        <p:nvSpPr>
          <p:cNvPr id="23" name="Text 17"/>
          <p:cNvSpPr txBox="1"/>
          <p:nvPr/>
        </p:nvSpPr>
        <p:spPr>
          <a:xfrm>
            <a:off x="7406640" y="3730752"/>
            <a:ext cx="4160520" cy="320040"/>
          </a:xfrm>
          <a:prstGeom prst="rect">
            <a:avLst/>
          </a:prstGeom>
          <a:noFill/>
          <a:ln/>
        </p:spPr>
        <p:txBody>
          <a:bodyPr wrap="square" rtlCol="0" anchor="t"/>
          <a:lstStyle/>
          <a:p>
            <a:pPr marL="0" indent="0">
              <a:buNone/>
            </a:pPr>
            <a:r>
              <a:rPr lang="en-US" sz="1600" b="1" dirty="0">
                <a:solidFill>
                  <a:srgbClr val="FF9900"/>
                </a:solidFill>
                <a:latin typeface="Calibri" pitchFamily="34" charset="0"/>
                <a:ea typeface="Calibri" pitchFamily="34" charset="-122"/>
                <a:cs typeface="Calibri" pitchFamily="34" charset="-120"/>
              </a:rPr>
              <a:t>CloudWatch моніторинг</a:t>
            </a:r>
            <a:endParaRPr lang="en-US" sz="1600" dirty="0"/>
          </a:p>
        </p:txBody>
      </p:sp>
      <p:sp>
        <p:nvSpPr>
          <p:cNvPr id="24" name="Text 18"/>
          <p:cNvSpPr txBox="1"/>
          <p:nvPr/>
        </p:nvSpPr>
        <p:spPr>
          <a:xfrm>
            <a:off x="7406640" y="4041648"/>
            <a:ext cx="4160520" cy="640080"/>
          </a:xfrm>
          <a:prstGeom prst="rect">
            <a:avLst/>
          </a:prstGeom>
          <a:noFill/>
          <a:ln/>
        </p:spPr>
        <p:txBody>
          <a:bodyPr wrap="square" rtlCol="0" anchor="t"/>
          <a:lstStyle/>
          <a:p>
            <a:pPr marL="0" indent="0">
              <a:lnSpc>
                <a:spcPct val="120000"/>
              </a:lnSpc>
              <a:buNone/>
            </a:pPr>
            <a:r>
              <a:rPr lang="en-US" sz="1200" dirty="0">
                <a:solidFill>
                  <a:srgbClr val="E6EAF0"/>
                </a:solidFill>
                <a:latin typeface="Calibri" pitchFamily="34" charset="0"/>
                <a:ea typeface="Calibri" pitchFamily="34" charset="-122"/>
                <a:cs typeface="Calibri" pitchFamily="34" charset="-120"/>
              </a:rPr>
              <a:t>Метрики CPU, затримки запитів (Latency) і кількості підключень (Connections) у реальному часі.</a:t>
            </a:r>
            <a:endParaRPr lang="en-US" sz="1200" dirty="0"/>
          </a:p>
        </p:txBody>
      </p:sp>
      <p:sp>
        <p:nvSpPr>
          <p:cNvPr id="25" name="Shape 19"/>
          <p:cNvSpPr/>
          <p:nvPr/>
        </p:nvSpPr>
        <p:spPr>
          <a:xfrm>
            <a:off x="548640" y="5212080"/>
            <a:ext cx="11064240" cy="0"/>
          </a:xfrm>
          <a:prstGeom prst="line">
            <a:avLst/>
          </a:prstGeom>
          <a:noFill/>
          <a:ln w="12700">
            <a:solidFill>
              <a:srgbClr val="3A4757"/>
            </a:solidFill>
            <a:prstDash val="solid"/>
          </a:ln>
        </p:spPr>
        <p:txBody>
          <a:bodyPr/>
          <a:lstStyle/>
          <a:p>
            <a:endParaRPr lang="en-UA"/>
          </a:p>
        </p:txBody>
      </p:sp>
      <p:sp>
        <p:nvSpPr>
          <p:cNvPr id="26" name="Text 20"/>
          <p:cNvSpPr txBox="1"/>
          <p:nvPr/>
        </p:nvSpPr>
        <p:spPr>
          <a:xfrm>
            <a:off x="548640" y="5413248"/>
            <a:ext cx="11064240" cy="548640"/>
          </a:xfrm>
          <a:prstGeom prst="rect">
            <a:avLst/>
          </a:prstGeom>
          <a:noFill/>
          <a:ln/>
        </p:spPr>
        <p:txBody>
          <a:bodyPr wrap="square" rtlCol="0" anchor="t"/>
          <a:lstStyle/>
          <a:p>
            <a:pPr marL="0" indent="0" algn="ctr">
              <a:lnSpc>
                <a:spcPct val="125000"/>
              </a:lnSpc>
              <a:buNone/>
            </a:pPr>
            <a:r>
              <a:rPr lang="en-US" sz="1600" i="1" dirty="0">
                <a:solidFill>
                  <a:srgbClr val="CADCFC"/>
                </a:solidFill>
                <a:latin typeface="Calibri" pitchFamily="34" charset="0"/>
                <a:ea typeface="Calibri" pitchFamily="34" charset="-122"/>
                <a:cs typeface="Calibri" pitchFamily="34" charset="-120"/>
              </a:rPr>
              <a:t>Multi-AZ захищає від збою, Read Replicas — від перевантаження, CloudWatch дозволяє побачити проблему до того, як її побачать користувачі.</a:t>
            </a:r>
            <a:endParaRPr lang="en-US" sz="1600" dirty="0"/>
          </a:p>
        </p:txBody>
      </p:sp>
      <p:sp>
        <p:nvSpPr>
          <p:cNvPr id="27" name="Text 21"/>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A9B7C6"/>
                </a:solidFill>
                <a:latin typeface="Calibri" pitchFamily="34" charset="0"/>
                <a:ea typeface="Calibri" pitchFamily="34" charset="-122"/>
                <a:cs typeface="Calibri" pitchFamily="34" charset="-120"/>
              </a:rPr>
              <a:t>Amazon RDS і DynamoDB</a:t>
            </a:r>
            <a:endParaRPr lang="en-US" sz="1000" dirty="0"/>
          </a:p>
        </p:txBody>
      </p:sp>
      <p:sp>
        <p:nvSpPr>
          <p:cNvPr id="28" name="Text 22"/>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A9B7C6"/>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3F3"/>
        </a:solidFill>
        <a:effectLst/>
      </p:bgPr>
    </p:bg>
    <p:spTree>
      <p:nvGrpSpPr>
        <p:cNvPr id="1" name=""/>
        <p:cNvGrpSpPr/>
        <p:nvPr/>
      </p:nvGrpSpPr>
      <p:grpSpPr>
        <a:xfrm>
          <a:off x="0" y="0"/>
          <a:ext cx="0" cy="0"/>
          <a:chOff x="0" y="0"/>
          <a:chExt cx="0" cy="0"/>
        </a:xfrm>
      </p:grpSpPr>
      <p:sp>
        <p:nvSpPr>
          <p:cNvPr id="3" name="Text 1"/>
          <p:cNvSpPr txBox="1"/>
          <p:nvPr/>
        </p:nvSpPr>
        <p:spPr>
          <a:xfrm>
            <a:off x="548640" y="393192"/>
            <a:ext cx="11064240" cy="822960"/>
          </a:xfrm>
          <a:prstGeom prst="rect">
            <a:avLst/>
          </a:prstGeom>
          <a:noFill/>
          <a:ln/>
        </p:spPr>
        <p:txBody>
          <a:bodyPr wrap="square" rtlCol="0" anchor="ctr"/>
          <a:lstStyle/>
          <a:p>
            <a:pPr marL="0" indent="0">
              <a:buNone/>
            </a:pPr>
            <a:r>
              <a:rPr lang="en-US" sz="3600" b="1" dirty="0">
                <a:solidFill>
                  <a:srgbClr val="16191F"/>
                </a:solidFill>
                <a:latin typeface="Cambria" pitchFamily="34" charset="0"/>
                <a:ea typeface="Cambria" pitchFamily="34" charset="-122"/>
                <a:cs typeface="Cambria" pitchFamily="34" charset="-120"/>
              </a:rPr>
              <a:t>AWS DynamoDB: вступ у NoSQL</a:t>
            </a:r>
            <a:endParaRPr lang="en-US" sz="3600" dirty="0"/>
          </a:p>
        </p:txBody>
      </p:sp>
      <p:sp>
        <p:nvSpPr>
          <p:cNvPr id="4" name="Text 2"/>
          <p:cNvSpPr txBox="1"/>
          <p:nvPr/>
        </p:nvSpPr>
        <p:spPr>
          <a:xfrm>
            <a:off x="548640" y="1691640"/>
            <a:ext cx="5212080" cy="1371600"/>
          </a:xfrm>
          <a:prstGeom prst="rect">
            <a:avLst/>
          </a:prstGeom>
          <a:noFill/>
          <a:ln/>
        </p:spPr>
        <p:txBody>
          <a:bodyPr wrap="square" rtlCol="0" anchor="ctr"/>
          <a:lstStyle/>
          <a:p>
            <a:pPr marL="0" indent="0">
              <a:lnSpc>
                <a:spcPct val="130000"/>
              </a:lnSpc>
              <a:buNone/>
            </a:pPr>
            <a:r>
              <a:rPr lang="en-US" b="1" dirty="0">
                <a:solidFill>
                  <a:srgbClr val="16191F"/>
                </a:solidFill>
                <a:latin typeface="Calibri" pitchFamily="34" charset="0"/>
                <a:ea typeface="Calibri" pitchFamily="34" charset="-122"/>
                <a:cs typeface="Calibri" pitchFamily="34" charset="-120"/>
              </a:rPr>
              <a:t>Amazon DynamoDB </a:t>
            </a:r>
            <a:r>
              <a:rPr lang="en-US" dirty="0">
                <a:solidFill>
                  <a:srgbClr val="16191F"/>
                </a:solidFill>
                <a:latin typeface="Calibri" pitchFamily="34" charset="0"/>
                <a:ea typeface="Calibri" pitchFamily="34" charset="-122"/>
                <a:cs typeface="Calibri" pitchFamily="34" charset="-120"/>
              </a:rPr>
              <a:t>— повністю керована NoSQL база даних типу ключ-значення з передбачуваною продуктивністю на будь-якому масштабі, без серверів для керування.</a:t>
            </a:r>
            <a:endParaRPr lang="en-US" dirty="0"/>
          </a:p>
        </p:txBody>
      </p:sp>
      <p:sp>
        <p:nvSpPr>
          <p:cNvPr id="5" name="Text 3"/>
          <p:cNvSpPr txBox="1"/>
          <p:nvPr/>
        </p:nvSpPr>
        <p:spPr>
          <a:xfrm>
            <a:off x="548640" y="3675888"/>
            <a:ext cx="5212080" cy="1097280"/>
          </a:xfrm>
          <a:prstGeom prst="rect">
            <a:avLst/>
          </a:prstGeom>
          <a:noFill/>
          <a:ln/>
        </p:spPr>
        <p:txBody>
          <a:bodyPr wrap="square" rtlCol="0" anchor="ctr"/>
          <a:lstStyle/>
          <a:p>
            <a:pPr marL="0" indent="0">
              <a:lnSpc>
                <a:spcPct val="125000"/>
              </a:lnSpc>
              <a:buNone/>
            </a:pPr>
            <a:r>
              <a:rPr lang="en-US" sz="1600" i="1" dirty="0">
                <a:solidFill>
                  <a:srgbClr val="5A6674"/>
                </a:solidFill>
                <a:latin typeface="Calibri" pitchFamily="34" charset="0"/>
                <a:ea typeface="Calibri" pitchFamily="34" charset="-122"/>
                <a:cs typeface="Calibri" pitchFamily="34" charset="-120"/>
              </a:rPr>
              <a:t>Аналогія: DynamoDB — гігантська картотека без жорсткої структури. Кожна картка (Item) може мати власний унікальний набір полів, на відміну від однакових рядків у SQL-таблиці.</a:t>
            </a:r>
            <a:endParaRPr lang="en-US" sz="1600" dirty="0"/>
          </a:p>
        </p:txBody>
      </p:sp>
      <p:sp>
        <p:nvSpPr>
          <p:cNvPr id="6" name="Shape 4"/>
          <p:cNvSpPr/>
          <p:nvPr/>
        </p:nvSpPr>
        <p:spPr>
          <a:xfrm>
            <a:off x="6172200" y="1600200"/>
            <a:ext cx="5468112" cy="4480560"/>
          </a:xfrm>
          <a:prstGeom prst="roundRect">
            <a:avLst>
              <a:gd name="adj" fmla="val 2449"/>
            </a:avLst>
          </a:prstGeom>
          <a:solidFill>
            <a:srgbClr val="FFFFFF"/>
          </a:solidFill>
          <a:ln w="12700">
            <a:solidFill>
              <a:srgbClr val="DDE1E6"/>
            </a:solidFill>
            <a:prstDash val="solid"/>
          </a:ln>
          <a:effectLst>
            <a:outerShdw blurRad="101600" dist="38100" dir="5400000" algn="bl" rotWithShape="0">
              <a:srgbClr val="000000">
                <a:alpha val="12000"/>
              </a:srgbClr>
            </a:outerShdw>
          </a:effectLst>
        </p:spPr>
        <p:txBody>
          <a:bodyPr/>
          <a:lstStyle/>
          <a:p>
            <a:endParaRPr lang="en-UA"/>
          </a:p>
        </p:txBody>
      </p:sp>
      <p:sp>
        <p:nvSpPr>
          <p:cNvPr id="7" name="Text 5"/>
          <p:cNvSpPr txBox="1"/>
          <p:nvPr/>
        </p:nvSpPr>
        <p:spPr>
          <a:xfrm>
            <a:off x="6492240" y="1810512"/>
            <a:ext cx="4828032" cy="365760"/>
          </a:xfrm>
          <a:prstGeom prst="rect">
            <a:avLst/>
          </a:prstGeom>
          <a:noFill/>
          <a:ln/>
        </p:spPr>
        <p:txBody>
          <a:bodyPr wrap="square" rtlCol="0" anchor="ctr"/>
          <a:lstStyle/>
          <a:p>
            <a:pPr marL="0" indent="0">
              <a:buNone/>
            </a:pPr>
            <a:r>
              <a:rPr lang="en-US" b="1" dirty="0">
                <a:solidFill>
                  <a:srgbClr val="16191F"/>
                </a:solidFill>
                <a:latin typeface="Calibri" pitchFamily="34" charset="0"/>
                <a:ea typeface="Calibri" pitchFamily="34" charset="-122"/>
                <a:cs typeface="Calibri" pitchFamily="34" charset="-120"/>
              </a:rPr>
              <a:t>Чотири базові поняття</a:t>
            </a:r>
            <a:endParaRPr lang="en-US" dirty="0"/>
          </a:p>
        </p:txBody>
      </p:sp>
      <p:sp>
        <p:nvSpPr>
          <p:cNvPr id="8" name="Shape 6"/>
          <p:cNvSpPr/>
          <p:nvPr/>
        </p:nvSpPr>
        <p:spPr>
          <a:xfrm>
            <a:off x="6492240" y="2479992"/>
            <a:ext cx="457200" cy="457200"/>
          </a:xfrm>
          <a:prstGeom prst="ellipse">
            <a:avLst/>
          </a:prstGeom>
          <a:solidFill>
            <a:srgbClr val="F2F3F3"/>
          </a:solidFill>
          <a:ln/>
        </p:spPr>
        <p:txBody>
          <a:bodyPr/>
          <a:lstStyle/>
          <a:p>
            <a:endParaRPr lang="en-UA"/>
          </a:p>
        </p:txBody>
      </p:sp>
      <p:pic>
        <p:nvPicPr>
          <p:cNvPr id="9" name="Image 0" descr="/home/claude/icons/table_darkorange.png"/>
          <p:cNvPicPr>
            <a:picLocks noChangeAspect="1"/>
          </p:cNvPicPr>
          <p:nvPr/>
        </p:nvPicPr>
        <p:blipFill>
          <a:blip r:embed="rId3"/>
          <a:stretch>
            <a:fillRect/>
          </a:stretch>
        </p:blipFill>
        <p:spPr>
          <a:xfrm>
            <a:off x="6601968" y="2589720"/>
            <a:ext cx="237744" cy="237744"/>
          </a:xfrm>
          <a:prstGeom prst="rect">
            <a:avLst/>
          </a:prstGeom>
        </p:spPr>
      </p:pic>
      <p:sp>
        <p:nvSpPr>
          <p:cNvPr id="10" name="Text 7"/>
          <p:cNvSpPr txBox="1"/>
          <p:nvPr/>
        </p:nvSpPr>
        <p:spPr>
          <a:xfrm>
            <a:off x="7086600" y="2359152"/>
            <a:ext cx="4233672" cy="320040"/>
          </a:xfrm>
          <a:prstGeom prst="rect">
            <a:avLst/>
          </a:prstGeom>
          <a:noFill/>
          <a:ln/>
        </p:spPr>
        <p:txBody>
          <a:bodyPr wrap="square" rtlCol="0" anchor="t"/>
          <a:lstStyle/>
          <a:p>
            <a:pPr marL="0" indent="0">
              <a:buNone/>
            </a:pPr>
            <a:r>
              <a:rPr lang="en-US" sz="1400" b="1" dirty="0">
                <a:solidFill>
                  <a:srgbClr val="16191F"/>
                </a:solidFill>
                <a:latin typeface="Calibri" pitchFamily="34" charset="0"/>
                <a:ea typeface="Calibri" pitchFamily="34" charset="-122"/>
                <a:cs typeface="Calibri" pitchFamily="34" charset="-120"/>
              </a:rPr>
              <a:t>Table</a:t>
            </a:r>
            <a:endParaRPr lang="en-US" sz="1400" dirty="0"/>
          </a:p>
        </p:txBody>
      </p:sp>
      <p:sp>
        <p:nvSpPr>
          <p:cNvPr id="11" name="Text 8"/>
          <p:cNvSpPr txBox="1"/>
          <p:nvPr/>
        </p:nvSpPr>
        <p:spPr>
          <a:xfrm>
            <a:off x="7086600" y="2568094"/>
            <a:ext cx="4233672" cy="502920"/>
          </a:xfrm>
          <a:prstGeom prst="rect">
            <a:avLst/>
          </a:prstGeom>
          <a:noFill/>
          <a:ln/>
        </p:spPr>
        <p:txBody>
          <a:bodyPr wrap="square" rtlCol="0" anchor="t"/>
          <a:lstStyle/>
          <a:p>
            <a:pPr marL="0" indent="0">
              <a:lnSpc>
                <a:spcPct val="120000"/>
              </a:lnSpc>
              <a:buNone/>
            </a:pPr>
            <a:r>
              <a:rPr lang="en-US" sz="1200" dirty="0">
                <a:solidFill>
                  <a:srgbClr val="5A6674"/>
                </a:solidFill>
                <a:latin typeface="Calibri" pitchFamily="34" charset="0"/>
                <a:ea typeface="Calibri" pitchFamily="34" charset="-122"/>
                <a:cs typeface="Calibri" pitchFamily="34" charset="-120"/>
              </a:rPr>
              <a:t>Аналог таблиці — контейнер для елементів, без фіксованої схеми колонок.</a:t>
            </a:r>
            <a:endParaRPr lang="en-US" sz="1200" dirty="0"/>
          </a:p>
        </p:txBody>
      </p:sp>
      <p:sp>
        <p:nvSpPr>
          <p:cNvPr id="12" name="Shape 9"/>
          <p:cNvSpPr/>
          <p:nvPr/>
        </p:nvSpPr>
        <p:spPr>
          <a:xfrm>
            <a:off x="6492240" y="3284664"/>
            <a:ext cx="457200" cy="457200"/>
          </a:xfrm>
          <a:prstGeom prst="ellipse">
            <a:avLst/>
          </a:prstGeom>
          <a:solidFill>
            <a:srgbClr val="F2F3F3"/>
          </a:solidFill>
          <a:ln/>
        </p:spPr>
        <p:txBody>
          <a:bodyPr/>
          <a:lstStyle/>
          <a:p>
            <a:endParaRPr lang="en-UA"/>
          </a:p>
        </p:txBody>
      </p:sp>
      <p:pic>
        <p:nvPicPr>
          <p:cNvPr id="13" name="Image 1" descr="/home/claude/icons/file_darkorange.png"/>
          <p:cNvPicPr>
            <a:picLocks noChangeAspect="1"/>
          </p:cNvPicPr>
          <p:nvPr/>
        </p:nvPicPr>
        <p:blipFill>
          <a:blip r:embed="rId4"/>
          <a:stretch>
            <a:fillRect/>
          </a:stretch>
        </p:blipFill>
        <p:spPr>
          <a:xfrm>
            <a:off x="6601968" y="3394392"/>
            <a:ext cx="237744" cy="237744"/>
          </a:xfrm>
          <a:prstGeom prst="rect">
            <a:avLst/>
          </a:prstGeom>
        </p:spPr>
      </p:pic>
      <p:sp>
        <p:nvSpPr>
          <p:cNvPr id="14" name="Text 10"/>
          <p:cNvSpPr txBox="1"/>
          <p:nvPr/>
        </p:nvSpPr>
        <p:spPr>
          <a:xfrm>
            <a:off x="7086600" y="3163824"/>
            <a:ext cx="4233672" cy="320040"/>
          </a:xfrm>
          <a:prstGeom prst="rect">
            <a:avLst/>
          </a:prstGeom>
          <a:noFill/>
          <a:ln/>
        </p:spPr>
        <p:txBody>
          <a:bodyPr wrap="square" rtlCol="0" anchor="t"/>
          <a:lstStyle/>
          <a:p>
            <a:pPr marL="0" indent="0">
              <a:buNone/>
            </a:pPr>
            <a:r>
              <a:rPr lang="en-US" sz="1400" b="1" dirty="0">
                <a:solidFill>
                  <a:srgbClr val="16191F"/>
                </a:solidFill>
                <a:latin typeface="Calibri" pitchFamily="34" charset="0"/>
                <a:ea typeface="Calibri" pitchFamily="34" charset="-122"/>
                <a:cs typeface="Calibri" pitchFamily="34" charset="-120"/>
              </a:rPr>
              <a:t>Item</a:t>
            </a:r>
            <a:endParaRPr lang="en-US" sz="1400" dirty="0"/>
          </a:p>
        </p:txBody>
      </p:sp>
      <p:sp>
        <p:nvSpPr>
          <p:cNvPr id="15" name="Text 11"/>
          <p:cNvSpPr txBox="1"/>
          <p:nvPr/>
        </p:nvSpPr>
        <p:spPr>
          <a:xfrm>
            <a:off x="7086600" y="3372766"/>
            <a:ext cx="4233672" cy="502920"/>
          </a:xfrm>
          <a:prstGeom prst="rect">
            <a:avLst/>
          </a:prstGeom>
          <a:noFill/>
          <a:ln/>
        </p:spPr>
        <p:txBody>
          <a:bodyPr wrap="square" rtlCol="0" anchor="t"/>
          <a:lstStyle/>
          <a:p>
            <a:pPr marL="0" indent="0">
              <a:lnSpc>
                <a:spcPct val="120000"/>
              </a:lnSpc>
              <a:buNone/>
            </a:pPr>
            <a:r>
              <a:rPr lang="en-US" sz="1200" dirty="0">
                <a:solidFill>
                  <a:srgbClr val="5A6674"/>
                </a:solidFill>
                <a:latin typeface="Calibri" pitchFamily="34" charset="0"/>
                <a:ea typeface="Calibri" pitchFamily="34" charset="-122"/>
                <a:cs typeface="Calibri" pitchFamily="34" charset="-120"/>
              </a:rPr>
              <a:t>Аналог рядка — один запис у таблиці, ідентифікований первинним ключем.</a:t>
            </a:r>
            <a:endParaRPr lang="en-US" sz="1200" dirty="0"/>
          </a:p>
        </p:txBody>
      </p:sp>
      <p:sp>
        <p:nvSpPr>
          <p:cNvPr id="16" name="Shape 12"/>
          <p:cNvSpPr/>
          <p:nvPr/>
        </p:nvSpPr>
        <p:spPr>
          <a:xfrm>
            <a:off x="6492240" y="4089336"/>
            <a:ext cx="457200" cy="457200"/>
          </a:xfrm>
          <a:prstGeom prst="ellipse">
            <a:avLst/>
          </a:prstGeom>
          <a:solidFill>
            <a:srgbClr val="F2F3F3"/>
          </a:solidFill>
          <a:ln/>
        </p:spPr>
        <p:txBody>
          <a:bodyPr/>
          <a:lstStyle/>
          <a:p>
            <a:endParaRPr lang="en-UA"/>
          </a:p>
        </p:txBody>
      </p:sp>
      <p:pic>
        <p:nvPicPr>
          <p:cNvPr id="17" name="Image 2" descr="/home/claude/icons/tags_darkorange.png"/>
          <p:cNvPicPr>
            <a:picLocks noChangeAspect="1"/>
          </p:cNvPicPr>
          <p:nvPr/>
        </p:nvPicPr>
        <p:blipFill>
          <a:blip r:embed="rId5"/>
          <a:stretch>
            <a:fillRect/>
          </a:stretch>
        </p:blipFill>
        <p:spPr>
          <a:xfrm>
            <a:off x="6601968" y="4199064"/>
            <a:ext cx="237744" cy="237744"/>
          </a:xfrm>
          <a:prstGeom prst="rect">
            <a:avLst/>
          </a:prstGeom>
        </p:spPr>
      </p:pic>
      <p:sp>
        <p:nvSpPr>
          <p:cNvPr id="18" name="Text 13"/>
          <p:cNvSpPr txBox="1"/>
          <p:nvPr/>
        </p:nvSpPr>
        <p:spPr>
          <a:xfrm>
            <a:off x="7086600" y="3968496"/>
            <a:ext cx="4233672" cy="320040"/>
          </a:xfrm>
          <a:prstGeom prst="rect">
            <a:avLst/>
          </a:prstGeom>
          <a:noFill/>
          <a:ln/>
        </p:spPr>
        <p:txBody>
          <a:bodyPr wrap="square" rtlCol="0" anchor="t"/>
          <a:lstStyle/>
          <a:p>
            <a:pPr marL="0" indent="0">
              <a:buNone/>
            </a:pPr>
            <a:r>
              <a:rPr lang="en-US" sz="1400" b="1" dirty="0">
                <a:solidFill>
                  <a:srgbClr val="16191F"/>
                </a:solidFill>
                <a:latin typeface="Calibri" pitchFamily="34" charset="0"/>
                <a:ea typeface="Calibri" pitchFamily="34" charset="-122"/>
                <a:cs typeface="Calibri" pitchFamily="34" charset="-120"/>
              </a:rPr>
              <a:t>Attribute</a:t>
            </a:r>
            <a:endParaRPr lang="en-US" sz="1400" dirty="0"/>
          </a:p>
        </p:txBody>
      </p:sp>
      <p:sp>
        <p:nvSpPr>
          <p:cNvPr id="19" name="Text 14"/>
          <p:cNvSpPr txBox="1"/>
          <p:nvPr/>
        </p:nvSpPr>
        <p:spPr>
          <a:xfrm>
            <a:off x="7086600" y="4177438"/>
            <a:ext cx="4233672" cy="502920"/>
          </a:xfrm>
          <a:prstGeom prst="rect">
            <a:avLst/>
          </a:prstGeom>
          <a:noFill/>
          <a:ln/>
        </p:spPr>
        <p:txBody>
          <a:bodyPr wrap="square" rtlCol="0" anchor="t"/>
          <a:lstStyle/>
          <a:p>
            <a:pPr marL="0" indent="0">
              <a:lnSpc>
                <a:spcPct val="120000"/>
              </a:lnSpc>
              <a:buNone/>
            </a:pPr>
            <a:r>
              <a:rPr lang="en-US" sz="1200" dirty="0">
                <a:solidFill>
                  <a:srgbClr val="5A6674"/>
                </a:solidFill>
                <a:latin typeface="Calibri" pitchFamily="34" charset="0"/>
                <a:ea typeface="Calibri" pitchFamily="34" charset="-122"/>
                <a:cs typeface="Calibri" pitchFamily="34" charset="-120"/>
              </a:rPr>
              <a:t>Аналог колонки — окреме поле елемента; різні елементи можуть мати різні атрибути.</a:t>
            </a:r>
            <a:endParaRPr lang="en-US" sz="1200" dirty="0"/>
          </a:p>
        </p:txBody>
      </p:sp>
      <p:sp>
        <p:nvSpPr>
          <p:cNvPr id="20" name="Shape 15"/>
          <p:cNvSpPr/>
          <p:nvPr/>
        </p:nvSpPr>
        <p:spPr>
          <a:xfrm>
            <a:off x="6492240" y="4894008"/>
            <a:ext cx="457200" cy="457200"/>
          </a:xfrm>
          <a:prstGeom prst="ellipse">
            <a:avLst/>
          </a:prstGeom>
          <a:solidFill>
            <a:srgbClr val="F2F3F3"/>
          </a:solidFill>
          <a:ln/>
        </p:spPr>
        <p:txBody>
          <a:bodyPr/>
          <a:lstStyle/>
          <a:p>
            <a:endParaRPr lang="en-UA"/>
          </a:p>
        </p:txBody>
      </p:sp>
      <p:pic>
        <p:nvPicPr>
          <p:cNvPr id="21" name="Image 3" descr="/home/claude/icons/key_darkorange.png"/>
          <p:cNvPicPr>
            <a:picLocks noChangeAspect="1"/>
          </p:cNvPicPr>
          <p:nvPr/>
        </p:nvPicPr>
        <p:blipFill>
          <a:blip r:embed="rId6"/>
          <a:stretch>
            <a:fillRect/>
          </a:stretch>
        </p:blipFill>
        <p:spPr>
          <a:xfrm>
            <a:off x="6601968" y="5003736"/>
            <a:ext cx="237744" cy="237744"/>
          </a:xfrm>
          <a:prstGeom prst="rect">
            <a:avLst/>
          </a:prstGeom>
        </p:spPr>
      </p:pic>
      <p:sp>
        <p:nvSpPr>
          <p:cNvPr id="22" name="Text 16"/>
          <p:cNvSpPr txBox="1"/>
          <p:nvPr/>
        </p:nvSpPr>
        <p:spPr>
          <a:xfrm>
            <a:off x="7086600" y="4773168"/>
            <a:ext cx="4233672" cy="320040"/>
          </a:xfrm>
          <a:prstGeom prst="rect">
            <a:avLst/>
          </a:prstGeom>
          <a:noFill/>
          <a:ln/>
        </p:spPr>
        <p:txBody>
          <a:bodyPr wrap="square" rtlCol="0" anchor="t"/>
          <a:lstStyle/>
          <a:p>
            <a:pPr marL="0" indent="0">
              <a:buNone/>
            </a:pPr>
            <a:r>
              <a:rPr lang="en-US" sz="1400" b="1" dirty="0">
                <a:solidFill>
                  <a:srgbClr val="16191F"/>
                </a:solidFill>
                <a:latin typeface="Calibri" pitchFamily="34" charset="0"/>
                <a:ea typeface="Calibri" pitchFamily="34" charset="-122"/>
                <a:cs typeface="Calibri" pitchFamily="34" charset="-120"/>
              </a:rPr>
              <a:t>Primary Key</a:t>
            </a:r>
            <a:endParaRPr lang="en-US" sz="1400" dirty="0"/>
          </a:p>
        </p:txBody>
      </p:sp>
      <p:sp>
        <p:nvSpPr>
          <p:cNvPr id="23" name="Text 17"/>
          <p:cNvSpPr txBox="1"/>
          <p:nvPr/>
        </p:nvSpPr>
        <p:spPr>
          <a:xfrm>
            <a:off x="7086600" y="4982110"/>
            <a:ext cx="4233672" cy="502920"/>
          </a:xfrm>
          <a:prstGeom prst="rect">
            <a:avLst/>
          </a:prstGeom>
          <a:noFill/>
          <a:ln/>
        </p:spPr>
        <p:txBody>
          <a:bodyPr wrap="square" rtlCol="0" anchor="t"/>
          <a:lstStyle/>
          <a:p>
            <a:pPr marL="0" indent="0">
              <a:lnSpc>
                <a:spcPct val="120000"/>
              </a:lnSpc>
              <a:buNone/>
            </a:pPr>
            <a:r>
              <a:rPr lang="en-US" sz="1200" dirty="0">
                <a:solidFill>
                  <a:srgbClr val="5A6674"/>
                </a:solidFill>
                <a:latin typeface="Calibri" pitchFamily="34" charset="0"/>
                <a:ea typeface="Calibri" pitchFamily="34" charset="-122"/>
                <a:cs typeface="Calibri" pitchFamily="34" charset="-120"/>
              </a:rPr>
              <a:t>Унікальний ідентифікатор елемента — детальніше на наступному слайді.</a:t>
            </a:r>
            <a:endParaRPr lang="en-US" sz="1200" dirty="0"/>
          </a:p>
        </p:txBody>
      </p:sp>
      <p:sp>
        <p:nvSpPr>
          <p:cNvPr id="24" name="Text 18"/>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5A6674"/>
                </a:solidFill>
                <a:latin typeface="Calibri" pitchFamily="34" charset="0"/>
                <a:ea typeface="Calibri" pitchFamily="34" charset="-122"/>
                <a:cs typeface="Calibri" pitchFamily="34" charset="-120"/>
              </a:rPr>
              <a:t>Amazon RDS і DynamoDB</a:t>
            </a:r>
            <a:endParaRPr lang="en-US" sz="1000" dirty="0"/>
          </a:p>
        </p:txBody>
      </p:sp>
      <p:sp>
        <p:nvSpPr>
          <p:cNvPr id="25" name="Text 19"/>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A667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32F3E"/>
        </a:solidFill>
        <a:effectLst/>
      </p:bgPr>
    </p:bg>
    <p:spTree>
      <p:nvGrpSpPr>
        <p:cNvPr id="1" name=""/>
        <p:cNvGrpSpPr/>
        <p:nvPr/>
      </p:nvGrpSpPr>
      <p:grpSpPr>
        <a:xfrm>
          <a:off x="0" y="0"/>
          <a:ext cx="0" cy="0"/>
          <a:chOff x="0" y="0"/>
          <a:chExt cx="0" cy="0"/>
        </a:xfrm>
      </p:grpSpPr>
      <p:sp>
        <p:nvSpPr>
          <p:cNvPr id="3" name="Text 1"/>
          <p:cNvSpPr txBox="1"/>
          <p:nvPr/>
        </p:nvSpPr>
        <p:spPr>
          <a:xfrm>
            <a:off x="548640" y="442156"/>
            <a:ext cx="11064240" cy="82296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Первинні та вторинні ключі, індекси</a:t>
            </a:r>
            <a:endParaRPr lang="en-US" sz="3600" dirty="0"/>
          </a:p>
        </p:txBody>
      </p:sp>
      <p:sp>
        <p:nvSpPr>
          <p:cNvPr id="4" name="Text 2"/>
          <p:cNvSpPr txBox="1"/>
          <p:nvPr/>
        </p:nvSpPr>
        <p:spPr>
          <a:xfrm>
            <a:off x="548640" y="1453896"/>
            <a:ext cx="10789920" cy="36576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Правильний вибір ключів — найважливіше архітектурне рішення в DynamoDB.</a:t>
            </a:r>
            <a:endParaRPr lang="en-US" sz="1600" dirty="0"/>
          </a:p>
        </p:txBody>
      </p:sp>
      <p:sp>
        <p:nvSpPr>
          <p:cNvPr id="5" name="Shape 3"/>
          <p:cNvSpPr/>
          <p:nvPr/>
        </p:nvSpPr>
        <p:spPr>
          <a:xfrm>
            <a:off x="548640" y="2148840"/>
            <a:ext cx="5349240" cy="1143000"/>
          </a:xfrm>
          <a:prstGeom prst="roundRect">
            <a:avLst>
              <a:gd name="adj" fmla="val 8000"/>
            </a:avLst>
          </a:prstGeom>
          <a:solidFill>
            <a:srgbClr val="2E3B4E"/>
          </a:solidFill>
          <a:ln w="12700">
            <a:solidFill>
              <a:srgbClr val="3A4757"/>
            </a:solidFill>
            <a:prstDash val="solid"/>
          </a:ln>
        </p:spPr>
        <p:txBody>
          <a:bodyPr/>
          <a:lstStyle/>
          <a:p>
            <a:endParaRPr lang="en-UA"/>
          </a:p>
        </p:txBody>
      </p:sp>
      <p:sp>
        <p:nvSpPr>
          <p:cNvPr id="6" name="Shape 4"/>
          <p:cNvSpPr/>
          <p:nvPr/>
        </p:nvSpPr>
        <p:spPr>
          <a:xfrm>
            <a:off x="822960" y="2420170"/>
            <a:ext cx="502920" cy="502920"/>
          </a:xfrm>
          <a:prstGeom prst="ellipse">
            <a:avLst/>
          </a:prstGeom>
          <a:solidFill>
            <a:srgbClr val="FF9900"/>
          </a:solidFill>
          <a:ln/>
        </p:spPr>
        <p:txBody>
          <a:bodyPr/>
          <a:lstStyle/>
          <a:p>
            <a:endParaRPr lang="en-UA"/>
          </a:p>
        </p:txBody>
      </p:sp>
      <p:pic>
        <p:nvPicPr>
          <p:cNvPr id="7" name="Image 0" descr="/home/claude/icons/columns_navy.png"/>
          <p:cNvPicPr>
            <a:picLocks noChangeAspect="1"/>
          </p:cNvPicPr>
          <p:nvPr/>
        </p:nvPicPr>
        <p:blipFill>
          <a:blip r:embed="rId3"/>
          <a:stretch>
            <a:fillRect/>
          </a:stretch>
        </p:blipFill>
        <p:spPr>
          <a:xfrm>
            <a:off x="950976" y="2548186"/>
            <a:ext cx="246888" cy="246888"/>
          </a:xfrm>
          <a:prstGeom prst="rect">
            <a:avLst/>
          </a:prstGeom>
        </p:spPr>
      </p:pic>
      <p:sp>
        <p:nvSpPr>
          <p:cNvPr id="8" name="Text 5"/>
          <p:cNvSpPr txBox="1"/>
          <p:nvPr/>
        </p:nvSpPr>
        <p:spPr>
          <a:xfrm>
            <a:off x="1508760" y="2313432"/>
            <a:ext cx="4160520" cy="320040"/>
          </a:xfrm>
          <a:prstGeom prst="rect">
            <a:avLst/>
          </a:prstGeom>
          <a:noFill/>
          <a:ln/>
        </p:spPr>
        <p:txBody>
          <a:bodyPr wrap="square" rtlCol="0" anchor="ctr"/>
          <a:lstStyle/>
          <a:p>
            <a:pPr marL="0" indent="0">
              <a:buNone/>
            </a:pPr>
            <a:r>
              <a:rPr lang="en-US" sz="1600" b="1" dirty="0">
                <a:solidFill>
                  <a:srgbClr val="FF9900"/>
                </a:solidFill>
                <a:latin typeface="Calibri" pitchFamily="34" charset="0"/>
                <a:ea typeface="Calibri" pitchFamily="34" charset="-122"/>
                <a:cs typeface="Calibri" pitchFamily="34" charset="-120"/>
              </a:rPr>
              <a:t>Partition Key</a:t>
            </a:r>
            <a:endParaRPr lang="en-US" sz="1600" dirty="0"/>
          </a:p>
        </p:txBody>
      </p:sp>
      <p:sp>
        <p:nvSpPr>
          <p:cNvPr id="9" name="Text 6"/>
          <p:cNvSpPr txBox="1"/>
          <p:nvPr/>
        </p:nvSpPr>
        <p:spPr>
          <a:xfrm>
            <a:off x="1508760" y="2590144"/>
            <a:ext cx="4160520" cy="685800"/>
          </a:xfrm>
          <a:prstGeom prst="rect">
            <a:avLst/>
          </a:prstGeom>
          <a:noFill/>
          <a:ln/>
        </p:spPr>
        <p:txBody>
          <a:bodyPr wrap="square" rtlCol="0" anchor="t"/>
          <a:lstStyle/>
          <a:p>
            <a:pPr marL="0" indent="0">
              <a:lnSpc>
                <a:spcPct val="120000"/>
              </a:lnSpc>
              <a:buNone/>
            </a:pPr>
            <a:r>
              <a:rPr lang="en-US" sz="1100" dirty="0">
                <a:solidFill>
                  <a:srgbClr val="E6EAF0"/>
                </a:solidFill>
                <a:latin typeface="Calibri" pitchFamily="34" charset="0"/>
                <a:ea typeface="Calibri" pitchFamily="34" charset="-122"/>
                <a:cs typeface="Calibri" pitchFamily="34" charset="-120"/>
              </a:rPr>
              <a:t>Визначає, на якому фізичному розділі зберігається елемент. Хешується для рівномірного розподілу навантаження.</a:t>
            </a:r>
            <a:endParaRPr lang="en-US" sz="1100" dirty="0"/>
          </a:p>
        </p:txBody>
      </p:sp>
      <p:sp>
        <p:nvSpPr>
          <p:cNvPr id="10" name="Shape 7"/>
          <p:cNvSpPr/>
          <p:nvPr/>
        </p:nvSpPr>
        <p:spPr>
          <a:xfrm>
            <a:off x="6446520" y="2148840"/>
            <a:ext cx="5349240" cy="1143000"/>
          </a:xfrm>
          <a:prstGeom prst="roundRect">
            <a:avLst>
              <a:gd name="adj" fmla="val 8000"/>
            </a:avLst>
          </a:prstGeom>
          <a:solidFill>
            <a:srgbClr val="2E3B4E"/>
          </a:solidFill>
          <a:ln w="12700">
            <a:solidFill>
              <a:srgbClr val="3A4757"/>
            </a:solidFill>
            <a:prstDash val="solid"/>
          </a:ln>
        </p:spPr>
        <p:txBody>
          <a:bodyPr/>
          <a:lstStyle/>
          <a:p>
            <a:endParaRPr lang="en-UA"/>
          </a:p>
        </p:txBody>
      </p:sp>
      <p:sp>
        <p:nvSpPr>
          <p:cNvPr id="11" name="Shape 8"/>
          <p:cNvSpPr/>
          <p:nvPr/>
        </p:nvSpPr>
        <p:spPr>
          <a:xfrm>
            <a:off x="6720840" y="2420170"/>
            <a:ext cx="502920" cy="502920"/>
          </a:xfrm>
          <a:prstGeom prst="ellipse">
            <a:avLst/>
          </a:prstGeom>
          <a:solidFill>
            <a:srgbClr val="FF9900"/>
          </a:solidFill>
          <a:ln/>
        </p:spPr>
        <p:txBody>
          <a:bodyPr/>
          <a:lstStyle/>
          <a:p>
            <a:endParaRPr lang="en-UA"/>
          </a:p>
        </p:txBody>
      </p:sp>
      <p:pic>
        <p:nvPicPr>
          <p:cNvPr id="12" name="Image 1" descr="/home/claude/icons/gripLines_navy.png"/>
          <p:cNvPicPr>
            <a:picLocks noChangeAspect="1"/>
          </p:cNvPicPr>
          <p:nvPr/>
        </p:nvPicPr>
        <p:blipFill>
          <a:blip r:embed="rId4"/>
          <a:stretch>
            <a:fillRect/>
          </a:stretch>
        </p:blipFill>
        <p:spPr>
          <a:xfrm>
            <a:off x="6848856" y="2548186"/>
            <a:ext cx="246888" cy="246888"/>
          </a:xfrm>
          <a:prstGeom prst="rect">
            <a:avLst/>
          </a:prstGeom>
        </p:spPr>
      </p:pic>
      <p:sp>
        <p:nvSpPr>
          <p:cNvPr id="13" name="Text 9"/>
          <p:cNvSpPr txBox="1"/>
          <p:nvPr/>
        </p:nvSpPr>
        <p:spPr>
          <a:xfrm>
            <a:off x="7406640" y="2313432"/>
            <a:ext cx="4160520" cy="320040"/>
          </a:xfrm>
          <a:prstGeom prst="rect">
            <a:avLst/>
          </a:prstGeom>
          <a:noFill/>
          <a:ln/>
        </p:spPr>
        <p:txBody>
          <a:bodyPr wrap="square" rtlCol="0" anchor="ctr"/>
          <a:lstStyle/>
          <a:p>
            <a:pPr marL="0" indent="0">
              <a:buNone/>
            </a:pPr>
            <a:r>
              <a:rPr lang="en-US" sz="1600" b="1" dirty="0">
                <a:solidFill>
                  <a:srgbClr val="FF9900"/>
                </a:solidFill>
                <a:latin typeface="Calibri" pitchFamily="34" charset="0"/>
                <a:ea typeface="Calibri" pitchFamily="34" charset="-122"/>
                <a:cs typeface="Calibri" pitchFamily="34" charset="-120"/>
              </a:rPr>
              <a:t>Sort Key</a:t>
            </a:r>
            <a:endParaRPr lang="en-US" sz="1600" dirty="0"/>
          </a:p>
        </p:txBody>
      </p:sp>
      <p:sp>
        <p:nvSpPr>
          <p:cNvPr id="14" name="Text 10"/>
          <p:cNvSpPr txBox="1"/>
          <p:nvPr/>
        </p:nvSpPr>
        <p:spPr>
          <a:xfrm>
            <a:off x="7406640" y="2590144"/>
            <a:ext cx="4160520" cy="685800"/>
          </a:xfrm>
          <a:prstGeom prst="rect">
            <a:avLst/>
          </a:prstGeom>
          <a:noFill/>
          <a:ln/>
        </p:spPr>
        <p:txBody>
          <a:bodyPr wrap="square" rtlCol="0" anchor="t"/>
          <a:lstStyle/>
          <a:p>
            <a:pPr marL="0" indent="0">
              <a:lnSpc>
                <a:spcPct val="120000"/>
              </a:lnSpc>
              <a:buNone/>
            </a:pPr>
            <a:r>
              <a:rPr lang="en-US" sz="1100" dirty="0">
                <a:solidFill>
                  <a:srgbClr val="E6EAF0"/>
                </a:solidFill>
                <a:latin typeface="Calibri" pitchFamily="34" charset="0"/>
                <a:ea typeface="Calibri" pitchFamily="34" charset="-122"/>
                <a:cs typeface="Calibri" pitchFamily="34" charset="-120"/>
              </a:rPr>
              <a:t>Необов'язковий другий компонент ключа — сортує й групує елементи з однаковим Partition Key.</a:t>
            </a:r>
            <a:endParaRPr lang="en-US" sz="1100" dirty="0"/>
          </a:p>
        </p:txBody>
      </p:sp>
      <p:sp>
        <p:nvSpPr>
          <p:cNvPr id="15" name="Shape 11"/>
          <p:cNvSpPr/>
          <p:nvPr/>
        </p:nvSpPr>
        <p:spPr>
          <a:xfrm>
            <a:off x="548640" y="3566160"/>
            <a:ext cx="5349240" cy="1143000"/>
          </a:xfrm>
          <a:prstGeom prst="roundRect">
            <a:avLst>
              <a:gd name="adj" fmla="val 8000"/>
            </a:avLst>
          </a:prstGeom>
          <a:solidFill>
            <a:srgbClr val="2E3B4E"/>
          </a:solidFill>
          <a:ln w="12700">
            <a:solidFill>
              <a:srgbClr val="3A4757"/>
            </a:solidFill>
            <a:prstDash val="solid"/>
          </a:ln>
        </p:spPr>
        <p:txBody>
          <a:bodyPr/>
          <a:lstStyle/>
          <a:p>
            <a:endParaRPr lang="en-UA"/>
          </a:p>
        </p:txBody>
      </p:sp>
      <p:sp>
        <p:nvSpPr>
          <p:cNvPr id="16" name="Shape 12"/>
          <p:cNvSpPr/>
          <p:nvPr/>
        </p:nvSpPr>
        <p:spPr>
          <a:xfrm>
            <a:off x="822960" y="3837490"/>
            <a:ext cx="502920" cy="502920"/>
          </a:xfrm>
          <a:prstGeom prst="ellipse">
            <a:avLst/>
          </a:prstGeom>
          <a:solidFill>
            <a:srgbClr val="FF9900"/>
          </a:solidFill>
          <a:ln/>
        </p:spPr>
        <p:txBody>
          <a:bodyPr/>
          <a:lstStyle/>
          <a:p>
            <a:endParaRPr lang="en-UA"/>
          </a:p>
        </p:txBody>
      </p:sp>
      <p:pic>
        <p:nvPicPr>
          <p:cNvPr id="17" name="Image 2" descr="/home/claude/icons/search_navy.png"/>
          <p:cNvPicPr>
            <a:picLocks noChangeAspect="1"/>
          </p:cNvPicPr>
          <p:nvPr/>
        </p:nvPicPr>
        <p:blipFill>
          <a:blip r:embed="rId5"/>
          <a:stretch>
            <a:fillRect/>
          </a:stretch>
        </p:blipFill>
        <p:spPr>
          <a:xfrm>
            <a:off x="950976" y="3965506"/>
            <a:ext cx="246888" cy="246888"/>
          </a:xfrm>
          <a:prstGeom prst="rect">
            <a:avLst/>
          </a:prstGeom>
        </p:spPr>
      </p:pic>
      <p:sp>
        <p:nvSpPr>
          <p:cNvPr id="18" name="Text 13"/>
          <p:cNvSpPr txBox="1"/>
          <p:nvPr/>
        </p:nvSpPr>
        <p:spPr>
          <a:xfrm>
            <a:off x="1508760" y="3730752"/>
            <a:ext cx="4160520" cy="320040"/>
          </a:xfrm>
          <a:prstGeom prst="rect">
            <a:avLst/>
          </a:prstGeom>
          <a:noFill/>
          <a:ln/>
        </p:spPr>
        <p:txBody>
          <a:bodyPr wrap="square" rtlCol="0" anchor="ctr"/>
          <a:lstStyle/>
          <a:p>
            <a:pPr marL="0" indent="0">
              <a:buNone/>
            </a:pPr>
            <a:r>
              <a:rPr lang="en-US" sz="1600" b="1" dirty="0">
                <a:solidFill>
                  <a:srgbClr val="FF9900"/>
                </a:solidFill>
                <a:latin typeface="Calibri" pitchFamily="34" charset="0"/>
                <a:ea typeface="Calibri" pitchFamily="34" charset="-122"/>
                <a:cs typeface="Calibri" pitchFamily="34" charset="-120"/>
              </a:rPr>
              <a:t>GSI (Global Secondary Index)</a:t>
            </a:r>
            <a:endParaRPr lang="en-US" sz="1600" dirty="0"/>
          </a:p>
        </p:txBody>
      </p:sp>
      <p:sp>
        <p:nvSpPr>
          <p:cNvPr id="19" name="Text 14"/>
          <p:cNvSpPr txBox="1"/>
          <p:nvPr/>
        </p:nvSpPr>
        <p:spPr>
          <a:xfrm>
            <a:off x="1508760" y="4007464"/>
            <a:ext cx="4160520" cy="685800"/>
          </a:xfrm>
          <a:prstGeom prst="rect">
            <a:avLst/>
          </a:prstGeom>
          <a:noFill/>
          <a:ln/>
        </p:spPr>
        <p:txBody>
          <a:bodyPr wrap="square" rtlCol="0" anchor="t"/>
          <a:lstStyle/>
          <a:p>
            <a:pPr marL="0" indent="0">
              <a:lnSpc>
                <a:spcPct val="120000"/>
              </a:lnSpc>
              <a:buNone/>
            </a:pPr>
            <a:r>
              <a:rPr lang="en-US" sz="1100" dirty="0">
                <a:solidFill>
                  <a:srgbClr val="E6EAF0"/>
                </a:solidFill>
                <a:latin typeface="Calibri" pitchFamily="34" charset="0"/>
                <a:ea typeface="Calibri" pitchFamily="34" charset="-122"/>
                <a:cs typeface="Calibri" pitchFamily="34" charset="-120"/>
              </a:rPr>
              <a:t>Альтернативний набір ключів для запитів за іншими атрибутами, ніж основний первинний ключ.</a:t>
            </a:r>
            <a:endParaRPr lang="en-US" sz="1100" dirty="0"/>
          </a:p>
        </p:txBody>
      </p:sp>
      <p:sp>
        <p:nvSpPr>
          <p:cNvPr id="20" name="Shape 15"/>
          <p:cNvSpPr/>
          <p:nvPr/>
        </p:nvSpPr>
        <p:spPr>
          <a:xfrm>
            <a:off x="6446520" y="3566160"/>
            <a:ext cx="5349240" cy="1143000"/>
          </a:xfrm>
          <a:prstGeom prst="roundRect">
            <a:avLst>
              <a:gd name="adj" fmla="val 8000"/>
            </a:avLst>
          </a:prstGeom>
          <a:solidFill>
            <a:srgbClr val="2E3B4E"/>
          </a:solidFill>
          <a:ln w="12700">
            <a:solidFill>
              <a:srgbClr val="3A4757"/>
            </a:solidFill>
            <a:prstDash val="solid"/>
          </a:ln>
        </p:spPr>
        <p:txBody>
          <a:bodyPr/>
          <a:lstStyle/>
          <a:p>
            <a:endParaRPr lang="en-UA"/>
          </a:p>
        </p:txBody>
      </p:sp>
      <p:sp>
        <p:nvSpPr>
          <p:cNvPr id="21" name="Shape 16"/>
          <p:cNvSpPr/>
          <p:nvPr/>
        </p:nvSpPr>
        <p:spPr>
          <a:xfrm>
            <a:off x="6720840" y="3837490"/>
            <a:ext cx="502920" cy="502920"/>
          </a:xfrm>
          <a:prstGeom prst="ellipse">
            <a:avLst/>
          </a:prstGeom>
          <a:solidFill>
            <a:srgbClr val="FF9900"/>
          </a:solidFill>
          <a:ln/>
        </p:spPr>
        <p:txBody>
          <a:bodyPr/>
          <a:lstStyle/>
          <a:p>
            <a:endParaRPr lang="en-UA"/>
          </a:p>
        </p:txBody>
      </p:sp>
      <p:pic>
        <p:nvPicPr>
          <p:cNvPr id="22" name="Image 3" descr="/home/claude/icons/thLarge_navy.png"/>
          <p:cNvPicPr>
            <a:picLocks noChangeAspect="1"/>
          </p:cNvPicPr>
          <p:nvPr/>
        </p:nvPicPr>
        <p:blipFill>
          <a:blip r:embed="rId6"/>
          <a:stretch>
            <a:fillRect/>
          </a:stretch>
        </p:blipFill>
        <p:spPr>
          <a:xfrm>
            <a:off x="6848856" y="3965506"/>
            <a:ext cx="246888" cy="246888"/>
          </a:xfrm>
          <a:prstGeom prst="rect">
            <a:avLst/>
          </a:prstGeom>
        </p:spPr>
      </p:pic>
      <p:sp>
        <p:nvSpPr>
          <p:cNvPr id="23" name="Text 17"/>
          <p:cNvSpPr txBox="1"/>
          <p:nvPr/>
        </p:nvSpPr>
        <p:spPr>
          <a:xfrm>
            <a:off x="7406640" y="3730752"/>
            <a:ext cx="4160520" cy="320040"/>
          </a:xfrm>
          <a:prstGeom prst="rect">
            <a:avLst/>
          </a:prstGeom>
          <a:noFill/>
          <a:ln/>
        </p:spPr>
        <p:txBody>
          <a:bodyPr wrap="square" rtlCol="0" anchor="ctr"/>
          <a:lstStyle/>
          <a:p>
            <a:pPr marL="0" indent="0">
              <a:buNone/>
            </a:pPr>
            <a:r>
              <a:rPr lang="en-US" sz="1600" b="1" dirty="0">
                <a:solidFill>
                  <a:srgbClr val="FF9900"/>
                </a:solidFill>
                <a:latin typeface="Calibri" pitchFamily="34" charset="0"/>
                <a:ea typeface="Calibri" pitchFamily="34" charset="-122"/>
                <a:cs typeface="Calibri" pitchFamily="34" charset="-120"/>
              </a:rPr>
              <a:t>LSI (Local Secondary Index)</a:t>
            </a:r>
            <a:endParaRPr lang="en-US" sz="1600" dirty="0"/>
          </a:p>
        </p:txBody>
      </p:sp>
      <p:sp>
        <p:nvSpPr>
          <p:cNvPr id="24" name="Text 18"/>
          <p:cNvSpPr txBox="1"/>
          <p:nvPr/>
        </p:nvSpPr>
        <p:spPr>
          <a:xfrm>
            <a:off x="7406640" y="4007464"/>
            <a:ext cx="4160520" cy="685800"/>
          </a:xfrm>
          <a:prstGeom prst="rect">
            <a:avLst/>
          </a:prstGeom>
          <a:noFill/>
          <a:ln/>
        </p:spPr>
        <p:txBody>
          <a:bodyPr wrap="square" rtlCol="0" anchor="t"/>
          <a:lstStyle/>
          <a:p>
            <a:pPr marL="0" indent="0">
              <a:lnSpc>
                <a:spcPct val="120000"/>
              </a:lnSpc>
              <a:buNone/>
            </a:pPr>
            <a:r>
              <a:rPr lang="en-US" sz="1100" dirty="0">
                <a:solidFill>
                  <a:srgbClr val="E6EAF0"/>
                </a:solidFill>
                <a:latin typeface="Calibri" pitchFamily="34" charset="0"/>
                <a:ea typeface="Calibri" pitchFamily="34" charset="-122"/>
                <a:cs typeface="Calibri" pitchFamily="34" charset="-120"/>
              </a:rPr>
              <a:t>Альтернативний Sort Key у межах того самого Partition Key; створюється лише при створенні таблиці.</a:t>
            </a:r>
            <a:endParaRPr lang="en-US" sz="1100" dirty="0"/>
          </a:p>
        </p:txBody>
      </p:sp>
      <p:sp>
        <p:nvSpPr>
          <p:cNvPr id="25" name="Shape 19"/>
          <p:cNvSpPr/>
          <p:nvPr/>
        </p:nvSpPr>
        <p:spPr>
          <a:xfrm>
            <a:off x="548640" y="5212080"/>
            <a:ext cx="11064240" cy="0"/>
          </a:xfrm>
          <a:prstGeom prst="line">
            <a:avLst/>
          </a:prstGeom>
          <a:noFill/>
          <a:ln w="12700">
            <a:solidFill>
              <a:srgbClr val="3A4757"/>
            </a:solidFill>
            <a:prstDash val="solid"/>
          </a:ln>
        </p:spPr>
        <p:txBody>
          <a:bodyPr/>
          <a:lstStyle/>
          <a:p>
            <a:endParaRPr lang="en-UA"/>
          </a:p>
        </p:txBody>
      </p:sp>
      <p:sp>
        <p:nvSpPr>
          <p:cNvPr id="26" name="Text 20"/>
          <p:cNvSpPr txBox="1"/>
          <p:nvPr/>
        </p:nvSpPr>
        <p:spPr>
          <a:xfrm>
            <a:off x="548640" y="5413248"/>
            <a:ext cx="11064240" cy="548640"/>
          </a:xfrm>
          <a:prstGeom prst="rect">
            <a:avLst/>
          </a:prstGeom>
          <a:noFill/>
          <a:ln/>
        </p:spPr>
        <p:txBody>
          <a:bodyPr wrap="square" rtlCol="0" anchor="ctr"/>
          <a:lstStyle/>
          <a:p>
            <a:pPr marL="0" indent="0" algn="ctr">
              <a:lnSpc>
                <a:spcPct val="125000"/>
              </a:lnSpc>
              <a:buNone/>
            </a:pPr>
            <a:r>
              <a:rPr lang="en-US" sz="1600" i="1" dirty="0">
                <a:solidFill>
                  <a:srgbClr val="CADCFC"/>
                </a:solidFill>
                <a:latin typeface="Calibri" pitchFamily="34" charset="0"/>
                <a:ea typeface="Calibri" pitchFamily="34" charset="-122"/>
                <a:cs typeface="Calibri" pitchFamily="34" charset="-120"/>
              </a:rPr>
              <a:t>Приклад: таблиця "Orders" з Partition Key = CustomerId і Sort Key = OrderDate дозволяє миттєво отримати всі замовлення клієнта, відсортовані за датою.</a:t>
            </a:r>
            <a:endParaRPr lang="en-US" sz="1600" dirty="0"/>
          </a:p>
        </p:txBody>
      </p:sp>
      <p:sp>
        <p:nvSpPr>
          <p:cNvPr id="27" name="Text 21"/>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A9B7C6"/>
                </a:solidFill>
                <a:latin typeface="Calibri" pitchFamily="34" charset="0"/>
                <a:ea typeface="Calibri" pitchFamily="34" charset="-122"/>
                <a:cs typeface="Calibri" pitchFamily="34" charset="-120"/>
              </a:rPr>
              <a:t>Amazon RDS і DynamoDB</a:t>
            </a:r>
            <a:endParaRPr lang="en-US" sz="1000" dirty="0"/>
          </a:p>
        </p:txBody>
      </p:sp>
      <p:sp>
        <p:nvSpPr>
          <p:cNvPr id="28" name="Text 22"/>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A9B7C6"/>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32F3E"/>
        </a:solidFill>
        <a:effectLst/>
      </p:bgPr>
    </p:bg>
    <p:spTree>
      <p:nvGrpSpPr>
        <p:cNvPr id="1" name=""/>
        <p:cNvGrpSpPr/>
        <p:nvPr/>
      </p:nvGrpSpPr>
      <p:grpSpPr>
        <a:xfrm>
          <a:off x="0" y="0"/>
          <a:ext cx="0" cy="0"/>
          <a:chOff x="0" y="0"/>
          <a:chExt cx="0" cy="0"/>
        </a:xfrm>
      </p:grpSpPr>
      <p:sp>
        <p:nvSpPr>
          <p:cNvPr id="3" name="Text 1"/>
          <p:cNvSpPr txBox="1"/>
          <p:nvPr/>
        </p:nvSpPr>
        <p:spPr>
          <a:xfrm>
            <a:off x="548640" y="425066"/>
            <a:ext cx="11064240" cy="82296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Робота з даними: CRUD, Query і Scan</a:t>
            </a:r>
            <a:endParaRPr lang="en-US" sz="3600" dirty="0"/>
          </a:p>
        </p:txBody>
      </p:sp>
      <p:sp>
        <p:nvSpPr>
          <p:cNvPr id="4" name="Text 2"/>
          <p:cNvSpPr txBox="1"/>
          <p:nvPr/>
        </p:nvSpPr>
        <p:spPr>
          <a:xfrm>
            <a:off x="548640" y="1371600"/>
            <a:ext cx="10789920" cy="36576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boto3 надає прямі методи для операцій із даними — і два різні способи їх шукати.</a:t>
            </a:r>
            <a:endParaRPr lang="en-US" sz="1600" dirty="0"/>
          </a:p>
        </p:txBody>
      </p:sp>
      <p:sp>
        <p:nvSpPr>
          <p:cNvPr id="5" name="Shape 3"/>
          <p:cNvSpPr/>
          <p:nvPr/>
        </p:nvSpPr>
        <p:spPr>
          <a:xfrm>
            <a:off x="548640" y="2011680"/>
            <a:ext cx="5468112" cy="4023360"/>
          </a:xfrm>
          <a:prstGeom prst="roundRect">
            <a:avLst>
              <a:gd name="adj" fmla="val 2273"/>
            </a:avLst>
          </a:prstGeom>
          <a:solidFill>
            <a:srgbClr val="1A2431"/>
          </a:solidFill>
          <a:ln w="12700">
            <a:solidFill>
              <a:srgbClr val="37475A"/>
            </a:solidFill>
            <a:prstDash val="solid"/>
          </a:ln>
        </p:spPr>
        <p:txBody>
          <a:bodyPr/>
          <a:lstStyle/>
          <a:p>
            <a:endParaRPr lang="en-UA"/>
          </a:p>
        </p:txBody>
      </p:sp>
      <p:sp>
        <p:nvSpPr>
          <p:cNvPr id="6" name="Shape 4"/>
          <p:cNvSpPr/>
          <p:nvPr/>
        </p:nvSpPr>
        <p:spPr>
          <a:xfrm>
            <a:off x="777240" y="2212848"/>
            <a:ext cx="128016" cy="128016"/>
          </a:xfrm>
          <a:prstGeom prst="ellipse">
            <a:avLst/>
          </a:prstGeom>
          <a:solidFill>
            <a:srgbClr val="E0605A"/>
          </a:solidFill>
          <a:ln/>
        </p:spPr>
        <p:txBody>
          <a:bodyPr/>
          <a:lstStyle/>
          <a:p>
            <a:endParaRPr lang="en-UA"/>
          </a:p>
        </p:txBody>
      </p:sp>
      <p:sp>
        <p:nvSpPr>
          <p:cNvPr id="7" name="Shape 5"/>
          <p:cNvSpPr/>
          <p:nvPr/>
        </p:nvSpPr>
        <p:spPr>
          <a:xfrm>
            <a:off x="987552" y="2212848"/>
            <a:ext cx="128016" cy="128016"/>
          </a:xfrm>
          <a:prstGeom prst="ellipse">
            <a:avLst/>
          </a:prstGeom>
          <a:solidFill>
            <a:srgbClr val="E8B84B"/>
          </a:solidFill>
          <a:ln/>
        </p:spPr>
        <p:txBody>
          <a:bodyPr/>
          <a:lstStyle/>
          <a:p>
            <a:endParaRPr lang="en-UA"/>
          </a:p>
        </p:txBody>
      </p:sp>
      <p:sp>
        <p:nvSpPr>
          <p:cNvPr id="8" name="Shape 6"/>
          <p:cNvSpPr/>
          <p:nvPr/>
        </p:nvSpPr>
        <p:spPr>
          <a:xfrm>
            <a:off x="1197864" y="2212848"/>
            <a:ext cx="128016" cy="128016"/>
          </a:xfrm>
          <a:prstGeom prst="ellipse">
            <a:avLst/>
          </a:prstGeom>
          <a:solidFill>
            <a:srgbClr val="5CB86B"/>
          </a:solidFill>
          <a:ln/>
        </p:spPr>
        <p:txBody>
          <a:bodyPr/>
          <a:lstStyle/>
          <a:p>
            <a:endParaRPr lang="en-UA"/>
          </a:p>
        </p:txBody>
      </p:sp>
      <p:sp>
        <p:nvSpPr>
          <p:cNvPr id="9" name="Text 7"/>
          <p:cNvSpPr txBox="1"/>
          <p:nvPr/>
        </p:nvSpPr>
        <p:spPr>
          <a:xfrm>
            <a:off x="548640" y="2139696"/>
            <a:ext cx="5468112" cy="274320"/>
          </a:xfrm>
          <a:prstGeom prst="rect">
            <a:avLst/>
          </a:prstGeom>
          <a:noFill/>
          <a:ln/>
        </p:spPr>
        <p:txBody>
          <a:bodyPr wrap="square" rtlCol="0" anchor="ctr"/>
          <a:lstStyle/>
          <a:p>
            <a:pPr marL="0" indent="0" algn="ctr">
              <a:buNone/>
            </a:pPr>
            <a:r>
              <a:rPr lang="en-US" sz="1050" dirty="0">
                <a:solidFill>
                  <a:srgbClr val="8A97A8"/>
                </a:solidFill>
                <a:latin typeface="Consolas" pitchFamily="34" charset="0"/>
                <a:ea typeface="Consolas" pitchFamily="34" charset="-122"/>
                <a:cs typeface="Consolas" pitchFamily="34" charset="-120"/>
              </a:rPr>
              <a:t>python — CRUD operations</a:t>
            </a:r>
            <a:endParaRPr lang="en-US" sz="1050" dirty="0"/>
          </a:p>
        </p:txBody>
      </p:sp>
      <p:sp>
        <p:nvSpPr>
          <p:cNvPr id="10" name="Text 8"/>
          <p:cNvSpPr txBox="1"/>
          <p:nvPr/>
        </p:nvSpPr>
        <p:spPr>
          <a:xfrm>
            <a:off x="868680" y="2578608"/>
            <a:ext cx="4828032" cy="3200400"/>
          </a:xfrm>
          <a:prstGeom prst="rect">
            <a:avLst/>
          </a:prstGeom>
          <a:noFill/>
          <a:ln/>
        </p:spPr>
        <p:txBody>
          <a:bodyPr wrap="square" rtlCol="0" anchor="t"/>
          <a:lstStyle/>
          <a:p>
            <a:pPr marL="0" indent="0">
              <a:lnSpc>
                <a:spcPct val="132000"/>
              </a:lnSpc>
              <a:buNone/>
            </a:pPr>
            <a:r>
              <a:rPr lang="en-US" sz="1150" dirty="0">
                <a:solidFill>
                  <a:srgbClr val="E6EAF0"/>
                </a:solidFill>
                <a:latin typeface="Consolas" pitchFamily="34" charset="0"/>
                <a:ea typeface="Consolas" pitchFamily="34" charset="-122"/>
                <a:cs typeface="Consolas" pitchFamily="34" charset="-120"/>
              </a:rPr>
              <a:t>table = boto3.resource(</a:t>
            </a:r>
            <a:endParaRPr lang="en-US" sz="1150" dirty="0"/>
          </a:p>
          <a:p>
            <a:pPr marL="0" indent="0">
              <a:lnSpc>
                <a:spcPct val="132000"/>
              </a:lnSpc>
              <a:buNone/>
            </a:pPr>
            <a:r>
              <a:rPr lang="en-US" sz="1150" dirty="0">
                <a:solidFill>
                  <a:srgbClr val="E6EAF0"/>
                </a:solidFill>
                <a:latin typeface="Consolas" pitchFamily="34" charset="0"/>
                <a:ea typeface="Consolas" pitchFamily="34" charset="-122"/>
                <a:cs typeface="Consolas" pitchFamily="34" charset="-120"/>
              </a:rPr>
              <a:t>    "dynamodb").Table("Orders")</a:t>
            </a:r>
            <a:endParaRPr lang="en-US" sz="1150" dirty="0"/>
          </a:p>
          <a:p>
            <a:pPr marL="0" indent="0">
              <a:lnSpc>
                <a:spcPct val="132000"/>
              </a:lnSpc>
              <a:buNone/>
            </a:pPr>
            <a:endParaRPr lang="en-US" sz="1150" dirty="0"/>
          </a:p>
          <a:p>
            <a:pPr marL="0" indent="0">
              <a:lnSpc>
                <a:spcPct val="132000"/>
              </a:lnSpc>
              <a:buNone/>
            </a:pPr>
            <a:r>
              <a:rPr lang="en-US" sz="1150" dirty="0">
                <a:solidFill>
                  <a:srgbClr val="8A97A8"/>
                </a:solidFill>
                <a:latin typeface="Consolas" pitchFamily="34" charset="0"/>
                <a:ea typeface="Consolas" pitchFamily="34" charset="-122"/>
                <a:cs typeface="Consolas" pitchFamily="34" charset="-120"/>
              </a:rPr>
              <a:t># Create</a:t>
            </a:r>
            <a:endParaRPr lang="en-US" sz="1150" dirty="0"/>
          </a:p>
          <a:p>
            <a:pPr marL="0" indent="0">
              <a:lnSpc>
                <a:spcPct val="132000"/>
              </a:lnSpc>
              <a:buNone/>
            </a:pPr>
            <a:r>
              <a:rPr lang="en-US" sz="1150" dirty="0">
                <a:solidFill>
                  <a:srgbClr val="E6EAF0"/>
                </a:solidFill>
                <a:latin typeface="Consolas" pitchFamily="34" charset="0"/>
                <a:ea typeface="Consolas" pitchFamily="34" charset="-122"/>
                <a:cs typeface="Consolas" pitchFamily="34" charset="-120"/>
              </a:rPr>
              <a:t>table.put_item(Item={</a:t>
            </a:r>
            <a:endParaRPr lang="en-US" sz="1150" dirty="0"/>
          </a:p>
          <a:p>
            <a:pPr marL="0" indent="0">
              <a:lnSpc>
                <a:spcPct val="132000"/>
              </a:lnSpc>
              <a:buNone/>
            </a:pPr>
            <a:r>
              <a:rPr lang="en-US" sz="1150" dirty="0">
                <a:solidFill>
                  <a:srgbClr val="E6EAF0"/>
                </a:solidFill>
                <a:latin typeface="Consolas" pitchFamily="34" charset="0"/>
                <a:ea typeface="Consolas" pitchFamily="34" charset="-122"/>
                <a:cs typeface="Consolas" pitchFamily="34" charset="-120"/>
              </a:rPr>
              <a:t>  "CustomerId": "C1",</a:t>
            </a:r>
            <a:endParaRPr lang="en-US" sz="1150" dirty="0"/>
          </a:p>
          <a:p>
            <a:pPr marL="0" indent="0">
              <a:lnSpc>
                <a:spcPct val="132000"/>
              </a:lnSpc>
              <a:buNone/>
            </a:pPr>
            <a:r>
              <a:rPr lang="en-US" sz="1150" dirty="0">
                <a:solidFill>
                  <a:srgbClr val="E6EAF0"/>
                </a:solidFill>
                <a:latin typeface="Consolas" pitchFamily="34" charset="0"/>
                <a:ea typeface="Consolas" pitchFamily="34" charset="-122"/>
                <a:cs typeface="Consolas" pitchFamily="34" charset="-120"/>
              </a:rPr>
              <a:t>  "OrderDate": "2026-09-01"})</a:t>
            </a:r>
            <a:endParaRPr lang="en-US" sz="1150" dirty="0"/>
          </a:p>
          <a:p>
            <a:pPr marL="0" indent="0">
              <a:lnSpc>
                <a:spcPct val="132000"/>
              </a:lnSpc>
              <a:buNone/>
            </a:pPr>
            <a:r>
              <a:rPr lang="en-US" sz="1150" dirty="0">
                <a:solidFill>
                  <a:srgbClr val="8A97A8"/>
                </a:solidFill>
                <a:latin typeface="Consolas" pitchFamily="34" charset="0"/>
                <a:ea typeface="Consolas" pitchFamily="34" charset="-122"/>
                <a:cs typeface="Consolas" pitchFamily="34" charset="-120"/>
              </a:rPr>
              <a:t># Read</a:t>
            </a:r>
            <a:endParaRPr lang="en-US" sz="1150" dirty="0"/>
          </a:p>
          <a:p>
            <a:pPr marL="0" indent="0">
              <a:lnSpc>
                <a:spcPct val="132000"/>
              </a:lnSpc>
              <a:buNone/>
            </a:pPr>
            <a:r>
              <a:rPr lang="en-US" sz="1150" dirty="0">
                <a:solidFill>
                  <a:srgbClr val="E6EAF0"/>
                </a:solidFill>
                <a:latin typeface="Consolas" pitchFamily="34" charset="0"/>
                <a:ea typeface="Consolas" pitchFamily="34" charset="-122"/>
                <a:cs typeface="Consolas" pitchFamily="34" charset="-120"/>
              </a:rPr>
              <a:t>table.get_item(Key={...})</a:t>
            </a:r>
            <a:endParaRPr lang="en-US" sz="1150" dirty="0"/>
          </a:p>
          <a:p>
            <a:pPr marL="0" indent="0">
              <a:lnSpc>
                <a:spcPct val="132000"/>
              </a:lnSpc>
              <a:buNone/>
            </a:pPr>
            <a:r>
              <a:rPr lang="en-US" sz="1150" dirty="0">
                <a:solidFill>
                  <a:srgbClr val="8A97A8"/>
                </a:solidFill>
                <a:latin typeface="Consolas" pitchFamily="34" charset="0"/>
                <a:ea typeface="Consolas" pitchFamily="34" charset="-122"/>
                <a:cs typeface="Consolas" pitchFamily="34" charset="-120"/>
              </a:rPr>
              <a:t># Update</a:t>
            </a:r>
            <a:endParaRPr lang="en-US" sz="1150" dirty="0"/>
          </a:p>
          <a:p>
            <a:pPr marL="0" indent="0">
              <a:lnSpc>
                <a:spcPct val="132000"/>
              </a:lnSpc>
              <a:buNone/>
            </a:pPr>
            <a:r>
              <a:rPr lang="en-US" sz="1150" dirty="0">
                <a:solidFill>
                  <a:srgbClr val="E6EAF0"/>
                </a:solidFill>
                <a:latin typeface="Consolas" pitchFamily="34" charset="0"/>
                <a:ea typeface="Consolas" pitchFamily="34" charset="-122"/>
                <a:cs typeface="Consolas" pitchFamily="34" charset="-120"/>
              </a:rPr>
              <a:t>table.update_item(...)</a:t>
            </a:r>
            <a:endParaRPr lang="en-US" sz="1150" dirty="0"/>
          </a:p>
          <a:p>
            <a:pPr marL="0" indent="0">
              <a:lnSpc>
                <a:spcPct val="132000"/>
              </a:lnSpc>
              <a:buNone/>
            </a:pPr>
            <a:r>
              <a:rPr lang="en-US" sz="1150" dirty="0">
                <a:solidFill>
                  <a:srgbClr val="8A97A8"/>
                </a:solidFill>
                <a:latin typeface="Consolas" pitchFamily="34" charset="0"/>
                <a:ea typeface="Consolas" pitchFamily="34" charset="-122"/>
                <a:cs typeface="Consolas" pitchFamily="34" charset="-120"/>
              </a:rPr>
              <a:t># Delete</a:t>
            </a:r>
            <a:endParaRPr lang="en-US" sz="1150" dirty="0"/>
          </a:p>
          <a:p>
            <a:pPr marL="0" indent="0">
              <a:lnSpc>
                <a:spcPct val="132000"/>
              </a:lnSpc>
              <a:buNone/>
            </a:pPr>
            <a:r>
              <a:rPr lang="en-US" sz="1150" dirty="0">
                <a:solidFill>
                  <a:srgbClr val="E6EAF0"/>
                </a:solidFill>
                <a:latin typeface="Consolas" pitchFamily="34" charset="0"/>
                <a:ea typeface="Consolas" pitchFamily="34" charset="-122"/>
                <a:cs typeface="Consolas" pitchFamily="34" charset="-120"/>
              </a:rPr>
              <a:t>table.delete_item(Key={...})</a:t>
            </a:r>
            <a:endParaRPr lang="en-US" sz="1150" dirty="0"/>
          </a:p>
        </p:txBody>
      </p:sp>
      <p:sp>
        <p:nvSpPr>
          <p:cNvPr id="11" name="Shape 9"/>
          <p:cNvSpPr/>
          <p:nvPr/>
        </p:nvSpPr>
        <p:spPr>
          <a:xfrm>
            <a:off x="6172200" y="2011680"/>
            <a:ext cx="5468112" cy="4023360"/>
          </a:xfrm>
          <a:prstGeom prst="roundRect">
            <a:avLst>
              <a:gd name="adj" fmla="val 2273"/>
            </a:avLst>
          </a:prstGeom>
          <a:solidFill>
            <a:srgbClr val="1A2431"/>
          </a:solidFill>
          <a:ln w="12700">
            <a:solidFill>
              <a:srgbClr val="37475A"/>
            </a:solidFill>
            <a:prstDash val="solid"/>
          </a:ln>
        </p:spPr>
        <p:txBody>
          <a:bodyPr/>
          <a:lstStyle/>
          <a:p>
            <a:endParaRPr lang="en-UA"/>
          </a:p>
        </p:txBody>
      </p:sp>
      <p:sp>
        <p:nvSpPr>
          <p:cNvPr id="12" name="Shape 10"/>
          <p:cNvSpPr/>
          <p:nvPr/>
        </p:nvSpPr>
        <p:spPr>
          <a:xfrm>
            <a:off x="6400800" y="2212848"/>
            <a:ext cx="128016" cy="128016"/>
          </a:xfrm>
          <a:prstGeom prst="ellipse">
            <a:avLst/>
          </a:prstGeom>
          <a:solidFill>
            <a:srgbClr val="E0605A"/>
          </a:solidFill>
          <a:ln/>
        </p:spPr>
        <p:txBody>
          <a:bodyPr/>
          <a:lstStyle/>
          <a:p>
            <a:endParaRPr lang="en-UA"/>
          </a:p>
        </p:txBody>
      </p:sp>
      <p:sp>
        <p:nvSpPr>
          <p:cNvPr id="13" name="Shape 11"/>
          <p:cNvSpPr/>
          <p:nvPr/>
        </p:nvSpPr>
        <p:spPr>
          <a:xfrm>
            <a:off x="6611112" y="2212848"/>
            <a:ext cx="128016" cy="128016"/>
          </a:xfrm>
          <a:prstGeom prst="ellipse">
            <a:avLst/>
          </a:prstGeom>
          <a:solidFill>
            <a:srgbClr val="E8B84B"/>
          </a:solidFill>
          <a:ln/>
        </p:spPr>
        <p:txBody>
          <a:bodyPr/>
          <a:lstStyle/>
          <a:p>
            <a:endParaRPr lang="en-UA"/>
          </a:p>
        </p:txBody>
      </p:sp>
      <p:sp>
        <p:nvSpPr>
          <p:cNvPr id="14" name="Shape 12"/>
          <p:cNvSpPr/>
          <p:nvPr/>
        </p:nvSpPr>
        <p:spPr>
          <a:xfrm>
            <a:off x="6821424" y="2212848"/>
            <a:ext cx="128016" cy="128016"/>
          </a:xfrm>
          <a:prstGeom prst="ellipse">
            <a:avLst/>
          </a:prstGeom>
          <a:solidFill>
            <a:srgbClr val="5CB86B"/>
          </a:solidFill>
          <a:ln/>
        </p:spPr>
        <p:txBody>
          <a:bodyPr/>
          <a:lstStyle/>
          <a:p>
            <a:endParaRPr lang="en-UA"/>
          </a:p>
        </p:txBody>
      </p:sp>
      <p:sp>
        <p:nvSpPr>
          <p:cNvPr id="15" name="Text 13"/>
          <p:cNvSpPr txBox="1"/>
          <p:nvPr/>
        </p:nvSpPr>
        <p:spPr>
          <a:xfrm>
            <a:off x="6172200" y="2139696"/>
            <a:ext cx="5468112" cy="274320"/>
          </a:xfrm>
          <a:prstGeom prst="rect">
            <a:avLst/>
          </a:prstGeom>
          <a:noFill/>
          <a:ln/>
        </p:spPr>
        <p:txBody>
          <a:bodyPr wrap="square" rtlCol="0" anchor="ctr"/>
          <a:lstStyle/>
          <a:p>
            <a:pPr marL="0" indent="0" algn="ctr">
              <a:buNone/>
            </a:pPr>
            <a:r>
              <a:rPr lang="en-US" sz="1050" dirty="0">
                <a:solidFill>
                  <a:srgbClr val="8A97A8"/>
                </a:solidFill>
                <a:latin typeface="Consolas" pitchFamily="34" charset="0"/>
                <a:ea typeface="Consolas" pitchFamily="34" charset="-122"/>
                <a:cs typeface="Consolas" pitchFamily="34" charset="-120"/>
              </a:rPr>
              <a:t>python — Query vs Scan</a:t>
            </a:r>
            <a:endParaRPr lang="en-US" sz="1050" dirty="0"/>
          </a:p>
        </p:txBody>
      </p:sp>
      <p:sp>
        <p:nvSpPr>
          <p:cNvPr id="16" name="Text 14"/>
          <p:cNvSpPr txBox="1"/>
          <p:nvPr/>
        </p:nvSpPr>
        <p:spPr>
          <a:xfrm>
            <a:off x="6492240" y="2578608"/>
            <a:ext cx="4828032" cy="3200400"/>
          </a:xfrm>
          <a:prstGeom prst="rect">
            <a:avLst/>
          </a:prstGeom>
          <a:noFill/>
          <a:ln/>
        </p:spPr>
        <p:txBody>
          <a:bodyPr wrap="square" rtlCol="0" anchor="t"/>
          <a:lstStyle/>
          <a:p>
            <a:pPr marL="0" indent="0">
              <a:lnSpc>
                <a:spcPct val="132000"/>
              </a:lnSpc>
              <a:buNone/>
            </a:pPr>
            <a:r>
              <a:rPr lang="en-US" sz="1150" dirty="0">
                <a:solidFill>
                  <a:srgbClr val="8A97A8"/>
                </a:solidFill>
                <a:latin typeface="Consolas" pitchFamily="34" charset="0"/>
                <a:ea typeface="Consolas" pitchFamily="34" charset="-122"/>
                <a:cs typeface="Consolas" pitchFamily="34" charset="-120"/>
              </a:rPr>
              <a:t># Query — за Partition Key</a:t>
            </a:r>
            <a:endParaRPr lang="en-US" sz="1150" dirty="0"/>
          </a:p>
          <a:p>
            <a:pPr marL="0" indent="0">
              <a:lnSpc>
                <a:spcPct val="132000"/>
              </a:lnSpc>
              <a:buNone/>
            </a:pPr>
            <a:r>
              <a:rPr lang="en-US" sz="1150" dirty="0">
                <a:solidFill>
                  <a:srgbClr val="8A97A8"/>
                </a:solidFill>
                <a:latin typeface="Consolas" pitchFamily="34" charset="0"/>
                <a:ea typeface="Consolas" pitchFamily="34" charset="-122"/>
                <a:cs typeface="Consolas" pitchFamily="34" charset="-120"/>
              </a:rPr>
              <a:t># швидко, читає лише потрібне</a:t>
            </a:r>
            <a:endParaRPr lang="en-US" sz="1150" dirty="0"/>
          </a:p>
          <a:p>
            <a:pPr marL="0" indent="0">
              <a:lnSpc>
                <a:spcPct val="132000"/>
              </a:lnSpc>
              <a:buNone/>
            </a:pPr>
            <a:r>
              <a:rPr lang="en-US" sz="1150" dirty="0">
                <a:solidFill>
                  <a:srgbClr val="E6EAF0"/>
                </a:solidFill>
                <a:latin typeface="Consolas" pitchFamily="34" charset="0"/>
                <a:ea typeface="Consolas" pitchFamily="34" charset="-122"/>
                <a:cs typeface="Consolas" pitchFamily="34" charset="-120"/>
              </a:rPr>
              <a:t>table.query(</a:t>
            </a:r>
            <a:endParaRPr lang="en-US" sz="1150" dirty="0"/>
          </a:p>
          <a:p>
            <a:pPr marL="0" indent="0">
              <a:lnSpc>
                <a:spcPct val="132000"/>
              </a:lnSpc>
              <a:buNone/>
            </a:pPr>
            <a:r>
              <a:rPr lang="en-US" sz="1150" dirty="0">
                <a:solidFill>
                  <a:srgbClr val="E6EAF0"/>
                </a:solidFill>
                <a:latin typeface="Consolas" pitchFamily="34" charset="0"/>
                <a:ea typeface="Consolas" pitchFamily="34" charset="-122"/>
                <a:cs typeface="Consolas" pitchFamily="34" charset="-120"/>
              </a:rPr>
              <a:t>  KeyConditionExpression=</a:t>
            </a:r>
            <a:endParaRPr lang="en-US" sz="1150" dirty="0"/>
          </a:p>
          <a:p>
            <a:pPr marL="0" indent="0">
              <a:lnSpc>
                <a:spcPct val="132000"/>
              </a:lnSpc>
              <a:buNone/>
            </a:pPr>
            <a:r>
              <a:rPr lang="en-US" sz="1150" dirty="0">
                <a:solidFill>
                  <a:srgbClr val="E6EAF0"/>
                </a:solidFill>
                <a:latin typeface="Consolas" pitchFamily="34" charset="0"/>
                <a:ea typeface="Consolas" pitchFamily="34" charset="-122"/>
                <a:cs typeface="Consolas" pitchFamily="34" charset="-120"/>
              </a:rPr>
              <a:t>    Key("CustomerId").eq("C1")</a:t>
            </a:r>
            <a:endParaRPr lang="en-US" sz="1150" dirty="0"/>
          </a:p>
          <a:p>
            <a:pPr marL="0" indent="0">
              <a:lnSpc>
                <a:spcPct val="132000"/>
              </a:lnSpc>
              <a:buNone/>
            </a:pPr>
            <a:r>
              <a:rPr lang="en-US" sz="1150" dirty="0">
                <a:solidFill>
                  <a:srgbClr val="E6EAF0"/>
                </a:solidFill>
                <a:latin typeface="Consolas" pitchFamily="34" charset="0"/>
                <a:ea typeface="Consolas" pitchFamily="34" charset="-122"/>
                <a:cs typeface="Consolas" pitchFamily="34" charset="-120"/>
              </a:rPr>
              <a:t>)</a:t>
            </a:r>
            <a:endParaRPr lang="en-US" sz="1150" dirty="0"/>
          </a:p>
          <a:p>
            <a:pPr marL="0" indent="0">
              <a:lnSpc>
                <a:spcPct val="132000"/>
              </a:lnSpc>
              <a:buNone/>
            </a:pPr>
            <a:endParaRPr lang="en-US" sz="1150" dirty="0"/>
          </a:p>
          <a:p>
            <a:pPr marL="0" indent="0">
              <a:lnSpc>
                <a:spcPct val="132000"/>
              </a:lnSpc>
              <a:buNone/>
            </a:pPr>
            <a:r>
              <a:rPr lang="en-US" sz="1150" dirty="0">
                <a:solidFill>
                  <a:srgbClr val="8A97A8"/>
                </a:solidFill>
                <a:latin typeface="Consolas" pitchFamily="34" charset="0"/>
                <a:ea typeface="Consolas" pitchFamily="34" charset="-122"/>
                <a:cs typeface="Consolas" pitchFamily="34" charset="-120"/>
              </a:rPr>
              <a:t># Scan — по всій таблиці</a:t>
            </a:r>
            <a:endParaRPr lang="en-US" sz="1150" dirty="0"/>
          </a:p>
          <a:p>
            <a:pPr marL="0" indent="0">
              <a:lnSpc>
                <a:spcPct val="132000"/>
              </a:lnSpc>
              <a:buNone/>
            </a:pPr>
            <a:r>
              <a:rPr lang="en-US" sz="1150" dirty="0">
                <a:solidFill>
                  <a:srgbClr val="8A97A8"/>
                </a:solidFill>
                <a:latin typeface="Consolas" pitchFamily="34" charset="0"/>
                <a:ea typeface="Consolas" pitchFamily="34" charset="-122"/>
                <a:cs typeface="Consolas" pitchFamily="34" charset="-120"/>
              </a:rPr>
              <a:t># повільно й дорого на масштабі</a:t>
            </a:r>
            <a:endParaRPr lang="en-US" sz="1150" dirty="0"/>
          </a:p>
          <a:p>
            <a:pPr marL="0" indent="0">
              <a:lnSpc>
                <a:spcPct val="132000"/>
              </a:lnSpc>
              <a:buNone/>
            </a:pPr>
            <a:r>
              <a:rPr lang="en-US" sz="1150" dirty="0">
                <a:solidFill>
                  <a:srgbClr val="E6EAF0"/>
                </a:solidFill>
                <a:latin typeface="Consolas" pitchFamily="34" charset="0"/>
                <a:ea typeface="Consolas" pitchFamily="34" charset="-122"/>
                <a:cs typeface="Consolas" pitchFamily="34" charset="-120"/>
              </a:rPr>
              <a:t>table.scan(</a:t>
            </a:r>
            <a:endParaRPr lang="en-US" sz="1150" dirty="0"/>
          </a:p>
          <a:p>
            <a:pPr marL="0" indent="0">
              <a:lnSpc>
                <a:spcPct val="132000"/>
              </a:lnSpc>
              <a:buNone/>
            </a:pPr>
            <a:r>
              <a:rPr lang="en-US" sz="1150" dirty="0">
                <a:solidFill>
                  <a:srgbClr val="E6EAF0"/>
                </a:solidFill>
                <a:latin typeface="Consolas" pitchFamily="34" charset="0"/>
                <a:ea typeface="Consolas" pitchFamily="34" charset="-122"/>
                <a:cs typeface="Consolas" pitchFamily="34" charset="-120"/>
              </a:rPr>
              <a:t>  FilterExpression=</a:t>
            </a:r>
            <a:endParaRPr lang="en-US" sz="1150" dirty="0"/>
          </a:p>
          <a:p>
            <a:pPr marL="0" indent="0">
              <a:lnSpc>
                <a:spcPct val="132000"/>
              </a:lnSpc>
              <a:buNone/>
            </a:pPr>
            <a:r>
              <a:rPr lang="en-US" sz="1150" dirty="0">
                <a:solidFill>
                  <a:srgbClr val="E6EAF0"/>
                </a:solidFill>
                <a:latin typeface="Consolas" pitchFamily="34" charset="0"/>
                <a:ea typeface="Consolas" pitchFamily="34" charset="-122"/>
                <a:cs typeface="Consolas" pitchFamily="34" charset="-120"/>
              </a:rPr>
              <a:t>    Attr("Status").eq("Paid")</a:t>
            </a:r>
            <a:endParaRPr lang="en-US" sz="1150" dirty="0"/>
          </a:p>
          <a:p>
            <a:pPr marL="0" indent="0">
              <a:lnSpc>
                <a:spcPct val="132000"/>
              </a:lnSpc>
              <a:buNone/>
            </a:pPr>
            <a:r>
              <a:rPr lang="en-US" sz="1150" dirty="0">
                <a:solidFill>
                  <a:srgbClr val="E6EAF0"/>
                </a:solidFill>
                <a:latin typeface="Consolas" pitchFamily="34" charset="0"/>
                <a:ea typeface="Consolas" pitchFamily="34" charset="-122"/>
                <a:cs typeface="Consolas" pitchFamily="34" charset="-120"/>
              </a:rPr>
              <a:t>)</a:t>
            </a:r>
            <a:endParaRPr lang="en-US" sz="1150" dirty="0"/>
          </a:p>
        </p:txBody>
      </p:sp>
      <p:sp>
        <p:nvSpPr>
          <p:cNvPr id="17" name="Text 15"/>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A9B7C6"/>
                </a:solidFill>
                <a:latin typeface="Calibri" pitchFamily="34" charset="0"/>
                <a:ea typeface="Calibri" pitchFamily="34" charset="-122"/>
                <a:cs typeface="Calibri" pitchFamily="34" charset="-120"/>
              </a:rPr>
              <a:t>Amazon RDS і DynamoDB</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A9B7C6"/>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3F3"/>
        </a:solidFill>
        <a:effectLst/>
      </p:bgPr>
    </p:bg>
    <p:spTree>
      <p:nvGrpSpPr>
        <p:cNvPr id="1" name=""/>
        <p:cNvGrpSpPr/>
        <p:nvPr/>
      </p:nvGrpSpPr>
      <p:grpSpPr>
        <a:xfrm>
          <a:off x="0" y="0"/>
          <a:ext cx="0" cy="0"/>
          <a:chOff x="0" y="0"/>
          <a:chExt cx="0" cy="0"/>
        </a:xfrm>
      </p:grpSpPr>
      <p:sp>
        <p:nvSpPr>
          <p:cNvPr id="3" name="Text 1"/>
          <p:cNvSpPr txBox="1"/>
          <p:nvPr/>
        </p:nvSpPr>
        <p:spPr>
          <a:xfrm>
            <a:off x="548640" y="342900"/>
            <a:ext cx="11064240" cy="822960"/>
          </a:xfrm>
          <a:prstGeom prst="rect">
            <a:avLst/>
          </a:prstGeom>
          <a:noFill/>
          <a:ln/>
        </p:spPr>
        <p:txBody>
          <a:bodyPr wrap="square" rtlCol="0" anchor="ctr"/>
          <a:lstStyle/>
          <a:p>
            <a:pPr marL="0" indent="0">
              <a:buNone/>
            </a:pPr>
            <a:r>
              <a:rPr lang="en-US" sz="3600" b="1" dirty="0">
                <a:solidFill>
                  <a:srgbClr val="16191F"/>
                </a:solidFill>
                <a:latin typeface="Cambria" pitchFamily="34" charset="0"/>
                <a:ea typeface="Cambria" pitchFamily="34" charset="-122"/>
                <a:cs typeface="Cambria" pitchFamily="34" charset="-120"/>
              </a:rPr>
              <a:t>Оптимізація: Provisioned vs On-Demand</a:t>
            </a:r>
            <a:endParaRPr lang="en-US" sz="3600" dirty="0"/>
          </a:p>
        </p:txBody>
      </p:sp>
      <p:sp>
        <p:nvSpPr>
          <p:cNvPr id="4" name="Text 2"/>
          <p:cNvSpPr txBox="1"/>
          <p:nvPr/>
        </p:nvSpPr>
        <p:spPr>
          <a:xfrm>
            <a:off x="548640" y="1188720"/>
            <a:ext cx="10789920" cy="365760"/>
          </a:xfrm>
          <a:prstGeom prst="rect">
            <a:avLst/>
          </a:prstGeom>
          <a:noFill/>
          <a:ln/>
        </p:spPr>
        <p:txBody>
          <a:bodyPr wrap="square" rtlCol="0" anchor="ctr"/>
          <a:lstStyle/>
          <a:p>
            <a:pPr marL="0" indent="0">
              <a:buNone/>
            </a:pPr>
            <a:r>
              <a:rPr lang="en-US" sz="1600" i="1" dirty="0">
                <a:solidFill>
                  <a:srgbClr val="5A6674"/>
                </a:solidFill>
                <a:latin typeface="Calibri" pitchFamily="34" charset="0"/>
                <a:ea typeface="Calibri" pitchFamily="34" charset="-122"/>
                <a:cs typeface="Calibri" pitchFamily="34" charset="-120"/>
              </a:rPr>
              <a:t>Два режими оплати пропускної здатності DynamoDB — оберіть залежно від передбачуваності навантаження.</a:t>
            </a:r>
            <a:endParaRPr lang="en-US" sz="1600" dirty="0"/>
          </a:p>
        </p:txBody>
      </p:sp>
      <p:sp>
        <p:nvSpPr>
          <p:cNvPr id="5" name="Shape 3"/>
          <p:cNvSpPr/>
          <p:nvPr/>
        </p:nvSpPr>
        <p:spPr>
          <a:xfrm>
            <a:off x="548640" y="1803587"/>
            <a:ext cx="2834640" cy="502920"/>
          </a:xfrm>
          <a:prstGeom prst="rect">
            <a:avLst/>
          </a:prstGeom>
          <a:solidFill>
            <a:srgbClr val="232F3E"/>
          </a:solidFill>
          <a:ln w="6350">
            <a:solidFill>
              <a:srgbClr val="FFFFFF"/>
            </a:solidFill>
            <a:prstDash val="solid"/>
          </a:ln>
        </p:spPr>
        <p:txBody>
          <a:bodyPr/>
          <a:lstStyle/>
          <a:p>
            <a:endParaRPr lang="en-UA" sz="2800"/>
          </a:p>
        </p:txBody>
      </p:sp>
      <p:sp>
        <p:nvSpPr>
          <p:cNvPr id="6" name="Text 4"/>
          <p:cNvSpPr txBox="1"/>
          <p:nvPr/>
        </p:nvSpPr>
        <p:spPr>
          <a:xfrm>
            <a:off x="548640" y="1803587"/>
            <a:ext cx="2834640" cy="502920"/>
          </a:xfrm>
          <a:prstGeom prst="rect">
            <a:avLst/>
          </a:prstGeom>
          <a:noFill/>
          <a:ln/>
        </p:spPr>
        <p:txBody>
          <a:bodyPr wrap="square" lIns="137160" tIns="137160" rIns="137160" bIns="137160" rtlCol="0" anchor="ctr"/>
          <a:lstStyle/>
          <a:p>
            <a:pPr marL="0" indent="0" algn="l">
              <a:buNone/>
            </a:pPr>
            <a:endParaRPr lang="en-US" dirty="0"/>
          </a:p>
        </p:txBody>
      </p:sp>
      <p:sp>
        <p:nvSpPr>
          <p:cNvPr id="7" name="Shape 5"/>
          <p:cNvSpPr/>
          <p:nvPr/>
        </p:nvSpPr>
        <p:spPr>
          <a:xfrm>
            <a:off x="3383280" y="1803587"/>
            <a:ext cx="4114800" cy="502920"/>
          </a:xfrm>
          <a:prstGeom prst="rect">
            <a:avLst/>
          </a:prstGeom>
          <a:solidFill>
            <a:srgbClr val="232F3E"/>
          </a:solidFill>
          <a:ln w="6350">
            <a:solidFill>
              <a:srgbClr val="FFFFFF"/>
            </a:solidFill>
            <a:prstDash val="solid"/>
          </a:ln>
        </p:spPr>
        <p:txBody>
          <a:bodyPr/>
          <a:lstStyle/>
          <a:p>
            <a:endParaRPr lang="en-UA" sz="2800"/>
          </a:p>
        </p:txBody>
      </p:sp>
      <p:sp>
        <p:nvSpPr>
          <p:cNvPr id="8" name="Text 6"/>
          <p:cNvSpPr txBox="1"/>
          <p:nvPr/>
        </p:nvSpPr>
        <p:spPr>
          <a:xfrm>
            <a:off x="3383280" y="1803587"/>
            <a:ext cx="4114800" cy="502920"/>
          </a:xfrm>
          <a:prstGeom prst="rect">
            <a:avLst/>
          </a:prstGeom>
          <a:noFill/>
          <a:ln/>
        </p:spPr>
        <p:txBody>
          <a:bodyPr wrap="square" lIns="137160" tIns="137160" rIns="137160" bIns="13716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Provisioned Capacity</a:t>
            </a:r>
            <a:endParaRPr lang="en-US" dirty="0"/>
          </a:p>
        </p:txBody>
      </p:sp>
      <p:sp>
        <p:nvSpPr>
          <p:cNvPr id="9" name="Shape 7"/>
          <p:cNvSpPr/>
          <p:nvPr/>
        </p:nvSpPr>
        <p:spPr>
          <a:xfrm>
            <a:off x="7498080" y="1803587"/>
            <a:ext cx="4114800" cy="502920"/>
          </a:xfrm>
          <a:prstGeom prst="rect">
            <a:avLst/>
          </a:prstGeom>
          <a:solidFill>
            <a:srgbClr val="232F3E"/>
          </a:solidFill>
          <a:ln w="6350">
            <a:solidFill>
              <a:srgbClr val="FFFFFF"/>
            </a:solidFill>
            <a:prstDash val="solid"/>
          </a:ln>
        </p:spPr>
        <p:txBody>
          <a:bodyPr/>
          <a:lstStyle/>
          <a:p>
            <a:endParaRPr lang="en-UA" sz="2800"/>
          </a:p>
        </p:txBody>
      </p:sp>
      <p:sp>
        <p:nvSpPr>
          <p:cNvPr id="10" name="Text 8"/>
          <p:cNvSpPr txBox="1"/>
          <p:nvPr/>
        </p:nvSpPr>
        <p:spPr>
          <a:xfrm>
            <a:off x="7498080" y="1803587"/>
            <a:ext cx="4114800" cy="502920"/>
          </a:xfrm>
          <a:prstGeom prst="rect">
            <a:avLst/>
          </a:prstGeom>
          <a:noFill/>
          <a:ln/>
        </p:spPr>
        <p:txBody>
          <a:bodyPr wrap="square" lIns="137160" tIns="137160" rIns="137160" bIns="137160" rtlCol="0" anchor="ctr"/>
          <a:lstStyle/>
          <a:p>
            <a:pPr marL="0" indent="0" algn="ctr">
              <a:buNone/>
            </a:pPr>
            <a:r>
              <a:rPr lang="en-US" b="1" dirty="0">
                <a:solidFill>
                  <a:srgbClr val="FF9900"/>
                </a:solidFill>
                <a:latin typeface="Calibri" pitchFamily="34" charset="0"/>
                <a:ea typeface="Calibri" pitchFamily="34" charset="-122"/>
                <a:cs typeface="Calibri" pitchFamily="34" charset="-120"/>
              </a:rPr>
              <a:t>On-Demand Capacity</a:t>
            </a:r>
            <a:endParaRPr lang="en-US" dirty="0"/>
          </a:p>
        </p:txBody>
      </p:sp>
      <p:sp>
        <p:nvSpPr>
          <p:cNvPr id="11" name="Shape 9"/>
          <p:cNvSpPr/>
          <p:nvPr/>
        </p:nvSpPr>
        <p:spPr>
          <a:xfrm>
            <a:off x="548640" y="2306507"/>
            <a:ext cx="2834640" cy="777240"/>
          </a:xfrm>
          <a:prstGeom prst="rect">
            <a:avLst/>
          </a:prstGeom>
          <a:solidFill>
            <a:srgbClr val="FFFFFF"/>
          </a:solidFill>
          <a:ln w="6350">
            <a:solidFill>
              <a:srgbClr val="E3E6EA"/>
            </a:solidFill>
            <a:prstDash val="solid"/>
          </a:ln>
        </p:spPr>
        <p:txBody>
          <a:bodyPr/>
          <a:lstStyle/>
          <a:p>
            <a:endParaRPr lang="en-UA" sz="2800"/>
          </a:p>
        </p:txBody>
      </p:sp>
      <p:sp>
        <p:nvSpPr>
          <p:cNvPr id="12" name="Text 10"/>
          <p:cNvSpPr txBox="1"/>
          <p:nvPr/>
        </p:nvSpPr>
        <p:spPr>
          <a:xfrm>
            <a:off x="548640" y="2306507"/>
            <a:ext cx="2834640" cy="777240"/>
          </a:xfrm>
          <a:prstGeom prst="rect">
            <a:avLst/>
          </a:prstGeom>
          <a:noFill/>
          <a:ln/>
        </p:spPr>
        <p:txBody>
          <a:bodyPr wrap="square" lIns="137160" tIns="137160" rIns="137160" bIns="137160" rtlCol="0" anchor="ctr"/>
          <a:lstStyle/>
          <a:p>
            <a:pPr marL="0" indent="0" algn="l">
              <a:lnSpc>
                <a:spcPct val="115000"/>
              </a:lnSpc>
              <a:buNone/>
            </a:pPr>
            <a:r>
              <a:rPr lang="en-US" sz="1400" b="1" dirty="0">
                <a:solidFill>
                  <a:srgbClr val="16191F"/>
                </a:solidFill>
                <a:latin typeface="Calibri" pitchFamily="34" charset="0"/>
                <a:ea typeface="Calibri" pitchFamily="34" charset="-122"/>
                <a:cs typeface="Calibri" pitchFamily="34" charset="-120"/>
              </a:rPr>
              <a:t>Оплата</a:t>
            </a:r>
            <a:endParaRPr lang="en-US" sz="1400" dirty="0"/>
          </a:p>
        </p:txBody>
      </p:sp>
      <p:sp>
        <p:nvSpPr>
          <p:cNvPr id="13" name="Shape 11"/>
          <p:cNvSpPr/>
          <p:nvPr/>
        </p:nvSpPr>
        <p:spPr>
          <a:xfrm>
            <a:off x="3383280" y="2306507"/>
            <a:ext cx="4114800" cy="777240"/>
          </a:xfrm>
          <a:prstGeom prst="rect">
            <a:avLst/>
          </a:prstGeom>
          <a:solidFill>
            <a:srgbClr val="FFFFFF"/>
          </a:solidFill>
          <a:ln w="6350">
            <a:solidFill>
              <a:srgbClr val="E3E6EA"/>
            </a:solidFill>
            <a:prstDash val="solid"/>
          </a:ln>
        </p:spPr>
        <p:txBody>
          <a:bodyPr/>
          <a:lstStyle/>
          <a:p>
            <a:endParaRPr lang="en-UA" sz="2800"/>
          </a:p>
        </p:txBody>
      </p:sp>
      <p:sp>
        <p:nvSpPr>
          <p:cNvPr id="14" name="Text 12"/>
          <p:cNvSpPr txBox="1"/>
          <p:nvPr/>
        </p:nvSpPr>
        <p:spPr>
          <a:xfrm>
            <a:off x="3383280" y="2306507"/>
            <a:ext cx="4114800" cy="777240"/>
          </a:xfrm>
          <a:prstGeom prst="rect">
            <a:avLst/>
          </a:prstGeom>
          <a:noFill/>
          <a:ln/>
        </p:spPr>
        <p:txBody>
          <a:bodyPr wrap="square" lIns="137160" tIns="137160" rIns="137160" bIns="137160" rtlCol="0" anchor="ctr"/>
          <a:lstStyle/>
          <a:p>
            <a:pPr marL="0" indent="0" algn="ctr">
              <a:lnSpc>
                <a:spcPct val="115000"/>
              </a:lnSpc>
              <a:buNone/>
            </a:pPr>
            <a:r>
              <a:rPr lang="en-US" sz="1400" dirty="0">
                <a:solidFill>
                  <a:srgbClr val="16191F"/>
                </a:solidFill>
                <a:latin typeface="Calibri" pitchFamily="34" charset="0"/>
                <a:ea typeface="Calibri" pitchFamily="34" charset="-122"/>
                <a:cs typeface="Calibri" pitchFamily="34" charset="-120"/>
              </a:rPr>
              <a:t>За заздалегідь задану ємність (RCU/WCU) щогодини</a:t>
            </a:r>
            <a:endParaRPr lang="en-US" sz="1400" dirty="0"/>
          </a:p>
        </p:txBody>
      </p:sp>
      <p:sp>
        <p:nvSpPr>
          <p:cNvPr id="15" name="Shape 13"/>
          <p:cNvSpPr/>
          <p:nvPr/>
        </p:nvSpPr>
        <p:spPr>
          <a:xfrm>
            <a:off x="7498080" y="2306507"/>
            <a:ext cx="4114800" cy="777240"/>
          </a:xfrm>
          <a:prstGeom prst="rect">
            <a:avLst/>
          </a:prstGeom>
          <a:solidFill>
            <a:srgbClr val="FFF3E0"/>
          </a:solidFill>
          <a:ln w="6350">
            <a:solidFill>
              <a:srgbClr val="E3E6EA"/>
            </a:solidFill>
            <a:prstDash val="solid"/>
          </a:ln>
        </p:spPr>
        <p:txBody>
          <a:bodyPr/>
          <a:lstStyle/>
          <a:p>
            <a:endParaRPr lang="en-UA" sz="2800"/>
          </a:p>
        </p:txBody>
      </p:sp>
      <p:sp>
        <p:nvSpPr>
          <p:cNvPr id="16" name="Text 14"/>
          <p:cNvSpPr txBox="1"/>
          <p:nvPr/>
        </p:nvSpPr>
        <p:spPr>
          <a:xfrm>
            <a:off x="7498080" y="2306507"/>
            <a:ext cx="4114800" cy="777240"/>
          </a:xfrm>
          <a:prstGeom prst="rect">
            <a:avLst/>
          </a:prstGeom>
          <a:noFill/>
          <a:ln/>
        </p:spPr>
        <p:txBody>
          <a:bodyPr wrap="square" lIns="137160" tIns="137160" rIns="137160" bIns="137160" rtlCol="0" anchor="ctr"/>
          <a:lstStyle/>
          <a:p>
            <a:pPr marL="0" indent="0" algn="ctr">
              <a:lnSpc>
                <a:spcPct val="115000"/>
              </a:lnSpc>
              <a:buNone/>
            </a:pPr>
            <a:r>
              <a:rPr lang="en-US" sz="1400" dirty="0">
                <a:solidFill>
                  <a:srgbClr val="16191F"/>
                </a:solidFill>
                <a:latin typeface="Calibri" pitchFamily="34" charset="0"/>
                <a:ea typeface="Calibri" pitchFamily="34" charset="-122"/>
                <a:cs typeface="Calibri" pitchFamily="34" charset="-120"/>
              </a:rPr>
              <a:t>За фактичну кількість запитів</a:t>
            </a:r>
            <a:endParaRPr lang="en-US" sz="1400" dirty="0"/>
          </a:p>
        </p:txBody>
      </p:sp>
      <p:sp>
        <p:nvSpPr>
          <p:cNvPr id="17" name="Shape 15"/>
          <p:cNvSpPr/>
          <p:nvPr/>
        </p:nvSpPr>
        <p:spPr>
          <a:xfrm>
            <a:off x="548640" y="3083747"/>
            <a:ext cx="2834640" cy="777240"/>
          </a:xfrm>
          <a:prstGeom prst="rect">
            <a:avLst/>
          </a:prstGeom>
          <a:solidFill>
            <a:srgbClr val="F2F3F3"/>
          </a:solidFill>
          <a:ln w="6350">
            <a:solidFill>
              <a:srgbClr val="E3E6EA"/>
            </a:solidFill>
            <a:prstDash val="solid"/>
          </a:ln>
        </p:spPr>
        <p:txBody>
          <a:bodyPr/>
          <a:lstStyle/>
          <a:p>
            <a:endParaRPr lang="en-UA" sz="2800"/>
          </a:p>
        </p:txBody>
      </p:sp>
      <p:sp>
        <p:nvSpPr>
          <p:cNvPr id="18" name="Text 16"/>
          <p:cNvSpPr txBox="1"/>
          <p:nvPr/>
        </p:nvSpPr>
        <p:spPr>
          <a:xfrm>
            <a:off x="548640" y="3083747"/>
            <a:ext cx="2834640" cy="777240"/>
          </a:xfrm>
          <a:prstGeom prst="rect">
            <a:avLst/>
          </a:prstGeom>
          <a:noFill/>
          <a:ln/>
        </p:spPr>
        <p:txBody>
          <a:bodyPr wrap="square" lIns="137160" tIns="137160" rIns="137160" bIns="137160" rtlCol="0" anchor="ctr"/>
          <a:lstStyle/>
          <a:p>
            <a:pPr marL="0" indent="0" algn="l">
              <a:lnSpc>
                <a:spcPct val="115000"/>
              </a:lnSpc>
              <a:buNone/>
            </a:pPr>
            <a:r>
              <a:rPr lang="en-US" sz="1400" b="1" dirty="0">
                <a:solidFill>
                  <a:srgbClr val="16191F"/>
                </a:solidFill>
                <a:latin typeface="Calibri" pitchFamily="34" charset="0"/>
                <a:ea typeface="Calibri" pitchFamily="34" charset="-122"/>
                <a:cs typeface="Calibri" pitchFamily="34" charset="-120"/>
              </a:rPr>
              <a:t>Прогнозованість навантаження</a:t>
            </a:r>
            <a:endParaRPr lang="en-US" sz="1400" dirty="0"/>
          </a:p>
        </p:txBody>
      </p:sp>
      <p:sp>
        <p:nvSpPr>
          <p:cNvPr id="19" name="Shape 17"/>
          <p:cNvSpPr/>
          <p:nvPr/>
        </p:nvSpPr>
        <p:spPr>
          <a:xfrm>
            <a:off x="3383280" y="3083747"/>
            <a:ext cx="4114800" cy="777240"/>
          </a:xfrm>
          <a:prstGeom prst="rect">
            <a:avLst/>
          </a:prstGeom>
          <a:solidFill>
            <a:srgbClr val="F2F3F3"/>
          </a:solidFill>
          <a:ln w="6350">
            <a:solidFill>
              <a:srgbClr val="E3E6EA"/>
            </a:solidFill>
            <a:prstDash val="solid"/>
          </a:ln>
        </p:spPr>
        <p:txBody>
          <a:bodyPr/>
          <a:lstStyle/>
          <a:p>
            <a:endParaRPr lang="en-UA" sz="2800"/>
          </a:p>
        </p:txBody>
      </p:sp>
      <p:sp>
        <p:nvSpPr>
          <p:cNvPr id="20" name="Text 18"/>
          <p:cNvSpPr txBox="1"/>
          <p:nvPr/>
        </p:nvSpPr>
        <p:spPr>
          <a:xfrm>
            <a:off x="3383280" y="3083747"/>
            <a:ext cx="4114800" cy="777240"/>
          </a:xfrm>
          <a:prstGeom prst="rect">
            <a:avLst/>
          </a:prstGeom>
          <a:noFill/>
          <a:ln/>
        </p:spPr>
        <p:txBody>
          <a:bodyPr wrap="square" lIns="137160" tIns="137160" rIns="137160" bIns="137160" rtlCol="0" anchor="ctr"/>
          <a:lstStyle/>
          <a:p>
            <a:pPr marL="0" indent="0" algn="ctr">
              <a:lnSpc>
                <a:spcPct val="115000"/>
              </a:lnSpc>
              <a:buNone/>
            </a:pPr>
            <a:r>
              <a:rPr lang="en-US" sz="1400" dirty="0">
                <a:solidFill>
                  <a:srgbClr val="16191F"/>
                </a:solidFill>
                <a:latin typeface="Calibri" pitchFamily="34" charset="0"/>
                <a:ea typeface="Calibri" pitchFamily="34" charset="-122"/>
                <a:cs typeface="Calibri" pitchFamily="34" charset="-120"/>
              </a:rPr>
              <a:t>Потрібна — навантаження стабільне й відоме</a:t>
            </a:r>
            <a:endParaRPr lang="en-US" sz="1400" dirty="0"/>
          </a:p>
        </p:txBody>
      </p:sp>
      <p:sp>
        <p:nvSpPr>
          <p:cNvPr id="21" name="Shape 19"/>
          <p:cNvSpPr/>
          <p:nvPr/>
        </p:nvSpPr>
        <p:spPr>
          <a:xfrm>
            <a:off x="7498080" y="3083747"/>
            <a:ext cx="4114800" cy="777240"/>
          </a:xfrm>
          <a:prstGeom prst="rect">
            <a:avLst/>
          </a:prstGeom>
          <a:solidFill>
            <a:srgbClr val="FFF3E0"/>
          </a:solidFill>
          <a:ln w="6350">
            <a:solidFill>
              <a:srgbClr val="E3E6EA"/>
            </a:solidFill>
            <a:prstDash val="solid"/>
          </a:ln>
        </p:spPr>
        <p:txBody>
          <a:bodyPr/>
          <a:lstStyle/>
          <a:p>
            <a:endParaRPr lang="en-UA" sz="2800"/>
          </a:p>
        </p:txBody>
      </p:sp>
      <p:sp>
        <p:nvSpPr>
          <p:cNvPr id="22" name="Text 20"/>
          <p:cNvSpPr txBox="1"/>
          <p:nvPr/>
        </p:nvSpPr>
        <p:spPr>
          <a:xfrm>
            <a:off x="7498080" y="3083747"/>
            <a:ext cx="4114800" cy="777240"/>
          </a:xfrm>
          <a:prstGeom prst="rect">
            <a:avLst/>
          </a:prstGeom>
          <a:noFill/>
          <a:ln/>
        </p:spPr>
        <p:txBody>
          <a:bodyPr wrap="square" lIns="137160" tIns="137160" rIns="137160" bIns="137160" rtlCol="0" anchor="ctr"/>
          <a:lstStyle/>
          <a:p>
            <a:pPr marL="0" indent="0" algn="ctr">
              <a:lnSpc>
                <a:spcPct val="115000"/>
              </a:lnSpc>
              <a:buNone/>
            </a:pPr>
            <a:r>
              <a:rPr lang="en-US" sz="1400" dirty="0">
                <a:solidFill>
                  <a:srgbClr val="16191F"/>
                </a:solidFill>
                <a:latin typeface="Calibri" pitchFamily="34" charset="0"/>
                <a:ea typeface="Calibri" pitchFamily="34" charset="-122"/>
                <a:cs typeface="Calibri" pitchFamily="34" charset="-120"/>
              </a:rPr>
              <a:t>Не потрібна — підходить для непередбачуваного трафіку</a:t>
            </a:r>
            <a:endParaRPr lang="en-US" sz="1400" dirty="0"/>
          </a:p>
        </p:txBody>
      </p:sp>
      <p:sp>
        <p:nvSpPr>
          <p:cNvPr id="23" name="Shape 21"/>
          <p:cNvSpPr/>
          <p:nvPr/>
        </p:nvSpPr>
        <p:spPr>
          <a:xfrm>
            <a:off x="548640" y="3860987"/>
            <a:ext cx="2834640" cy="777240"/>
          </a:xfrm>
          <a:prstGeom prst="rect">
            <a:avLst/>
          </a:prstGeom>
          <a:solidFill>
            <a:srgbClr val="FFFFFF"/>
          </a:solidFill>
          <a:ln w="6350">
            <a:solidFill>
              <a:srgbClr val="E3E6EA"/>
            </a:solidFill>
            <a:prstDash val="solid"/>
          </a:ln>
        </p:spPr>
        <p:txBody>
          <a:bodyPr/>
          <a:lstStyle/>
          <a:p>
            <a:endParaRPr lang="en-UA" sz="2800"/>
          </a:p>
        </p:txBody>
      </p:sp>
      <p:sp>
        <p:nvSpPr>
          <p:cNvPr id="24" name="Text 22"/>
          <p:cNvSpPr txBox="1"/>
          <p:nvPr/>
        </p:nvSpPr>
        <p:spPr>
          <a:xfrm>
            <a:off x="548640" y="3860987"/>
            <a:ext cx="2834640" cy="777240"/>
          </a:xfrm>
          <a:prstGeom prst="rect">
            <a:avLst/>
          </a:prstGeom>
          <a:noFill/>
          <a:ln/>
        </p:spPr>
        <p:txBody>
          <a:bodyPr wrap="square" lIns="137160" tIns="137160" rIns="137160" bIns="137160" rtlCol="0" anchor="ctr"/>
          <a:lstStyle/>
          <a:p>
            <a:pPr marL="0" indent="0" algn="l">
              <a:lnSpc>
                <a:spcPct val="115000"/>
              </a:lnSpc>
              <a:buNone/>
            </a:pPr>
            <a:r>
              <a:rPr lang="en-US" sz="1400" b="1" dirty="0">
                <a:solidFill>
                  <a:srgbClr val="16191F"/>
                </a:solidFill>
                <a:latin typeface="Calibri" pitchFamily="34" charset="0"/>
                <a:ea typeface="Calibri" pitchFamily="34" charset="-122"/>
                <a:cs typeface="Calibri" pitchFamily="34" charset="-120"/>
              </a:rPr>
              <a:t>Автоматичне масштабування</a:t>
            </a:r>
            <a:endParaRPr lang="en-US" sz="1400" dirty="0"/>
          </a:p>
        </p:txBody>
      </p:sp>
      <p:sp>
        <p:nvSpPr>
          <p:cNvPr id="25" name="Shape 23"/>
          <p:cNvSpPr/>
          <p:nvPr/>
        </p:nvSpPr>
        <p:spPr>
          <a:xfrm>
            <a:off x="3383280" y="3860987"/>
            <a:ext cx="4114800" cy="777240"/>
          </a:xfrm>
          <a:prstGeom prst="rect">
            <a:avLst/>
          </a:prstGeom>
          <a:solidFill>
            <a:srgbClr val="FFFFFF"/>
          </a:solidFill>
          <a:ln w="6350">
            <a:solidFill>
              <a:srgbClr val="E3E6EA"/>
            </a:solidFill>
            <a:prstDash val="solid"/>
          </a:ln>
        </p:spPr>
        <p:txBody>
          <a:bodyPr/>
          <a:lstStyle/>
          <a:p>
            <a:endParaRPr lang="en-UA" sz="2800"/>
          </a:p>
        </p:txBody>
      </p:sp>
      <p:sp>
        <p:nvSpPr>
          <p:cNvPr id="26" name="Text 24"/>
          <p:cNvSpPr txBox="1"/>
          <p:nvPr/>
        </p:nvSpPr>
        <p:spPr>
          <a:xfrm>
            <a:off x="3383280" y="3860987"/>
            <a:ext cx="4114800" cy="777240"/>
          </a:xfrm>
          <a:prstGeom prst="rect">
            <a:avLst/>
          </a:prstGeom>
          <a:noFill/>
          <a:ln/>
        </p:spPr>
        <p:txBody>
          <a:bodyPr wrap="square" lIns="137160" tIns="137160" rIns="137160" bIns="137160" rtlCol="0" anchor="ctr"/>
          <a:lstStyle/>
          <a:p>
            <a:pPr marL="0" indent="0" algn="ctr">
              <a:lnSpc>
                <a:spcPct val="115000"/>
              </a:lnSpc>
              <a:buNone/>
            </a:pPr>
            <a:r>
              <a:rPr lang="en-US" sz="1400" dirty="0">
                <a:solidFill>
                  <a:srgbClr val="16191F"/>
                </a:solidFill>
                <a:latin typeface="Calibri" pitchFamily="34" charset="0"/>
                <a:ea typeface="Calibri" pitchFamily="34" charset="-122"/>
                <a:cs typeface="Calibri" pitchFamily="34" charset="-120"/>
              </a:rPr>
              <a:t>Опційно, через Auto Scaling з затримкою реакції</a:t>
            </a:r>
            <a:endParaRPr lang="en-US" sz="1400" dirty="0"/>
          </a:p>
        </p:txBody>
      </p:sp>
      <p:sp>
        <p:nvSpPr>
          <p:cNvPr id="27" name="Shape 25"/>
          <p:cNvSpPr/>
          <p:nvPr/>
        </p:nvSpPr>
        <p:spPr>
          <a:xfrm>
            <a:off x="7498080" y="3860987"/>
            <a:ext cx="4114800" cy="777240"/>
          </a:xfrm>
          <a:prstGeom prst="rect">
            <a:avLst/>
          </a:prstGeom>
          <a:solidFill>
            <a:srgbClr val="FFF3E0"/>
          </a:solidFill>
          <a:ln w="6350">
            <a:solidFill>
              <a:srgbClr val="E3E6EA"/>
            </a:solidFill>
            <a:prstDash val="solid"/>
          </a:ln>
        </p:spPr>
        <p:txBody>
          <a:bodyPr/>
          <a:lstStyle/>
          <a:p>
            <a:endParaRPr lang="en-UA" sz="2800"/>
          </a:p>
        </p:txBody>
      </p:sp>
      <p:sp>
        <p:nvSpPr>
          <p:cNvPr id="28" name="Text 26"/>
          <p:cNvSpPr txBox="1"/>
          <p:nvPr/>
        </p:nvSpPr>
        <p:spPr>
          <a:xfrm>
            <a:off x="7498080" y="3860987"/>
            <a:ext cx="4114800" cy="777240"/>
          </a:xfrm>
          <a:prstGeom prst="rect">
            <a:avLst/>
          </a:prstGeom>
          <a:noFill/>
          <a:ln/>
        </p:spPr>
        <p:txBody>
          <a:bodyPr wrap="square" lIns="137160" tIns="137160" rIns="137160" bIns="137160" rtlCol="0" anchor="ctr"/>
          <a:lstStyle/>
          <a:p>
            <a:pPr marL="0" indent="0" algn="ctr">
              <a:lnSpc>
                <a:spcPct val="115000"/>
              </a:lnSpc>
              <a:buNone/>
            </a:pPr>
            <a:r>
              <a:rPr lang="en-US" sz="1400" dirty="0">
                <a:solidFill>
                  <a:srgbClr val="16191F"/>
                </a:solidFill>
                <a:latin typeface="Calibri" pitchFamily="34" charset="0"/>
                <a:ea typeface="Calibri" pitchFamily="34" charset="-122"/>
                <a:cs typeface="Calibri" pitchFamily="34" charset="-120"/>
              </a:rPr>
              <a:t>Миттєве, вбудоване за замовчуванням</a:t>
            </a:r>
            <a:endParaRPr lang="en-US" sz="1400" dirty="0"/>
          </a:p>
        </p:txBody>
      </p:sp>
      <p:sp>
        <p:nvSpPr>
          <p:cNvPr id="29" name="Shape 27"/>
          <p:cNvSpPr/>
          <p:nvPr/>
        </p:nvSpPr>
        <p:spPr>
          <a:xfrm>
            <a:off x="548640" y="4638227"/>
            <a:ext cx="2834640" cy="777240"/>
          </a:xfrm>
          <a:prstGeom prst="rect">
            <a:avLst/>
          </a:prstGeom>
          <a:solidFill>
            <a:srgbClr val="F2F3F3"/>
          </a:solidFill>
          <a:ln w="6350">
            <a:solidFill>
              <a:srgbClr val="E3E6EA"/>
            </a:solidFill>
            <a:prstDash val="solid"/>
          </a:ln>
        </p:spPr>
        <p:txBody>
          <a:bodyPr/>
          <a:lstStyle/>
          <a:p>
            <a:endParaRPr lang="en-UA" sz="2800"/>
          </a:p>
        </p:txBody>
      </p:sp>
      <p:sp>
        <p:nvSpPr>
          <p:cNvPr id="30" name="Text 28"/>
          <p:cNvSpPr txBox="1"/>
          <p:nvPr/>
        </p:nvSpPr>
        <p:spPr>
          <a:xfrm>
            <a:off x="548640" y="4638227"/>
            <a:ext cx="2834640" cy="777240"/>
          </a:xfrm>
          <a:prstGeom prst="rect">
            <a:avLst/>
          </a:prstGeom>
          <a:noFill/>
          <a:ln/>
        </p:spPr>
        <p:txBody>
          <a:bodyPr wrap="square" lIns="137160" tIns="137160" rIns="137160" bIns="137160" rtlCol="0" anchor="ctr"/>
          <a:lstStyle/>
          <a:p>
            <a:pPr marL="0" indent="0" algn="l">
              <a:lnSpc>
                <a:spcPct val="115000"/>
              </a:lnSpc>
              <a:buNone/>
            </a:pPr>
            <a:r>
              <a:rPr lang="en-US" sz="1400" b="1" dirty="0">
                <a:solidFill>
                  <a:srgbClr val="16191F"/>
                </a:solidFill>
                <a:latin typeface="Calibri" pitchFamily="34" charset="0"/>
                <a:ea typeface="Calibri" pitchFamily="34" charset="-122"/>
                <a:cs typeface="Calibri" pitchFamily="34" charset="-120"/>
              </a:rPr>
              <a:t>Найкраще для</a:t>
            </a:r>
            <a:endParaRPr lang="en-US" sz="1400" dirty="0"/>
          </a:p>
        </p:txBody>
      </p:sp>
      <p:sp>
        <p:nvSpPr>
          <p:cNvPr id="31" name="Shape 29"/>
          <p:cNvSpPr/>
          <p:nvPr/>
        </p:nvSpPr>
        <p:spPr>
          <a:xfrm>
            <a:off x="3383280" y="4638227"/>
            <a:ext cx="4114800" cy="777240"/>
          </a:xfrm>
          <a:prstGeom prst="rect">
            <a:avLst/>
          </a:prstGeom>
          <a:solidFill>
            <a:srgbClr val="F2F3F3"/>
          </a:solidFill>
          <a:ln w="6350">
            <a:solidFill>
              <a:srgbClr val="E3E6EA"/>
            </a:solidFill>
            <a:prstDash val="solid"/>
          </a:ln>
        </p:spPr>
        <p:txBody>
          <a:bodyPr/>
          <a:lstStyle/>
          <a:p>
            <a:endParaRPr lang="en-UA" sz="2800"/>
          </a:p>
        </p:txBody>
      </p:sp>
      <p:sp>
        <p:nvSpPr>
          <p:cNvPr id="32" name="Text 30"/>
          <p:cNvSpPr txBox="1"/>
          <p:nvPr/>
        </p:nvSpPr>
        <p:spPr>
          <a:xfrm>
            <a:off x="3383280" y="4638227"/>
            <a:ext cx="4114800" cy="777240"/>
          </a:xfrm>
          <a:prstGeom prst="rect">
            <a:avLst/>
          </a:prstGeom>
          <a:noFill/>
          <a:ln/>
        </p:spPr>
        <p:txBody>
          <a:bodyPr wrap="square" lIns="137160" tIns="137160" rIns="137160" bIns="137160" rtlCol="0" anchor="ctr"/>
          <a:lstStyle/>
          <a:p>
            <a:pPr marL="0" indent="0" algn="ctr">
              <a:lnSpc>
                <a:spcPct val="115000"/>
              </a:lnSpc>
              <a:buNone/>
            </a:pPr>
            <a:r>
              <a:rPr lang="en-US" sz="1400" dirty="0">
                <a:solidFill>
                  <a:srgbClr val="16191F"/>
                </a:solidFill>
                <a:latin typeface="Calibri" pitchFamily="34" charset="0"/>
                <a:ea typeface="Calibri" pitchFamily="34" charset="-122"/>
                <a:cs typeface="Calibri" pitchFamily="34" charset="-120"/>
              </a:rPr>
              <a:t>Стабільний продакшн зі стабільно високим навантаженням</a:t>
            </a:r>
            <a:endParaRPr lang="en-US" sz="1400" dirty="0"/>
          </a:p>
        </p:txBody>
      </p:sp>
      <p:sp>
        <p:nvSpPr>
          <p:cNvPr id="33" name="Shape 31"/>
          <p:cNvSpPr/>
          <p:nvPr/>
        </p:nvSpPr>
        <p:spPr>
          <a:xfrm>
            <a:off x="7498080" y="4638227"/>
            <a:ext cx="4114800" cy="777240"/>
          </a:xfrm>
          <a:prstGeom prst="rect">
            <a:avLst/>
          </a:prstGeom>
          <a:solidFill>
            <a:srgbClr val="FFF3E0"/>
          </a:solidFill>
          <a:ln w="6350">
            <a:solidFill>
              <a:srgbClr val="E3E6EA"/>
            </a:solidFill>
            <a:prstDash val="solid"/>
          </a:ln>
        </p:spPr>
        <p:txBody>
          <a:bodyPr/>
          <a:lstStyle/>
          <a:p>
            <a:endParaRPr lang="en-UA" sz="2800"/>
          </a:p>
        </p:txBody>
      </p:sp>
      <p:sp>
        <p:nvSpPr>
          <p:cNvPr id="34" name="Text 32"/>
          <p:cNvSpPr txBox="1"/>
          <p:nvPr/>
        </p:nvSpPr>
        <p:spPr>
          <a:xfrm>
            <a:off x="7498080" y="4638227"/>
            <a:ext cx="4114800" cy="777240"/>
          </a:xfrm>
          <a:prstGeom prst="rect">
            <a:avLst/>
          </a:prstGeom>
          <a:noFill/>
          <a:ln/>
        </p:spPr>
        <p:txBody>
          <a:bodyPr wrap="square" lIns="137160" tIns="137160" rIns="137160" bIns="137160" rtlCol="0" anchor="ctr"/>
          <a:lstStyle/>
          <a:p>
            <a:pPr marL="0" indent="0" algn="ctr">
              <a:lnSpc>
                <a:spcPct val="115000"/>
              </a:lnSpc>
              <a:buNone/>
            </a:pPr>
            <a:r>
              <a:rPr lang="en-US" sz="1400" dirty="0">
                <a:solidFill>
                  <a:srgbClr val="16191F"/>
                </a:solidFill>
                <a:latin typeface="Calibri" pitchFamily="34" charset="0"/>
                <a:ea typeface="Calibri" pitchFamily="34" charset="-122"/>
                <a:cs typeface="Calibri" pitchFamily="34" charset="-120"/>
              </a:rPr>
              <a:t>Нові застосунки, непередбачувані піки, стартапи</a:t>
            </a:r>
            <a:endParaRPr lang="en-US" sz="1400" dirty="0"/>
          </a:p>
        </p:txBody>
      </p:sp>
      <p:sp>
        <p:nvSpPr>
          <p:cNvPr id="35" name="Shape 33"/>
          <p:cNvSpPr/>
          <p:nvPr/>
        </p:nvSpPr>
        <p:spPr>
          <a:xfrm>
            <a:off x="548640" y="5689787"/>
            <a:ext cx="11064240" cy="640080"/>
          </a:xfrm>
          <a:prstGeom prst="roundRect">
            <a:avLst>
              <a:gd name="adj" fmla="val 14286"/>
            </a:avLst>
          </a:prstGeom>
          <a:solidFill>
            <a:srgbClr val="232F3E"/>
          </a:solidFill>
          <a:ln/>
        </p:spPr>
        <p:txBody>
          <a:bodyPr/>
          <a:lstStyle/>
          <a:p>
            <a:endParaRPr lang="en-UA"/>
          </a:p>
        </p:txBody>
      </p:sp>
      <p:pic>
        <p:nvPicPr>
          <p:cNvPr id="36" name="Image 0" descr="/home/claude/icons/checkDouble_orange.png"/>
          <p:cNvPicPr>
            <a:picLocks noChangeAspect="1"/>
          </p:cNvPicPr>
          <p:nvPr/>
        </p:nvPicPr>
        <p:blipFill>
          <a:blip r:embed="rId3"/>
          <a:stretch>
            <a:fillRect/>
          </a:stretch>
        </p:blipFill>
        <p:spPr>
          <a:xfrm>
            <a:off x="822960" y="5845235"/>
            <a:ext cx="320040" cy="320040"/>
          </a:xfrm>
          <a:prstGeom prst="rect">
            <a:avLst/>
          </a:prstGeom>
        </p:spPr>
      </p:pic>
      <p:sp>
        <p:nvSpPr>
          <p:cNvPr id="37" name="Text 34"/>
          <p:cNvSpPr txBox="1"/>
          <p:nvPr/>
        </p:nvSpPr>
        <p:spPr>
          <a:xfrm>
            <a:off x="1325880" y="5689787"/>
            <a:ext cx="10058400" cy="640080"/>
          </a:xfrm>
          <a:prstGeom prst="rect">
            <a:avLst/>
          </a:prstGeom>
          <a:noFill/>
          <a:ln/>
        </p:spPr>
        <p:txBody>
          <a:bodyPr wrap="square"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Порада: почніть з On-Demand — легко передбачити витрати на старті; переходьте на Provisioned, коли навантаження стабілізується.</a:t>
            </a:r>
            <a:endParaRPr lang="en-US" sz="1400" dirty="0"/>
          </a:p>
        </p:txBody>
      </p:sp>
      <p:sp>
        <p:nvSpPr>
          <p:cNvPr id="38" name="Text 35"/>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5A6674"/>
                </a:solidFill>
                <a:latin typeface="Calibri" pitchFamily="34" charset="0"/>
                <a:ea typeface="Calibri" pitchFamily="34" charset="-122"/>
                <a:cs typeface="Calibri" pitchFamily="34" charset="-120"/>
              </a:rPr>
              <a:t>Amazon RDS і DynamoDB</a:t>
            </a:r>
            <a:endParaRPr lang="en-US" sz="1000" dirty="0"/>
          </a:p>
        </p:txBody>
      </p:sp>
      <p:sp>
        <p:nvSpPr>
          <p:cNvPr id="39" name="Text 3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A667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3F3"/>
        </a:solidFill>
        <a:effectLst/>
      </p:bgPr>
    </p:bg>
    <p:spTree>
      <p:nvGrpSpPr>
        <p:cNvPr id="1" name=""/>
        <p:cNvGrpSpPr/>
        <p:nvPr/>
      </p:nvGrpSpPr>
      <p:grpSpPr>
        <a:xfrm>
          <a:off x="0" y="0"/>
          <a:ext cx="0" cy="0"/>
          <a:chOff x="0" y="0"/>
          <a:chExt cx="0" cy="0"/>
        </a:xfrm>
      </p:grpSpPr>
      <p:sp>
        <p:nvSpPr>
          <p:cNvPr id="3" name="Text 1"/>
          <p:cNvSpPr txBox="1"/>
          <p:nvPr/>
        </p:nvSpPr>
        <p:spPr>
          <a:xfrm>
            <a:off x="548640" y="315468"/>
            <a:ext cx="11064240" cy="822960"/>
          </a:xfrm>
          <a:prstGeom prst="rect">
            <a:avLst/>
          </a:prstGeom>
          <a:noFill/>
          <a:ln/>
        </p:spPr>
        <p:txBody>
          <a:bodyPr wrap="square" rtlCol="0" anchor="ctr"/>
          <a:lstStyle/>
          <a:p>
            <a:pPr marL="0" indent="0">
              <a:buNone/>
            </a:pPr>
            <a:r>
              <a:rPr lang="en-US" sz="3600" b="1" dirty="0">
                <a:solidFill>
                  <a:srgbClr val="16191F"/>
                </a:solidFill>
                <a:latin typeface="Cambria" pitchFamily="34" charset="0"/>
                <a:ea typeface="Cambria" pitchFamily="34" charset="-122"/>
                <a:cs typeface="Cambria" pitchFamily="34" charset="-120"/>
              </a:rPr>
              <a:t>Порівняння RDS і DynamoDB</a:t>
            </a:r>
            <a:endParaRPr lang="en-US" sz="3600" dirty="0"/>
          </a:p>
        </p:txBody>
      </p:sp>
      <p:sp>
        <p:nvSpPr>
          <p:cNvPr id="4" name="Shape 2"/>
          <p:cNvSpPr/>
          <p:nvPr/>
        </p:nvSpPr>
        <p:spPr>
          <a:xfrm>
            <a:off x="548640" y="1443813"/>
            <a:ext cx="2651760" cy="457200"/>
          </a:xfrm>
          <a:prstGeom prst="rect">
            <a:avLst/>
          </a:prstGeom>
          <a:solidFill>
            <a:srgbClr val="232F3E"/>
          </a:solidFill>
          <a:ln w="6350">
            <a:solidFill>
              <a:srgbClr val="FFFFFF"/>
            </a:solidFill>
            <a:prstDash val="solid"/>
          </a:ln>
        </p:spPr>
        <p:txBody>
          <a:bodyPr/>
          <a:lstStyle/>
          <a:p>
            <a:endParaRPr lang="en-UA" sz="2800"/>
          </a:p>
        </p:txBody>
      </p:sp>
      <p:sp>
        <p:nvSpPr>
          <p:cNvPr id="5" name="Text 3"/>
          <p:cNvSpPr txBox="1"/>
          <p:nvPr/>
        </p:nvSpPr>
        <p:spPr>
          <a:xfrm>
            <a:off x="548640" y="1443813"/>
            <a:ext cx="2651760" cy="457200"/>
          </a:xfrm>
          <a:prstGeom prst="rect">
            <a:avLst/>
          </a:prstGeom>
          <a:noFill/>
          <a:ln/>
        </p:spPr>
        <p:txBody>
          <a:bodyPr wrap="square" lIns="137160" tIns="137160" rIns="137160" bIns="137160" rtlCol="0" anchor="ctr"/>
          <a:lstStyle/>
          <a:p>
            <a:pPr marL="0" indent="0" algn="l">
              <a:buNone/>
            </a:pPr>
            <a:endParaRPr lang="en-US" dirty="0"/>
          </a:p>
        </p:txBody>
      </p:sp>
      <p:sp>
        <p:nvSpPr>
          <p:cNvPr id="6" name="Shape 4"/>
          <p:cNvSpPr/>
          <p:nvPr/>
        </p:nvSpPr>
        <p:spPr>
          <a:xfrm>
            <a:off x="3200400" y="1443813"/>
            <a:ext cx="4206240" cy="457200"/>
          </a:xfrm>
          <a:prstGeom prst="rect">
            <a:avLst/>
          </a:prstGeom>
          <a:solidFill>
            <a:srgbClr val="232F3E"/>
          </a:solidFill>
          <a:ln w="6350">
            <a:solidFill>
              <a:srgbClr val="FFFFFF"/>
            </a:solidFill>
            <a:prstDash val="solid"/>
          </a:ln>
        </p:spPr>
        <p:txBody>
          <a:bodyPr/>
          <a:lstStyle/>
          <a:p>
            <a:endParaRPr lang="en-UA" sz="2800"/>
          </a:p>
        </p:txBody>
      </p:sp>
      <p:sp>
        <p:nvSpPr>
          <p:cNvPr id="7" name="Text 5"/>
          <p:cNvSpPr txBox="1"/>
          <p:nvPr/>
        </p:nvSpPr>
        <p:spPr>
          <a:xfrm>
            <a:off x="3200400" y="1443813"/>
            <a:ext cx="4206240" cy="457200"/>
          </a:xfrm>
          <a:prstGeom prst="rect">
            <a:avLst/>
          </a:prstGeom>
          <a:noFill/>
          <a:ln/>
        </p:spPr>
        <p:txBody>
          <a:bodyPr wrap="square" lIns="137160" tIns="137160" rIns="137160" bIns="137160" rtlCol="0" anchor="ctr"/>
          <a:lstStyle/>
          <a:p>
            <a:pPr marL="0" indent="0" algn="ctr">
              <a:buNone/>
            </a:pPr>
            <a:r>
              <a:rPr lang="en-US" b="1" dirty="0">
                <a:solidFill>
                  <a:srgbClr val="FF9900"/>
                </a:solidFill>
                <a:latin typeface="Calibri" pitchFamily="34" charset="0"/>
                <a:ea typeface="Calibri" pitchFamily="34" charset="-122"/>
                <a:cs typeface="Calibri" pitchFamily="34" charset="-120"/>
              </a:rPr>
              <a:t>Amazon RDS</a:t>
            </a:r>
            <a:endParaRPr lang="en-US" dirty="0"/>
          </a:p>
        </p:txBody>
      </p:sp>
      <p:sp>
        <p:nvSpPr>
          <p:cNvPr id="8" name="Shape 6"/>
          <p:cNvSpPr/>
          <p:nvPr/>
        </p:nvSpPr>
        <p:spPr>
          <a:xfrm>
            <a:off x="7406640" y="1443813"/>
            <a:ext cx="4206240" cy="457200"/>
          </a:xfrm>
          <a:prstGeom prst="rect">
            <a:avLst/>
          </a:prstGeom>
          <a:solidFill>
            <a:srgbClr val="232F3E"/>
          </a:solidFill>
          <a:ln w="6350">
            <a:solidFill>
              <a:srgbClr val="FFFFFF"/>
            </a:solidFill>
            <a:prstDash val="solid"/>
          </a:ln>
        </p:spPr>
        <p:txBody>
          <a:bodyPr/>
          <a:lstStyle/>
          <a:p>
            <a:endParaRPr lang="en-UA" sz="2800"/>
          </a:p>
        </p:txBody>
      </p:sp>
      <p:sp>
        <p:nvSpPr>
          <p:cNvPr id="9" name="Text 7"/>
          <p:cNvSpPr txBox="1"/>
          <p:nvPr/>
        </p:nvSpPr>
        <p:spPr>
          <a:xfrm>
            <a:off x="7406640" y="1443813"/>
            <a:ext cx="4206240" cy="457200"/>
          </a:xfrm>
          <a:prstGeom prst="rect">
            <a:avLst/>
          </a:prstGeom>
          <a:noFill/>
          <a:ln/>
        </p:spPr>
        <p:txBody>
          <a:bodyPr wrap="square" lIns="137160" tIns="137160" rIns="137160" bIns="13716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Amazon DynamoDB</a:t>
            </a:r>
            <a:endParaRPr lang="en-US" dirty="0"/>
          </a:p>
        </p:txBody>
      </p:sp>
      <p:sp>
        <p:nvSpPr>
          <p:cNvPr id="10" name="Shape 8"/>
          <p:cNvSpPr/>
          <p:nvPr/>
        </p:nvSpPr>
        <p:spPr>
          <a:xfrm>
            <a:off x="548640" y="1901013"/>
            <a:ext cx="2651760" cy="576072"/>
          </a:xfrm>
          <a:prstGeom prst="rect">
            <a:avLst/>
          </a:prstGeom>
          <a:solidFill>
            <a:srgbClr val="FFFFFF"/>
          </a:solidFill>
          <a:ln w="6350">
            <a:solidFill>
              <a:srgbClr val="E3E6EA"/>
            </a:solidFill>
            <a:prstDash val="solid"/>
          </a:ln>
        </p:spPr>
        <p:txBody>
          <a:bodyPr/>
          <a:lstStyle/>
          <a:p>
            <a:endParaRPr lang="en-UA" sz="2800"/>
          </a:p>
        </p:txBody>
      </p:sp>
      <p:sp>
        <p:nvSpPr>
          <p:cNvPr id="11" name="Text 9"/>
          <p:cNvSpPr txBox="1"/>
          <p:nvPr/>
        </p:nvSpPr>
        <p:spPr>
          <a:xfrm>
            <a:off x="548640" y="1901013"/>
            <a:ext cx="2651760" cy="576072"/>
          </a:xfrm>
          <a:prstGeom prst="rect">
            <a:avLst/>
          </a:prstGeom>
          <a:noFill/>
          <a:ln/>
        </p:spPr>
        <p:txBody>
          <a:bodyPr wrap="square" lIns="137160" tIns="137160" rIns="137160" bIns="137160" rtlCol="0" anchor="ctr"/>
          <a:lstStyle/>
          <a:p>
            <a:pPr marL="0" indent="0" algn="l">
              <a:lnSpc>
                <a:spcPct val="110000"/>
              </a:lnSpc>
              <a:buNone/>
            </a:pPr>
            <a:r>
              <a:rPr lang="en-US" sz="1400" b="1" dirty="0">
                <a:solidFill>
                  <a:srgbClr val="16191F"/>
                </a:solidFill>
                <a:latin typeface="Calibri" pitchFamily="34" charset="0"/>
                <a:ea typeface="Calibri" pitchFamily="34" charset="-122"/>
                <a:cs typeface="Calibri" pitchFamily="34" charset="-120"/>
              </a:rPr>
              <a:t>Модель даних</a:t>
            </a:r>
            <a:endParaRPr lang="en-US" sz="1400" dirty="0"/>
          </a:p>
        </p:txBody>
      </p:sp>
      <p:sp>
        <p:nvSpPr>
          <p:cNvPr id="12" name="Shape 10"/>
          <p:cNvSpPr/>
          <p:nvPr/>
        </p:nvSpPr>
        <p:spPr>
          <a:xfrm>
            <a:off x="3200400" y="1901013"/>
            <a:ext cx="4206240" cy="576072"/>
          </a:xfrm>
          <a:prstGeom prst="rect">
            <a:avLst/>
          </a:prstGeom>
          <a:solidFill>
            <a:srgbClr val="FFF3E0"/>
          </a:solidFill>
          <a:ln w="6350">
            <a:solidFill>
              <a:srgbClr val="E3E6EA"/>
            </a:solidFill>
            <a:prstDash val="solid"/>
          </a:ln>
        </p:spPr>
        <p:txBody>
          <a:bodyPr/>
          <a:lstStyle/>
          <a:p>
            <a:endParaRPr lang="en-UA" sz="2800"/>
          </a:p>
        </p:txBody>
      </p:sp>
      <p:sp>
        <p:nvSpPr>
          <p:cNvPr id="13" name="Text 11"/>
          <p:cNvSpPr txBox="1"/>
          <p:nvPr/>
        </p:nvSpPr>
        <p:spPr>
          <a:xfrm>
            <a:off x="3200400" y="1901013"/>
            <a:ext cx="4206240" cy="576072"/>
          </a:xfrm>
          <a:prstGeom prst="rect">
            <a:avLst/>
          </a:prstGeom>
          <a:noFill/>
          <a:ln/>
        </p:spPr>
        <p:txBody>
          <a:bodyPr wrap="square" lIns="137160" tIns="137160" rIns="137160" bIns="137160" rtlCol="0" anchor="ctr"/>
          <a:lstStyle/>
          <a:p>
            <a:pPr marL="0" indent="0" algn="ctr">
              <a:lnSpc>
                <a:spcPct val="110000"/>
              </a:lnSpc>
              <a:buNone/>
            </a:pPr>
            <a:r>
              <a:rPr lang="en-US" sz="1400" dirty="0">
                <a:solidFill>
                  <a:srgbClr val="16191F"/>
                </a:solidFill>
                <a:latin typeface="Calibri" pitchFamily="34" charset="0"/>
                <a:ea typeface="Calibri" pitchFamily="34" charset="-122"/>
                <a:cs typeface="Calibri" pitchFamily="34" charset="-120"/>
              </a:rPr>
              <a:t>Реляційна (таблиці, зв'язки, JOIN)</a:t>
            </a:r>
            <a:endParaRPr lang="en-US" sz="1400" dirty="0"/>
          </a:p>
        </p:txBody>
      </p:sp>
      <p:sp>
        <p:nvSpPr>
          <p:cNvPr id="14" name="Shape 12"/>
          <p:cNvSpPr/>
          <p:nvPr/>
        </p:nvSpPr>
        <p:spPr>
          <a:xfrm>
            <a:off x="7406640" y="1901013"/>
            <a:ext cx="4206240" cy="576072"/>
          </a:xfrm>
          <a:prstGeom prst="rect">
            <a:avLst/>
          </a:prstGeom>
          <a:solidFill>
            <a:srgbClr val="FFFFFF"/>
          </a:solidFill>
          <a:ln w="6350">
            <a:solidFill>
              <a:srgbClr val="E3E6EA"/>
            </a:solidFill>
            <a:prstDash val="solid"/>
          </a:ln>
        </p:spPr>
        <p:txBody>
          <a:bodyPr/>
          <a:lstStyle/>
          <a:p>
            <a:endParaRPr lang="en-UA" sz="2800"/>
          </a:p>
        </p:txBody>
      </p:sp>
      <p:sp>
        <p:nvSpPr>
          <p:cNvPr id="15" name="Text 13"/>
          <p:cNvSpPr txBox="1"/>
          <p:nvPr/>
        </p:nvSpPr>
        <p:spPr>
          <a:xfrm>
            <a:off x="7406640" y="1901013"/>
            <a:ext cx="4206240" cy="576072"/>
          </a:xfrm>
          <a:prstGeom prst="rect">
            <a:avLst/>
          </a:prstGeom>
          <a:noFill/>
          <a:ln/>
        </p:spPr>
        <p:txBody>
          <a:bodyPr wrap="square" lIns="137160" tIns="137160" rIns="137160" bIns="137160" rtlCol="0" anchor="ctr"/>
          <a:lstStyle/>
          <a:p>
            <a:pPr marL="0" indent="0" algn="ctr">
              <a:lnSpc>
                <a:spcPct val="110000"/>
              </a:lnSpc>
              <a:buNone/>
            </a:pPr>
            <a:r>
              <a:rPr lang="en-US" sz="1400" dirty="0">
                <a:solidFill>
                  <a:srgbClr val="16191F"/>
                </a:solidFill>
                <a:latin typeface="Calibri" pitchFamily="34" charset="0"/>
                <a:ea typeface="Calibri" pitchFamily="34" charset="-122"/>
                <a:cs typeface="Calibri" pitchFamily="34" charset="-120"/>
              </a:rPr>
              <a:t>NoSQL ключ-значення / документ</a:t>
            </a:r>
            <a:endParaRPr lang="en-US" sz="1400" dirty="0"/>
          </a:p>
        </p:txBody>
      </p:sp>
      <p:sp>
        <p:nvSpPr>
          <p:cNvPr id="16" name="Shape 14"/>
          <p:cNvSpPr/>
          <p:nvPr/>
        </p:nvSpPr>
        <p:spPr>
          <a:xfrm>
            <a:off x="548640" y="2477085"/>
            <a:ext cx="2651760" cy="576072"/>
          </a:xfrm>
          <a:prstGeom prst="rect">
            <a:avLst/>
          </a:prstGeom>
          <a:solidFill>
            <a:srgbClr val="F2F3F3"/>
          </a:solidFill>
          <a:ln w="6350">
            <a:solidFill>
              <a:srgbClr val="E3E6EA"/>
            </a:solidFill>
            <a:prstDash val="solid"/>
          </a:ln>
        </p:spPr>
        <p:txBody>
          <a:bodyPr/>
          <a:lstStyle/>
          <a:p>
            <a:endParaRPr lang="en-UA" sz="2800"/>
          </a:p>
        </p:txBody>
      </p:sp>
      <p:sp>
        <p:nvSpPr>
          <p:cNvPr id="17" name="Text 15"/>
          <p:cNvSpPr txBox="1"/>
          <p:nvPr/>
        </p:nvSpPr>
        <p:spPr>
          <a:xfrm>
            <a:off x="548640" y="2477085"/>
            <a:ext cx="2651760" cy="576072"/>
          </a:xfrm>
          <a:prstGeom prst="rect">
            <a:avLst/>
          </a:prstGeom>
          <a:noFill/>
          <a:ln/>
        </p:spPr>
        <p:txBody>
          <a:bodyPr wrap="square" lIns="137160" tIns="137160" rIns="137160" bIns="137160" rtlCol="0" anchor="ctr"/>
          <a:lstStyle/>
          <a:p>
            <a:pPr marL="0" indent="0" algn="l">
              <a:lnSpc>
                <a:spcPct val="110000"/>
              </a:lnSpc>
              <a:buNone/>
            </a:pPr>
            <a:r>
              <a:rPr lang="en-US" sz="1400" b="1" dirty="0">
                <a:solidFill>
                  <a:srgbClr val="16191F"/>
                </a:solidFill>
                <a:latin typeface="Calibri" pitchFamily="34" charset="0"/>
                <a:ea typeface="Calibri" pitchFamily="34" charset="-122"/>
                <a:cs typeface="Calibri" pitchFamily="34" charset="-120"/>
              </a:rPr>
              <a:t>Схема</a:t>
            </a:r>
            <a:endParaRPr lang="en-US" sz="1400" dirty="0"/>
          </a:p>
        </p:txBody>
      </p:sp>
      <p:sp>
        <p:nvSpPr>
          <p:cNvPr id="18" name="Shape 16"/>
          <p:cNvSpPr/>
          <p:nvPr/>
        </p:nvSpPr>
        <p:spPr>
          <a:xfrm>
            <a:off x="3200400" y="2477085"/>
            <a:ext cx="4206240" cy="576072"/>
          </a:xfrm>
          <a:prstGeom prst="rect">
            <a:avLst/>
          </a:prstGeom>
          <a:solidFill>
            <a:srgbClr val="FFF3E0"/>
          </a:solidFill>
          <a:ln w="6350">
            <a:solidFill>
              <a:srgbClr val="E3E6EA"/>
            </a:solidFill>
            <a:prstDash val="solid"/>
          </a:ln>
        </p:spPr>
        <p:txBody>
          <a:bodyPr/>
          <a:lstStyle/>
          <a:p>
            <a:endParaRPr lang="en-UA" sz="2800"/>
          </a:p>
        </p:txBody>
      </p:sp>
      <p:sp>
        <p:nvSpPr>
          <p:cNvPr id="19" name="Text 17"/>
          <p:cNvSpPr txBox="1"/>
          <p:nvPr/>
        </p:nvSpPr>
        <p:spPr>
          <a:xfrm>
            <a:off x="3200400" y="2477085"/>
            <a:ext cx="4206240" cy="576072"/>
          </a:xfrm>
          <a:prstGeom prst="rect">
            <a:avLst/>
          </a:prstGeom>
          <a:noFill/>
          <a:ln/>
        </p:spPr>
        <p:txBody>
          <a:bodyPr wrap="square" lIns="137160" tIns="137160" rIns="137160" bIns="137160" rtlCol="0" anchor="ctr"/>
          <a:lstStyle/>
          <a:p>
            <a:pPr marL="0" indent="0" algn="ctr">
              <a:lnSpc>
                <a:spcPct val="110000"/>
              </a:lnSpc>
              <a:buNone/>
            </a:pPr>
            <a:r>
              <a:rPr lang="en-US" sz="1400" dirty="0">
                <a:solidFill>
                  <a:srgbClr val="16191F"/>
                </a:solidFill>
                <a:latin typeface="Calibri" pitchFamily="34" charset="0"/>
                <a:ea typeface="Calibri" pitchFamily="34" charset="-122"/>
                <a:cs typeface="Calibri" pitchFamily="34" charset="-120"/>
              </a:rPr>
              <a:t>Фіксована, задається наперед</a:t>
            </a:r>
            <a:endParaRPr lang="en-US" sz="1400" dirty="0"/>
          </a:p>
        </p:txBody>
      </p:sp>
      <p:sp>
        <p:nvSpPr>
          <p:cNvPr id="20" name="Shape 18"/>
          <p:cNvSpPr/>
          <p:nvPr/>
        </p:nvSpPr>
        <p:spPr>
          <a:xfrm>
            <a:off x="7406640" y="2477085"/>
            <a:ext cx="4206240" cy="576072"/>
          </a:xfrm>
          <a:prstGeom prst="rect">
            <a:avLst/>
          </a:prstGeom>
          <a:solidFill>
            <a:srgbClr val="F2F3F3"/>
          </a:solidFill>
          <a:ln w="6350">
            <a:solidFill>
              <a:srgbClr val="E3E6EA"/>
            </a:solidFill>
            <a:prstDash val="solid"/>
          </a:ln>
        </p:spPr>
        <p:txBody>
          <a:bodyPr/>
          <a:lstStyle/>
          <a:p>
            <a:endParaRPr lang="en-UA" sz="2800"/>
          </a:p>
        </p:txBody>
      </p:sp>
      <p:sp>
        <p:nvSpPr>
          <p:cNvPr id="21" name="Text 19"/>
          <p:cNvSpPr txBox="1"/>
          <p:nvPr/>
        </p:nvSpPr>
        <p:spPr>
          <a:xfrm>
            <a:off x="7406640" y="2477085"/>
            <a:ext cx="4206240" cy="576072"/>
          </a:xfrm>
          <a:prstGeom prst="rect">
            <a:avLst/>
          </a:prstGeom>
          <a:noFill/>
          <a:ln/>
        </p:spPr>
        <p:txBody>
          <a:bodyPr wrap="square" lIns="137160" tIns="137160" rIns="137160" bIns="137160" rtlCol="0" anchor="ctr"/>
          <a:lstStyle/>
          <a:p>
            <a:pPr marL="0" indent="0" algn="ctr">
              <a:lnSpc>
                <a:spcPct val="110000"/>
              </a:lnSpc>
              <a:buNone/>
            </a:pPr>
            <a:r>
              <a:rPr lang="en-US" sz="1400" dirty="0">
                <a:solidFill>
                  <a:srgbClr val="16191F"/>
                </a:solidFill>
                <a:latin typeface="Calibri" pitchFamily="34" charset="0"/>
                <a:ea typeface="Calibri" pitchFamily="34" charset="-122"/>
                <a:cs typeface="Calibri" pitchFamily="34" charset="-120"/>
              </a:rPr>
              <a:t>Гнучка — кожен елемент може відрізнятись</a:t>
            </a:r>
            <a:endParaRPr lang="en-US" sz="1400" dirty="0"/>
          </a:p>
        </p:txBody>
      </p:sp>
      <p:sp>
        <p:nvSpPr>
          <p:cNvPr id="22" name="Shape 20"/>
          <p:cNvSpPr/>
          <p:nvPr/>
        </p:nvSpPr>
        <p:spPr>
          <a:xfrm>
            <a:off x="548640" y="3053157"/>
            <a:ext cx="2651760" cy="576072"/>
          </a:xfrm>
          <a:prstGeom prst="rect">
            <a:avLst/>
          </a:prstGeom>
          <a:solidFill>
            <a:srgbClr val="FFFFFF"/>
          </a:solidFill>
          <a:ln w="6350">
            <a:solidFill>
              <a:srgbClr val="E3E6EA"/>
            </a:solidFill>
            <a:prstDash val="solid"/>
          </a:ln>
        </p:spPr>
        <p:txBody>
          <a:bodyPr/>
          <a:lstStyle/>
          <a:p>
            <a:endParaRPr lang="en-UA" sz="2800"/>
          </a:p>
        </p:txBody>
      </p:sp>
      <p:sp>
        <p:nvSpPr>
          <p:cNvPr id="23" name="Text 21"/>
          <p:cNvSpPr txBox="1"/>
          <p:nvPr/>
        </p:nvSpPr>
        <p:spPr>
          <a:xfrm>
            <a:off x="548640" y="3053157"/>
            <a:ext cx="2651760" cy="576072"/>
          </a:xfrm>
          <a:prstGeom prst="rect">
            <a:avLst/>
          </a:prstGeom>
          <a:noFill/>
          <a:ln/>
        </p:spPr>
        <p:txBody>
          <a:bodyPr wrap="square" lIns="137160" tIns="137160" rIns="137160" bIns="137160" rtlCol="0" anchor="ctr"/>
          <a:lstStyle/>
          <a:p>
            <a:pPr marL="0" indent="0" algn="l">
              <a:lnSpc>
                <a:spcPct val="110000"/>
              </a:lnSpc>
              <a:buNone/>
            </a:pPr>
            <a:r>
              <a:rPr lang="en-US" sz="1400" b="1" dirty="0">
                <a:solidFill>
                  <a:srgbClr val="16191F"/>
                </a:solidFill>
                <a:latin typeface="Calibri" pitchFamily="34" charset="0"/>
                <a:ea typeface="Calibri" pitchFamily="34" charset="-122"/>
                <a:cs typeface="Calibri" pitchFamily="34" charset="-120"/>
              </a:rPr>
              <a:t>Мова запитів</a:t>
            </a:r>
            <a:endParaRPr lang="en-US" sz="1400" dirty="0"/>
          </a:p>
        </p:txBody>
      </p:sp>
      <p:sp>
        <p:nvSpPr>
          <p:cNvPr id="24" name="Shape 22"/>
          <p:cNvSpPr/>
          <p:nvPr/>
        </p:nvSpPr>
        <p:spPr>
          <a:xfrm>
            <a:off x="3200400" y="3053157"/>
            <a:ext cx="4206240" cy="576072"/>
          </a:xfrm>
          <a:prstGeom prst="rect">
            <a:avLst/>
          </a:prstGeom>
          <a:solidFill>
            <a:srgbClr val="FFF3E0"/>
          </a:solidFill>
          <a:ln w="6350">
            <a:solidFill>
              <a:srgbClr val="E3E6EA"/>
            </a:solidFill>
            <a:prstDash val="solid"/>
          </a:ln>
        </p:spPr>
        <p:txBody>
          <a:bodyPr/>
          <a:lstStyle/>
          <a:p>
            <a:endParaRPr lang="en-UA" sz="2800"/>
          </a:p>
        </p:txBody>
      </p:sp>
      <p:sp>
        <p:nvSpPr>
          <p:cNvPr id="25" name="Text 23"/>
          <p:cNvSpPr txBox="1"/>
          <p:nvPr/>
        </p:nvSpPr>
        <p:spPr>
          <a:xfrm>
            <a:off x="3200400" y="3053157"/>
            <a:ext cx="4206240" cy="576072"/>
          </a:xfrm>
          <a:prstGeom prst="rect">
            <a:avLst/>
          </a:prstGeom>
          <a:noFill/>
          <a:ln/>
        </p:spPr>
        <p:txBody>
          <a:bodyPr wrap="square" lIns="137160" tIns="137160" rIns="137160" bIns="137160" rtlCol="0" anchor="ctr"/>
          <a:lstStyle/>
          <a:p>
            <a:pPr marL="0" indent="0" algn="ctr">
              <a:lnSpc>
                <a:spcPct val="110000"/>
              </a:lnSpc>
              <a:buNone/>
            </a:pPr>
            <a:r>
              <a:rPr lang="en-US" sz="1400" dirty="0">
                <a:solidFill>
                  <a:srgbClr val="16191F"/>
                </a:solidFill>
                <a:latin typeface="Calibri" pitchFamily="34" charset="0"/>
                <a:ea typeface="Calibri" pitchFamily="34" charset="-122"/>
                <a:cs typeface="Calibri" pitchFamily="34" charset="-120"/>
              </a:rPr>
              <a:t>SQL</a:t>
            </a:r>
            <a:endParaRPr lang="en-US" sz="1400" dirty="0"/>
          </a:p>
        </p:txBody>
      </p:sp>
      <p:sp>
        <p:nvSpPr>
          <p:cNvPr id="26" name="Shape 24"/>
          <p:cNvSpPr/>
          <p:nvPr/>
        </p:nvSpPr>
        <p:spPr>
          <a:xfrm>
            <a:off x="7406640" y="3053157"/>
            <a:ext cx="4206240" cy="576072"/>
          </a:xfrm>
          <a:prstGeom prst="rect">
            <a:avLst/>
          </a:prstGeom>
          <a:solidFill>
            <a:srgbClr val="FFFFFF"/>
          </a:solidFill>
          <a:ln w="6350">
            <a:solidFill>
              <a:srgbClr val="E3E6EA"/>
            </a:solidFill>
            <a:prstDash val="solid"/>
          </a:ln>
        </p:spPr>
        <p:txBody>
          <a:bodyPr/>
          <a:lstStyle/>
          <a:p>
            <a:endParaRPr lang="en-UA" sz="2800"/>
          </a:p>
        </p:txBody>
      </p:sp>
      <p:sp>
        <p:nvSpPr>
          <p:cNvPr id="27" name="Text 25"/>
          <p:cNvSpPr txBox="1"/>
          <p:nvPr/>
        </p:nvSpPr>
        <p:spPr>
          <a:xfrm>
            <a:off x="7406640" y="3053157"/>
            <a:ext cx="4206240" cy="576072"/>
          </a:xfrm>
          <a:prstGeom prst="rect">
            <a:avLst/>
          </a:prstGeom>
          <a:noFill/>
          <a:ln/>
        </p:spPr>
        <p:txBody>
          <a:bodyPr wrap="square" lIns="137160" tIns="137160" rIns="137160" bIns="137160" rtlCol="0" anchor="ctr"/>
          <a:lstStyle/>
          <a:p>
            <a:pPr marL="0" indent="0" algn="ctr">
              <a:lnSpc>
                <a:spcPct val="110000"/>
              </a:lnSpc>
              <a:buNone/>
            </a:pPr>
            <a:r>
              <a:rPr lang="en-US" sz="1400" dirty="0">
                <a:solidFill>
                  <a:srgbClr val="16191F"/>
                </a:solidFill>
                <a:latin typeface="Calibri" pitchFamily="34" charset="0"/>
                <a:ea typeface="Calibri" pitchFamily="34" charset="-122"/>
                <a:cs typeface="Calibri" pitchFamily="34" charset="-120"/>
              </a:rPr>
              <a:t>API-виклики (Query, Scan)</a:t>
            </a:r>
            <a:endParaRPr lang="en-US" sz="1400" dirty="0"/>
          </a:p>
        </p:txBody>
      </p:sp>
      <p:sp>
        <p:nvSpPr>
          <p:cNvPr id="28" name="Shape 26"/>
          <p:cNvSpPr/>
          <p:nvPr/>
        </p:nvSpPr>
        <p:spPr>
          <a:xfrm>
            <a:off x="548640" y="3629229"/>
            <a:ext cx="2651760" cy="576072"/>
          </a:xfrm>
          <a:prstGeom prst="rect">
            <a:avLst/>
          </a:prstGeom>
          <a:solidFill>
            <a:srgbClr val="F2F3F3"/>
          </a:solidFill>
          <a:ln w="6350">
            <a:solidFill>
              <a:srgbClr val="E3E6EA"/>
            </a:solidFill>
            <a:prstDash val="solid"/>
          </a:ln>
        </p:spPr>
        <p:txBody>
          <a:bodyPr/>
          <a:lstStyle/>
          <a:p>
            <a:endParaRPr lang="en-UA" sz="2800"/>
          </a:p>
        </p:txBody>
      </p:sp>
      <p:sp>
        <p:nvSpPr>
          <p:cNvPr id="29" name="Text 27"/>
          <p:cNvSpPr txBox="1"/>
          <p:nvPr/>
        </p:nvSpPr>
        <p:spPr>
          <a:xfrm>
            <a:off x="548640" y="3629229"/>
            <a:ext cx="2651760" cy="576072"/>
          </a:xfrm>
          <a:prstGeom prst="rect">
            <a:avLst/>
          </a:prstGeom>
          <a:noFill/>
          <a:ln/>
        </p:spPr>
        <p:txBody>
          <a:bodyPr wrap="square" lIns="137160" tIns="137160" rIns="137160" bIns="137160" rtlCol="0" anchor="ctr"/>
          <a:lstStyle/>
          <a:p>
            <a:pPr marL="0" indent="0" algn="l">
              <a:lnSpc>
                <a:spcPct val="110000"/>
              </a:lnSpc>
              <a:buNone/>
            </a:pPr>
            <a:r>
              <a:rPr lang="en-US" sz="1400" b="1" dirty="0">
                <a:solidFill>
                  <a:srgbClr val="16191F"/>
                </a:solidFill>
                <a:latin typeface="Calibri" pitchFamily="34" charset="0"/>
                <a:ea typeface="Calibri" pitchFamily="34" charset="-122"/>
                <a:cs typeface="Calibri" pitchFamily="34" charset="-120"/>
              </a:rPr>
              <a:t>Масштабування</a:t>
            </a:r>
            <a:endParaRPr lang="en-US" sz="1400" dirty="0"/>
          </a:p>
        </p:txBody>
      </p:sp>
      <p:sp>
        <p:nvSpPr>
          <p:cNvPr id="30" name="Shape 28"/>
          <p:cNvSpPr/>
          <p:nvPr/>
        </p:nvSpPr>
        <p:spPr>
          <a:xfrm>
            <a:off x="3200400" y="3629229"/>
            <a:ext cx="4206240" cy="576072"/>
          </a:xfrm>
          <a:prstGeom prst="rect">
            <a:avLst/>
          </a:prstGeom>
          <a:solidFill>
            <a:srgbClr val="FFF3E0"/>
          </a:solidFill>
          <a:ln w="6350">
            <a:solidFill>
              <a:srgbClr val="E3E6EA"/>
            </a:solidFill>
            <a:prstDash val="solid"/>
          </a:ln>
        </p:spPr>
        <p:txBody>
          <a:bodyPr/>
          <a:lstStyle/>
          <a:p>
            <a:endParaRPr lang="en-UA" sz="2800"/>
          </a:p>
        </p:txBody>
      </p:sp>
      <p:sp>
        <p:nvSpPr>
          <p:cNvPr id="31" name="Text 29"/>
          <p:cNvSpPr txBox="1"/>
          <p:nvPr/>
        </p:nvSpPr>
        <p:spPr>
          <a:xfrm>
            <a:off x="3200400" y="3629229"/>
            <a:ext cx="4206240" cy="576072"/>
          </a:xfrm>
          <a:prstGeom prst="rect">
            <a:avLst/>
          </a:prstGeom>
          <a:noFill/>
          <a:ln/>
        </p:spPr>
        <p:txBody>
          <a:bodyPr wrap="square" lIns="137160" tIns="137160" rIns="137160" bIns="137160" rtlCol="0" anchor="ctr"/>
          <a:lstStyle/>
          <a:p>
            <a:pPr marL="0" indent="0" algn="ctr">
              <a:lnSpc>
                <a:spcPct val="110000"/>
              </a:lnSpc>
              <a:buNone/>
            </a:pPr>
            <a:r>
              <a:rPr lang="en-US" sz="1400" dirty="0">
                <a:solidFill>
                  <a:srgbClr val="16191F"/>
                </a:solidFill>
                <a:latin typeface="Calibri" pitchFamily="34" charset="0"/>
                <a:ea typeface="Calibri" pitchFamily="34" charset="-122"/>
                <a:cs typeface="Calibri" pitchFamily="34" charset="-120"/>
              </a:rPr>
              <a:t>Вертикальне + Read Replicas</a:t>
            </a:r>
            <a:endParaRPr lang="en-US" sz="1400" dirty="0"/>
          </a:p>
        </p:txBody>
      </p:sp>
      <p:sp>
        <p:nvSpPr>
          <p:cNvPr id="32" name="Shape 30"/>
          <p:cNvSpPr/>
          <p:nvPr/>
        </p:nvSpPr>
        <p:spPr>
          <a:xfrm>
            <a:off x="7406640" y="3629229"/>
            <a:ext cx="4206240" cy="576072"/>
          </a:xfrm>
          <a:prstGeom prst="rect">
            <a:avLst/>
          </a:prstGeom>
          <a:solidFill>
            <a:srgbClr val="F2F3F3"/>
          </a:solidFill>
          <a:ln w="6350">
            <a:solidFill>
              <a:srgbClr val="E3E6EA"/>
            </a:solidFill>
            <a:prstDash val="solid"/>
          </a:ln>
        </p:spPr>
        <p:txBody>
          <a:bodyPr/>
          <a:lstStyle/>
          <a:p>
            <a:endParaRPr lang="en-UA" sz="2800"/>
          </a:p>
        </p:txBody>
      </p:sp>
      <p:sp>
        <p:nvSpPr>
          <p:cNvPr id="33" name="Text 31"/>
          <p:cNvSpPr txBox="1"/>
          <p:nvPr/>
        </p:nvSpPr>
        <p:spPr>
          <a:xfrm>
            <a:off x="7406640" y="3629229"/>
            <a:ext cx="4206240" cy="576072"/>
          </a:xfrm>
          <a:prstGeom prst="rect">
            <a:avLst/>
          </a:prstGeom>
          <a:noFill/>
          <a:ln/>
        </p:spPr>
        <p:txBody>
          <a:bodyPr wrap="square" lIns="137160" tIns="137160" rIns="137160" bIns="137160" rtlCol="0" anchor="ctr"/>
          <a:lstStyle/>
          <a:p>
            <a:pPr marL="0" indent="0" algn="ctr">
              <a:lnSpc>
                <a:spcPct val="110000"/>
              </a:lnSpc>
              <a:buNone/>
            </a:pPr>
            <a:r>
              <a:rPr lang="en-US" sz="1400" dirty="0">
                <a:solidFill>
                  <a:srgbClr val="16191F"/>
                </a:solidFill>
                <a:latin typeface="Calibri" pitchFamily="34" charset="0"/>
                <a:ea typeface="Calibri" pitchFamily="34" charset="-122"/>
                <a:cs typeface="Calibri" pitchFamily="34" charset="-120"/>
              </a:rPr>
              <a:t>Горизонтальне, автоматичне, без меж</a:t>
            </a:r>
            <a:endParaRPr lang="en-US" sz="1400" dirty="0"/>
          </a:p>
        </p:txBody>
      </p:sp>
      <p:sp>
        <p:nvSpPr>
          <p:cNvPr id="34" name="Shape 32"/>
          <p:cNvSpPr/>
          <p:nvPr/>
        </p:nvSpPr>
        <p:spPr>
          <a:xfrm>
            <a:off x="548640" y="4205301"/>
            <a:ext cx="2651760" cy="576072"/>
          </a:xfrm>
          <a:prstGeom prst="rect">
            <a:avLst/>
          </a:prstGeom>
          <a:solidFill>
            <a:srgbClr val="FFFFFF"/>
          </a:solidFill>
          <a:ln w="6350">
            <a:solidFill>
              <a:srgbClr val="E3E6EA"/>
            </a:solidFill>
            <a:prstDash val="solid"/>
          </a:ln>
        </p:spPr>
        <p:txBody>
          <a:bodyPr/>
          <a:lstStyle/>
          <a:p>
            <a:endParaRPr lang="en-UA" sz="2800"/>
          </a:p>
        </p:txBody>
      </p:sp>
      <p:sp>
        <p:nvSpPr>
          <p:cNvPr id="35" name="Text 33"/>
          <p:cNvSpPr txBox="1"/>
          <p:nvPr/>
        </p:nvSpPr>
        <p:spPr>
          <a:xfrm>
            <a:off x="548640" y="4205301"/>
            <a:ext cx="2651760" cy="576072"/>
          </a:xfrm>
          <a:prstGeom prst="rect">
            <a:avLst/>
          </a:prstGeom>
          <a:noFill/>
          <a:ln/>
        </p:spPr>
        <p:txBody>
          <a:bodyPr wrap="square" lIns="137160" tIns="137160" rIns="137160" bIns="137160" rtlCol="0" anchor="ctr"/>
          <a:lstStyle/>
          <a:p>
            <a:pPr marL="0" indent="0" algn="l">
              <a:lnSpc>
                <a:spcPct val="110000"/>
              </a:lnSpc>
              <a:buNone/>
            </a:pPr>
            <a:r>
              <a:rPr lang="en-US" sz="1400" b="1" dirty="0">
                <a:solidFill>
                  <a:srgbClr val="16191F"/>
                </a:solidFill>
                <a:latin typeface="Calibri" pitchFamily="34" charset="0"/>
                <a:ea typeface="Calibri" pitchFamily="34" charset="-122"/>
                <a:cs typeface="Calibri" pitchFamily="34" charset="-120"/>
              </a:rPr>
              <a:t>Транзакції</a:t>
            </a:r>
            <a:endParaRPr lang="en-US" sz="1400" dirty="0"/>
          </a:p>
        </p:txBody>
      </p:sp>
      <p:sp>
        <p:nvSpPr>
          <p:cNvPr id="36" name="Shape 34"/>
          <p:cNvSpPr/>
          <p:nvPr/>
        </p:nvSpPr>
        <p:spPr>
          <a:xfrm>
            <a:off x="3200400" y="4205301"/>
            <a:ext cx="4206240" cy="576072"/>
          </a:xfrm>
          <a:prstGeom prst="rect">
            <a:avLst/>
          </a:prstGeom>
          <a:solidFill>
            <a:srgbClr val="FFF3E0"/>
          </a:solidFill>
          <a:ln w="6350">
            <a:solidFill>
              <a:srgbClr val="E3E6EA"/>
            </a:solidFill>
            <a:prstDash val="solid"/>
          </a:ln>
        </p:spPr>
        <p:txBody>
          <a:bodyPr/>
          <a:lstStyle/>
          <a:p>
            <a:endParaRPr lang="en-UA" sz="2800"/>
          </a:p>
        </p:txBody>
      </p:sp>
      <p:sp>
        <p:nvSpPr>
          <p:cNvPr id="37" name="Text 35"/>
          <p:cNvSpPr txBox="1"/>
          <p:nvPr/>
        </p:nvSpPr>
        <p:spPr>
          <a:xfrm>
            <a:off x="3200400" y="4205301"/>
            <a:ext cx="4206240" cy="576072"/>
          </a:xfrm>
          <a:prstGeom prst="rect">
            <a:avLst/>
          </a:prstGeom>
          <a:noFill/>
          <a:ln/>
        </p:spPr>
        <p:txBody>
          <a:bodyPr wrap="square" lIns="137160" tIns="137160" rIns="137160" bIns="137160" rtlCol="0" anchor="ctr"/>
          <a:lstStyle/>
          <a:p>
            <a:pPr marL="0" indent="0" algn="ctr">
              <a:lnSpc>
                <a:spcPct val="110000"/>
              </a:lnSpc>
              <a:buNone/>
            </a:pPr>
            <a:r>
              <a:rPr lang="en-US" sz="1400" dirty="0">
                <a:solidFill>
                  <a:srgbClr val="16191F"/>
                </a:solidFill>
                <a:latin typeface="Calibri" pitchFamily="34" charset="0"/>
                <a:ea typeface="Calibri" pitchFamily="34" charset="-122"/>
                <a:cs typeface="Calibri" pitchFamily="34" charset="-120"/>
              </a:rPr>
              <a:t>Повна підтримка ACID від початку</a:t>
            </a:r>
            <a:endParaRPr lang="en-US" sz="1400" dirty="0"/>
          </a:p>
        </p:txBody>
      </p:sp>
      <p:sp>
        <p:nvSpPr>
          <p:cNvPr id="38" name="Shape 36"/>
          <p:cNvSpPr/>
          <p:nvPr/>
        </p:nvSpPr>
        <p:spPr>
          <a:xfrm>
            <a:off x="7406640" y="4205301"/>
            <a:ext cx="4206240" cy="576072"/>
          </a:xfrm>
          <a:prstGeom prst="rect">
            <a:avLst/>
          </a:prstGeom>
          <a:solidFill>
            <a:srgbClr val="FFFFFF"/>
          </a:solidFill>
          <a:ln w="6350">
            <a:solidFill>
              <a:srgbClr val="E3E6EA"/>
            </a:solidFill>
            <a:prstDash val="solid"/>
          </a:ln>
        </p:spPr>
        <p:txBody>
          <a:bodyPr/>
          <a:lstStyle/>
          <a:p>
            <a:endParaRPr lang="en-UA" sz="2800"/>
          </a:p>
        </p:txBody>
      </p:sp>
      <p:sp>
        <p:nvSpPr>
          <p:cNvPr id="39" name="Text 37"/>
          <p:cNvSpPr txBox="1"/>
          <p:nvPr/>
        </p:nvSpPr>
        <p:spPr>
          <a:xfrm>
            <a:off x="7406640" y="4205301"/>
            <a:ext cx="4206240" cy="576072"/>
          </a:xfrm>
          <a:prstGeom prst="rect">
            <a:avLst/>
          </a:prstGeom>
          <a:noFill/>
          <a:ln/>
        </p:spPr>
        <p:txBody>
          <a:bodyPr wrap="square" lIns="137160" tIns="137160" rIns="137160" bIns="137160" rtlCol="0" anchor="ctr"/>
          <a:lstStyle/>
          <a:p>
            <a:pPr marL="0" indent="0" algn="ctr">
              <a:lnSpc>
                <a:spcPct val="110000"/>
              </a:lnSpc>
              <a:buNone/>
            </a:pPr>
            <a:r>
              <a:rPr lang="en-US" sz="1400" dirty="0">
                <a:solidFill>
                  <a:srgbClr val="16191F"/>
                </a:solidFill>
                <a:latin typeface="Calibri" pitchFamily="34" charset="0"/>
                <a:ea typeface="Calibri" pitchFamily="34" charset="-122"/>
                <a:cs typeface="Calibri" pitchFamily="34" charset="-120"/>
              </a:rPr>
              <a:t>Підтримуються, але з обмеженнями</a:t>
            </a:r>
            <a:endParaRPr lang="en-US" sz="1400" dirty="0"/>
          </a:p>
        </p:txBody>
      </p:sp>
      <p:sp>
        <p:nvSpPr>
          <p:cNvPr id="40" name="Shape 38"/>
          <p:cNvSpPr/>
          <p:nvPr/>
        </p:nvSpPr>
        <p:spPr>
          <a:xfrm>
            <a:off x="548640" y="4781373"/>
            <a:ext cx="2651760" cy="576072"/>
          </a:xfrm>
          <a:prstGeom prst="rect">
            <a:avLst/>
          </a:prstGeom>
          <a:solidFill>
            <a:srgbClr val="F2F3F3"/>
          </a:solidFill>
          <a:ln w="6350">
            <a:solidFill>
              <a:srgbClr val="E3E6EA"/>
            </a:solidFill>
            <a:prstDash val="solid"/>
          </a:ln>
        </p:spPr>
        <p:txBody>
          <a:bodyPr/>
          <a:lstStyle/>
          <a:p>
            <a:endParaRPr lang="en-UA" sz="2800"/>
          </a:p>
        </p:txBody>
      </p:sp>
      <p:sp>
        <p:nvSpPr>
          <p:cNvPr id="41" name="Text 39"/>
          <p:cNvSpPr txBox="1"/>
          <p:nvPr/>
        </p:nvSpPr>
        <p:spPr>
          <a:xfrm>
            <a:off x="548640" y="4781373"/>
            <a:ext cx="2651760" cy="576072"/>
          </a:xfrm>
          <a:prstGeom prst="rect">
            <a:avLst/>
          </a:prstGeom>
          <a:noFill/>
          <a:ln/>
        </p:spPr>
        <p:txBody>
          <a:bodyPr wrap="square" lIns="137160" tIns="137160" rIns="137160" bIns="137160" rtlCol="0" anchor="ctr"/>
          <a:lstStyle/>
          <a:p>
            <a:pPr marL="0" indent="0" algn="l">
              <a:lnSpc>
                <a:spcPct val="110000"/>
              </a:lnSpc>
              <a:buNone/>
            </a:pPr>
            <a:r>
              <a:rPr lang="en-US" sz="1400" b="1" dirty="0">
                <a:solidFill>
                  <a:srgbClr val="16191F"/>
                </a:solidFill>
                <a:latin typeface="Calibri" pitchFamily="34" charset="0"/>
                <a:ea typeface="Calibri" pitchFamily="34" charset="-122"/>
                <a:cs typeface="Calibri" pitchFamily="34" charset="-120"/>
              </a:rPr>
              <a:t>Найкраще для</a:t>
            </a:r>
            <a:endParaRPr lang="en-US" sz="1400" dirty="0"/>
          </a:p>
        </p:txBody>
      </p:sp>
      <p:sp>
        <p:nvSpPr>
          <p:cNvPr id="42" name="Shape 40"/>
          <p:cNvSpPr/>
          <p:nvPr/>
        </p:nvSpPr>
        <p:spPr>
          <a:xfrm>
            <a:off x="3200400" y="4781373"/>
            <a:ext cx="4206240" cy="576072"/>
          </a:xfrm>
          <a:prstGeom prst="rect">
            <a:avLst/>
          </a:prstGeom>
          <a:solidFill>
            <a:srgbClr val="FFF3E0"/>
          </a:solidFill>
          <a:ln w="6350">
            <a:solidFill>
              <a:srgbClr val="E3E6EA"/>
            </a:solidFill>
            <a:prstDash val="solid"/>
          </a:ln>
        </p:spPr>
        <p:txBody>
          <a:bodyPr/>
          <a:lstStyle/>
          <a:p>
            <a:endParaRPr lang="en-UA" sz="2800"/>
          </a:p>
        </p:txBody>
      </p:sp>
      <p:sp>
        <p:nvSpPr>
          <p:cNvPr id="43" name="Text 41"/>
          <p:cNvSpPr txBox="1"/>
          <p:nvPr/>
        </p:nvSpPr>
        <p:spPr>
          <a:xfrm>
            <a:off x="3200400" y="4781373"/>
            <a:ext cx="4206240" cy="576072"/>
          </a:xfrm>
          <a:prstGeom prst="rect">
            <a:avLst/>
          </a:prstGeom>
          <a:noFill/>
          <a:ln/>
        </p:spPr>
        <p:txBody>
          <a:bodyPr wrap="square" lIns="137160" tIns="137160" rIns="137160" bIns="137160" rtlCol="0" anchor="ctr"/>
          <a:lstStyle/>
          <a:p>
            <a:pPr marL="0" indent="0" algn="ctr">
              <a:lnSpc>
                <a:spcPct val="110000"/>
              </a:lnSpc>
              <a:buNone/>
            </a:pPr>
            <a:r>
              <a:rPr lang="en-US" sz="1400" dirty="0">
                <a:solidFill>
                  <a:srgbClr val="16191F"/>
                </a:solidFill>
                <a:latin typeface="Calibri" pitchFamily="34" charset="0"/>
                <a:ea typeface="Calibri" pitchFamily="34" charset="-122"/>
                <a:cs typeface="Calibri" pitchFamily="34" charset="-120"/>
              </a:rPr>
              <a:t>Складні зв'язки даних, </a:t>
            </a:r>
            <a:r>
              <a:rPr lang="en-US" sz="1400" dirty="0" err="1">
                <a:solidFill>
                  <a:srgbClr val="16191F"/>
                </a:solidFill>
                <a:latin typeface="Calibri" pitchFamily="34" charset="0"/>
                <a:ea typeface="Calibri" pitchFamily="34" charset="-122"/>
                <a:cs typeface="Calibri" pitchFamily="34" charset="-120"/>
              </a:rPr>
              <a:t>звітність</a:t>
            </a:r>
            <a:endParaRPr lang="en-US" sz="1400" dirty="0"/>
          </a:p>
        </p:txBody>
      </p:sp>
      <p:sp>
        <p:nvSpPr>
          <p:cNvPr id="44" name="Shape 42"/>
          <p:cNvSpPr/>
          <p:nvPr/>
        </p:nvSpPr>
        <p:spPr>
          <a:xfrm>
            <a:off x="7406640" y="4781373"/>
            <a:ext cx="4206240" cy="576072"/>
          </a:xfrm>
          <a:prstGeom prst="rect">
            <a:avLst/>
          </a:prstGeom>
          <a:solidFill>
            <a:srgbClr val="F2F3F3"/>
          </a:solidFill>
          <a:ln w="6350">
            <a:solidFill>
              <a:srgbClr val="E3E6EA"/>
            </a:solidFill>
            <a:prstDash val="solid"/>
          </a:ln>
        </p:spPr>
        <p:txBody>
          <a:bodyPr/>
          <a:lstStyle/>
          <a:p>
            <a:endParaRPr lang="en-UA" sz="2800"/>
          </a:p>
        </p:txBody>
      </p:sp>
      <p:sp>
        <p:nvSpPr>
          <p:cNvPr id="45" name="Text 43"/>
          <p:cNvSpPr txBox="1"/>
          <p:nvPr/>
        </p:nvSpPr>
        <p:spPr>
          <a:xfrm>
            <a:off x="7406640" y="4781373"/>
            <a:ext cx="4206240" cy="576072"/>
          </a:xfrm>
          <a:prstGeom prst="rect">
            <a:avLst/>
          </a:prstGeom>
          <a:noFill/>
          <a:ln/>
        </p:spPr>
        <p:txBody>
          <a:bodyPr wrap="square" lIns="137160" tIns="137160" rIns="137160" bIns="137160" rtlCol="0" anchor="ctr"/>
          <a:lstStyle/>
          <a:p>
            <a:pPr marL="0" indent="0" algn="ctr">
              <a:lnSpc>
                <a:spcPct val="110000"/>
              </a:lnSpc>
              <a:buNone/>
            </a:pPr>
            <a:r>
              <a:rPr lang="en-US" sz="1400" dirty="0">
                <a:solidFill>
                  <a:srgbClr val="16191F"/>
                </a:solidFill>
                <a:latin typeface="Calibri" pitchFamily="34" charset="0"/>
                <a:ea typeface="Calibri" pitchFamily="34" charset="-122"/>
                <a:cs typeface="Calibri" pitchFamily="34" charset="-120"/>
              </a:rPr>
              <a:t>Величезний масштаб, стабільна затримка</a:t>
            </a:r>
            <a:endParaRPr lang="en-US" sz="1400" dirty="0"/>
          </a:p>
        </p:txBody>
      </p:sp>
      <p:sp>
        <p:nvSpPr>
          <p:cNvPr id="46" name="Text 44"/>
          <p:cNvSpPr txBox="1"/>
          <p:nvPr/>
        </p:nvSpPr>
        <p:spPr>
          <a:xfrm>
            <a:off x="548640" y="5669280"/>
            <a:ext cx="11064240" cy="457200"/>
          </a:xfrm>
          <a:prstGeom prst="rect">
            <a:avLst/>
          </a:prstGeom>
          <a:noFill/>
          <a:ln/>
        </p:spPr>
        <p:txBody>
          <a:bodyPr wrap="square" rtlCol="0" anchor="ctr"/>
          <a:lstStyle/>
          <a:p>
            <a:pPr marL="0" indent="0" algn="ctr">
              <a:buNone/>
            </a:pPr>
            <a:r>
              <a:rPr lang="en-US" sz="1400" i="1" dirty="0">
                <a:solidFill>
                  <a:srgbClr val="5A6674"/>
                </a:solidFill>
                <a:latin typeface="Calibri" pitchFamily="34" charset="0"/>
                <a:ea typeface="Calibri" pitchFamily="34" charset="-122"/>
                <a:cs typeface="Calibri" pitchFamily="34" charset="-120"/>
              </a:rPr>
              <a:t>Це не суперники, а інструменти для різних задач — великі системи часто використовують обидва одночасно, кожен там, де він сильніший.</a:t>
            </a:r>
            <a:endParaRPr lang="en-US" sz="1400" dirty="0"/>
          </a:p>
        </p:txBody>
      </p:sp>
      <p:sp>
        <p:nvSpPr>
          <p:cNvPr id="47" name="Text 45"/>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5A6674"/>
                </a:solidFill>
                <a:latin typeface="Calibri" pitchFamily="34" charset="0"/>
                <a:ea typeface="Calibri" pitchFamily="34" charset="-122"/>
                <a:cs typeface="Calibri" pitchFamily="34" charset="-120"/>
              </a:rPr>
              <a:t>Amazon RDS і DynamoDB</a:t>
            </a:r>
            <a:endParaRPr lang="en-US" sz="1000" dirty="0"/>
          </a:p>
        </p:txBody>
      </p:sp>
      <p:sp>
        <p:nvSpPr>
          <p:cNvPr id="48" name="Text 4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A667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3F3"/>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8229600" cy="320040"/>
          </a:xfrm>
          <a:prstGeom prst="rect">
            <a:avLst/>
          </a:prstGeom>
          <a:noFill/>
          <a:ln/>
        </p:spPr>
        <p:txBody>
          <a:bodyPr wrap="square" rtlCol="0" anchor="ctr"/>
          <a:lstStyle/>
          <a:p>
            <a:pPr marL="0" indent="0">
              <a:buNone/>
            </a:pPr>
            <a:r>
              <a:rPr lang="en-US" sz="1300" b="1" kern="0" spc="200" dirty="0">
                <a:solidFill>
                  <a:srgbClr val="FF9900"/>
                </a:solidFill>
                <a:latin typeface="Calibri" pitchFamily="34" charset="0"/>
                <a:ea typeface="Calibri" pitchFamily="34" charset="-122"/>
                <a:cs typeface="Calibri" pitchFamily="34" charset="-120"/>
              </a:rPr>
              <a:t>ПІДСУМОК</a:t>
            </a:r>
            <a:endParaRPr lang="en-US" sz="1300" dirty="0"/>
          </a:p>
        </p:txBody>
      </p:sp>
      <p:sp>
        <p:nvSpPr>
          <p:cNvPr id="3" name="Text 1"/>
          <p:cNvSpPr txBox="1"/>
          <p:nvPr/>
        </p:nvSpPr>
        <p:spPr>
          <a:xfrm>
            <a:off x="548640" y="749808"/>
            <a:ext cx="11064240" cy="822960"/>
          </a:xfrm>
          <a:prstGeom prst="rect">
            <a:avLst/>
          </a:prstGeom>
          <a:noFill/>
          <a:ln/>
        </p:spPr>
        <p:txBody>
          <a:bodyPr wrap="square" rtlCol="0" anchor="ctr"/>
          <a:lstStyle/>
          <a:p>
            <a:pPr marL="0" indent="0">
              <a:buNone/>
            </a:pPr>
            <a:r>
              <a:rPr lang="en-US" sz="3600" b="1" dirty="0">
                <a:solidFill>
                  <a:srgbClr val="16191F"/>
                </a:solidFill>
                <a:latin typeface="Cambria" pitchFamily="34" charset="0"/>
                <a:ea typeface="Cambria" pitchFamily="34" charset="-122"/>
                <a:cs typeface="Cambria" pitchFamily="34" charset="-120"/>
              </a:rPr>
              <a:t>Як обрати базу даних під задачу</a:t>
            </a:r>
            <a:endParaRPr lang="en-US" sz="3600" dirty="0"/>
          </a:p>
        </p:txBody>
      </p:sp>
      <p:sp>
        <p:nvSpPr>
          <p:cNvPr id="4" name="Shape 2"/>
          <p:cNvSpPr/>
          <p:nvPr/>
        </p:nvSpPr>
        <p:spPr>
          <a:xfrm>
            <a:off x="548640" y="1737360"/>
            <a:ext cx="5212080" cy="3646490"/>
          </a:xfrm>
          <a:prstGeom prst="roundRect">
            <a:avLst>
              <a:gd name="adj" fmla="val 3117"/>
            </a:avLst>
          </a:prstGeom>
          <a:solidFill>
            <a:srgbClr val="FFFFFF"/>
          </a:solidFill>
          <a:ln w="12700">
            <a:solidFill>
              <a:srgbClr val="DDE1E6"/>
            </a:solidFill>
            <a:prstDash val="solid"/>
          </a:ln>
          <a:effectLst>
            <a:outerShdw blurRad="88900" dist="38100" dir="5400000" algn="bl" rotWithShape="0">
              <a:srgbClr val="000000">
                <a:alpha val="10000"/>
              </a:srgbClr>
            </a:outerShdw>
          </a:effectLst>
        </p:spPr>
        <p:txBody>
          <a:bodyPr/>
          <a:lstStyle/>
          <a:p>
            <a:endParaRPr lang="en-UA" sz="2000"/>
          </a:p>
        </p:txBody>
      </p:sp>
      <p:sp>
        <p:nvSpPr>
          <p:cNvPr id="5" name="Shape 3"/>
          <p:cNvSpPr/>
          <p:nvPr/>
        </p:nvSpPr>
        <p:spPr>
          <a:xfrm>
            <a:off x="868680" y="2011680"/>
            <a:ext cx="594360" cy="594360"/>
          </a:xfrm>
          <a:prstGeom prst="ellipse">
            <a:avLst/>
          </a:prstGeom>
          <a:solidFill>
            <a:srgbClr val="232F3E"/>
          </a:solidFill>
          <a:ln/>
        </p:spPr>
        <p:txBody>
          <a:bodyPr/>
          <a:lstStyle/>
          <a:p>
            <a:endParaRPr lang="en-UA" sz="2000"/>
          </a:p>
        </p:txBody>
      </p:sp>
      <p:pic>
        <p:nvPicPr>
          <p:cNvPr id="6" name="Image 0" descr="/home/claude/icons/database_orange.png"/>
          <p:cNvPicPr>
            <a:picLocks noChangeAspect="1"/>
          </p:cNvPicPr>
          <p:nvPr/>
        </p:nvPicPr>
        <p:blipFill>
          <a:blip r:embed="rId3"/>
          <a:stretch>
            <a:fillRect/>
          </a:stretch>
        </p:blipFill>
        <p:spPr>
          <a:xfrm>
            <a:off x="1005840" y="2148840"/>
            <a:ext cx="320040" cy="320040"/>
          </a:xfrm>
          <a:prstGeom prst="rect">
            <a:avLst/>
          </a:prstGeom>
        </p:spPr>
      </p:pic>
      <p:sp>
        <p:nvSpPr>
          <p:cNvPr id="7" name="Text 4"/>
          <p:cNvSpPr txBox="1"/>
          <p:nvPr/>
        </p:nvSpPr>
        <p:spPr>
          <a:xfrm>
            <a:off x="1600200" y="2103120"/>
            <a:ext cx="3291840" cy="457200"/>
          </a:xfrm>
          <a:prstGeom prst="rect">
            <a:avLst/>
          </a:prstGeom>
          <a:noFill/>
          <a:ln/>
        </p:spPr>
        <p:txBody>
          <a:bodyPr wrap="square" rtlCol="0" anchor="ctr"/>
          <a:lstStyle/>
          <a:p>
            <a:pPr marL="0" indent="0">
              <a:buNone/>
            </a:pPr>
            <a:r>
              <a:rPr lang="en-US" b="1" dirty="0">
                <a:solidFill>
                  <a:srgbClr val="16191F"/>
                </a:solidFill>
                <a:latin typeface="Cambria" pitchFamily="34" charset="0"/>
                <a:ea typeface="Cambria" pitchFamily="34" charset="-122"/>
                <a:cs typeface="Cambria" pitchFamily="34" charset="-120"/>
              </a:rPr>
              <a:t>Обирайте RDS, якщо</a:t>
            </a:r>
            <a:endParaRPr lang="en-US" dirty="0"/>
          </a:p>
        </p:txBody>
      </p:sp>
      <p:sp>
        <p:nvSpPr>
          <p:cNvPr id="8" name="Text 5"/>
          <p:cNvSpPr txBox="1"/>
          <p:nvPr/>
        </p:nvSpPr>
        <p:spPr>
          <a:xfrm>
            <a:off x="868680" y="2788920"/>
            <a:ext cx="4572000" cy="2377440"/>
          </a:xfrm>
          <a:prstGeom prst="rect">
            <a:avLst/>
          </a:prstGeom>
          <a:noFill/>
          <a:ln/>
        </p:spPr>
        <p:txBody>
          <a:bodyPr wrap="square" rtlCol="0" anchor="t"/>
          <a:lstStyle/>
          <a:p>
            <a:pPr marL="342900" indent="-342900">
              <a:lnSpc>
                <a:spcPct val="130000"/>
              </a:lnSpc>
              <a:spcAft>
                <a:spcPts val="1000"/>
              </a:spcAft>
              <a:buSzPct val="100000"/>
              <a:buChar char="✓"/>
            </a:pPr>
            <a:r>
              <a:rPr lang="en-US" sz="1400" dirty="0">
                <a:solidFill>
                  <a:srgbClr val="16191F"/>
                </a:solidFill>
                <a:latin typeface="Calibri" pitchFamily="34" charset="0"/>
                <a:ea typeface="Calibri" pitchFamily="34" charset="-122"/>
                <a:cs typeface="Calibri" pitchFamily="34" charset="-120"/>
              </a:rPr>
              <a:t>Дані мають складні зв'язки, що вимагають JOIN-запитів</a:t>
            </a:r>
            <a:endParaRPr lang="en-US" sz="1400" dirty="0"/>
          </a:p>
          <a:p>
            <a:pPr marL="342900" indent="-342900">
              <a:lnSpc>
                <a:spcPct val="130000"/>
              </a:lnSpc>
              <a:spcAft>
                <a:spcPts val="1000"/>
              </a:spcAft>
              <a:buSzPct val="100000"/>
              <a:buChar char="✓"/>
            </a:pPr>
            <a:r>
              <a:rPr lang="en-US" sz="1400" dirty="0">
                <a:solidFill>
                  <a:srgbClr val="16191F"/>
                </a:solidFill>
                <a:latin typeface="Calibri" pitchFamily="34" charset="0"/>
                <a:ea typeface="Calibri" pitchFamily="34" charset="-122"/>
                <a:cs typeface="Calibri" pitchFamily="34" charset="-120"/>
              </a:rPr>
              <a:t>Потрібна повна підтримка ACID-транзакцій</a:t>
            </a:r>
            <a:endParaRPr lang="en-US" sz="1400" dirty="0"/>
          </a:p>
          <a:p>
            <a:pPr marL="342900" indent="-342900">
              <a:lnSpc>
                <a:spcPct val="130000"/>
              </a:lnSpc>
              <a:spcAft>
                <a:spcPts val="1000"/>
              </a:spcAft>
              <a:buSzPct val="100000"/>
              <a:buChar char="✓"/>
            </a:pPr>
            <a:r>
              <a:rPr lang="en-US" sz="1400" dirty="0">
                <a:solidFill>
                  <a:srgbClr val="16191F"/>
                </a:solidFill>
                <a:latin typeface="Calibri" pitchFamily="34" charset="0"/>
                <a:ea typeface="Calibri" pitchFamily="34" charset="-122"/>
                <a:cs typeface="Calibri" pitchFamily="34" charset="-120"/>
              </a:rPr>
              <a:t>Команда вже володіє SQL і реляційною моделлю</a:t>
            </a:r>
            <a:endParaRPr lang="en-US" sz="1400" dirty="0"/>
          </a:p>
          <a:p>
            <a:pPr marL="342900" indent="-342900">
              <a:lnSpc>
                <a:spcPct val="130000"/>
              </a:lnSpc>
              <a:spcAft>
                <a:spcPts val="1000"/>
              </a:spcAft>
              <a:buSzPct val="100000"/>
              <a:buChar char="✓"/>
            </a:pPr>
            <a:r>
              <a:rPr lang="en-US" sz="1400" dirty="0">
                <a:solidFill>
                  <a:srgbClr val="16191F"/>
                </a:solidFill>
                <a:latin typeface="Calibri" pitchFamily="34" charset="0"/>
                <a:ea typeface="Calibri" pitchFamily="34" charset="-122"/>
                <a:cs typeface="Calibri" pitchFamily="34" charset="-120"/>
              </a:rPr>
              <a:t>Навантаження передбачуване й не вимагає безмежного масштабу</a:t>
            </a:r>
            <a:endParaRPr lang="en-US" sz="1400" dirty="0"/>
          </a:p>
        </p:txBody>
      </p:sp>
      <p:sp>
        <p:nvSpPr>
          <p:cNvPr id="9" name="Shape 6"/>
          <p:cNvSpPr/>
          <p:nvPr/>
        </p:nvSpPr>
        <p:spPr>
          <a:xfrm>
            <a:off x="6221338" y="1728814"/>
            <a:ext cx="5330952" cy="3655036"/>
          </a:xfrm>
          <a:prstGeom prst="roundRect">
            <a:avLst>
              <a:gd name="adj" fmla="val 3117"/>
            </a:avLst>
          </a:prstGeom>
          <a:solidFill>
            <a:srgbClr val="FFFFFF"/>
          </a:solidFill>
          <a:ln w="12700">
            <a:solidFill>
              <a:srgbClr val="DDE1E6"/>
            </a:solidFill>
            <a:prstDash val="solid"/>
          </a:ln>
          <a:effectLst>
            <a:outerShdw blurRad="88900" dist="38100" dir="5400000" algn="bl" rotWithShape="0">
              <a:srgbClr val="000000">
                <a:alpha val="10000"/>
              </a:srgbClr>
            </a:outerShdw>
          </a:effectLst>
        </p:spPr>
        <p:txBody>
          <a:bodyPr/>
          <a:lstStyle/>
          <a:p>
            <a:endParaRPr lang="en-UA" sz="2000"/>
          </a:p>
        </p:txBody>
      </p:sp>
      <p:sp>
        <p:nvSpPr>
          <p:cNvPr id="10" name="Shape 7"/>
          <p:cNvSpPr/>
          <p:nvPr/>
        </p:nvSpPr>
        <p:spPr>
          <a:xfrm>
            <a:off x="6541378" y="2003134"/>
            <a:ext cx="594360" cy="594360"/>
          </a:xfrm>
          <a:prstGeom prst="ellipse">
            <a:avLst/>
          </a:prstGeom>
          <a:solidFill>
            <a:srgbClr val="232F3E"/>
          </a:solidFill>
          <a:ln/>
        </p:spPr>
        <p:txBody>
          <a:bodyPr/>
          <a:lstStyle/>
          <a:p>
            <a:endParaRPr lang="en-UA" sz="2000"/>
          </a:p>
        </p:txBody>
      </p:sp>
      <p:pic>
        <p:nvPicPr>
          <p:cNvPr id="11" name="Image 1" descr="/home/claude/icons/table_orange.png"/>
          <p:cNvPicPr>
            <a:picLocks noChangeAspect="1"/>
          </p:cNvPicPr>
          <p:nvPr/>
        </p:nvPicPr>
        <p:blipFill>
          <a:blip r:embed="rId4"/>
          <a:stretch>
            <a:fillRect/>
          </a:stretch>
        </p:blipFill>
        <p:spPr>
          <a:xfrm>
            <a:off x="6678538" y="2140294"/>
            <a:ext cx="320040" cy="320040"/>
          </a:xfrm>
          <a:prstGeom prst="rect">
            <a:avLst/>
          </a:prstGeom>
        </p:spPr>
      </p:pic>
      <p:sp>
        <p:nvSpPr>
          <p:cNvPr id="12" name="Text 8"/>
          <p:cNvSpPr txBox="1"/>
          <p:nvPr/>
        </p:nvSpPr>
        <p:spPr>
          <a:xfrm>
            <a:off x="7272898" y="2094574"/>
            <a:ext cx="3840480" cy="457200"/>
          </a:xfrm>
          <a:prstGeom prst="rect">
            <a:avLst/>
          </a:prstGeom>
          <a:noFill/>
          <a:ln/>
        </p:spPr>
        <p:txBody>
          <a:bodyPr wrap="square" rtlCol="0" anchor="ctr"/>
          <a:lstStyle/>
          <a:p>
            <a:pPr marL="0" indent="0">
              <a:buNone/>
            </a:pPr>
            <a:r>
              <a:rPr lang="en-US" b="1" dirty="0">
                <a:solidFill>
                  <a:srgbClr val="16191F"/>
                </a:solidFill>
                <a:latin typeface="Cambria" pitchFamily="34" charset="0"/>
                <a:ea typeface="Cambria" pitchFamily="34" charset="-122"/>
                <a:cs typeface="Cambria" pitchFamily="34" charset="-120"/>
              </a:rPr>
              <a:t>Обирайте DynamoDB, якщо</a:t>
            </a:r>
            <a:endParaRPr lang="en-US" dirty="0"/>
          </a:p>
        </p:txBody>
      </p:sp>
      <p:sp>
        <p:nvSpPr>
          <p:cNvPr id="13" name="Text 9"/>
          <p:cNvSpPr txBox="1"/>
          <p:nvPr/>
        </p:nvSpPr>
        <p:spPr>
          <a:xfrm>
            <a:off x="6541377" y="2780374"/>
            <a:ext cx="4721979" cy="2377440"/>
          </a:xfrm>
          <a:prstGeom prst="rect">
            <a:avLst/>
          </a:prstGeom>
          <a:noFill/>
          <a:ln/>
        </p:spPr>
        <p:txBody>
          <a:bodyPr wrap="square" rtlCol="0" anchor="t"/>
          <a:lstStyle/>
          <a:p>
            <a:pPr marL="342900" indent="-342900">
              <a:lnSpc>
                <a:spcPct val="130000"/>
              </a:lnSpc>
              <a:spcAft>
                <a:spcPts val="1000"/>
              </a:spcAft>
              <a:buSzPct val="100000"/>
              <a:buChar char="✓"/>
            </a:pPr>
            <a:r>
              <a:rPr lang="en-US" sz="1400" dirty="0">
                <a:solidFill>
                  <a:srgbClr val="16191F"/>
                </a:solidFill>
                <a:latin typeface="Calibri" pitchFamily="34" charset="0"/>
                <a:ea typeface="Calibri" pitchFamily="34" charset="-122"/>
                <a:cs typeface="Calibri" pitchFamily="34" charset="-120"/>
              </a:rPr>
              <a:t>Потрібна передбачувана затримка при будь-якому масштабі</a:t>
            </a:r>
            <a:endParaRPr lang="en-US" sz="1400" dirty="0"/>
          </a:p>
          <a:p>
            <a:pPr marL="342900" indent="-342900">
              <a:lnSpc>
                <a:spcPct val="130000"/>
              </a:lnSpc>
              <a:spcAft>
                <a:spcPts val="1000"/>
              </a:spcAft>
              <a:buSzPct val="100000"/>
              <a:buChar char="✓"/>
            </a:pPr>
            <a:r>
              <a:rPr lang="en-US" sz="1400" dirty="0">
                <a:solidFill>
                  <a:srgbClr val="16191F"/>
                </a:solidFill>
                <a:latin typeface="Calibri" pitchFamily="34" charset="0"/>
                <a:ea typeface="Calibri" pitchFamily="34" charset="-122"/>
                <a:cs typeface="Calibri" pitchFamily="34" charset="-120"/>
              </a:rPr>
              <a:t>Схема даних змінюється чи неоднорідна між записами</a:t>
            </a:r>
            <a:endParaRPr lang="en-US" sz="1400" dirty="0"/>
          </a:p>
          <a:p>
            <a:pPr marL="342900" indent="-342900">
              <a:lnSpc>
                <a:spcPct val="130000"/>
              </a:lnSpc>
              <a:spcAft>
                <a:spcPts val="1000"/>
              </a:spcAft>
              <a:buSzPct val="100000"/>
              <a:buChar char="✓"/>
            </a:pPr>
            <a:r>
              <a:rPr lang="en-US" sz="1400" dirty="0">
                <a:solidFill>
                  <a:srgbClr val="16191F"/>
                </a:solidFill>
                <a:latin typeface="Calibri" pitchFamily="34" charset="0"/>
                <a:ea typeface="Calibri" pitchFamily="34" charset="-122"/>
                <a:cs typeface="Calibri" pitchFamily="34" charset="-120"/>
              </a:rPr>
              <a:t>Патерн доступу до даних відомий і стабільний наперед</a:t>
            </a:r>
            <a:endParaRPr lang="en-US" sz="1400" dirty="0"/>
          </a:p>
          <a:p>
            <a:pPr marL="342900" indent="-342900">
              <a:lnSpc>
                <a:spcPct val="130000"/>
              </a:lnSpc>
              <a:spcAft>
                <a:spcPts val="1000"/>
              </a:spcAft>
              <a:buSzPct val="100000"/>
              <a:buChar char="✓"/>
            </a:pPr>
            <a:r>
              <a:rPr lang="en-US" sz="1400" dirty="0">
                <a:solidFill>
                  <a:srgbClr val="16191F"/>
                </a:solidFill>
                <a:latin typeface="Calibri" pitchFamily="34" charset="0"/>
                <a:ea typeface="Calibri" pitchFamily="34" charset="-122"/>
                <a:cs typeface="Calibri" pitchFamily="34" charset="-120"/>
              </a:rPr>
              <a:t>Навантаження може непередбачувано й різко зростати</a:t>
            </a:r>
            <a:endParaRPr lang="en-US" sz="1400" dirty="0"/>
          </a:p>
        </p:txBody>
      </p:sp>
      <p:sp>
        <p:nvSpPr>
          <p:cNvPr id="14" name="Shape 10"/>
          <p:cNvSpPr/>
          <p:nvPr/>
        </p:nvSpPr>
        <p:spPr>
          <a:xfrm>
            <a:off x="548640" y="5543232"/>
            <a:ext cx="11064240" cy="0"/>
          </a:xfrm>
          <a:prstGeom prst="line">
            <a:avLst/>
          </a:prstGeom>
          <a:noFill/>
          <a:ln w="12700">
            <a:solidFill>
              <a:srgbClr val="DDE1E6"/>
            </a:solidFill>
            <a:prstDash val="solid"/>
          </a:ln>
        </p:spPr>
        <p:txBody>
          <a:bodyPr/>
          <a:lstStyle/>
          <a:p>
            <a:endParaRPr lang="en-UA" sz="2000"/>
          </a:p>
        </p:txBody>
      </p:sp>
      <p:sp>
        <p:nvSpPr>
          <p:cNvPr id="15" name="Text 11"/>
          <p:cNvSpPr txBox="1"/>
          <p:nvPr/>
        </p:nvSpPr>
        <p:spPr>
          <a:xfrm>
            <a:off x="548640" y="5623560"/>
            <a:ext cx="11064240" cy="457200"/>
          </a:xfrm>
          <a:prstGeom prst="rect">
            <a:avLst/>
          </a:prstGeom>
          <a:noFill/>
          <a:ln/>
        </p:spPr>
        <p:txBody>
          <a:bodyPr wrap="square" rtlCol="0" anchor="ctr"/>
          <a:lstStyle/>
          <a:p>
            <a:pPr marL="0" indent="0" algn="ctr">
              <a:buNone/>
            </a:pPr>
            <a:r>
              <a:rPr lang="en-US" sz="1300" i="1" dirty="0">
                <a:solidFill>
                  <a:srgbClr val="5A6674"/>
                </a:solidFill>
                <a:latin typeface="Calibri" pitchFamily="34" charset="0"/>
                <a:ea typeface="Calibri" pitchFamily="34" charset="-122"/>
                <a:cs typeface="Calibri" pitchFamily="34" charset="-120"/>
              </a:rPr>
              <a:t>Наступне заняття: безсерверні обчислення — AWS Lambda та архітектура Serverless.</a:t>
            </a:r>
            <a:endParaRPr lang="en-US" sz="1300" dirty="0"/>
          </a:p>
        </p:txBody>
      </p:sp>
      <p:sp>
        <p:nvSpPr>
          <p:cNvPr id="16" name="Text 12"/>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5A6674"/>
                </a:solidFill>
                <a:latin typeface="Calibri" pitchFamily="34" charset="0"/>
                <a:ea typeface="Calibri" pitchFamily="34" charset="-122"/>
                <a:cs typeface="Calibri" pitchFamily="34" charset="-120"/>
              </a:rPr>
              <a:t>Amazon RDS і DynamoDB</a:t>
            </a:r>
            <a:endParaRPr lang="en-US" sz="1000" dirty="0"/>
          </a:p>
        </p:txBody>
      </p:sp>
      <p:sp>
        <p:nvSpPr>
          <p:cNvPr id="17" name="Text 13"/>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A667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11320</TotalTime>
  <Words>3147</Words>
  <Application>Microsoft Macintosh PowerPoint</Application>
  <PresentationFormat>Widescreen</PresentationFormat>
  <Paragraphs>192</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Дмитро Штефан</cp:lastModifiedBy>
  <cp:revision>3</cp:revision>
  <dcterms:created xsi:type="dcterms:W3CDTF">2026-09-27T19:21:43Z</dcterms:created>
  <dcterms:modified xsi:type="dcterms:W3CDTF">2026-10-05T16:29:52Z</dcterms:modified>
</cp:coreProperties>
</file>