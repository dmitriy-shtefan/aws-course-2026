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03"/>
    <p:restoredTop sz="96949"/>
  </p:normalViewPr>
  <p:slideViewPr>
    <p:cSldViewPr snapToGrid="0">
      <p:cViewPr varScale="1">
        <p:scale>
          <a:sx n="156" d="100"/>
          <a:sy n="156" d="100"/>
        </p:scale>
        <p:origin x="69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A"/>
          </a:p>
        </p:txBody>
      </p:sp>
      <p:sp>
        <p:nvSpPr>
          <p:cNvPr id="3" name="Notes Placeholder 2"/>
          <p:cNvSpPr>
            <a:spLocks noGrp="1"/>
          </p:cNvSpPr>
          <p:nvPr>
            <p:ph type="body" idx="1"/>
          </p:nvPr>
        </p:nvSpPr>
        <p:spPr/>
        <p:txBody>
          <a:bodyPr/>
          <a:lstStyle/>
          <a:p>
            <a:r>
              <a:rPr dirty="0"/>
              <a:t>Сьогодні </a:t>
            </a:r>
            <a:r>
              <a:rPr dirty="0" err="1"/>
              <a:t>розглянемо</a:t>
            </a:r>
            <a:r>
              <a:rPr dirty="0"/>
              <a:t>, </a:t>
            </a:r>
            <a:r>
              <a:rPr dirty="0" err="1"/>
              <a:t>як</a:t>
            </a:r>
            <a:r>
              <a:rPr dirty="0"/>
              <a:t> </a:t>
            </a:r>
            <a:r>
              <a:rPr dirty="0" err="1"/>
              <a:t>запускати</a:t>
            </a:r>
            <a:r>
              <a:rPr dirty="0"/>
              <a:t> </a:t>
            </a:r>
            <a:r>
              <a:rPr dirty="0" err="1"/>
              <a:t>код</a:t>
            </a:r>
            <a:r>
              <a:rPr dirty="0"/>
              <a:t> </a:t>
            </a:r>
            <a:r>
              <a:rPr dirty="0" err="1"/>
              <a:t>у</a:t>
            </a:r>
            <a:r>
              <a:rPr dirty="0"/>
              <a:t> </a:t>
            </a:r>
            <a:r>
              <a:rPr dirty="0" err="1"/>
              <a:t>відповідь</a:t>
            </a:r>
            <a:r>
              <a:rPr dirty="0"/>
              <a:t> на </a:t>
            </a:r>
            <a:r>
              <a:rPr dirty="0" err="1"/>
              <a:t>події</a:t>
            </a:r>
            <a:r>
              <a:rPr dirty="0"/>
              <a:t> без створення </a:t>
            </a:r>
            <a:r>
              <a:rPr dirty="0" err="1"/>
              <a:t>й</a:t>
            </a:r>
            <a:r>
              <a:rPr dirty="0"/>
              <a:t> </a:t>
            </a:r>
            <a:r>
              <a:rPr dirty="0" err="1"/>
              <a:t>обслуговування</a:t>
            </a:r>
            <a:r>
              <a:rPr dirty="0"/>
              <a:t> </a:t>
            </a:r>
            <a:r>
              <a:rPr dirty="0" err="1"/>
              <a:t>серверів</a:t>
            </a:r>
            <a:r>
              <a:rPr dirty="0"/>
              <a:t>. Головний </a:t>
            </a:r>
            <a:r>
              <a:rPr dirty="0" err="1"/>
              <a:t>сервіс</a:t>
            </a:r>
            <a:r>
              <a:rPr dirty="0"/>
              <a:t> заняття — AWS Lambda. </a:t>
            </a:r>
            <a:r>
              <a:rPr dirty="0" err="1"/>
              <a:t>Ми</a:t>
            </a:r>
            <a:r>
              <a:rPr dirty="0"/>
              <a:t> </a:t>
            </a:r>
            <a:r>
              <a:rPr dirty="0" err="1"/>
              <a:t>розберемо</a:t>
            </a:r>
            <a:r>
              <a:rPr dirty="0"/>
              <a:t> </a:t>
            </a:r>
            <a:r>
              <a:rPr dirty="0" err="1"/>
              <a:t>модель</a:t>
            </a:r>
            <a:r>
              <a:rPr dirty="0"/>
              <a:t> serverless, </a:t>
            </a:r>
            <a:r>
              <a:rPr dirty="0" err="1"/>
              <a:t>структуру</a:t>
            </a:r>
            <a:r>
              <a:rPr dirty="0"/>
              <a:t> Lambda-</a:t>
            </a:r>
            <a:r>
              <a:rPr dirty="0" err="1"/>
              <a:t>функції</a:t>
            </a:r>
            <a:r>
              <a:rPr dirty="0"/>
              <a:t>, </a:t>
            </a:r>
            <a:r>
              <a:rPr dirty="0" err="1"/>
              <a:t>джерела</a:t>
            </a:r>
            <a:r>
              <a:rPr dirty="0"/>
              <a:t> </a:t>
            </a:r>
            <a:r>
              <a:rPr dirty="0" err="1"/>
              <a:t>подій</a:t>
            </a:r>
            <a:r>
              <a:rPr dirty="0"/>
              <a:t>, execution role та CloudWatch Logs. </a:t>
            </a:r>
            <a:r>
              <a:rPr dirty="0" err="1"/>
              <a:t>Наприкінці</a:t>
            </a:r>
            <a:r>
              <a:rPr dirty="0"/>
              <a:t> </a:t>
            </a:r>
            <a:r>
              <a:rPr dirty="0" err="1"/>
              <a:t>зв’яжемо</a:t>
            </a:r>
            <a:r>
              <a:rPr dirty="0"/>
              <a:t> </a:t>
            </a:r>
            <a:r>
              <a:rPr dirty="0" err="1"/>
              <a:t>ці</a:t>
            </a:r>
            <a:r>
              <a:rPr dirty="0"/>
              <a:t> </a:t>
            </a:r>
            <a:r>
              <a:rPr dirty="0" err="1"/>
              <a:t>поняття</a:t>
            </a:r>
            <a:r>
              <a:rPr dirty="0"/>
              <a:t> </a:t>
            </a:r>
            <a:r>
              <a:rPr dirty="0" err="1"/>
              <a:t>з</a:t>
            </a:r>
            <a:r>
              <a:rPr dirty="0"/>
              <a:t> </a:t>
            </a:r>
            <a:r>
              <a:rPr dirty="0" err="1"/>
              <a:t>практичним</a:t>
            </a:r>
            <a:r>
              <a:rPr dirty="0"/>
              <a:t> </a:t>
            </a:r>
            <a:r>
              <a:rPr dirty="0" err="1"/>
              <a:t>завданням</a:t>
            </a:r>
            <a:r>
              <a:rPr dirty="0"/>
              <a:t>: </a:t>
            </a:r>
            <a:r>
              <a:rPr dirty="0" err="1"/>
              <a:t>автоматичним</a:t>
            </a:r>
            <a:r>
              <a:rPr dirty="0"/>
              <a:t> </a:t>
            </a:r>
            <a:r>
              <a:rPr dirty="0" err="1"/>
              <a:t>створенням</a:t>
            </a:r>
            <a:r>
              <a:rPr dirty="0"/>
              <a:t> </a:t>
            </a:r>
            <a:r>
              <a:rPr dirty="0" err="1"/>
              <a:t>мініатюр</a:t>
            </a:r>
            <a:r>
              <a:rPr dirty="0"/>
              <a:t> </a:t>
            </a:r>
            <a:r>
              <a:rPr dirty="0" err="1"/>
              <a:t>після</a:t>
            </a:r>
            <a:r>
              <a:rPr dirty="0"/>
              <a:t> </a:t>
            </a:r>
            <a:r>
              <a:rPr dirty="0" err="1"/>
              <a:t>завантаження</a:t>
            </a:r>
            <a:r>
              <a:rPr dirty="0"/>
              <a:t> зображення </a:t>
            </a:r>
            <a:r>
              <a:rPr dirty="0" err="1"/>
              <a:t>в</a:t>
            </a:r>
            <a:r>
              <a:rPr dirty="0"/>
              <a:t> Amazon S3.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A"/>
          </a:p>
        </p:txBody>
      </p:sp>
      <p:sp>
        <p:nvSpPr>
          <p:cNvPr id="3" name="Notes Placeholder 2"/>
          <p:cNvSpPr>
            <a:spLocks noGrp="1"/>
          </p:cNvSpPr>
          <p:nvPr>
            <p:ph type="body" idx="1"/>
          </p:nvPr>
        </p:nvSpPr>
        <p:spPr/>
        <p:txBody>
          <a:bodyPr/>
          <a:lstStyle/>
          <a:p>
            <a:r>
              <a:t>Serverless не означає відсутність серверів. Сервери працюють у дата-центрах AWS, але користувач не створює для функції окремий EC2-інстанс і не оновлює операційну систему. Розробник визначає код, спосіб запуску, ресурси та дозволи. Lambda автоматично додає паралельні середовища виконання, коли надходить більше подій. Оплата пов’язана з кількістю викликів і тривалістю роботи, тому модель добре підходить для нерівномірного навантаження.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A"/>
          </a:p>
        </p:txBody>
      </p:sp>
      <p:sp>
        <p:nvSpPr>
          <p:cNvPr id="3" name="Notes Placeholder 2"/>
          <p:cNvSpPr>
            <a:spLocks noGrp="1"/>
          </p:cNvSpPr>
          <p:nvPr>
            <p:ph type="body" idx="1"/>
          </p:nvPr>
        </p:nvSpPr>
        <p:spPr/>
        <p:txBody>
          <a:bodyPr/>
          <a:lstStyle/>
          <a:p>
            <a:r>
              <a:t>Розгляньмо повний шлях одного виклику. Джерело події формує JSON і передає його Lambda. Сервіс запускає середовище з обраним runtime та викликає handler. Функція читає event, виконує код і повертає значення або змінює стан іншого AWS-сервісу. Повідомлення print і необроблені помилки потрапляють у CloudWatch Logs. У прикладі з мініатюрами S3 ініціює виклик, а не функція постійно перевіряє bucket.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A"/>
          </a:p>
        </p:txBody>
      </p:sp>
      <p:sp>
        <p:nvSpPr>
          <p:cNvPr id="3" name="Notes Placeholder 2"/>
          <p:cNvSpPr>
            <a:spLocks noGrp="1"/>
          </p:cNvSpPr>
          <p:nvPr>
            <p:ph type="body" idx="1"/>
          </p:nvPr>
        </p:nvSpPr>
        <p:spPr/>
        <p:txBody>
          <a:bodyPr/>
          <a:lstStyle/>
          <a:p>
            <a:r>
              <a:t>Handler — це функція, яку AWS Lambda викликає першою. Для Python стандартне ім’я часто виглядає як lambda_function.lambda_handler: спочатку назва файлу, потім назва функції. Об’єкт event містить дані, структура яких залежить від джерела події. Подія S3 має масив Records із назвою bucket і ключем об’єкта. Context допомагає отримати службову інформацію, наприклад ідентифікатор запиту або час, що залишився до timeout.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A"/>
          </a:p>
        </p:txBody>
      </p:sp>
      <p:sp>
        <p:nvSpPr>
          <p:cNvPr id="3" name="Notes Placeholder 2"/>
          <p:cNvSpPr>
            <a:spLocks noGrp="1"/>
          </p:cNvSpPr>
          <p:nvPr>
            <p:ph type="body" idx="1"/>
          </p:nvPr>
        </p:nvSpPr>
        <p:spPr/>
        <p:txBody>
          <a:bodyPr/>
          <a:lstStyle/>
          <a:p>
            <a:r>
              <a:t>Execution role визначає, які дії Lambda може виконувати в інших сервісах. SDK усередині функції автоматично отримує тимчасові облікові дані цієї ролі. Тому ключі доступу не потрібно і не можна записувати в код. Для практики з мініатюрами ролі потрібен GetObject для джерельного bucket, PutObject для цільового bucket і базові дозволи на запис логів. Якщо функція отримує AccessDenied, насамперед перевіряємо політику ролі та конкретні ARN ресурсів.</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A"/>
          </a:p>
        </p:txBody>
      </p:sp>
      <p:sp>
        <p:nvSpPr>
          <p:cNvPr id="3" name="Notes Placeholder 2"/>
          <p:cNvSpPr>
            <a:spLocks noGrp="1"/>
          </p:cNvSpPr>
          <p:nvPr>
            <p:ph type="body" idx="1"/>
          </p:nvPr>
        </p:nvSpPr>
        <p:spPr/>
        <p:txBody>
          <a:bodyPr/>
          <a:lstStyle/>
          <a:p>
            <a:r>
              <a:t>Основні параметри Lambda безпосередньо впливають на поведінку функції. Зі збільшенням memory функція отримує більше процесорних ресурсів і часто завершується швидше. Timeout має бути достатнім для обробки типового файла, але не повинен безконтрольно дозволяти завислі виклики. Каталог /tmp підходить для проміжних файлів, проте його не слід використовувати як постійне сховище. Змінні середовища відокремлюють конфігурацію від коду, наприклад дають змогу змінити цільовий bucket без редагування функції.</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A"/>
          </a:p>
        </p:txBody>
      </p:sp>
      <p:sp>
        <p:nvSpPr>
          <p:cNvPr id="3" name="Notes Placeholder 2"/>
          <p:cNvSpPr>
            <a:spLocks noGrp="1"/>
          </p:cNvSpPr>
          <p:nvPr>
            <p:ph type="body" idx="1"/>
          </p:nvPr>
        </p:nvSpPr>
        <p:spPr/>
        <p:txBody>
          <a:bodyPr/>
          <a:lstStyle/>
          <a:p>
            <a:r>
              <a:t>CloudWatch Logs — перше місце для перевірки після тестового виклику. START, END і REPORT додає сама платформа. Наші повідомлення print або logging допомагають побачити, який файл оброблявся і на якому етапі сталася помилка. RequestId зручно використовувати для пошуку всіх записів конкретного виклику. У REPORT видно тривалість і використану пам’ять, що допомагає оптимізувати конфігурацію та вартість.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A"/>
          </a:p>
        </p:txBody>
      </p:sp>
      <p:sp>
        <p:nvSpPr>
          <p:cNvPr id="3" name="Notes Placeholder 2"/>
          <p:cNvSpPr>
            <a:spLocks noGrp="1"/>
          </p:cNvSpPr>
          <p:nvPr>
            <p:ph type="body" idx="1"/>
          </p:nvPr>
        </p:nvSpPr>
        <p:spPr/>
        <p:txBody>
          <a:bodyPr/>
          <a:lstStyle/>
          <a:p>
            <a:r>
              <a:t>Цей процес поєднує всі поняття заняття. Користувач завантажує зображення у bucket оригіналів. Подія ObjectCreated запускає Lambda та передає назву bucket і ключ файла. Функція завантажує файл у /tmp, відкриває його бібліотекою Pillow і створює мініатюру зі збереженням пропорцій. Потім результат потрапляє в інший bucket із префіксом thumbnail-. Execution role обмежує функцію потрібними операціями читання й запису.</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A"/>
          </a:p>
        </p:txBody>
      </p:sp>
      <p:sp>
        <p:nvSpPr>
          <p:cNvPr id="3" name="Notes Placeholder 2"/>
          <p:cNvSpPr>
            <a:spLocks noGrp="1"/>
          </p:cNvSpPr>
          <p:nvPr>
            <p:ph type="body" idx="1"/>
          </p:nvPr>
        </p:nvSpPr>
        <p:spPr/>
        <p:txBody>
          <a:bodyPr/>
          <a:lstStyle/>
          <a:p>
            <a:r>
              <a:t>Під час роботи з Lambda помилка зазвичай належить до однієї з кількох категорій. Handler not found означає невідповідність налаштування точці входу. AccessDenied майже завжди пов’язаний із execution role або неправильним ARN ресурсу. KeyError виникає, коли код очікує іншу структуру event, тому корисно залогувати подію під час тестування. Timeout вимагає перевірки тривалості операцій, а помилка імпорту Pillow означає, що залежність не потрапила до пакета або шару.</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A"/>
          </a:p>
        </p:txBody>
      </p:sp>
      <p:sp>
        <p:nvSpPr>
          <p:cNvPr id="3" name="Notes Placeholder 2"/>
          <p:cNvSpPr>
            <a:spLocks noGrp="1"/>
          </p:cNvSpPr>
          <p:nvPr>
            <p:ph type="body" idx="1"/>
          </p:nvPr>
        </p:nvSpPr>
        <p:spPr/>
        <p:txBody>
          <a:bodyPr/>
          <a:lstStyle/>
          <a:p>
            <a:r>
              <a:t>Підсумуємо. Надійна Lambda-функція починається з розуміння події та валідації даних. Код має виконувати одну зрозумілу операцію, записувати ключові етапи в логи й коректно обробляти помилки. Execution role надає лише необхідні дозволи. Memory і timeout налаштовуються за результатами тестів, а /tmp використовується тільки для проміжних файлів. Після кожної зміни запускаємо тест і перевіряємо CloudWatch Logs. На наступному занятті додамо HTTP-вхід через Amazon API Gateway.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32F3E"/>
        </a:solidFill>
        <a:effectLst/>
      </p:bgPr>
    </p:bg>
    <p:spTree>
      <p:nvGrpSpPr>
        <p:cNvPr id="1" name=""/>
        <p:cNvGrpSpPr/>
        <p:nvPr/>
      </p:nvGrpSpPr>
      <p:grpSpPr>
        <a:xfrm>
          <a:off x="0" y="0"/>
          <a:ext cx="0" cy="0"/>
          <a:chOff x="0" y="0"/>
          <a:chExt cx="0" cy="0"/>
        </a:xfrm>
      </p:grpSpPr>
      <p:sp>
        <p:nvSpPr>
          <p:cNvPr id="19" name="Oval 18">
            <a:extLst>
              <a:ext uri="{FF2B5EF4-FFF2-40B4-BE49-F238E27FC236}">
                <a16:creationId xmlns:a16="http://schemas.microsoft.com/office/drawing/2014/main" id="{78E897A7-7AF9-4DA9-B920-3D5DD5E7D3F2}"/>
              </a:ext>
            </a:extLst>
          </p:cNvPr>
          <p:cNvSpPr>
            <a:spLocks noGrp="1"/>
          </p:cNvSpPr>
          <p:nvPr/>
        </p:nvSpPr>
        <p:spPr>
          <a:xfrm>
            <a:off x="8382000" y="3048000"/>
            <a:ext cx="3810000" cy="3810000"/>
          </a:xfrm>
          <a:prstGeom prst="ellipse">
            <a:avLst/>
          </a:prstGeom>
          <a:solidFill>
            <a:srgbClr val="2E3B4E"/>
          </a:solidFill>
          <a:ln w="0">
            <a:noFill/>
          </a:ln>
        </p:spPr>
        <p:txBody>
          <a:bodyPr/>
          <a:lstStyle/>
          <a:p>
            <a:endParaRPr lang="en-UA"/>
          </a:p>
        </p:txBody>
      </p:sp>
      <p:sp>
        <p:nvSpPr>
          <p:cNvPr id="2" name="Oval 1">
            <a:extLst>
              <a:ext uri="{FF2B5EF4-FFF2-40B4-BE49-F238E27FC236}">
                <a16:creationId xmlns:a16="http://schemas.microsoft.com/office/drawing/2014/main" id="{1463BC97-350C-47EB-8D5B-BF5039CB9518}"/>
              </a:ext>
            </a:extLst>
          </p:cNvPr>
          <p:cNvSpPr>
            <a:spLocks noGrp="1"/>
          </p:cNvSpPr>
          <p:nvPr/>
        </p:nvSpPr>
        <p:spPr>
          <a:xfrm>
            <a:off x="9477375" y="4143375"/>
            <a:ext cx="2381250" cy="2381250"/>
          </a:xfrm>
          <a:prstGeom prst="ellipse">
            <a:avLst/>
          </a:prstGeom>
          <a:solidFill>
            <a:srgbClr val="37475A"/>
          </a:solidFill>
          <a:ln w="0">
            <a:noFill/>
          </a:ln>
        </p:spPr>
        <p:txBody>
          <a:bodyPr/>
          <a:lstStyle/>
          <a:p>
            <a:endParaRPr lang="en-UA" sz="2000"/>
          </a:p>
        </p:txBody>
      </p:sp>
      <p:sp>
        <p:nvSpPr>
          <p:cNvPr id="3" name="Rectangle 2">
            <a:extLst>
              <a:ext uri="{FF2B5EF4-FFF2-40B4-BE49-F238E27FC236}">
                <a16:creationId xmlns:a16="http://schemas.microsoft.com/office/drawing/2014/main" id="{2E5D81D2-629F-4156-BA81-0E53F23A706C}"/>
              </a:ext>
            </a:extLst>
          </p:cNvPr>
          <p:cNvSpPr>
            <a:spLocks noGrp="1"/>
          </p:cNvSpPr>
          <p:nvPr/>
        </p:nvSpPr>
        <p:spPr>
          <a:xfrm>
            <a:off x="8953500" y="3429000"/>
            <a:ext cx="2857500" cy="2381250"/>
          </a:xfrm>
          <a:prstGeom prst="rect">
            <a:avLst/>
          </a:prstGeom>
          <a:noFill/>
          <a:ln w="0">
            <a:noFill/>
          </a:ln>
        </p:spPr>
        <p:txBody>
          <a:bodyPr anchor="ctr">
            <a:normAutofit/>
          </a:bodyPr>
          <a:lstStyle/>
          <a:p>
            <a:pPr algn="ctr">
              <a:defRPr sz="12375" b="1" i="0">
                <a:solidFill>
                  <a:srgbClr val="FF9900"/>
                </a:solidFill>
                <a:latin typeface="Cambria"/>
                <a:ea typeface="Cambria"/>
                <a:cs typeface="Cambria"/>
              </a:defRPr>
            </a:pPr>
            <a:r>
              <a:rPr sz="14900" b="1" i="0" dirty="0" err="1">
                <a:solidFill>
                  <a:srgbClr val="FF9900"/>
                </a:solidFill>
                <a:latin typeface="Cambria"/>
                <a:ea typeface="Cambria"/>
                <a:cs typeface="Cambria"/>
              </a:rPr>
              <a:t>λ</a:t>
            </a:r>
            <a:endParaRPr sz="14900" b="1" i="0">
              <a:solidFill>
                <a:srgbClr val="FF9900"/>
              </a:solidFill>
              <a:latin typeface="Cambria"/>
              <a:ea typeface="Cambria"/>
              <a:cs typeface="Cambria"/>
            </a:endParaRPr>
          </a:p>
        </p:txBody>
      </p:sp>
      <p:sp>
        <p:nvSpPr>
          <p:cNvPr id="4" name="Rectangle 3">
            <a:extLst>
              <a:ext uri="{FF2B5EF4-FFF2-40B4-BE49-F238E27FC236}">
                <a16:creationId xmlns:a16="http://schemas.microsoft.com/office/drawing/2014/main" id="{75501CDE-F66E-45F5-AE94-4490FBA70B2D}"/>
              </a:ext>
            </a:extLst>
          </p:cNvPr>
          <p:cNvSpPr>
            <a:spLocks noGrp="1"/>
          </p:cNvSpPr>
          <p:nvPr/>
        </p:nvSpPr>
        <p:spPr>
          <a:xfrm>
            <a:off x="819150" y="1352550"/>
            <a:ext cx="7905750" cy="323850"/>
          </a:xfrm>
          <a:prstGeom prst="rect">
            <a:avLst/>
          </a:prstGeom>
          <a:noFill/>
          <a:ln w="0">
            <a:noFill/>
          </a:ln>
        </p:spPr>
        <p:txBody>
          <a:bodyPr anchor="t">
            <a:noAutofit/>
          </a:bodyPr>
          <a:lstStyle/>
          <a:p>
            <a:pPr algn="l">
              <a:defRPr sz="1155" b="1" i="0">
                <a:solidFill>
                  <a:srgbClr val="FF9900"/>
                </a:solidFill>
                <a:latin typeface="Calibri"/>
                <a:ea typeface="Calibri"/>
                <a:cs typeface="Calibri"/>
              </a:defRPr>
            </a:pPr>
            <a:r>
              <a:rPr sz="1400" b="1" i="0">
                <a:solidFill>
                  <a:srgbClr val="FF9900"/>
                </a:solidFill>
                <a:latin typeface="Calibri" panose="020F0502020204030204" pitchFamily="34" charset="0"/>
                <a:ea typeface="Calibri"/>
                <a:cs typeface="Calibri" panose="020F0502020204030204" pitchFamily="34" charset="0"/>
              </a:rPr>
              <a:t>СТВОРЕННЯ ХМАРНИХ РІШЕНЬ </a:t>
            </a:r>
            <a:r>
              <a:rPr sz="1400" b="1" i="0" err="1">
                <a:solidFill>
                  <a:srgbClr val="FF9900"/>
                </a:solidFill>
                <a:latin typeface="Calibri" panose="020F0502020204030204" pitchFamily="34" charset="0"/>
                <a:ea typeface="Calibri"/>
                <a:cs typeface="Calibri" panose="020F0502020204030204" pitchFamily="34" charset="0"/>
              </a:rPr>
              <a:t>З</a:t>
            </a:r>
            <a:r>
              <a:rPr sz="1400" b="1" i="0">
                <a:solidFill>
                  <a:srgbClr val="FF9900"/>
                </a:solidFill>
                <a:latin typeface="Calibri" panose="020F0502020204030204" pitchFamily="34" charset="0"/>
                <a:ea typeface="Calibri"/>
                <a:cs typeface="Calibri" panose="020F0502020204030204" pitchFamily="34" charset="0"/>
              </a:rPr>
              <a:t> ВИКОРИСТАННЯМ AWS</a:t>
            </a:r>
          </a:p>
        </p:txBody>
      </p:sp>
      <p:sp>
        <p:nvSpPr>
          <p:cNvPr id="5" name="Rectangle 4">
            <a:extLst>
              <a:ext uri="{FF2B5EF4-FFF2-40B4-BE49-F238E27FC236}">
                <a16:creationId xmlns:a16="http://schemas.microsoft.com/office/drawing/2014/main" id="{AE04FA48-04C6-47C6-A4B3-E932E4CCE109}"/>
              </a:ext>
            </a:extLst>
          </p:cNvPr>
          <p:cNvSpPr>
            <a:spLocks noGrp="1"/>
          </p:cNvSpPr>
          <p:nvPr/>
        </p:nvSpPr>
        <p:spPr>
          <a:xfrm>
            <a:off x="781050" y="1809750"/>
            <a:ext cx="9334500" cy="952500"/>
          </a:xfrm>
          <a:prstGeom prst="rect">
            <a:avLst/>
          </a:prstGeom>
          <a:noFill/>
          <a:ln w="0">
            <a:noFill/>
          </a:ln>
        </p:spPr>
        <p:txBody>
          <a:bodyPr anchor="t">
            <a:normAutofit/>
          </a:bodyPr>
          <a:lstStyle/>
          <a:p>
            <a:pPr algn="l">
              <a:defRPr sz="3795" b="1" i="0">
                <a:solidFill>
                  <a:srgbClr val="FFFFFF"/>
                </a:solidFill>
                <a:latin typeface="Cambria"/>
                <a:ea typeface="Cambria"/>
                <a:cs typeface="Cambria"/>
              </a:defRPr>
            </a:pPr>
            <a:r>
              <a:rPr sz="4400" b="1" i="0">
                <a:solidFill>
                  <a:srgbClr val="FFFFFF"/>
                </a:solidFill>
                <a:latin typeface="Calibri" panose="020F0502020204030204" pitchFamily="34" charset="0"/>
                <a:ea typeface="Cambria"/>
                <a:cs typeface="Calibri" panose="020F0502020204030204" pitchFamily="34" charset="0"/>
              </a:rPr>
              <a:t>Serverless та AWS Lambda</a:t>
            </a:r>
          </a:p>
        </p:txBody>
      </p:sp>
      <p:sp>
        <p:nvSpPr>
          <p:cNvPr id="6" name="Rectangle 5">
            <a:extLst>
              <a:ext uri="{FF2B5EF4-FFF2-40B4-BE49-F238E27FC236}">
                <a16:creationId xmlns:a16="http://schemas.microsoft.com/office/drawing/2014/main" id="{4537EC81-A82E-4745-B5C1-4E1A12B7A502}"/>
              </a:ext>
            </a:extLst>
          </p:cNvPr>
          <p:cNvSpPr>
            <a:spLocks noGrp="1"/>
          </p:cNvSpPr>
          <p:nvPr/>
        </p:nvSpPr>
        <p:spPr>
          <a:xfrm>
            <a:off x="819150" y="2857500"/>
            <a:ext cx="8096250" cy="666750"/>
          </a:xfrm>
          <a:prstGeom prst="rect">
            <a:avLst/>
          </a:prstGeom>
          <a:noFill/>
          <a:ln w="0">
            <a:noFill/>
          </a:ln>
        </p:spPr>
        <p:txBody>
          <a:bodyPr anchor="t">
            <a:normAutofit/>
          </a:bodyPr>
          <a:lstStyle/>
          <a:p>
            <a:pPr algn="l">
              <a:defRPr sz="1485" b="0" i="1">
                <a:solidFill>
                  <a:srgbClr val="CADCFC"/>
                </a:solidFill>
                <a:latin typeface="Calibri"/>
                <a:ea typeface="Calibri"/>
                <a:cs typeface="Calibri"/>
              </a:defRPr>
            </a:pPr>
            <a:r>
              <a:rPr b="0" i="1">
                <a:solidFill>
                  <a:srgbClr val="CADCFC"/>
                </a:solidFill>
                <a:latin typeface="Calibri" panose="020F0502020204030204" pitchFamily="34" charset="0"/>
                <a:ea typeface="Calibri"/>
                <a:cs typeface="Calibri" panose="020F0502020204030204" pitchFamily="34" charset="0"/>
              </a:rPr>
              <a:t>Запуск коду у відповідь на події без керування серверами</a:t>
            </a:r>
          </a:p>
        </p:txBody>
      </p:sp>
      <p:sp>
        <p:nvSpPr>
          <p:cNvPr id="7" name="Oval 6">
            <a:extLst>
              <a:ext uri="{FF2B5EF4-FFF2-40B4-BE49-F238E27FC236}">
                <a16:creationId xmlns:a16="http://schemas.microsoft.com/office/drawing/2014/main" id="{EDEF4AC9-C4C9-4E8A-BAD2-120839F43715}"/>
              </a:ext>
            </a:extLst>
          </p:cNvPr>
          <p:cNvSpPr>
            <a:spLocks noGrp="1"/>
          </p:cNvSpPr>
          <p:nvPr/>
        </p:nvSpPr>
        <p:spPr>
          <a:xfrm>
            <a:off x="819150" y="5334000"/>
            <a:ext cx="438150" cy="438150"/>
          </a:xfrm>
          <a:prstGeom prst="ellipse">
            <a:avLst/>
          </a:prstGeom>
          <a:solidFill>
            <a:srgbClr val="37475A"/>
          </a:solidFill>
          <a:ln w="0">
            <a:noFill/>
          </a:ln>
        </p:spPr>
        <p:txBody>
          <a:bodyPr/>
          <a:lstStyle/>
          <a:p>
            <a:endParaRPr lang="en-UA" sz="4000">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5C56C27B-D8C3-4B54-B356-D3755BAEE41F}"/>
              </a:ext>
            </a:extLst>
          </p:cNvPr>
          <p:cNvSpPr>
            <a:spLocks noGrp="1"/>
          </p:cNvSpPr>
          <p:nvPr/>
        </p:nvSpPr>
        <p:spPr>
          <a:xfrm>
            <a:off x="819150" y="5391150"/>
            <a:ext cx="438150" cy="285750"/>
          </a:xfrm>
          <a:prstGeom prst="rect">
            <a:avLst/>
          </a:prstGeom>
          <a:noFill/>
          <a:ln w="0">
            <a:noFill/>
          </a:ln>
        </p:spPr>
        <p:txBody>
          <a:bodyPr anchor="t">
            <a:noAutofit/>
          </a:bodyPr>
          <a:lstStyle/>
          <a:p>
            <a:pPr algn="ctr">
              <a:defRPr sz="1320" b="1" i="0">
                <a:solidFill>
                  <a:srgbClr val="FF9900"/>
                </a:solidFill>
                <a:latin typeface="Calibri"/>
                <a:ea typeface="Calibri"/>
                <a:cs typeface="Calibri"/>
              </a:defRPr>
            </a:pPr>
            <a:r>
              <a:rPr b="1" i="0">
                <a:solidFill>
                  <a:srgbClr val="FF9900"/>
                </a:solidFill>
                <a:latin typeface="Calibri" panose="020F0502020204030204" pitchFamily="34" charset="0"/>
                <a:ea typeface="Calibri"/>
                <a:cs typeface="Calibri" panose="020F0502020204030204" pitchFamily="34" charset="0"/>
              </a:rPr>
              <a:t>1</a:t>
            </a:r>
          </a:p>
        </p:txBody>
      </p:sp>
      <p:sp>
        <p:nvSpPr>
          <p:cNvPr id="9" name="Rectangle 8">
            <a:extLst>
              <a:ext uri="{FF2B5EF4-FFF2-40B4-BE49-F238E27FC236}">
                <a16:creationId xmlns:a16="http://schemas.microsoft.com/office/drawing/2014/main" id="{C171AE2B-1AFF-480A-9791-5D98EF43ED69}"/>
              </a:ext>
            </a:extLst>
          </p:cNvPr>
          <p:cNvSpPr>
            <a:spLocks noGrp="1"/>
          </p:cNvSpPr>
          <p:nvPr/>
        </p:nvSpPr>
        <p:spPr>
          <a:xfrm>
            <a:off x="1371600" y="5286375"/>
            <a:ext cx="1476375" cy="209550"/>
          </a:xfrm>
          <a:prstGeom prst="rect">
            <a:avLst/>
          </a:prstGeom>
          <a:noFill/>
          <a:ln w="0">
            <a:noFill/>
          </a:ln>
        </p:spPr>
        <p:txBody>
          <a:bodyPr anchor="t">
            <a:noAutofit/>
          </a:bodyPr>
          <a:lstStyle/>
          <a:p>
            <a:pPr algn="l">
              <a:defRPr sz="908" b="1" i="0">
                <a:solidFill>
                  <a:srgbClr val="FF9900"/>
                </a:solidFill>
                <a:latin typeface="Calibri"/>
                <a:ea typeface="Calibri"/>
                <a:cs typeface="Calibri"/>
              </a:defRPr>
            </a:pPr>
            <a:r>
              <a:rPr sz="1400" b="1" i="0">
                <a:solidFill>
                  <a:srgbClr val="FF9900"/>
                </a:solidFill>
                <a:latin typeface="Calibri" panose="020F0502020204030204" pitchFamily="34" charset="0"/>
                <a:ea typeface="Calibri"/>
                <a:cs typeface="Calibri" panose="020F0502020204030204" pitchFamily="34" charset="0"/>
              </a:rPr>
              <a:t>ПОДІЯ</a:t>
            </a:r>
          </a:p>
        </p:txBody>
      </p:sp>
      <p:sp>
        <p:nvSpPr>
          <p:cNvPr id="10" name="Rectangle 9">
            <a:extLst>
              <a:ext uri="{FF2B5EF4-FFF2-40B4-BE49-F238E27FC236}">
                <a16:creationId xmlns:a16="http://schemas.microsoft.com/office/drawing/2014/main" id="{F6C5C6AD-3114-4810-8256-0FBBDD39B112}"/>
              </a:ext>
            </a:extLst>
          </p:cNvPr>
          <p:cNvSpPr>
            <a:spLocks noGrp="1"/>
          </p:cNvSpPr>
          <p:nvPr/>
        </p:nvSpPr>
        <p:spPr>
          <a:xfrm>
            <a:off x="1371600" y="5514975"/>
            <a:ext cx="1524000" cy="400050"/>
          </a:xfrm>
          <a:prstGeom prst="rect">
            <a:avLst/>
          </a:prstGeom>
          <a:noFill/>
          <a:ln w="0">
            <a:noFill/>
          </a:ln>
        </p:spPr>
        <p:txBody>
          <a:bodyPr anchor="t">
            <a:noAutofit/>
          </a:bodyPr>
          <a:lstStyle/>
          <a:p>
            <a:pPr algn="l">
              <a:defRPr sz="825" b="0" i="0">
                <a:solidFill>
                  <a:srgbClr val="A9B7C6"/>
                </a:solidFill>
                <a:latin typeface="Calibri"/>
                <a:ea typeface="Calibri"/>
                <a:cs typeface="Calibri"/>
              </a:defRPr>
            </a:pPr>
            <a:r>
              <a:rPr sz="1400" b="0" i="0">
                <a:solidFill>
                  <a:srgbClr val="A9B7C6"/>
                </a:solidFill>
                <a:latin typeface="Calibri" panose="020F0502020204030204" pitchFamily="34" charset="0"/>
                <a:ea typeface="Calibri"/>
                <a:cs typeface="Calibri" panose="020F0502020204030204" pitchFamily="34" charset="0"/>
              </a:rPr>
              <a:t>S3, розклад або запит</a:t>
            </a:r>
          </a:p>
        </p:txBody>
      </p:sp>
      <p:sp>
        <p:nvSpPr>
          <p:cNvPr id="11" name="Oval 10">
            <a:extLst>
              <a:ext uri="{FF2B5EF4-FFF2-40B4-BE49-F238E27FC236}">
                <a16:creationId xmlns:a16="http://schemas.microsoft.com/office/drawing/2014/main" id="{1BCF21C5-DAB0-488D-9427-289E5B835E0F}"/>
              </a:ext>
            </a:extLst>
          </p:cNvPr>
          <p:cNvSpPr>
            <a:spLocks noGrp="1"/>
          </p:cNvSpPr>
          <p:nvPr/>
        </p:nvSpPr>
        <p:spPr>
          <a:xfrm>
            <a:off x="3057525" y="5334000"/>
            <a:ext cx="438150" cy="438150"/>
          </a:xfrm>
          <a:prstGeom prst="ellipse">
            <a:avLst/>
          </a:prstGeom>
          <a:solidFill>
            <a:srgbClr val="37475A"/>
          </a:solidFill>
          <a:ln w="0">
            <a:noFill/>
          </a:ln>
        </p:spPr>
        <p:txBody>
          <a:bodyPr/>
          <a:lstStyle/>
          <a:p>
            <a:endParaRPr lang="en-UA" sz="400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68C6B278-E156-4E70-86F6-3739E826F058}"/>
              </a:ext>
            </a:extLst>
          </p:cNvPr>
          <p:cNvSpPr>
            <a:spLocks noGrp="1"/>
          </p:cNvSpPr>
          <p:nvPr/>
        </p:nvSpPr>
        <p:spPr>
          <a:xfrm>
            <a:off x="3057525" y="5391150"/>
            <a:ext cx="438150" cy="285750"/>
          </a:xfrm>
          <a:prstGeom prst="rect">
            <a:avLst/>
          </a:prstGeom>
          <a:noFill/>
          <a:ln w="0">
            <a:noFill/>
          </a:ln>
        </p:spPr>
        <p:txBody>
          <a:bodyPr anchor="t">
            <a:noAutofit/>
          </a:bodyPr>
          <a:lstStyle/>
          <a:p>
            <a:pPr algn="ctr">
              <a:defRPr sz="1320" b="1" i="0">
                <a:solidFill>
                  <a:srgbClr val="FF9900"/>
                </a:solidFill>
                <a:latin typeface="Calibri"/>
                <a:ea typeface="Calibri"/>
                <a:cs typeface="Calibri"/>
              </a:defRPr>
            </a:pPr>
            <a:r>
              <a:rPr b="1" i="0">
                <a:solidFill>
                  <a:srgbClr val="FF9900"/>
                </a:solidFill>
                <a:latin typeface="Calibri" panose="020F0502020204030204" pitchFamily="34" charset="0"/>
                <a:ea typeface="Calibri"/>
                <a:cs typeface="Calibri" panose="020F0502020204030204" pitchFamily="34" charset="0"/>
              </a:rPr>
              <a:t>λ</a:t>
            </a:r>
          </a:p>
        </p:txBody>
      </p:sp>
      <p:sp>
        <p:nvSpPr>
          <p:cNvPr id="13" name="Rectangle 12">
            <a:extLst>
              <a:ext uri="{FF2B5EF4-FFF2-40B4-BE49-F238E27FC236}">
                <a16:creationId xmlns:a16="http://schemas.microsoft.com/office/drawing/2014/main" id="{9AB2090D-B3AB-4737-A0A9-FCAB44D9B8DE}"/>
              </a:ext>
            </a:extLst>
          </p:cNvPr>
          <p:cNvSpPr>
            <a:spLocks noGrp="1"/>
          </p:cNvSpPr>
          <p:nvPr/>
        </p:nvSpPr>
        <p:spPr>
          <a:xfrm>
            <a:off x="3609975" y="5286375"/>
            <a:ext cx="1476375" cy="209550"/>
          </a:xfrm>
          <a:prstGeom prst="rect">
            <a:avLst/>
          </a:prstGeom>
          <a:noFill/>
          <a:ln w="0">
            <a:noFill/>
          </a:ln>
        </p:spPr>
        <p:txBody>
          <a:bodyPr anchor="t">
            <a:noAutofit/>
          </a:bodyPr>
          <a:lstStyle/>
          <a:p>
            <a:pPr algn="l">
              <a:defRPr sz="908" b="1" i="0">
                <a:solidFill>
                  <a:srgbClr val="FF9900"/>
                </a:solidFill>
                <a:latin typeface="Calibri"/>
                <a:ea typeface="Calibri"/>
                <a:cs typeface="Calibri"/>
              </a:defRPr>
            </a:pPr>
            <a:r>
              <a:rPr sz="1400" b="1" i="0">
                <a:solidFill>
                  <a:srgbClr val="FF9900"/>
                </a:solidFill>
                <a:latin typeface="Calibri" panose="020F0502020204030204" pitchFamily="34" charset="0"/>
                <a:ea typeface="Calibri"/>
                <a:cs typeface="Calibri" panose="020F0502020204030204" pitchFamily="34" charset="0"/>
              </a:rPr>
              <a:t>ФУНКЦІЯ</a:t>
            </a:r>
          </a:p>
        </p:txBody>
      </p:sp>
      <p:sp>
        <p:nvSpPr>
          <p:cNvPr id="14" name="Rectangle 13">
            <a:extLst>
              <a:ext uri="{FF2B5EF4-FFF2-40B4-BE49-F238E27FC236}">
                <a16:creationId xmlns:a16="http://schemas.microsoft.com/office/drawing/2014/main" id="{AA916198-5D9F-435A-89B1-2FDB0386EB07}"/>
              </a:ext>
            </a:extLst>
          </p:cNvPr>
          <p:cNvSpPr>
            <a:spLocks noGrp="1"/>
          </p:cNvSpPr>
          <p:nvPr/>
        </p:nvSpPr>
        <p:spPr>
          <a:xfrm>
            <a:off x="3609975" y="5514975"/>
            <a:ext cx="1524000" cy="400050"/>
          </a:xfrm>
          <a:prstGeom prst="rect">
            <a:avLst/>
          </a:prstGeom>
          <a:noFill/>
          <a:ln w="0">
            <a:noFill/>
          </a:ln>
        </p:spPr>
        <p:txBody>
          <a:bodyPr anchor="t">
            <a:normAutofit fontScale="85000" lnSpcReduction="10000"/>
          </a:bodyPr>
          <a:lstStyle/>
          <a:p>
            <a:pPr algn="l">
              <a:defRPr sz="825" b="0" i="0">
                <a:solidFill>
                  <a:srgbClr val="A9B7C6"/>
                </a:solidFill>
                <a:latin typeface="Calibri"/>
                <a:ea typeface="Calibri"/>
                <a:cs typeface="Calibri"/>
              </a:defRPr>
            </a:pPr>
            <a:r>
              <a:rPr sz="1400" b="0" i="0">
                <a:solidFill>
                  <a:srgbClr val="A9B7C6"/>
                </a:solidFill>
                <a:latin typeface="Calibri" panose="020F0502020204030204" pitchFamily="34" charset="0"/>
                <a:ea typeface="Calibri"/>
                <a:cs typeface="Calibri" panose="020F0502020204030204" pitchFamily="34" charset="0"/>
              </a:rPr>
              <a:t>Код виконує handler</a:t>
            </a:r>
          </a:p>
        </p:txBody>
      </p:sp>
      <p:sp>
        <p:nvSpPr>
          <p:cNvPr id="15" name="Oval 14">
            <a:extLst>
              <a:ext uri="{FF2B5EF4-FFF2-40B4-BE49-F238E27FC236}">
                <a16:creationId xmlns:a16="http://schemas.microsoft.com/office/drawing/2014/main" id="{A0D681A0-77B6-4556-A6FC-BFDD146B384D}"/>
              </a:ext>
            </a:extLst>
          </p:cNvPr>
          <p:cNvSpPr>
            <a:spLocks noGrp="1"/>
          </p:cNvSpPr>
          <p:nvPr/>
        </p:nvSpPr>
        <p:spPr>
          <a:xfrm>
            <a:off x="5295900" y="5334000"/>
            <a:ext cx="438150" cy="438150"/>
          </a:xfrm>
          <a:prstGeom prst="ellipse">
            <a:avLst/>
          </a:prstGeom>
          <a:solidFill>
            <a:srgbClr val="37475A"/>
          </a:solidFill>
          <a:ln w="0">
            <a:noFill/>
          </a:ln>
        </p:spPr>
        <p:txBody>
          <a:bodyPr/>
          <a:lstStyle/>
          <a:p>
            <a:endParaRPr lang="en-UA" sz="4000">
              <a:latin typeface="Calibri" panose="020F0502020204030204" pitchFamily="34" charset="0"/>
              <a:cs typeface="Calibri" panose="020F0502020204030204" pitchFamily="34" charset="0"/>
            </a:endParaRPr>
          </a:p>
        </p:txBody>
      </p:sp>
      <p:sp>
        <p:nvSpPr>
          <p:cNvPr id="16" name="Rectangle 15">
            <a:extLst>
              <a:ext uri="{FF2B5EF4-FFF2-40B4-BE49-F238E27FC236}">
                <a16:creationId xmlns:a16="http://schemas.microsoft.com/office/drawing/2014/main" id="{9EF17E19-C430-48F3-91FE-7F9810129405}"/>
              </a:ext>
            </a:extLst>
          </p:cNvPr>
          <p:cNvSpPr>
            <a:spLocks noGrp="1"/>
          </p:cNvSpPr>
          <p:nvPr/>
        </p:nvSpPr>
        <p:spPr>
          <a:xfrm>
            <a:off x="5295900" y="5391150"/>
            <a:ext cx="438150" cy="285750"/>
          </a:xfrm>
          <a:prstGeom prst="rect">
            <a:avLst/>
          </a:prstGeom>
          <a:noFill/>
          <a:ln w="0">
            <a:noFill/>
          </a:ln>
        </p:spPr>
        <p:txBody>
          <a:bodyPr anchor="t">
            <a:noAutofit/>
          </a:bodyPr>
          <a:lstStyle/>
          <a:p>
            <a:pPr algn="ctr">
              <a:defRPr sz="1320" b="1" i="0">
                <a:solidFill>
                  <a:srgbClr val="FF9900"/>
                </a:solidFill>
                <a:latin typeface="Calibri"/>
                <a:ea typeface="Calibri"/>
                <a:cs typeface="Calibri"/>
              </a:defRPr>
            </a:pPr>
            <a:r>
              <a:rPr b="1" i="0">
                <a:solidFill>
                  <a:srgbClr val="FF9900"/>
                </a:solidFill>
                <a:latin typeface="Calibri" panose="020F0502020204030204" pitchFamily="34" charset="0"/>
                <a:ea typeface="Calibri"/>
                <a:cs typeface="Calibri" panose="020F0502020204030204" pitchFamily="34" charset="0"/>
              </a:rPr>
              <a:t>✓</a:t>
            </a:r>
          </a:p>
        </p:txBody>
      </p:sp>
      <p:sp>
        <p:nvSpPr>
          <p:cNvPr id="17" name="Rectangle 16">
            <a:extLst>
              <a:ext uri="{FF2B5EF4-FFF2-40B4-BE49-F238E27FC236}">
                <a16:creationId xmlns:a16="http://schemas.microsoft.com/office/drawing/2014/main" id="{E670A75D-4395-478B-B4E8-4DB49FD68093}"/>
              </a:ext>
            </a:extLst>
          </p:cNvPr>
          <p:cNvSpPr>
            <a:spLocks noGrp="1"/>
          </p:cNvSpPr>
          <p:nvPr/>
        </p:nvSpPr>
        <p:spPr>
          <a:xfrm>
            <a:off x="5848350" y="5286375"/>
            <a:ext cx="1476375" cy="209550"/>
          </a:xfrm>
          <a:prstGeom prst="rect">
            <a:avLst/>
          </a:prstGeom>
          <a:noFill/>
          <a:ln w="0">
            <a:noFill/>
          </a:ln>
        </p:spPr>
        <p:txBody>
          <a:bodyPr anchor="t">
            <a:noAutofit/>
          </a:bodyPr>
          <a:lstStyle/>
          <a:p>
            <a:pPr algn="l">
              <a:defRPr sz="908" b="1" i="0">
                <a:solidFill>
                  <a:srgbClr val="FF9900"/>
                </a:solidFill>
                <a:latin typeface="Calibri"/>
                <a:ea typeface="Calibri"/>
                <a:cs typeface="Calibri"/>
              </a:defRPr>
            </a:pPr>
            <a:r>
              <a:rPr sz="1400" b="1" i="0">
                <a:solidFill>
                  <a:srgbClr val="FF9900"/>
                </a:solidFill>
                <a:latin typeface="Calibri" panose="020F0502020204030204" pitchFamily="34" charset="0"/>
                <a:ea typeface="Calibri"/>
                <a:cs typeface="Calibri" panose="020F0502020204030204" pitchFamily="34" charset="0"/>
              </a:rPr>
              <a:t>РЕЗУЛЬТАТ</a:t>
            </a:r>
          </a:p>
        </p:txBody>
      </p:sp>
      <p:sp>
        <p:nvSpPr>
          <p:cNvPr id="18" name="Rectangle 17">
            <a:extLst>
              <a:ext uri="{FF2B5EF4-FFF2-40B4-BE49-F238E27FC236}">
                <a16:creationId xmlns:a16="http://schemas.microsoft.com/office/drawing/2014/main" id="{AE248B33-BED4-4EDB-BA35-6FD87CA975DA}"/>
              </a:ext>
            </a:extLst>
          </p:cNvPr>
          <p:cNvSpPr>
            <a:spLocks noGrp="1"/>
          </p:cNvSpPr>
          <p:nvPr/>
        </p:nvSpPr>
        <p:spPr>
          <a:xfrm>
            <a:off x="5848350" y="5514975"/>
            <a:ext cx="1524000" cy="400050"/>
          </a:xfrm>
          <a:prstGeom prst="rect">
            <a:avLst/>
          </a:prstGeom>
          <a:noFill/>
          <a:ln w="0">
            <a:noFill/>
          </a:ln>
        </p:spPr>
        <p:txBody>
          <a:bodyPr anchor="t">
            <a:normAutofit fontScale="85000" lnSpcReduction="10000"/>
          </a:bodyPr>
          <a:lstStyle/>
          <a:p>
            <a:pPr algn="l">
              <a:defRPr sz="825" b="0" i="0">
                <a:solidFill>
                  <a:srgbClr val="A9B7C6"/>
                </a:solidFill>
                <a:latin typeface="Calibri"/>
                <a:ea typeface="Calibri"/>
                <a:cs typeface="Calibri"/>
              </a:defRPr>
            </a:pPr>
            <a:r>
              <a:rPr sz="1400" b="0" i="0">
                <a:solidFill>
                  <a:srgbClr val="A9B7C6"/>
                </a:solidFill>
                <a:latin typeface="Calibri" panose="020F0502020204030204" pitchFamily="34" charset="0"/>
                <a:ea typeface="Calibri"/>
                <a:cs typeface="Calibri" panose="020F0502020204030204" pitchFamily="34" charset="0"/>
              </a:rPr>
              <a:t>Логи та зміна даних</a:t>
            </a:r>
          </a:p>
        </p:txBody>
      </p:sp>
    </p:spTree>
    <p:extLst>
      <p:ext uri="{BB962C8B-B14F-4D97-AF65-F5344CB8AC3E}">
        <p14:creationId xmlns:p14="http://schemas.microsoft.com/office/powerpoint/2010/main" val="464465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3F3"/>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6C77D94B-E35A-4352-AA61-E41B15BF66AA}"/>
              </a:ext>
            </a:extLst>
          </p:cNvPr>
          <p:cNvSpPr>
            <a:spLocks noGrp="1"/>
          </p:cNvSpPr>
          <p:nvPr/>
        </p:nvSpPr>
        <p:spPr>
          <a:xfrm>
            <a:off x="552450" y="500063"/>
            <a:ext cx="11049000" cy="666750"/>
          </a:xfrm>
          <a:prstGeom prst="rect">
            <a:avLst/>
          </a:prstGeom>
          <a:noFill/>
          <a:ln w="0">
            <a:noFill/>
          </a:ln>
        </p:spPr>
        <p:txBody>
          <a:bodyPr anchor="t">
            <a:normAutofit fontScale="92500"/>
          </a:bodyPr>
          <a:lstStyle/>
          <a:p>
            <a:pPr algn="l">
              <a:defRPr sz="2805" b="1" i="0">
                <a:solidFill>
                  <a:srgbClr val="16191F"/>
                </a:solidFill>
                <a:latin typeface="Cambria"/>
                <a:ea typeface="Cambria"/>
                <a:cs typeface="Cambria"/>
              </a:defRPr>
            </a:pPr>
            <a:r>
              <a:rPr sz="3200" b="1" i="0">
                <a:solidFill>
                  <a:srgbClr val="16191F"/>
                </a:solidFill>
                <a:latin typeface="Cambria"/>
                <a:ea typeface="Cambria"/>
                <a:cs typeface="Cambria"/>
              </a:rPr>
              <a:t>Serverless: </a:t>
            </a:r>
            <a:r>
              <a:rPr lang="ru-RU" sz="3200" b="1" i="0">
                <a:solidFill>
                  <a:srgbClr val="16191F"/>
                </a:solidFill>
                <a:latin typeface="Cambria"/>
                <a:ea typeface="Cambria"/>
                <a:cs typeface="Cambria"/>
              </a:rPr>
              <a:t>модель виконання без керування серверами</a:t>
            </a:r>
            <a:endParaRPr sz="3200" b="1" i="0">
              <a:solidFill>
                <a:srgbClr val="16191F"/>
              </a:solidFill>
              <a:latin typeface="Cambria"/>
              <a:ea typeface="Cambria"/>
              <a:cs typeface="Cambria"/>
            </a:endParaRPr>
          </a:p>
        </p:txBody>
      </p:sp>
      <p:sp>
        <p:nvSpPr>
          <p:cNvPr id="2" name="Rectangle 1">
            <a:extLst>
              <a:ext uri="{FF2B5EF4-FFF2-40B4-BE49-F238E27FC236}">
                <a16:creationId xmlns:a16="http://schemas.microsoft.com/office/drawing/2014/main" id="{DBF42E87-1E48-4A6D-B1D8-1D05A14B9EDE}"/>
              </a:ext>
            </a:extLst>
          </p:cNvPr>
          <p:cNvSpPr>
            <a:spLocks noGrp="1"/>
          </p:cNvSpPr>
          <p:nvPr/>
        </p:nvSpPr>
        <p:spPr>
          <a:xfrm>
            <a:off x="552450" y="1581150"/>
            <a:ext cx="5238750" cy="1066800"/>
          </a:xfrm>
          <a:prstGeom prst="rect">
            <a:avLst/>
          </a:prstGeom>
          <a:noFill/>
          <a:ln w="0">
            <a:noFill/>
          </a:ln>
        </p:spPr>
        <p:txBody>
          <a:bodyPr anchor="t">
            <a:normAutofit fontScale="97170"/>
          </a:bodyPr>
          <a:lstStyle/>
          <a:p>
            <a:pPr algn="l">
              <a:defRPr sz="1650" b="0" i="0">
                <a:solidFill>
                  <a:srgbClr val="16191F"/>
                </a:solidFill>
                <a:latin typeface="Calibri"/>
                <a:ea typeface="Calibri"/>
                <a:cs typeface="Calibri"/>
              </a:defRPr>
            </a:pPr>
            <a:r>
              <a:rPr b="0" i="0" dirty="0">
                <a:solidFill>
                  <a:srgbClr val="16191F"/>
                </a:solidFill>
                <a:latin typeface="Calibri"/>
                <a:ea typeface="Calibri"/>
                <a:cs typeface="Calibri"/>
              </a:rPr>
              <a:t>Serverless </a:t>
            </a:r>
            <a:r>
              <a:rPr b="0" i="0" dirty="0" err="1">
                <a:solidFill>
                  <a:srgbClr val="16191F"/>
                </a:solidFill>
                <a:latin typeface="Calibri"/>
                <a:ea typeface="Calibri"/>
                <a:cs typeface="Calibri"/>
              </a:rPr>
              <a:t>означає</a:t>
            </a:r>
            <a:r>
              <a:rPr b="0" i="0" dirty="0">
                <a:solidFill>
                  <a:srgbClr val="16191F"/>
                </a:solidFill>
                <a:latin typeface="Calibri"/>
                <a:ea typeface="Calibri"/>
                <a:cs typeface="Calibri"/>
              </a:rPr>
              <a:t>, що </a:t>
            </a:r>
            <a:r>
              <a:rPr b="0" i="0" dirty="0" err="1">
                <a:solidFill>
                  <a:srgbClr val="16191F"/>
                </a:solidFill>
                <a:latin typeface="Calibri"/>
                <a:ea typeface="Calibri"/>
                <a:cs typeface="Calibri"/>
              </a:rPr>
              <a:t>хмарний</a:t>
            </a:r>
            <a:r>
              <a:rPr b="0" i="0" dirty="0">
                <a:solidFill>
                  <a:srgbClr val="16191F"/>
                </a:solidFill>
                <a:latin typeface="Calibri"/>
                <a:ea typeface="Calibri"/>
                <a:cs typeface="Calibri"/>
              </a:rPr>
              <a:t> </a:t>
            </a:r>
            <a:r>
              <a:rPr b="0" i="0" dirty="0" err="1">
                <a:solidFill>
                  <a:srgbClr val="16191F"/>
                </a:solidFill>
                <a:latin typeface="Calibri"/>
                <a:ea typeface="Calibri"/>
                <a:cs typeface="Calibri"/>
              </a:rPr>
              <a:t>провайдер</a:t>
            </a:r>
            <a:r>
              <a:rPr b="0" i="0" dirty="0">
                <a:solidFill>
                  <a:srgbClr val="16191F"/>
                </a:solidFill>
                <a:latin typeface="Calibri"/>
                <a:ea typeface="Calibri"/>
                <a:cs typeface="Calibri"/>
              </a:rPr>
              <a:t> </a:t>
            </a:r>
            <a:r>
              <a:rPr b="0" i="0" dirty="0" err="1">
                <a:solidFill>
                  <a:srgbClr val="16191F"/>
                </a:solidFill>
                <a:latin typeface="Calibri"/>
                <a:ea typeface="Calibri"/>
                <a:cs typeface="Calibri"/>
              </a:rPr>
              <a:t>запускає</a:t>
            </a:r>
            <a:r>
              <a:rPr b="0" i="0" dirty="0">
                <a:solidFill>
                  <a:srgbClr val="16191F"/>
                </a:solidFill>
                <a:latin typeface="Calibri"/>
                <a:ea typeface="Calibri"/>
                <a:cs typeface="Calibri"/>
              </a:rPr>
              <a:t> та </a:t>
            </a:r>
            <a:r>
              <a:rPr b="0" i="0" dirty="0" err="1">
                <a:solidFill>
                  <a:srgbClr val="16191F"/>
                </a:solidFill>
                <a:latin typeface="Calibri"/>
                <a:ea typeface="Calibri"/>
                <a:cs typeface="Calibri"/>
              </a:rPr>
              <a:t>масштабує</a:t>
            </a:r>
            <a:r>
              <a:rPr b="0" i="0" dirty="0">
                <a:solidFill>
                  <a:srgbClr val="16191F"/>
                </a:solidFill>
                <a:latin typeface="Calibri"/>
                <a:ea typeface="Calibri"/>
                <a:cs typeface="Calibri"/>
              </a:rPr>
              <a:t> </a:t>
            </a:r>
            <a:r>
              <a:rPr b="0" i="0" dirty="0" err="1">
                <a:solidFill>
                  <a:srgbClr val="16191F"/>
                </a:solidFill>
                <a:latin typeface="Calibri"/>
                <a:ea typeface="Calibri"/>
                <a:cs typeface="Calibri"/>
              </a:rPr>
              <a:t>середовище</a:t>
            </a:r>
            <a:r>
              <a:rPr b="0" i="0" dirty="0">
                <a:solidFill>
                  <a:srgbClr val="16191F"/>
                </a:solidFill>
                <a:latin typeface="Calibri"/>
                <a:ea typeface="Calibri"/>
                <a:cs typeface="Calibri"/>
              </a:rPr>
              <a:t> </a:t>
            </a:r>
            <a:r>
              <a:rPr b="0" i="0" dirty="0" err="1">
                <a:solidFill>
                  <a:srgbClr val="16191F"/>
                </a:solidFill>
                <a:latin typeface="Calibri"/>
                <a:ea typeface="Calibri"/>
                <a:cs typeface="Calibri"/>
              </a:rPr>
              <a:t>виконання</a:t>
            </a:r>
            <a:r>
              <a:rPr b="0" i="0" dirty="0">
                <a:solidFill>
                  <a:srgbClr val="16191F"/>
                </a:solidFill>
                <a:latin typeface="Calibri"/>
                <a:ea typeface="Calibri"/>
                <a:cs typeface="Calibri"/>
              </a:rPr>
              <a:t>. </a:t>
            </a:r>
            <a:r>
              <a:rPr b="0" i="0" dirty="0" err="1">
                <a:solidFill>
                  <a:srgbClr val="16191F"/>
                </a:solidFill>
                <a:latin typeface="Calibri"/>
                <a:ea typeface="Calibri"/>
                <a:cs typeface="Calibri"/>
              </a:rPr>
              <a:t>Команда</a:t>
            </a:r>
            <a:r>
              <a:rPr b="0" i="0" dirty="0">
                <a:solidFill>
                  <a:srgbClr val="16191F"/>
                </a:solidFill>
                <a:latin typeface="Calibri"/>
                <a:ea typeface="Calibri"/>
                <a:cs typeface="Calibri"/>
              </a:rPr>
              <a:t> </a:t>
            </a:r>
            <a:r>
              <a:rPr b="0" i="0" dirty="0" err="1">
                <a:solidFill>
                  <a:srgbClr val="16191F"/>
                </a:solidFill>
                <a:latin typeface="Calibri"/>
                <a:ea typeface="Calibri"/>
                <a:cs typeface="Calibri"/>
              </a:rPr>
              <a:t>зосереджується</a:t>
            </a:r>
            <a:r>
              <a:rPr b="0" i="0" dirty="0">
                <a:solidFill>
                  <a:srgbClr val="16191F"/>
                </a:solidFill>
                <a:latin typeface="Calibri"/>
                <a:ea typeface="Calibri"/>
                <a:cs typeface="Calibri"/>
              </a:rPr>
              <a:t> на </a:t>
            </a:r>
            <a:r>
              <a:rPr b="0" i="0" dirty="0" err="1">
                <a:solidFill>
                  <a:srgbClr val="16191F"/>
                </a:solidFill>
                <a:latin typeface="Calibri"/>
                <a:ea typeface="Calibri"/>
                <a:cs typeface="Calibri"/>
              </a:rPr>
              <a:t>коді</a:t>
            </a:r>
            <a:r>
              <a:rPr b="0" i="0" dirty="0">
                <a:solidFill>
                  <a:srgbClr val="16191F"/>
                </a:solidFill>
                <a:latin typeface="Calibri"/>
                <a:ea typeface="Calibri"/>
                <a:cs typeface="Calibri"/>
              </a:rPr>
              <a:t>, </a:t>
            </a:r>
            <a:r>
              <a:rPr b="0" i="0" dirty="0" err="1">
                <a:solidFill>
                  <a:srgbClr val="16191F"/>
                </a:solidFill>
                <a:latin typeface="Calibri"/>
                <a:ea typeface="Calibri"/>
                <a:cs typeface="Calibri"/>
              </a:rPr>
              <a:t>подіях</a:t>
            </a:r>
            <a:r>
              <a:rPr b="0" i="0" dirty="0">
                <a:solidFill>
                  <a:srgbClr val="16191F"/>
                </a:solidFill>
                <a:latin typeface="Calibri"/>
                <a:ea typeface="Calibri"/>
                <a:cs typeface="Calibri"/>
              </a:rPr>
              <a:t> і </a:t>
            </a:r>
            <a:r>
              <a:rPr b="0" i="0" dirty="0" err="1">
                <a:solidFill>
                  <a:srgbClr val="16191F"/>
                </a:solidFill>
                <a:latin typeface="Calibri"/>
                <a:ea typeface="Calibri"/>
                <a:cs typeface="Calibri"/>
              </a:rPr>
              <a:t>дозволах</a:t>
            </a:r>
            <a:r>
              <a:rPr b="0" i="0" dirty="0">
                <a:solidFill>
                  <a:srgbClr val="16191F"/>
                </a:solidFill>
                <a:latin typeface="Calibri"/>
                <a:ea typeface="Calibri"/>
                <a:cs typeface="Calibri"/>
              </a:rPr>
              <a:t>.</a:t>
            </a:r>
          </a:p>
        </p:txBody>
      </p:sp>
      <p:sp>
        <p:nvSpPr>
          <p:cNvPr id="3" name="Rectangle 2">
            <a:extLst>
              <a:ext uri="{FF2B5EF4-FFF2-40B4-BE49-F238E27FC236}">
                <a16:creationId xmlns:a16="http://schemas.microsoft.com/office/drawing/2014/main" id="{A7B22E4B-F722-47C7-8AFE-53DB99AF3742}"/>
              </a:ext>
            </a:extLst>
          </p:cNvPr>
          <p:cNvSpPr>
            <a:spLocks noGrp="1"/>
          </p:cNvSpPr>
          <p:nvPr/>
        </p:nvSpPr>
        <p:spPr>
          <a:xfrm>
            <a:off x="552450" y="2971800"/>
            <a:ext cx="5238750" cy="685800"/>
          </a:xfrm>
          <a:prstGeom prst="rect">
            <a:avLst/>
          </a:prstGeom>
          <a:noFill/>
          <a:ln w="0">
            <a:noFill/>
          </a:ln>
        </p:spPr>
        <p:txBody>
          <a:bodyPr anchor="t">
            <a:normAutofit/>
          </a:bodyPr>
          <a:lstStyle/>
          <a:p>
            <a:pPr algn="l">
              <a:defRPr sz="1403" b="0" i="1">
                <a:solidFill>
                  <a:srgbClr val="5A6674"/>
                </a:solidFill>
                <a:latin typeface="Calibri"/>
                <a:ea typeface="Calibri"/>
                <a:cs typeface="Calibri"/>
              </a:defRPr>
            </a:pPr>
            <a:r>
              <a:rPr sz="1600" b="0" i="1" dirty="0">
                <a:solidFill>
                  <a:srgbClr val="5A6674"/>
                </a:solidFill>
                <a:latin typeface="Calibri"/>
                <a:ea typeface="Calibri"/>
                <a:cs typeface="Calibri"/>
              </a:rPr>
              <a:t>Сервери </a:t>
            </a:r>
            <a:r>
              <a:rPr sz="1600" b="0" i="1" dirty="0" err="1">
                <a:solidFill>
                  <a:srgbClr val="5A6674"/>
                </a:solidFill>
                <a:latin typeface="Calibri"/>
                <a:ea typeface="Calibri"/>
                <a:cs typeface="Calibri"/>
              </a:rPr>
              <a:t>існують</a:t>
            </a:r>
            <a:r>
              <a:rPr sz="1600" b="0" i="1" dirty="0">
                <a:solidFill>
                  <a:srgbClr val="5A6674"/>
                </a:solidFill>
                <a:latin typeface="Calibri"/>
                <a:ea typeface="Calibri"/>
                <a:cs typeface="Calibri"/>
              </a:rPr>
              <a:t>, </a:t>
            </a:r>
            <a:r>
              <a:rPr sz="1600" b="0" i="1" dirty="0" err="1">
                <a:solidFill>
                  <a:srgbClr val="5A6674"/>
                </a:solidFill>
                <a:latin typeface="Calibri"/>
                <a:ea typeface="Calibri"/>
                <a:cs typeface="Calibri"/>
              </a:rPr>
              <a:t>але</a:t>
            </a:r>
            <a:r>
              <a:rPr sz="1600" b="0" i="1" dirty="0">
                <a:solidFill>
                  <a:srgbClr val="5A6674"/>
                </a:solidFill>
                <a:latin typeface="Calibri"/>
                <a:ea typeface="Calibri"/>
                <a:cs typeface="Calibri"/>
              </a:rPr>
              <a:t> AWS </a:t>
            </a:r>
            <a:r>
              <a:rPr sz="1600" b="0" i="1" dirty="0" err="1">
                <a:solidFill>
                  <a:srgbClr val="5A6674"/>
                </a:solidFill>
                <a:latin typeface="Calibri"/>
                <a:ea typeface="Calibri"/>
                <a:cs typeface="Calibri"/>
              </a:rPr>
              <a:t>відповідає</a:t>
            </a:r>
            <a:r>
              <a:rPr sz="1600" b="0" i="1" dirty="0">
                <a:solidFill>
                  <a:srgbClr val="5A6674"/>
                </a:solidFill>
                <a:latin typeface="Calibri"/>
                <a:ea typeface="Calibri"/>
                <a:cs typeface="Calibri"/>
              </a:rPr>
              <a:t> за </a:t>
            </a:r>
            <a:r>
              <a:rPr sz="1600" b="0" i="1" dirty="0" err="1">
                <a:solidFill>
                  <a:srgbClr val="5A6674"/>
                </a:solidFill>
                <a:latin typeface="Calibri"/>
                <a:ea typeface="Calibri"/>
                <a:cs typeface="Calibri"/>
              </a:rPr>
              <a:t>їх</a:t>
            </a:r>
            <a:r>
              <a:rPr sz="1600" b="0" i="1" dirty="0">
                <a:solidFill>
                  <a:srgbClr val="5A6674"/>
                </a:solidFill>
                <a:latin typeface="Calibri"/>
                <a:ea typeface="Calibri"/>
                <a:cs typeface="Calibri"/>
              </a:rPr>
              <a:t> </a:t>
            </a:r>
            <a:r>
              <a:rPr sz="1600" b="0" i="1" dirty="0" err="1">
                <a:solidFill>
                  <a:srgbClr val="5A6674"/>
                </a:solidFill>
                <a:latin typeface="Calibri"/>
                <a:ea typeface="Calibri"/>
                <a:cs typeface="Calibri"/>
              </a:rPr>
              <a:t>підготовку</a:t>
            </a:r>
            <a:r>
              <a:rPr sz="1600" b="0" i="1" dirty="0">
                <a:solidFill>
                  <a:srgbClr val="5A6674"/>
                </a:solidFill>
                <a:latin typeface="Calibri"/>
                <a:ea typeface="Calibri"/>
                <a:cs typeface="Calibri"/>
              </a:rPr>
              <a:t>, </a:t>
            </a:r>
            <a:r>
              <a:rPr sz="1600" b="0" i="1" dirty="0" err="1">
                <a:solidFill>
                  <a:srgbClr val="5A6674"/>
                </a:solidFill>
                <a:latin typeface="Calibri"/>
                <a:ea typeface="Calibri"/>
                <a:cs typeface="Calibri"/>
              </a:rPr>
              <a:t>патчі</a:t>
            </a:r>
            <a:r>
              <a:rPr sz="1600" b="0" i="1" dirty="0">
                <a:solidFill>
                  <a:srgbClr val="5A6674"/>
                </a:solidFill>
                <a:latin typeface="Calibri"/>
                <a:ea typeface="Calibri"/>
                <a:cs typeface="Calibri"/>
              </a:rPr>
              <a:t> та </a:t>
            </a:r>
            <a:r>
              <a:rPr sz="1600" b="0" i="1" dirty="0" err="1">
                <a:solidFill>
                  <a:srgbClr val="5A6674"/>
                </a:solidFill>
                <a:latin typeface="Calibri"/>
                <a:ea typeface="Calibri"/>
                <a:cs typeface="Calibri"/>
              </a:rPr>
              <a:t>доступність</a:t>
            </a:r>
            <a:r>
              <a:rPr sz="1600" b="0" i="1" dirty="0">
                <a:solidFill>
                  <a:srgbClr val="5A6674"/>
                </a:solidFill>
                <a:latin typeface="Calibri"/>
                <a:ea typeface="Calibri"/>
                <a:cs typeface="Calibri"/>
              </a:rPr>
              <a:t>.</a:t>
            </a:r>
          </a:p>
        </p:txBody>
      </p:sp>
      <p:sp>
        <p:nvSpPr>
          <p:cNvPr id="4" name="Rounded Rectangle 3">
            <a:extLst>
              <a:ext uri="{FF2B5EF4-FFF2-40B4-BE49-F238E27FC236}">
                <a16:creationId xmlns:a16="http://schemas.microsoft.com/office/drawing/2014/main" id="{2F99565D-89D4-4A3B-95D8-90A24DDA8E45}"/>
              </a:ext>
            </a:extLst>
          </p:cNvPr>
          <p:cNvSpPr>
            <a:spLocks noGrp="1"/>
          </p:cNvSpPr>
          <p:nvPr/>
        </p:nvSpPr>
        <p:spPr>
          <a:xfrm>
            <a:off x="6238875" y="1581149"/>
            <a:ext cx="5286375" cy="828675"/>
          </a:xfrm>
          <a:prstGeom prst="roundRect">
            <a:avLst>
              <a:gd name="adj" fmla="val 10256"/>
            </a:avLst>
          </a:prstGeom>
          <a:solidFill>
            <a:srgbClr val="FFFFFF"/>
          </a:solidFill>
          <a:ln w="9525">
            <a:solidFill>
              <a:srgbClr val="DDE1E6"/>
            </a:solidFill>
          </a:ln>
        </p:spPr>
        <p:txBody>
          <a:bodyPr/>
          <a:lstStyle/>
          <a:p>
            <a:endParaRPr lang="en-UA"/>
          </a:p>
        </p:txBody>
      </p:sp>
      <p:sp>
        <p:nvSpPr>
          <p:cNvPr id="5" name="Oval 4">
            <a:extLst>
              <a:ext uri="{FF2B5EF4-FFF2-40B4-BE49-F238E27FC236}">
                <a16:creationId xmlns:a16="http://schemas.microsoft.com/office/drawing/2014/main" id="{233100A9-A949-426A-8DC5-7BF638410199}"/>
              </a:ext>
            </a:extLst>
          </p:cNvPr>
          <p:cNvSpPr>
            <a:spLocks noGrp="1"/>
          </p:cNvSpPr>
          <p:nvPr/>
        </p:nvSpPr>
        <p:spPr>
          <a:xfrm>
            <a:off x="6429375" y="1743075"/>
            <a:ext cx="419100" cy="419100"/>
          </a:xfrm>
          <a:prstGeom prst="ellipse">
            <a:avLst/>
          </a:prstGeom>
          <a:solidFill>
            <a:srgbClr val="232F3E"/>
          </a:solidFill>
          <a:ln w="0">
            <a:noFill/>
          </a:ln>
        </p:spPr>
        <p:txBody>
          <a:bodyPr/>
          <a:lstStyle/>
          <a:p>
            <a:endParaRPr lang="en-UA"/>
          </a:p>
        </p:txBody>
      </p:sp>
      <p:sp>
        <p:nvSpPr>
          <p:cNvPr id="6" name="Rectangle 5">
            <a:extLst>
              <a:ext uri="{FF2B5EF4-FFF2-40B4-BE49-F238E27FC236}">
                <a16:creationId xmlns:a16="http://schemas.microsoft.com/office/drawing/2014/main" id="{98102AE8-3EBB-42EE-93BB-613725090460}"/>
              </a:ext>
            </a:extLst>
          </p:cNvPr>
          <p:cNvSpPr>
            <a:spLocks noGrp="1"/>
          </p:cNvSpPr>
          <p:nvPr/>
        </p:nvSpPr>
        <p:spPr>
          <a:xfrm>
            <a:off x="6429375" y="1823707"/>
            <a:ext cx="419100" cy="285750"/>
          </a:xfrm>
          <a:prstGeom prst="rect">
            <a:avLst/>
          </a:prstGeom>
          <a:noFill/>
          <a:ln w="0">
            <a:noFill/>
          </a:ln>
        </p:spPr>
        <p:txBody>
          <a:bodyPr anchor="t">
            <a:normAutofit fontScale="96591" lnSpcReduction="10000"/>
          </a:bodyPr>
          <a:lstStyle/>
          <a:p>
            <a:pPr algn="ctr">
              <a:defRPr sz="1320" b="1" i="0">
                <a:solidFill>
                  <a:srgbClr val="FF9900"/>
                </a:solidFill>
                <a:latin typeface="Cambria"/>
                <a:ea typeface="Cambria"/>
                <a:cs typeface="Cambria"/>
              </a:defRPr>
            </a:pPr>
            <a:r>
              <a:rPr sz="1320" b="1" i="0">
                <a:solidFill>
                  <a:srgbClr val="FF9900"/>
                </a:solidFill>
                <a:latin typeface="Cambria"/>
                <a:ea typeface="Cambria"/>
                <a:cs typeface="Cambria"/>
              </a:rPr>
              <a:t>1</a:t>
            </a:r>
          </a:p>
        </p:txBody>
      </p:sp>
      <p:sp>
        <p:nvSpPr>
          <p:cNvPr id="7" name="Rectangle 6">
            <a:extLst>
              <a:ext uri="{FF2B5EF4-FFF2-40B4-BE49-F238E27FC236}">
                <a16:creationId xmlns:a16="http://schemas.microsoft.com/office/drawing/2014/main" id="{76A409AA-1C44-4111-9BB6-9EE63901D3E5}"/>
              </a:ext>
            </a:extLst>
          </p:cNvPr>
          <p:cNvSpPr>
            <a:spLocks noGrp="1"/>
          </p:cNvSpPr>
          <p:nvPr/>
        </p:nvSpPr>
        <p:spPr>
          <a:xfrm>
            <a:off x="7048500" y="1695450"/>
            <a:ext cx="1714500" cy="266700"/>
          </a:xfrm>
          <a:prstGeom prst="rect">
            <a:avLst/>
          </a:prstGeom>
          <a:noFill/>
          <a:ln w="0">
            <a:noFill/>
          </a:ln>
        </p:spPr>
        <p:txBody>
          <a:bodyPr anchor="t">
            <a:noAutofit/>
          </a:bodyPr>
          <a:lstStyle/>
          <a:p>
            <a:pPr algn="l">
              <a:defRPr sz="1320" b="1" i="0">
                <a:solidFill>
                  <a:srgbClr val="16191F"/>
                </a:solidFill>
                <a:latin typeface="Calibri"/>
                <a:ea typeface="Calibri"/>
                <a:cs typeface="Calibri"/>
              </a:defRPr>
            </a:pPr>
            <a:r>
              <a:rPr sz="1600" b="1" i="0">
                <a:solidFill>
                  <a:srgbClr val="16191F"/>
                </a:solidFill>
                <a:latin typeface="Calibri"/>
                <a:ea typeface="Calibri"/>
                <a:cs typeface="Calibri"/>
              </a:rPr>
              <a:t>Код</a:t>
            </a:r>
          </a:p>
        </p:txBody>
      </p:sp>
      <p:sp>
        <p:nvSpPr>
          <p:cNvPr id="8" name="Rectangle 7">
            <a:extLst>
              <a:ext uri="{FF2B5EF4-FFF2-40B4-BE49-F238E27FC236}">
                <a16:creationId xmlns:a16="http://schemas.microsoft.com/office/drawing/2014/main" id="{6A7CE9F2-D336-481B-992A-5CA2C56E56FF}"/>
              </a:ext>
            </a:extLst>
          </p:cNvPr>
          <p:cNvSpPr>
            <a:spLocks noGrp="1"/>
          </p:cNvSpPr>
          <p:nvPr/>
        </p:nvSpPr>
        <p:spPr>
          <a:xfrm>
            <a:off x="7048500" y="1962150"/>
            <a:ext cx="4095750" cy="285750"/>
          </a:xfrm>
          <a:prstGeom prst="rect">
            <a:avLst/>
          </a:prstGeom>
          <a:noFill/>
          <a:ln w="0">
            <a:noFill/>
          </a:ln>
        </p:spPr>
        <p:txBody>
          <a:bodyPr anchor="t">
            <a:noAutofit/>
          </a:bodyPr>
          <a:lstStyle/>
          <a:p>
            <a:pPr algn="l">
              <a:defRPr sz="1073" b="0" i="0">
                <a:solidFill>
                  <a:srgbClr val="5A6674"/>
                </a:solidFill>
                <a:latin typeface="Calibri"/>
                <a:ea typeface="Calibri"/>
                <a:cs typeface="Calibri"/>
              </a:defRPr>
            </a:pPr>
            <a:r>
              <a:rPr sz="1400" b="0" i="0">
                <a:solidFill>
                  <a:srgbClr val="5A6674"/>
                </a:solidFill>
                <a:latin typeface="Calibri"/>
                <a:ea typeface="Calibri"/>
                <a:cs typeface="Calibri"/>
              </a:rPr>
              <a:t>Функція виконує одну коротку операцію</a:t>
            </a:r>
          </a:p>
        </p:txBody>
      </p:sp>
      <p:sp>
        <p:nvSpPr>
          <p:cNvPr id="9" name="Rounded Rectangle 8">
            <a:extLst>
              <a:ext uri="{FF2B5EF4-FFF2-40B4-BE49-F238E27FC236}">
                <a16:creationId xmlns:a16="http://schemas.microsoft.com/office/drawing/2014/main" id="{A940421A-AFFD-4713-AE51-3619C9C8541E}"/>
              </a:ext>
            </a:extLst>
          </p:cNvPr>
          <p:cNvSpPr>
            <a:spLocks noGrp="1"/>
          </p:cNvSpPr>
          <p:nvPr/>
        </p:nvSpPr>
        <p:spPr>
          <a:xfrm>
            <a:off x="6238875" y="2533650"/>
            <a:ext cx="5286375" cy="876300"/>
          </a:xfrm>
          <a:prstGeom prst="roundRect">
            <a:avLst>
              <a:gd name="adj" fmla="val 10256"/>
            </a:avLst>
          </a:prstGeom>
          <a:solidFill>
            <a:srgbClr val="FFFFFF"/>
          </a:solidFill>
          <a:ln w="9525">
            <a:solidFill>
              <a:srgbClr val="DDE1E6"/>
            </a:solidFill>
          </a:ln>
        </p:spPr>
        <p:txBody>
          <a:bodyPr/>
          <a:lstStyle/>
          <a:p>
            <a:endParaRPr lang="en-UA"/>
          </a:p>
        </p:txBody>
      </p:sp>
      <p:sp>
        <p:nvSpPr>
          <p:cNvPr id="10" name="Oval 9">
            <a:extLst>
              <a:ext uri="{FF2B5EF4-FFF2-40B4-BE49-F238E27FC236}">
                <a16:creationId xmlns:a16="http://schemas.microsoft.com/office/drawing/2014/main" id="{06DD781D-C967-49ED-8E3B-0E53E3D16D86}"/>
              </a:ext>
            </a:extLst>
          </p:cNvPr>
          <p:cNvSpPr>
            <a:spLocks noGrp="1"/>
          </p:cNvSpPr>
          <p:nvPr/>
        </p:nvSpPr>
        <p:spPr>
          <a:xfrm>
            <a:off x="6429375" y="2695575"/>
            <a:ext cx="419100" cy="419100"/>
          </a:xfrm>
          <a:prstGeom prst="ellipse">
            <a:avLst/>
          </a:prstGeom>
          <a:solidFill>
            <a:srgbClr val="232F3E"/>
          </a:solidFill>
          <a:ln w="0">
            <a:noFill/>
          </a:ln>
        </p:spPr>
        <p:txBody>
          <a:bodyPr/>
          <a:lstStyle/>
          <a:p>
            <a:endParaRPr lang="en-UA"/>
          </a:p>
        </p:txBody>
      </p:sp>
      <p:sp>
        <p:nvSpPr>
          <p:cNvPr id="11" name="Rectangle 10">
            <a:extLst>
              <a:ext uri="{FF2B5EF4-FFF2-40B4-BE49-F238E27FC236}">
                <a16:creationId xmlns:a16="http://schemas.microsoft.com/office/drawing/2014/main" id="{D0DE8CBE-F60A-4C13-A113-1EC7D47600E8}"/>
              </a:ext>
            </a:extLst>
          </p:cNvPr>
          <p:cNvSpPr>
            <a:spLocks noGrp="1"/>
          </p:cNvSpPr>
          <p:nvPr/>
        </p:nvSpPr>
        <p:spPr>
          <a:xfrm>
            <a:off x="6429375" y="2776207"/>
            <a:ext cx="419100" cy="285750"/>
          </a:xfrm>
          <a:prstGeom prst="rect">
            <a:avLst/>
          </a:prstGeom>
          <a:noFill/>
          <a:ln w="0">
            <a:noFill/>
          </a:ln>
        </p:spPr>
        <p:txBody>
          <a:bodyPr anchor="t">
            <a:normAutofit fontScale="96591" lnSpcReduction="10000"/>
          </a:bodyPr>
          <a:lstStyle/>
          <a:p>
            <a:pPr algn="ctr">
              <a:defRPr sz="1320" b="1" i="0">
                <a:solidFill>
                  <a:srgbClr val="FF9900"/>
                </a:solidFill>
                <a:latin typeface="Cambria"/>
                <a:ea typeface="Cambria"/>
                <a:cs typeface="Cambria"/>
              </a:defRPr>
            </a:pPr>
            <a:r>
              <a:rPr sz="1320" b="1" i="0">
                <a:solidFill>
                  <a:srgbClr val="FF9900"/>
                </a:solidFill>
                <a:latin typeface="Cambria"/>
                <a:ea typeface="Cambria"/>
                <a:cs typeface="Cambria"/>
              </a:rPr>
              <a:t>2</a:t>
            </a:r>
          </a:p>
        </p:txBody>
      </p:sp>
      <p:sp>
        <p:nvSpPr>
          <p:cNvPr id="12" name="Rectangle 11">
            <a:extLst>
              <a:ext uri="{FF2B5EF4-FFF2-40B4-BE49-F238E27FC236}">
                <a16:creationId xmlns:a16="http://schemas.microsoft.com/office/drawing/2014/main" id="{5B3B6D69-788F-4CC6-A423-DDEF932B722E}"/>
              </a:ext>
            </a:extLst>
          </p:cNvPr>
          <p:cNvSpPr>
            <a:spLocks noGrp="1"/>
          </p:cNvSpPr>
          <p:nvPr/>
        </p:nvSpPr>
        <p:spPr>
          <a:xfrm>
            <a:off x="7048500" y="2647950"/>
            <a:ext cx="1714500" cy="266700"/>
          </a:xfrm>
          <a:prstGeom prst="rect">
            <a:avLst/>
          </a:prstGeom>
          <a:noFill/>
          <a:ln w="0">
            <a:noFill/>
          </a:ln>
        </p:spPr>
        <p:txBody>
          <a:bodyPr anchor="t">
            <a:noAutofit/>
          </a:bodyPr>
          <a:lstStyle/>
          <a:p>
            <a:pPr algn="l">
              <a:defRPr sz="1320" b="1" i="0">
                <a:solidFill>
                  <a:srgbClr val="16191F"/>
                </a:solidFill>
                <a:latin typeface="Calibri"/>
                <a:ea typeface="Calibri"/>
                <a:cs typeface="Calibri"/>
              </a:defRPr>
            </a:pPr>
            <a:r>
              <a:rPr sz="1600" b="1" i="0">
                <a:solidFill>
                  <a:srgbClr val="16191F"/>
                </a:solidFill>
                <a:latin typeface="Calibri"/>
                <a:ea typeface="Calibri"/>
                <a:cs typeface="Calibri"/>
              </a:rPr>
              <a:t>Подія</a:t>
            </a:r>
          </a:p>
        </p:txBody>
      </p:sp>
      <p:sp>
        <p:nvSpPr>
          <p:cNvPr id="13" name="Rectangle 12">
            <a:extLst>
              <a:ext uri="{FF2B5EF4-FFF2-40B4-BE49-F238E27FC236}">
                <a16:creationId xmlns:a16="http://schemas.microsoft.com/office/drawing/2014/main" id="{84BF70C6-D705-4E10-A2D3-0A300AE51D0D}"/>
              </a:ext>
            </a:extLst>
          </p:cNvPr>
          <p:cNvSpPr>
            <a:spLocks noGrp="1"/>
          </p:cNvSpPr>
          <p:nvPr/>
        </p:nvSpPr>
        <p:spPr>
          <a:xfrm>
            <a:off x="7048500" y="2914650"/>
            <a:ext cx="4095750" cy="285750"/>
          </a:xfrm>
          <a:prstGeom prst="rect">
            <a:avLst/>
          </a:prstGeom>
          <a:noFill/>
          <a:ln w="0">
            <a:noFill/>
          </a:ln>
        </p:spPr>
        <p:txBody>
          <a:bodyPr anchor="t">
            <a:noAutofit/>
          </a:bodyPr>
          <a:lstStyle/>
          <a:p>
            <a:pPr algn="l">
              <a:defRPr sz="1073" b="0" i="0">
                <a:solidFill>
                  <a:srgbClr val="5A6674"/>
                </a:solidFill>
                <a:latin typeface="Calibri"/>
                <a:ea typeface="Calibri"/>
                <a:cs typeface="Calibri"/>
              </a:defRPr>
            </a:pPr>
            <a:r>
              <a:rPr sz="1400" b="0" i="0">
                <a:solidFill>
                  <a:srgbClr val="5A6674"/>
                </a:solidFill>
                <a:latin typeface="Calibri"/>
                <a:ea typeface="Calibri"/>
                <a:cs typeface="Calibri"/>
              </a:rPr>
              <a:t>S3, EventBridge або інший сервіс запускає функцію</a:t>
            </a:r>
          </a:p>
        </p:txBody>
      </p:sp>
      <p:sp>
        <p:nvSpPr>
          <p:cNvPr id="14" name="Rounded Rectangle 13">
            <a:extLst>
              <a:ext uri="{FF2B5EF4-FFF2-40B4-BE49-F238E27FC236}">
                <a16:creationId xmlns:a16="http://schemas.microsoft.com/office/drawing/2014/main" id="{58FC1938-DDBD-469A-8E4C-6E89D3590D20}"/>
              </a:ext>
            </a:extLst>
          </p:cNvPr>
          <p:cNvSpPr>
            <a:spLocks noGrp="1"/>
          </p:cNvSpPr>
          <p:nvPr/>
        </p:nvSpPr>
        <p:spPr>
          <a:xfrm>
            <a:off x="6238875" y="3486149"/>
            <a:ext cx="5286375" cy="909307"/>
          </a:xfrm>
          <a:prstGeom prst="roundRect">
            <a:avLst>
              <a:gd name="adj" fmla="val 10256"/>
            </a:avLst>
          </a:prstGeom>
          <a:solidFill>
            <a:srgbClr val="FFFFFF"/>
          </a:solidFill>
          <a:ln w="9525">
            <a:solidFill>
              <a:srgbClr val="DDE1E6"/>
            </a:solidFill>
          </a:ln>
        </p:spPr>
        <p:txBody>
          <a:bodyPr/>
          <a:lstStyle/>
          <a:p>
            <a:endParaRPr lang="en-UA"/>
          </a:p>
        </p:txBody>
      </p:sp>
      <p:sp>
        <p:nvSpPr>
          <p:cNvPr id="15" name="Oval 14">
            <a:extLst>
              <a:ext uri="{FF2B5EF4-FFF2-40B4-BE49-F238E27FC236}">
                <a16:creationId xmlns:a16="http://schemas.microsoft.com/office/drawing/2014/main" id="{25C82765-D3AE-4E26-9330-A25CFED65550}"/>
              </a:ext>
            </a:extLst>
          </p:cNvPr>
          <p:cNvSpPr>
            <a:spLocks noGrp="1"/>
          </p:cNvSpPr>
          <p:nvPr/>
        </p:nvSpPr>
        <p:spPr>
          <a:xfrm>
            <a:off x="6429375" y="3648075"/>
            <a:ext cx="419100" cy="419100"/>
          </a:xfrm>
          <a:prstGeom prst="ellipse">
            <a:avLst/>
          </a:prstGeom>
          <a:solidFill>
            <a:srgbClr val="232F3E"/>
          </a:solidFill>
          <a:ln w="0">
            <a:noFill/>
          </a:ln>
        </p:spPr>
        <p:txBody>
          <a:bodyPr/>
          <a:lstStyle/>
          <a:p>
            <a:endParaRPr lang="en-UA"/>
          </a:p>
        </p:txBody>
      </p:sp>
      <p:sp>
        <p:nvSpPr>
          <p:cNvPr id="16" name="Rectangle 15">
            <a:extLst>
              <a:ext uri="{FF2B5EF4-FFF2-40B4-BE49-F238E27FC236}">
                <a16:creationId xmlns:a16="http://schemas.microsoft.com/office/drawing/2014/main" id="{524C522C-641F-47BD-BF76-B8A6FFCA16E8}"/>
              </a:ext>
            </a:extLst>
          </p:cNvPr>
          <p:cNvSpPr>
            <a:spLocks noGrp="1"/>
          </p:cNvSpPr>
          <p:nvPr/>
        </p:nvSpPr>
        <p:spPr>
          <a:xfrm>
            <a:off x="6429375" y="3728707"/>
            <a:ext cx="419100" cy="285750"/>
          </a:xfrm>
          <a:prstGeom prst="rect">
            <a:avLst/>
          </a:prstGeom>
          <a:noFill/>
          <a:ln w="0">
            <a:noFill/>
          </a:ln>
        </p:spPr>
        <p:txBody>
          <a:bodyPr anchor="t">
            <a:normAutofit fontScale="96591" lnSpcReduction="10000"/>
          </a:bodyPr>
          <a:lstStyle/>
          <a:p>
            <a:pPr algn="ctr">
              <a:defRPr sz="1320" b="1" i="0">
                <a:solidFill>
                  <a:srgbClr val="FF9900"/>
                </a:solidFill>
                <a:latin typeface="Cambria"/>
                <a:ea typeface="Cambria"/>
                <a:cs typeface="Cambria"/>
              </a:defRPr>
            </a:pPr>
            <a:r>
              <a:rPr sz="1320" b="1" i="0">
                <a:solidFill>
                  <a:srgbClr val="FF9900"/>
                </a:solidFill>
                <a:latin typeface="Cambria"/>
                <a:ea typeface="Cambria"/>
                <a:cs typeface="Cambria"/>
              </a:rPr>
              <a:t>3</a:t>
            </a:r>
          </a:p>
        </p:txBody>
      </p:sp>
      <p:sp>
        <p:nvSpPr>
          <p:cNvPr id="17" name="Rectangle 16">
            <a:extLst>
              <a:ext uri="{FF2B5EF4-FFF2-40B4-BE49-F238E27FC236}">
                <a16:creationId xmlns:a16="http://schemas.microsoft.com/office/drawing/2014/main" id="{222EF509-734B-415D-B8B8-397508E779AA}"/>
              </a:ext>
            </a:extLst>
          </p:cNvPr>
          <p:cNvSpPr>
            <a:spLocks noGrp="1"/>
          </p:cNvSpPr>
          <p:nvPr/>
        </p:nvSpPr>
        <p:spPr>
          <a:xfrm>
            <a:off x="7048500" y="3600450"/>
            <a:ext cx="1714500" cy="266700"/>
          </a:xfrm>
          <a:prstGeom prst="rect">
            <a:avLst/>
          </a:prstGeom>
          <a:noFill/>
          <a:ln w="0">
            <a:noFill/>
          </a:ln>
        </p:spPr>
        <p:txBody>
          <a:bodyPr anchor="t">
            <a:noAutofit/>
          </a:bodyPr>
          <a:lstStyle/>
          <a:p>
            <a:pPr algn="l">
              <a:defRPr sz="1320" b="1" i="0">
                <a:solidFill>
                  <a:srgbClr val="16191F"/>
                </a:solidFill>
                <a:latin typeface="Calibri"/>
                <a:ea typeface="Calibri"/>
                <a:cs typeface="Calibri"/>
              </a:defRPr>
            </a:pPr>
            <a:r>
              <a:rPr sz="1600" b="1" i="0">
                <a:solidFill>
                  <a:srgbClr val="16191F"/>
                </a:solidFill>
                <a:latin typeface="Calibri"/>
                <a:ea typeface="Calibri"/>
                <a:cs typeface="Calibri"/>
              </a:rPr>
              <a:t>Масштаб</a:t>
            </a:r>
          </a:p>
        </p:txBody>
      </p:sp>
      <p:sp>
        <p:nvSpPr>
          <p:cNvPr id="18" name="Rectangle 17">
            <a:extLst>
              <a:ext uri="{FF2B5EF4-FFF2-40B4-BE49-F238E27FC236}">
                <a16:creationId xmlns:a16="http://schemas.microsoft.com/office/drawing/2014/main" id="{2F71D06B-18BF-4973-A438-1CCB5087A43B}"/>
              </a:ext>
            </a:extLst>
          </p:cNvPr>
          <p:cNvSpPr>
            <a:spLocks noGrp="1"/>
          </p:cNvSpPr>
          <p:nvPr/>
        </p:nvSpPr>
        <p:spPr>
          <a:xfrm>
            <a:off x="7048500" y="3867150"/>
            <a:ext cx="4095750" cy="285750"/>
          </a:xfrm>
          <a:prstGeom prst="rect">
            <a:avLst/>
          </a:prstGeom>
          <a:noFill/>
          <a:ln w="0">
            <a:noFill/>
          </a:ln>
        </p:spPr>
        <p:txBody>
          <a:bodyPr anchor="t">
            <a:noAutofit/>
          </a:bodyPr>
          <a:lstStyle/>
          <a:p>
            <a:pPr algn="l">
              <a:defRPr sz="1073" b="0" i="0">
                <a:solidFill>
                  <a:srgbClr val="5A6674"/>
                </a:solidFill>
                <a:latin typeface="Calibri"/>
                <a:ea typeface="Calibri"/>
                <a:cs typeface="Calibri"/>
              </a:defRPr>
            </a:pPr>
            <a:r>
              <a:rPr sz="1400" b="0" i="0">
                <a:solidFill>
                  <a:srgbClr val="5A6674"/>
                </a:solidFill>
                <a:latin typeface="Calibri"/>
                <a:ea typeface="Calibri"/>
                <a:cs typeface="Calibri"/>
              </a:rPr>
              <a:t>Lambda створює потрібну кількість паралельних виконань</a:t>
            </a:r>
          </a:p>
        </p:txBody>
      </p:sp>
      <p:sp>
        <p:nvSpPr>
          <p:cNvPr id="19" name="Rounded Rectangle 18">
            <a:extLst>
              <a:ext uri="{FF2B5EF4-FFF2-40B4-BE49-F238E27FC236}">
                <a16:creationId xmlns:a16="http://schemas.microsoft.com/office/drawing/2014/main" id="{48C43ECD-2716-4BBA-8341-71EF8633A0C3}"/>
              </a:ext>
            </a:extLst>
          </p:cNvPr>
          <p:cNvSpPr>
            <a:spLocks noGrp="1"/>
          </p:cNvSpPr>
          <p:nvPr/>
        </p:nvSpPr>
        <p:spPr>
          <a:xfrm>
            <a:off x="6238875" y="4438650"/>
            <a:ext cx="5286375" cy="742950"/>
          </a:xfrm>
          <a:prstGeom prst="roundRect">
            <a:avLst>
              <a:gd name="adj" fmla="val 10256"/>
            </a:avLst>
          </a:prstGeom>
          <a:solidFill>
            <a:srgbClr val="FFFFFF"/>
          </a:solidFill>
          <a:ln w="9525">
            <a:solidFill>
              <a:srgbClr val="DDE1E6"/>
            </a:solidFill>
          </a:ln>
        </p:spPr>
        <p:txBody>
          <a:bodyPr/>
          <a:lstStyle/>
          <a:p>
            <a:endParaRPr lang="en-UA"/>
          </a:p>
        </p:txBody>
      </p:sp>
      <p:sp>
        <p:nvSpPr>
          <p:cNvPr id="20" name="Oval 19">
            <a:extLst>
              <a:ext uri="{FF2B5EF4-FFF2-40B4-BE49-F238E27FC236}">
                <a16:creationId xmlns:a16="http://schemas.microsoft.com/office/drawing/2014/main" id="{AF7F5D32-CBAB-4803-A821-35CF7310A238}"/>
              </a:ext>
            </a:extLst>
          </p:cNvPr>
          <p:cNvSpPr>
            <a:spLocks noGrp="1"/>
          </p:cNvSpPr>
          <p:nvPr/>
        </p:nvSpPr>
        <p:spPr>
          <a:xfrm>
            <a:off x="6429375" y="4643107"/>
            <a:ext cx="419100" cy="419100"/>
          </a:xfrm>
          <a:prstGeom prst="ellipse">
            <a:avLst/>
          </a:prstGeom>
          <a:solidFill>
            <a:srgbClr val="232F3E"/>
          </a:solidFill>
          <a:ln w="0">
            <a:noFill/>
          </a:ln>
        </p:spPr>
        <p:txBody>
          <a:bodyPr/>
          <a:lstStyle/>
          <a:p>
            <a:endParaRPr lang="en-UA"/>
          </a:p>
        </p:txBody>
      </p:sp>
      <p:sp>
        <p:nvSpPr>
          <p:cNvPr id="21" name="Rectangle 20">
            <a:extLst>
              <a:ext uri="{FF2B5EF4-FFF2-40B4-BE49-F238E27FC236}">
                <a16:creationId xmlns:a16="http://schemas.microsoft.com/office/drawing/2014/main" id="{7898D27B-9BAB-4060-B1D1-79B7516B217F}"/>
              </a:ext>
            </a:extLst>
          </p:cNvPr>
          <p:cNvSpPr>
            <a:spLocks noGrp="1"/>
          </p:cNvSpPr>
          <p:nvPr/>
        </p:nvSpPr>
        <p:spPr>
          <a:xfrm>
            <a:off x="6429375" y="4702473"/>
            <a:ext cx="419100" cy="285750"/>
          </a:xfrm>
          <a:prstGeom prst="rect">
            <a:avLst/>
          </a:prstGeom>
          <a:noFill/>
          <a:ln w="0">
            <a:noFill/>
          </a:ln>
        </p:spPr>
        <p:txBody>
          <a:bodyPr anchor="t">
            <a:normAutofit fontScale="96591" lnSpcReduction="10000"/>
          </a:bodyPr>
          <a:lstStyle/>
          <a:p>
            <a:pPr algn="ctr">
              <a:defRPr sz="1320" b="1" i="0">
                <a:solidFill>
                  <a:srgbClr val="FF9900"/>
                </a:solidFill>
                <a:latin typeface="Cambria"/>
                <a:ea typeface="Cambria"/>
                <a:cs typeface="Cambria"/>
              </a:defRPr>
            </a:pPr>
            <a:r>
              <a:rPr sz="1320" b="1" i="0">
                <a:solidFill>
                  <a:srgbClr val="FF9900"/>
                </a:solidFill>
                <a:latin typeface="Cambria"/>
                <a:ea typeface="Cambria"/>
                <a:cs typeface="Cambria"/>
              </a:rPr>
              <a:t>4</a:t>
            </a:r>
          </a:p>
        </p:txBody>
      </p:sp>
      <p:sp>
        <p:nvSpPr>
          <p:cNvPr id="22" name="Rectangle 21">
            <a:extLst>
              <a:ext uri="{FF2B5EF4-FFF2-40B4-BE49-F238E27FC236}">
                <a16:creationId xmlns:a16="http://schemas.microsoft.com/office/drawing/2014/main" id="{8FB8F180-51C9-491A-9C89-1EE3BE32E015}"/>
              </a:ext>
            </a:extLst>
          </p:cNvPr>
          <p:cNvSpPr>
            <a:spLocks noGrp="1"/>
          </p:cNvSpPr>
          <p:nvPr/>
        </p:nvSpPr>
        <p:spPr>
          <a:xfrm>
            <a:off x="7048500" y="4552950"/>
            <a:ext cx="1714500" cy="266700"/>
          </a:xfrm>
          <a:prstGeom prst="rect">
            <a:avLst/>
          </a:prstGeom>
          <a:noFill/>
          <a:ln w="0">
            <a:noFill/>
          </a:ln>
        </p:spPr>
        <p:txBody>
          <a:bodyPr anchor="t">
            <a:noAutofit/>
          </a:bodyPr>
          <a:lstStyle/>
          <a:p>
            <a:pPr algn="l">
              <a:defRPr sz="1320" b="1" i="0">
                <a:solidFill>
                  <a:srgbClr val="16191F"/>
                </a:solidFill>
                <a:latin typeface="Calibri"/>
                <a:ea typeface="Calibri"/>
                <a:cs typeface="Calibri"/>
              </a:defRPr>
            </a:pPr>
            <a:r>
              <a:rPr sz="1600" b="1" i="0">
                <a:solidFill>
                  <a:srgbClr val="16191F"/>
                </a:solidFill>
                <a:latin typeface="Calibri"/>
                <a:ea typeface="Calibri"/>
                <a:cs typeface="Calibri"/>
              </a:rPr>
              <a:t>Оплата</a:t>
            </a:r>
          </a:p>
        </p:txBody>
      </p:sp>
      <p:sp>
        <p:nvSpPr>
          <p:cNvPr id="23" name="Rectangle 22">
            <a:extLst>
              <a:ext uri="{FF2B5EF4-FFF2-40B4-BE49-F238E27FC236}">
                <a16:creationId xmlns:a16="http://schemas.microsoft.com/office/drawing/2014/main" id="{66BD652C-E335-4579-BFB5-E6081038C618}"/>
              </a:ext>
            </a:extLst>
          </p:cNvPr>
          <p:cNvSpPr>
            <a:spLocks noGrp="1"/>
          </p:cNvSpPr>
          <p:nvPr/>
        </p:nvSpPr>
        <p:spPr>
          <a:xfrm>
            <a:off x="7048500" y="4819650"/>
            <a:ext cx="4095750" cy="285750"/>
          </a:xfrm>
          <a:prstGeom prst="rect">
            <a:avLst/>
          </a:prstGeom>
          <a:noFill/>
          <a:ln w="0">
            <a:noFill/>
          </a:ln>
        </p:spPr>
        <p:txBody>
          <a:bodyPr anchor="t">
            <a:normAutofit fontScale="92500" lnSpcReduction="10000"/>
          </a:bodyPr>
          <a:lstStyle/>
          <a:p>
            <a:pPr algn="l">
              <a:defRPr sz="1073" b="0" i="0">
                <a:solidFill>
                  <a:srgbClr val="5A6674"/>
                </a:solidFill>
                <a:latin typeface="Calibri"/>
                <a:ea typeface="Calibri"/>
                <a:cs typeface="Calibri"/>
              </a:defRPr>
            </a:pPr>
            <a:r>
              <a:rPr sz="1400" b="0" i="0">
                <a:solidFill>
                  <a:srgbClr val="5A6674"/>
                </a:solidFill>
                <a:latin typeface="Calibri"/>
                <a:ea typeface="Calibri"/>
                <a:cs typeface="Calibri"/>
              </a:rPr>
              <a:t>Вартість залежить від викликів і часу виконання</a:t>
            </a:r>
          </a:p>
        </p:txBody>
      </p:sp>
      <p:sp>
        <p:nvSpPr>
          <p:cNvPr id="24" name="Rectangle 23">
            <a:extLst>
              <a:ext uri="{FF2B5EF4-FFF2-40B4-BE49-F238E27FC236}">
                <a16:creationId xmlns:a16="http://schemas.microsoft.com/office/drawing/2014/main" id="{3140097F-AD86-49C3-8EDF-AAFFA5232592}"/>
              </a:ext>
            </a:extLst>
          </p:cNvPr>
          <p:cNvSpPr>
            <a:spLocks noGrp="1"/>
          </p:cNvSpPr>
          <p:nvPr/>
        </p:nvSpPr>
        <p:spPr>
          <a:xfrm>
            <a:off x="457200" y="6515100"/>
            <a:ext cx="5715000" cy="209550"/>
          </a:xfrm>
          <a:prstGeom prst="rect">
            <a:avLst/>
          </a:prstGeom>
          <a:noFill/>
          <a:ln w="0">
            <a:noFill/>
          </a:ln>
        </p:spPr>
        <p:txBody>
          <a:bodyPr anchor="t">
            <a:normAutofit fontScale="93939" lnSpcReduction="10000"/>
          </a:bodyPr>
          <a:lstStyle/>
          <a:p>
            <a:pPr algn="l">
              <a:defRPr sz="825" b="0" i="0">
                <a:solidFill>
                  <a:srgbClr val="5A6674"/>
                </a:solidFill>
                <a:latin typeface="Calibri"/>
                <a:ea typeface="Calibri"/>
                <a:cs typeface="Calibri"/>
              </a:defRPr>
            </a:pPr>
            <a:r>
              <a:rPr sz="825" b="0" i="0">
                <a:solidFill>
                  <a:srgbClr val="5A6674"/>
                </a:solidFill>
                <a:latin typeface="Calibri"/>
                <a:ea typeface="Calibri"/>
                <a:cs typeface="Calibri"/>
              </a:rPr>
              <a:t>Serverless та AWS Lambda</a:t>
            </a:r>
          </a:p>
        </p:txBody>
      </p:sp>
      <p:sp>
        <p:nvSpPr>
          <p:cNvPr id="25" name="Rectangle 24">
            <a:extLst>
              <a:ext uri="{FF2B5EF4-FFF2-40B4-BE49-F238E27FC236}">
                <a16:creationId xmlns:a16="http://schemas.microsoft.com/office/drawing/2014/main" id="{5458E248-ED65-4B0B-B51B-565D97087DB5}"/>
              </a:ext>
            </a:extLst>
          </p:cNvPr>
          <p:cNvSpPr>
            <a:spLocks noGrp="1"/>
          </p:cNvSpPr>
          <p:nvPr/>
        </p:nvSpPr>
        <p:spPr>
          <a:xfrm>
            <a:off x="11239500" y="6515100"/>
            <a:ext cx="476250" cy="209550"/>
          </a:xfrm>
          <a:prstGeom prst="rect">
            <a:avLst/>
          </a:prstGeom>
          <a:noFill/>
          <a:ln w="0">
            <a:noFill/>
          </a:ln>
        </p:spPr>
        <p:txBody>
          <a:bodyPr anchor="t">
            <a:normAutofit fontScale="93939" lnSpcReduction="10000"/>
          </a:bodyPr>
          <a:lstStyle/>
          <a:p>
            <a:pPr algn="r">
              <a:defRPr sz="825" b="0" i="0">
                <a:solidFill>
                  <a:srgbClr val="5A6674"/>
                </a:solidFill>
                <a:latin typeface="Calibri"/>
                <a:ea typeface="Calibri"/>
                <a:cs typeface="Calibri"/>
              </a:defRPr>
            </a:pPr>
            <a:r>
              <a:rPr sz="825" b="0" i="0">
                <a:solidFill>
                  <a:srgbClr val="5A6674"/>
                </a:solidFill>
                <a:latin typeface="Calibri"/>
                <a:ea typeface="Calibri"/>
                <a:cs typeface="Calibri"/>
              </a:rPr>
              <a:t>2</a:t>
            </a:r>
          </a:p>
        </p:txBody>
      </p:sp>
    </p:spTree>
    <p:extLst>
      <p:ext uri="{BB962C8B-B14F-4D97-AF65-F5344CB8AC3E}">
        <p14:creationId xmlns:p14="http://schemas.microsoft.com/office/powerpoint/2010/main" val="12939816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3F3"/>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FBED2263-3657-4C21-8660-F4BC0CE55FEA}"/>
              </a:ext>
            </a:extLst>
          </p:cNvPr>
          <p:cNvSpPr>
            <a:spLocks noGrp="1"/>
          </p:cNvSpPr>
          <p:nvPr/>
        </p:nvSpPr>
        <p:spPr>
          <a:xfrm>
            <a:off x="538162" y="357188"/>
            <a:ext cx="11049000" cy="666750"/>
          </a:xfrm>
          <a:prstGeom prst="rect">
            <a:avLst/>
          </a:prstGeom>
          <a:noFill/>
          <a:ln w="0">
            <a:noFill/>
          </a:ln>
        </p:spPr>
        <p:txBody>
          <a:bodyPr anchor="t">
            <a:normAutofit/>
          </a:bodyPr>
          <a:lstStyle/>
          <a:p>
            <a:pPr algn="l">
              <a:defRPr sz="2805" b="1" i="0">
                <a:solidFill>
                  <a:srgbClr val="16191F"/>
                </a:solidFill>
                <a:latin typeface="Cambria"/>
                <a:ea typeface="Cambria"/>
                <a:cs typeface="Cambria"/>
              </a:defRPr>
            </a:pPr>
            <a:r>
              <a:rPr sz="3600" b="1" i="0" dirty="0">
                <a:solidFill>
                  <a:srgbClr val="16191F"/>
                </a:solidFill>
                <a:latin typeface="Cambria"/>
                <a:ea typeface="Cambria"/>
                <a:cs typeface="Cambria"/>
              </a:rPr>
              <a:t>Життєвий </a:t>
            </a:r>
            <a:r>
              <a:rPr sz="3600" b="1" i="0" dirty="0" err="1">
                <a:solidFill>
                  <a:srgbClr val="16191F"/>
                </a:solidFill>
                <a:latin typeface="Cambria"/>
                <a:ea typeface="Cambria"/>
                <a:cs typeface="Cambria"/>
              </a:rPr>
              <a:t>цикл</a:t>
            </a:r>
            <a:r>
              <a:rPr sz="3600" b="1" i="0" dirty="0">
                <a:solidFill>
                  <a:srgbClr val="16191F"/>
                </a:solidFill>
                <a:latin typeface="Cambria"/>
                <a:ea typeface="Cambria"/>
                <a:cs typeface="Cambria"/>
              </a:rPr>
              <a:t> </a:t>
            </a:r>
            <a:r>
              <a:rPr sz="3600" b="1" i="0" dirty="0" err="1">
                <a:solidFill>
                  <a:srgbClr val="16191F"/>
                </a:solidFill>
                <a:latin typeface="Cambria"/>
                <a:ea typeface="Cambria"/>
                <a:cs typeface="Cambria"/>
              </a:rPr>
              <a:t>виклику</a:t>
            </a:r>
            <a:r>
              <a:rPr sz="3600" b="1" i="0" dirty="0">
                <a:solidFill>
                  <a:srgbClr val="16191F"/>
                </a:solidFill>
                <a:latin typeface="Cambria"/>
                <a:ea typeface="Cambria"/>
                <a:cs typeface="Cambria"/>
              </a:rPr>
              <a:t> AWS Lambda</a:t>
            </a:r>
          </a:p>
        </p:txBody>
      </p:sp>
      <p:sp>
        <p:nvSpPr>
          <p:cNvPr id="2" name="Rectangle 1">
            <a:extLst>
              <a:ext uri="{FF2B5EF4-FFF2-40B4-BE49-F238E27FC236}">
                <a16:creationId xmlns:a16="http://schemas.microsoft.com/office/drawing/2014/main" id="{8A5418D4-3E97-4BFB-945A-0FFC2673948B}"/>
              </a:ext>
            </a:extLst>
          </p:cNvPr>
          <p:cNvSpPr>
            <a:spLocks noGrp="1"/>
          </p:cNvSpPr>
          <p:nvPr/>
        </p:nvSpPr>
        <p:spPr>
          <a:xfrm>
            <a:off x="538162" y="1402557"/>
            <a:ext cx="10477500" cy="400050"/>
          </a:xfrm>
          <a:prstGeom prst="rect">
            <a:avLst/>
          </a:prstGeom>
          <a:noFill/>
          <a:ln w="0">
            <a:noFill/>
          </a:ln>
        </p:spPr>
        <p:txBody>
          <a:bodyPr anchor="t">
            <a:normAutofit/>
          </a:bodyPr>
          <a:lstStyle/>
          <a:p>
            <a:pPr algn="l">
              <a:defRPr sz="1403" b="0" i="1">
                <a:solidFill>
                  <a:srgbClr val="5A6674"/>
                </a:solidFill>
                <a:latin typeface="Calibri"/>
                <a:ea typeface="Calibri"/>
                <a:cs typeface="Calibri"/>
              </a:defRPr>
            </a:pPr>
            <a:r>
              <a:rPr sz="1600" b="0" i="1" dirty="0" err="1">
                <a:solidFill>
                  <a:srgbClr val="5A6674"/>
                </a:solidFill>
                <a:latin typeface="Calibri"/>
                <a:ea typeface="Calibri"/>
                <a:cs typeface="Calibri"/>
              </a:rPr>
              <a:t>Кожний</a:t>
            </a:r>
            <a:r>
              <a:rPr sz="1600" b="0" i="1" dirty="0">
                <a:solidFill>
                  <a:srgbClr val="5A6674"/>
                </a:solidFill>
                <a:latin typeface="Calibri"/>
                <a:ea typeface="Calibri"/>
                <a:cs typeface="Calibri"/>
              </a:rPr>
              <a:t> </a:t>
            </a:r>
            <a:r>
              <a:rPr sz="1600" b="0" i="1" dirty="0" err="1">
                <a:solidFill>
                  <a:srgbClr val="5A6674"/>
                </a:solidFill>
                <a:latin typeface="Calibri"/>
                <a:ea typeface="Calibri"/>
                <a:cs typeface="Calibri"/>
              </a:rPr>
              <a:t>виклик</a:t>
            </a:r>
            <a:r>
              <a:rPr sz="1600" b="0" i="1" dirty="0">
                <a:solidFill>
                  <a:srgbClr val="5A6674"/>
                </a:solidFill>
                <a:latin typeface="Calibri"/>
                <a:ea typeface="Calibri"/>
                <a:cs typeface="Calibri"/>
              </a:rPr>
              <a:t> </a:t>
            </a:r>
            <a:r>
              <a:rPr sz="1600" b="0" i="1" dirty="0" err="1">
                <a:solidFill>
                  <a:srgbClr val="5A6674"/>
                </a:solidFill>
                <a:latin typeface="Calibri"/>
                <a:ea typeface="Calibri"/>
                <a:cs typeface="Calibri"/>
              </a:rPr>
              <a:t>починається</a:t>
            </a:r>
            <a:r>
              <a:rPr sz="1600" b="0" i="1" dirty="0">
                <a:solidFill>
                  <a:srgbClr val="5A6674"/>
                </a:solidFill>
                <a:latin typeface="Calibri"/>
                <a:ea typeface="Calibri"/>
                <a:cs typeface="Calibri"/>
              </a:rPr>
              <a:t> </a:t>
            </a:r>
            <a:r>
              <a:rPr sz="1600" b="0" i="1" dirty="0" err="1">
                <a:solidFill>
                  <a:srgbClr val="5A6674"/>
                </a:solidFill>
                <a:latin typeface="Calibri"/>
                <a:ea typeface="Calibri"/>
                <a:cs typeface="Calibri"/>
              </a:rPr>
              <a:t>з</a:t>
            </a:r>
            <a:r>
              <a:rPr sz="1600" b="0" i="1" dirty="0">
                <a:solidFill>
                  <a:srgbClr val="5A6674"/>
                </a:solidFill>
                <a:latin typeface="Calibri"/>
                <a:ea typeface="Calibri"/>
                <a:cs typeface="Calibri"/>
              </a:rPr>
              <a:t> </a:t>
            </a:r>
            <a:r>
              <a:rPr sz="1600" b="0" i="1" dirty="0" err="1">
                <a:solidFill>
                  <a:srgbClr val="5A6674"/>
                </a:solidFill>
                <a:latin typeface="Calibri"/>
                <a:ea typeface="Calibri"/>
                <a:cs typeface="Calibri"/>
              </a:rPr>
              <a:t>події</a:t>
            </a:r>
            <a:r>
              <a:rPr sz="1600" b="0" i="1" dirty="0">
                <a:solidFill>
                  <a:srgbClr val="5A6674"/>
                </a:solidFill>
                <a:latin typeface="Calibri"/>
                <a:ea typeface="Calibri"/>
                <a:cs typeface="Calibri"/>
              </a:rPr>
              <a:t> та </a:t>
            </a:r>
            <a:r>
              <a:rPr sz="1600" b="0" i="1" dirty="0" err="1">
                <a:solidFill>
                  <a:srgbClr val="5A6674"/>
                </a:solidFill>
                <a:latin typeface="Calibri"/>
                <a:ea typeface="Calibri"/>
                <a:cs typeface="Calibri"/>
              </a:rPr>
              <a:t>завершується</a:t>
            </a:r>
            <a:r>
              <a:rPr sz="1600" b="0" i="1" dirty="0">
                <a:solidFill>
                  <a:srgbClr val="5A6674"/>
                </a:solidFill>
                <a:latin typeface="Calibri"/>
                <a:ea typeface="Calibri"/>
                <a:cs typeface="Calibri"/>
              </a:rPr>
              <a:t> </a:t>
            </a:r>
            <a:r>
              <a:rPr sz="1600" b="0" i="1" dirty="0" err="1">
                <a:solidFill>
                  <a:srgbClr val="5A6674"/>
                </a:solidFill>
                <a:latin typeface="Calibri"/>
                <a:ea typeface="Calibri"/>
                <a:cs typeface="Calibri"/>
              </a:rPr>
              <a:t>результатом</a:t>
            </a:r>
            <a:r>
              <a:rPr sz="1600" b="0" i="1" dirty="0">
                <a:solidFill>
                  <a:srgbClr val="5A6674"/>
                </a:solidFill>
                <a:latin typeface="Calibri"/>
                <a:ea typeface="Calibri"/>
                <a:cs typeface="Calibri"/>
              </a:rPr>
              <a:t> </a:t>
            </a:r>
            <a:r>
              <a:rPr sz="1600" b="0" i="1" dirty="0" err="1">
                <a:solidFill>
                  <a:srgbClr val="5A6674"/>
                </a:solidFill>
                <a:latin typeface="Calibri"/>
                <a:ea typeface="Calibri"/>
                <a:cs typeface="Calibri"/>
              </a:rPr>
              <a:t>або</a:t>
            </a:r>
            <a:r>
              <a:rPr sz="1600" b="0" i="1" dirty="0">
                <a:solidFill>
                  <a:srgbClr val="5A6674"/>
                </a:solidFill>
                <a:latin typeface="Calibri"/>
                <a:ea typeface="Calibri"/>
                <a:cs typeface="Calibri"/>
              </a:rPr>
              <a:t> </a:t>
            </a:r>
            <a:r>
              <a:rPr sz="1600" b="0" i="1" dirty="0" err="1">
                <a:solidFill>
                  <a:srgbClr val="5A6674"/>
                </a:solidFill>
                <a:latin typeface="Calibri"/>
                <a:ea typeface="Calibri"/>
                <a:cs typeface="Calibri"/>
              </a:rPr>
              <a:t>помилкою</a:t>
            </a:r>
            <a:r>
              <a:rPr sz="1600" b="0" i="1" dirty="0">
                <a:solidFill>
                  <a:srgbClr val="5A6674"/>
                </a:solidFill>
                <a:latin typeface="Calibri"/>
                <a:ea typeface="Calibri"/>
                <a:cs typeface="Calibri"/>
              </a:rPr>
              <a:t>, </a:t>
            </a:r>
            <a:r>
              <a:rPr sz="1600" b="0" i="1" dirty="0" err="1">
                <a:solidFill>
                  <a:srgbClr val="5A6674"/>
                </a:solidFill>
                <a:latin typeface="Calibri"/>
                <a:ea typeface="Calibri"/>
                <a:cs typeface="Calibri"/>
              </a:rPr>
              <a:t>яку</a:t>
            </a:r>
            <a:r>
              <a:rPr sz="1600" b="0" i="1" dirty="0">
                <a:solidFill>
                  <a:srgbClr val="5A6674"/>
                </a:solidFill>
                <a:latin typeface="Calibri"/>
                <a:ea typeface="Calibri"/>
                <a:cs typeface="Calibri"/>
              </a:rPr>
              <a:t> </a:t>
            </a:r>
            <a:r>
              <a:rPr sz="1600" b="0" i="1" dirty="0" err="1">
                <a:solidFill>
                  <a:srgbClr val="5A6674"/>
                </a:solidFill>
                <a:latin typeface="Calibri"/>
                <a:ea typeface="Calibri"/>
                <a:cs typeface="Calibri"/>
              </a:rPr>
              <a:t>можна</a:t>
            </a:r>
            <a:r>
              <a:rPr sz="1600" b="0" i="1" dirty="0">
                <a:solidFill>
                  <a:srgbClr val="5A6674"/>
                </a:solidFill>
                <a:latin typeface="Calibri"/>
                <a:ea typeface="Calibri"/>
                <a:cs typeface="Calibri"/>
              </a:rPr>
              <a:t> </a:t>
            </a:r>
            <a:r>
              <a:rPr sz="1600" b="0" i="1" dirty="0" err="1">
                <a:solidFill>
                  <a:srgbClr val="5A6674"/>
                </a:solidFill>
                <a:latin typeface="Calibri"/>
                <a:ea typeface="Calibri"/>
                <a:cs typeface="Calibri"/>
              </a:rPr>
              <a:t>дослідити</a:t>
            </a:r>
            <a:r>
              <a:rPr sz="1600" b="0" i="1" dirty="0">
                <a:solidFill>
                  <a:srgbClr val="5A6674"/>
                </a:solidFill>
                <a:latin typeface="Calibri"/>
                <a:ea typeface="Calibri"/>
                <a:cs typeface="Calibri"/>
              </a:rPr>
              <a:t> </a:t>
            </a:r>
            <a:r>
              <a:rPr sz="1600" b="0" i="1" dirty="0" err="1">
                <a:solidFill>
                  <a:srgbClr val="5A6674"/>
                </a:solidFill>
                <a:latin typeface="Calibri"/>
                <a:ea typeface="Calibri"/>
                <a:cs typeface="Calibri"/>
              </a:rPr>
              <a:t>в</a:t>
            </a:r>
            <a:r>
              <a:rPr sz="1600" b="0" i="1" dirty="0">
                <a:solidFill>
                  <a:srgbClr val="5A6674"/>
                </a:solidFill>
                <a:latin typeface="Calibri"/>
                <a:ea typeface="Calibri"/>
                <a:cs typeface="Calibri"/>
              </a:rPr>
              <a:t> </a:t>
            </a:r>
            <a:r>
              <a:rPr sz="1600" b="0" i="1" dirty="0" err="1">
                <a:solidFill>
                  <a:srgbClr val="5A6674"/>
                </a:solidFill>
                <a:latin typeface="Calibri"/>
                <a:ea typeface="Calibri"/>
                <a:cs typeface="Calibri"/>
              </a:rPr>
              <a:t>логах</a:t>
            </a:r>
            <a:r>
              <a:rPr sz="1600" b="0" i="1" dirty="0">
                <a:solidFill>
                  <a:srgbClr val="5A6674"/>
                </a:solidFill>
                <a:latin typeface="Calibri"/>
                <a:ea typeface="Calibri"/>
                <a:cs typeface="Calibri"/>
              </a:rPr>
              <a:t>.</a:t>
            </a:r>
          </a:p>
        </p:txBody>
      </p:sp>
      <p:sp>
        <p:nvSpPr>
          <p:cNvPr id="3" name="Oval 2">
            <a:extLst>
              <a:ext uri="{FF2B5EF4-FFF2-40B4-BE49-F238E27FC236}">
                <a16:creationId xmlns:a16="http://schemas.microsoft.com/office/drawing/2014/main" id="{38B83AD0-1B0C-4E8D-AA83-EFC65074974F}"/>
              </a:ext>
            </a:extLst>
          </p:cNvPr>
          <p:cNvSpPr>
            <a:spLocks noGrp="1"/>
          </p:cNvSpPr>
          <p:nvPr/>
        </p:nvSpPr>
        <p:spPr>
          <a:xfrm>
            <a:off x="552450" y="2324100"/>
            <a:ext cx="323850" cy="323850"/>
          </a:xfrm>
          <a:prstGeom prst="ellipse">
            <a:avLst/>
          </a:prstGeom>
          <a:solidFill>
            <a:srgbClr val="232F3E"/>
          </a:solidFill>
          <a:ln w="0">
            <a:noFill/>
          </a:ln>
        </p:spPr>
        <p:txBody>
          <a:bodyPr/>
          <a:lstStyle/>
          <a:p>
            <a:endParaRPr lang="en-UA"/>
          </a:p>
        </p:txBody>
      </p:sp>
      <p:sp>
        <p:nvSpPr>
          <p:cNvPr id="4" name="Rectangle 3">
            <a:extLst>
              <a:ext uri="{FF2B5EF4-FFF2-40B4-BE49-F238E27FC236}">
                <a16:creationId xmlns:a16="http://schemas.microsoft.com/office/drawing/2014/main" id="{38865A8B-31E5-453F-AA45-D721FE9D74CF}"/>
              </a:ext>
            </a:extLst>
          </p:cNvPr>
          <p:cNvSpPr>
            <a:spLocks noGrp="1"/>
          </p:cNvSpPr>
          <p:nvPr/>
        </p:nvSpPr>
        <p:spPr>
          <a:xfrm>
            <a:off x="552450" y="2333625"/>
            <a:ext cx="323850" cy="285750"/>
          </a:xfrm>
          <a:prstGeom prst="rect">
            <a:avLst/>
          </a:prstGeom>
          <a:noFill/>
          <a:ln w="0">
            <a:noFill/>
          </a:ln>
        </p:spPr>
        <p:txBody>
          <a:bodyPr anchor="ctr">
            <a:normAutofit fontScale="96591" lnSpcReduction="10000"/>
          </a:bodyPr>
          <a:lstStyle/>
          <a:p>
            <a:pPr algn="ctr">
              <a:defRPr sz="1320" b="1" i="0">
                <a:solidFill>
                  <a:srgbClr val="FF9900"/>
                </a:solidFill>
                <a:latin typeface="Cambria"/>
                <a:ea typeface="Cambria"/>
                <a:cs typeface="Cambria"/>
              </a:defRPr>
            </a:pPr>
            <a:r>
              <a:rPr sz="1320" b="1" i="0" dirty="0">
                <a:solidFill>
                  <a:srgbClr val="FF9900"/>
                </a:solidFill>
                <a:latin typeface="Cambria"/>
                <a:ea typeface="Cambria"/>
                <a:cs typeface="Cambria"/>
              </a:rPr>
              <a:t>1</a:t>
            </a:r>
          </a:p>
        </p:txBody>
      </p:sp>
      <p:sp>
        <p:nvSpPr>
          <p:cNvPr id="5" name="Straight Connector 4">
            <a:extLst>
              <a:ext uri="{FF2B5EF4-FFF2-40B4-BE49-F238E27FC236}">
                <a16:creationId xmlns:a16="http://schemas.microsoft.com/office/drawing/2014/main" id="{FDEF9E3A-9793-4C7A-A7AE-CE5B20F1A94E}"/>
              </a:ext>
            </a:extLst>
          </p:cNvPr>
          <p:cNvSpPr>
            <a:spLocks noGrp="1"/>
          </p:cNvSpPr>
          <p:nvPr/>
        </p:nvSpPr>
        <p:spPr>
          <a:xfrm>
            <a:off x="933450" y="2486025"/>
            <a:ext cx="1790700" cy="0"/>
          </a:xfrm>
          <a:prstGeom prst="line">
            <a:avLst/>
          </a:prstGeom>
          <a:noFill/>
          <a:ln w="28575">
            <a:solidFill>
              <a:srgbClr val="DDE1E6"/>
            </a:solidFill>
          </a:ln>
        </p:spPr>
        <p:txBody>
          <a:bodyPr/>
          <a:lstStyle/>
          <a:p>
            <a:endParaRPr lang="en-UA"/>
          </a:p>
        </p:txBody>
      </p:sp>
      <p:sp>
        <p:nvSpPr>
          <p:cNvPr id="6" name="Rectangle 5">
            <a:extLst>
              <a:ext uri="{FF2B5EF4-FFF2-40B4-BE49-F238E27FC236}">
                <a16:creationId xmlns:a16="http://schemas.microsoft.com/office/drawing/2014/main" id="{317CBBAB-0655-4F4F-8104-AA604C635672}"/>
              </a:ext>
            </a:extLst>
          </p:cNvPr>
          <p:cNvSpPr>
            <a:spLocks noGrp="1"/>
          </p:cNvSpPr>
          <p:nvPr/>
        </p:nvSpPr>
        <p:spPr>
          <a:xfrm>
            <a:off x="552450" y="2857500"/>
            <a:ext cx="1952625" cy="323850"/>
          </a:xfrm>
          <a:prstGeom prst="rect">
            <a:avLst/>
          </a:prstGeom>
          <a:noFill/>
          <a:ln w="0">
            <a:noFill/>
          </a:ln>
        </p:spPr>
        <p:txBody>
          <a:bodyPr anchor="t">
            <a:noAutofit/>
          </a:bodyPr>
          <a:lstStyle/>
          <a:p>
            <a:pPr algn="l">
              <a:defRPr sz="1403" b="1" i="0">
                <a:solidFill>
                  <a:srgbClr val="16191F"/>
                </a:solidFill>
                <a:latin typeface="Calibri"/>
                <a:ea typeface="Calibri"/>
                <a:cs typeface="Calibri"/>
              </a:defRPr>
            </a:pPr>
            <a:r>
              <a:rPr sz="1600" b="1" i="0" dirty="0" err="1">
                <a:solidFill>
                  <a:srgbClr val="16191F"/>
                </a:solidFill>
                <a:latin typeface="Calibri"/>
                <a:ea typeface="Calibri"/>
                <a:cs typeface="Calibri"/>
              </a:rPr>
              <a:t>Подія</a:t>
            </a:r>
            <a:endParaRPr sz="1600" b="1" i="0" dirty="0">
              <a:solidFill>
                <a:srgbClr val="16191F"/>
              </a:solidFill>
              <a:latin typeface="Calibri"/>
              <a:ea typeface="Calibri"/>
              <a:cs typeface="Calibri"/>
            </a:endParaRPr>
          </a:p>
        </p:txBody>
      </p:sp>
      <p:sp>
        <p:nvSpPr>
          <p:cNvPr id="7" name="Rectangle 6">
            <a:extLst>
              <a:ext uri="{FF2B5EF4-FFF2-40B4-BE49-F238E27FC236}">
                <a16:creationId xmlns:a16="http://schemas.microsoft.com/office/drawing/2014/main" id="{2383B552-839A-450D-8EBF-2D7F67C12CC5}"/>
              </a:ext>
            </a:extLst>
          </p:cNvPr>
          <p:cNvSpPr>
            <a:spLocks noGrp="1"/>
          </p:cNvSpPr>
          <p:nvPr/>
        </p:nvSpPr>
        <p:spPr>
          <a:xfrm>
            <a:off x="552450" y="3238500"/>
            <a:ext cx="1952625" cy="819150"/>
          </a:xfrm>
          <a:prstGeom prst="rect">
            <a:avLst/>
          </a:prstGeom>
          <a:noFill/>
          <a:ln w="0">
            <a:noFill/>
          </a:ln>
        </p:spPr>
        <p:txBody>
          <a:bodyPr anchor="t">
            <a:normAutofit/>
          </a:bodyPr>
          <a:lstStyle/>
          <a:p>
            <a:pPr algn="l">
              <a:defRPr sz="1155" b="0" i="0">
                <a:solidFill>
                  <a:srgbClr val="5A6674"/>
                </a:solidFill>
                <a:latin typeface="Calibri"/>
                <a:ea typeface="Calibri"/>
                <a:cs typeface="Calibri"/>
              </a:defRPr>
            </a:pPr>
            <a:r>
              <a:rPr sz="1200" b="0" i="0" dirty="0">
                <a:solidFill>
                  <a:srgbClr val="5A6674"/>
                </a:solidFill>
                <a:latin typeface="Calibri"/>
                <a:ea typeface="Calibri"/>
                <a:cs typeface="Calibri"/>
              </a:rPr>
              <a:t>S3 </a:t>
            </a:r>
            <a:r>
              <a:rPr sz="1200" b="0" i="0" dirty="0" err="1">
                <a:solidFill>
                  <a:srgbClr val="5A6674"/>
                </a:solidFill>
                <a:latin typeface="Calibri"/>
                <a:ea typeface="Calibri"/>
                <a:cs typeface="Calibri"/>
              </a:rPr>
              <a:t>ObjectCreated</a:t>
            </a:r>
            <a:r>
              <a:rPr sz="1200" b="0" i="0" dirty="0">
                <a:solidFill>
                  <a:srgbClr val="5A6674"/>
                </a:solidFill>
                <a:latin typeface="Calibri"/>
                <a:ea typeface="Calibri"/>
                <a:cs typeface="Calibri"/>
              </a:rPr>
              <a:t> </a:t>
            </a:r>
            <a:r>
              <a:rPr sz="1200" b="0" i="0" dirty="0" err="1">
                <a:solidFill>
                  <a:srgbClr val="5A6674"/>
                </a:solidFill>
                <a:latin typeface="Calibri"/>
                <a:ea typeface="Calibri"/>
                <a:cs typeface="Calibri"/>
              </a:rPr>
              <a:t>або</a:t>
            </a:r>
            <a:r>
              <a:rPr sz="1200" b="0" i="0" dirty="0">
                <a:solidFill>
                  <a:srgbClr val="5A6674"/>
                </a:solidFill>
                <a:latin typeface="Calibri"/>
                <a:ea typeface="Calibri"/>
                <a:cs typeface="Calibri"/>
              </a:rPr>
              <a:t> </a:t>
            </a:r>
            <a:r>
              <a:rPr sz="1200" b="0" i="0" dirty="0" err="1">
                <a:solidFill>
                  <a:srgbClr val="5A6674"/>
                </a:solidFill>
                <a:latin typeface="Calibri"/>
                <a:ea typeface="Calibri"/>
                <a:cs typeface="Calibri"/>
              </a:rPr>
              <a:t>тестовий</a:t>
            </a:r>
            <a:r>
              <a:rPr sz="1200" b="0" i="0" dirty="0">
                <a:solidFill>
                  <a:srgbClr val="5A6674"/>
                </a:solidFill>
                <a:latin typeface="Calibri"/>
                <a:ea typeface="Calibri"/>
                <a:cs typeface="Calibri"/>
              </a:rPr>
              <a:t> JSON</a:t>
            </a:r>
          </a:p>
        </p:txBody>
      </p:sp>
      <p:sp>
        <p:nvSpPr>
          <p:cNvPr id="8" name="Oval 7">
            <a:extLst>
              <a:ext uri="{FF2B5EF4-FFF2-40B4-BE49-F238E27FC236}">
                <a16:creationId xmlns:a16="http://schemas.microsoft.com/office/drawing/2014/main" id="{441BC3D7-010B-46A1-A4C2-BFE2A82F9181}"/>
              </a:ext>
            </a:extLst>
          </p:cNvPr>
          <p:cNvSpPr>
            <a:spLocks noGrp="1"/>
          </p:cNvSpPr>
          <p:nvPr/>
        </p:nvSpPr>
        <p:spPr>
          <a:xfrm>
            <a:off x="2819400" y="2324100"/>
            <a:ext cx="323850" cy="323850"/>
          </a:xfrm>
          <a:prstGeom prst="ellipse">
            <a:avLst/>
          </a:prstGeom>
          <a:solidFill>
            <a:srgbClr val="232F3E"/>
          </a:solidFill>
          <a:ln w="0">
            <a:noFill/>
          </a:ln>
        </p:spPr>
        <p:txBody>
          <a:bodyPr/>
          <a:lstStyle/>
          <a:p>
            <a:endParaRPr lang="en-UA"/>
          </a:p>
        </p:txBody>
      </p:sp>
      <p:sp>
        <p:nvSpPr>
          <p:cNvPr id="9" name="Rectangle 8">
            <a:extLst>
              <a:ext uri="{FF2B5EF4-FFF2-40B4-BE49-F238E27FC236}">
                <a16:creationId xmlns:a16="http://schemas.microsoft.com/office/drawing/2014/main" id="{A9FD638F-4096-43F4-9D49-5E9B7130AD3D}"/>
              </a:ext>
            </a:extLst>
          </p:cNvPr>
          <p:cNvSpPr>
            <a:spLocks noGrp="1"/>
          </p:cNvSpPr>
          <p:nvPr/>
        </p:nvSpPr>
        <p:spPr>
          <a:xfrm>
            <a:off x="2819400" y="2333625"/>
            <a:ext cx="323850" cy="285750"/>
          </a:xfrm>
          <a:prstGeom prst="rect">
            <a:avLst/>
          </a:prstGeom>
          <a:noFill/>
          <a:ln w="0">
            <a:noFill/>
          </a:ln>
        </p:spPr>
        <p:txBody>
          <a:bodyPr anchor="ctr">
            <a:normAutofit fontScale="96591" lnSpcReduction="10000"/>
          </a:bodyPr>
          <a:lstStyle/>
          <a:p>
            <a:pPr algn="ctr">
              <a:defRPr sz="1320" b="1" i="0">
                <a:solidFill>
                  <a:srgbClr val="FF9900"/>
                </a:solidFill>
                <a:latin typeface="Cambria"/>
                <a:ea typeface="Cambria"/>
                <a:cs typeface="Cambria"/>
              </a:defRPr>
            </a:pPr>
            <a:r>
              <a:rPr sz="1320" b="1" i="0" dirty="0">
                <a:solidFill>
                  <a:srgbClr val="FF9900"/>
                </a:solidFill>
                <a:latin typeface="Cambria"/>
                <a:ea typeface="Cambria"/>
                <a:cs typeface="Cambria"/>
              </a:rPr>
              <a:t>2</a:t>
            </a:r>
          </a:p>
        </p:txBody>
      </p:sp>
      <p:sp>
        <p:nvSpPr>
          <p:cNvPr id="10" name="Straight Connector 9">
            <a:extLst>
              <a:ext uri="{FF2B5EF4-FFF2-40B4-BE49-F238E27FC236}">
                <a16:creationId xmlns:a16="http://schemas.microsoft.com/office/drawing/2014/main" id="{66D477EF-9D29-4B95-823C-72CD4D368B4C}"/>
              </a:ext>
            </a:extLst>
          </p:cNvPr>
          <p:cNvSpPr>
            <a:spLocks noGrp="1"/>
          </p:cNvSpPr>
          <p:nvPr/>
        </p:nvSpPr>
        <p:spPr>
          <a:xfrm>
            <a:off x="3200400" y="2486025"/>
            <a:ext cx="1790700" cy="0"/>
          </a:xfrm>
          <a:prstGeom prst="line">
            <a:avLst/>
          </a:prstGeom>
          <a:noFill/>
          <a:ln w="28575">
            <a:solidFill>
              <a:srgbClr val="DDE1E6"/>
            </a:solidFill>
          </a:ln>
        </p:spPr>
        <p:txBody>
          <a:bodyPr/>
          <a:lstStyle/>
          <a:p>
            <a:endParaRPr lang="en-UA"/>
          </a:p>
        </p:txBody>
      </p:sp>
      <p:sp>
        <p:nvSpPr>
          <p:cNvPr id="11" name="Rectangle 10">
            <a:extLst>
              <a:ext uri="{FF2B5EF4-FFF2-40B4-BE49-F238E27FC236}">
                <a16:creationId xmlns:a16="http://schemas.microsoft.com/office/drawing/2014/main" id="{33496678-1E30-4A87-9AC3-DC7142A137DF}"/>
              </a:ext>
            </a:extLst>
          </p:cNvPr>
          <p:cNvSpPr>
            <a:spLocks noGrp="1"/>
          </p:cNvSpPr>
          <p:nvPr/>
        </p:nvSpPr>
        <p:spPr>
          <a:xfrm>
            <a:off x="2819400" y="2857500"/>
            <a:ext cx="1952625" cy="323850"/>
          </a:xfrm>
          <a:prstGeom prst="rect">
            <a:avLst/>
          </a:prstGeom>
          <a:noFill/>
          <a:ln w="0">
            <a:noFill/>
          </a:ln>
        </p:spPr>
        <p:txBody>
          <a:bodyPr anchor="t">
            <a:noAutofit/>
          </a:bodyPr>
          <a:lstStyle/>
          <a:p>
            <a:pPr algn="l">
              <a:defRPr sz="1403" b="1" i="0">
                <a:solidFill>
                  <a:srgbClr val="16191F"/>
                </a:solidFill>
                <a:latin typeface="Calibri"/>
                <a:ea typeface="Calibri"/>
                <a:cs typeface="Calibri"/>
              </a:defRPr>
            </a:pPr>
            <a:r>
              <a:rPr sz="1600" b="1" i="0" dirty="0" err="1">
                <a:solidFill>
                  <a:srgbClr val="16191F"/>
                </a:solidFill>
                <a:latin typeface="Calibri"/>
                <a:ea typeface="Calibri"/>
                <a:cs typeface="Calibri"/>
              </a:rPr>
              <a:t>Середовище</a:t>
            </a:r>
            <a:endParaRPr sz="1600" b="1" i="0" dirty="0">
              <a:solidFill>
                <a:srgbClr val="16191F"/>
              </a:solidFill>
              <a:latin typeface="Calibri"/>
              <a:ea typeface="Calibri"/>
              <a:cs typeface="Calibri"/>
            </a:endParaRPr>
          </a:p>
        </p:txBody>
      </p:sp>
      <p:sp>
        <p:nvSpPr>
          <p:cNvPr id="12" name="Rectangle 11">
            <a:extLst>
              <a:ext uri="{FF2B5EF4-FFF2-40B4-BE49-F238E27FC236}">
                <a16:creationId xmlns:a16="http://schemas.microsoft.com/office/drawing/2014/main" id="{EBC8A34C-980B-4102-8988-83369DE7605E}"/>
              </a:ext>
            </a:extLst>
          </p:cNvPr>
          <p:cNvSpPr>
            <a:spLocks noGrp="1"/>
          </p:cNvSpPr>
          <p:nvPr/>
        </p:nvSpPr>
        <p:spPr>
          <a:xfrm>
            <a:off x="2819400" y="3238500"/>
            <a:ext cx="1952625" cy="819150"/>
          </a:xfrm>
          <a:prstGeom prst="rect">
            <a:avLst/>
          </a:prstGeom>
          <a:noFill/>
          <a:ln w="0">
            <a:noFill/>
          </a:ln>
        </p:spPr>
        <p:txBody>
          <a:bodyPr anchor="t">
            <a:normAutofit/>
          </a:bodyPr>
          <a:lstStyle/>
          <a:p>
            <a:pPr algn="l">
              <a:defRPr sz="1155" b="0" i="0">
                <a:solidFill>
                  <a:srgbClr val="5A6674"/>
                </a:solidFill>
                <a:latin typeface="Calibri"/>
                <a:ea typeface="Calibri"/>
                <a:cs typeface="Calibri"/>
              </a:defRPr>
            </a:pPr>
            <a:r>
              <a:rPr sz="1200" b="0" i="0" dirty="0">
                <a:solidFill>
                  <a:srgbClr val="5A6674"/>
                </a:solidFill>
                <a:latin typeface="Calibri"/>
                <a:ea typeface="Calibri"/>
                <a:cs typeface="Calibri"/>
              </a:rPr>
              <a:t>AWS </a:t>
            </a:r>
            <a:r>
              <a:rPr sz="1200" b="0" i="0" dirty="0" err="1">
                <a:solidFill>
                  <a:srgbClr val="5A6674"/>
                </a:solidFill>
                <a:latin typeface="Calibri"/>
                <a:ea typeface="Calibri"/>
                <a:cs typeface="Calibri"/>
              </a:rPr>
              <a:t>готує</a:t>
            </a:r>
            <a:r>
              <a:rPr sz="1200" b="0" i="0" dirty="0">
                <a:solidFill>
                  <a:srgbClr val="5A6674"/>
                </a:solidFill>
                <a:latin typeface="Calibri"/>
                <a:ea typeface="Calibri"/>
                <a:cs typeface="Calibri"/>
              </a:rPr>
              <a:t> runtime Python</a:t>
            </a:r>
          </a:p>
        </p:txBody>
      </p:sp>
      <p:sp>
        <p:nvSpPr>
          <p:cNvPr id="13" name="Oval 12">
            <a:extLst>
              <a:ext uri="{FF2B5EF4-FFF2-40B4-BE49-F238E27FC236}">
                <a16:creationId xmlns:a16="http://schemas.microsoft.com/office/drawing/2014/main" id="{E175B9B4-0DE3-4D98-BD97-AC17A20F3CD4}"/>
              </a:ext>
            </a:extLst>
          </p:cNvPr>
          <p:cNvSpPr>
            <a:spLocks noGrp="1"/>
          </p:cNvSpPr>
          <p:nvPr/>
        </p:nvSpPr>
        <p:spPr>
          <a:xfrm>
            <a:off x="5086350" y="2324100"/>
            <a:ext cx="323850" cy="323850"/>
          </a:xfrm>
          <a:prstGeom prst="ellipse">
            <a:avLst/>
          </a:prstGeom>
          <a:solidFill>
            <a:srgbClr val="232F3E"/>
          </a:solidFill>
          <a:ln w="0">
            <a:noFill/>
          </a:ln>
        </p:spPr>
        <p:txBody>
          <a:bodyPr/>
          <a:lstStyle/>
          <a:p>
            <a:endParaRPr lang="en-UA"/>
          </a:p>
        </p:txBody>
      </p:sp>
      <p:sp>
        <p:nvSpPr>
          <p:cNvPr id="14" name="Rectangle 13">
            <a:extLst>
              <a:ext uri="{FF2B5EF4-FFF2-40B4-BE49-F238E27FC236}">
                <a16:creationId xmlns:a16="http://schemas.microsoft.com/office/drawing/2014/main" id="{95392561-885F-4933-93B6-A186ADB93918}"/>
              </a:ext>
            </a:extLst>
          </p:cNvPr>
          <p:cNvSpPr>
            <a:spLocks noGrp="1"/>
          </p:cNvSpPr>
          <p:nvPr/>
        </p:nvSpPr>
        <p:spPr>
          <a:xfrm>
            <a:off x="5086350" y="2333625"/>
            <a:ext cx="323850" cy="285750"/>
          </a:xfrm>
          <a:prstGeom prst="rect">
            <a:avLst/>
          </a:prstGeom>
          <a:noFill/>
          <a:ln w="0">
            <a:noFill/>
          </a:ln>
        </p:spPr>
        <p:txBody>
          <a:bodyPr anchor="ctr">
            <a:normAutofit fontScale="96591" lnSpcReduction="10000"/>
          </a:bodyPr>
          <a:lstStyle/>
          <a:p>
            <a:pPr algn="ctr">
              <a:defRPr sz="1320" b="1" i="0">
                <a:solidFill>
                  <a:srgbClr val="FF9900"/>
                </a:solidFill>
                <a:latin typeface="Cambria"/>
                <a:ea typeface="Cambria"/>
                <a:cs typeface="Cambria"/>
              </a:defRPr>
            </a:pPr>
            <a:r>
              <a:rPr sz="1320" b="1" i="0" dirty="0">
                <a:solidFill>
                  <a:srgbClr val="FF9900"/>
                </a:solidFill>
                <a:latin typeface="Cambria"/>
                <a:ea typeface="Cambria"/>
                <a:cs typeface="Cambria"/>
              </a:rPr>
              <a:t>3</a:t>
            </a:r>
          </a:p>
        </p:txBody>
      </p:sp>
      <p:sp>
        <p:nvSpPr>
          <p:cNvPr id="15" name="Straight Connector 14">
            <a:extLst>
              <a:ext uri="{FF2B5EF4-FFF2-40B4-BE49-F238E27FC236}">
                <a16:creationId xmlns:a16="http://schemas.microsoft.com/office/drawing/2014/main" id="{7F430C97-FC47-4E50-9C46-88F138DE37CB}"/>
              </a:ext>
            </a:extLst>
          </p:cNvPr>
          <p:cNvSpPr>
            <a:spLocks noGrp="1"/>
          </p:cNvSpPr>
          <p:nvPr/>
        </p:nvSpPr>
        <p:spPr>
          <a:xfrm>
            <a:off x="5467350" y="2486025"/>
            <a:ext cx="1790700" cy="0"/>
          </a:xfrm>
          <a:prstGeom prst="line">
            <a:avLst/>
          </a:prstGeom>
          <a:noFill/>
          <a:ln w="28575">
            <a:solidFill>
              <a:srgbClr val="DDE1E6"/>
            </a:solidFill>
          </a:ln>
        </p:spPr>
        <p:txBody>
          <a:bodyPr/>
          <a:lstStyle/>
          <a:p>
            <a:endParaRPr lang="en-UA"/>
          </a:p>
        </p:txBody>
      </p:sp>
      <p:sp>
        <p:nvSpPr>
          <p:cNvPr id="16" name="Rectangle 15">
            <a:extLst>
              <a:ext uri="{FF2B5EF4-FFF2-40B4-BE49-F238E27FC236}">
                <a16:creationId xmlns:a16="http://schemas.microsoft.com/office/drawing/2014/main" id="{2D1C766F-370F-4ACD-8AB4-34ACE989C1BD}"/>
              </a:ext>
            </a:extLst>
          </p:cNvPr>
          <p:cNvSpPr>
            <a:spLocks noGrp="1"/>
          </p:cNvSpPr>
          <p:nvPr/>
        </p:nvSpPr>
        <p:spPr>
          <a:xfrm>
            <a:off x="5086350" y="2857500"/>
            <a:ext cx="1952625" cy="323850"/>
          </a:xfrm>
          <a:prstGeom prst="rect">
            <a:avLst/>
          </a:prstGeom>
          <a:noFill/>
          <a:ln w="0">
            <a:noFill/>
          </a:ln>
        </p:spPr>
        <p:txBody>
          <a:bodyPr anchor="t">
            <a:noAutofit/>
          </a:bodyPr>
          <a:lstStyle/>
          <a:p>
            <a:pPr algn="l">
              <a:defRPr sz="1403" b="1" i="0">
                <a:solidFill>
                  <a:srgbClr val="16191F"/>
                </a:solidFill>
                <a:latin typeface="Calibri"/>
                <a:ea typeface="Calibri"/>
                <a:cs typeface="Calibri"/>
              </a:defRPr>
            </a:pPr>
            <a:r>
              <a:rPr sz="1600" b="1" i="0" dirty="0">
                <a:solidFill>
                  <a:srgbClr val="16191F"/>
                </a:solidFill>
                <a:latin typeface="Calibri"/>
                <a:ea typeface="Calibri"/>
                <a:cs typeface="Calibri"/>
              </a:rPr>
              <a:t>Handler</a:t>
            </a:r>
          </a:p>
        </p:txBody>
      </p:sp>
      <p:sp>
        <p:nvSpPr>
          <p:cNvPr id="17" name="Rectangle 16">
            <a:extLst>
              <a:ext uri="{FF2B5EF4-FFF2-40B4-BE49-F238E27FC236}">
                <a16:creationId xmlns:a16="http://schemas.microsoft.com/office/drawing/2014/main" id="{343078F0-8698-4A36-8AA7-DB68868744D2}"/>
              </a:ext>
            </a:extLst>
          </p:cNvPr>
          <p:cNvSpPr>
            <a:spLocks noGrp="1"/>
          </p:cNvSpPr>
          <p:nvPr/>
        </p:nvSpPr>
        <p:spPr>
          <a:xfrm>
            <a:off x="5086350" y="3238500"/>
            <a:ext cx="1952625" cy="819150"/>
          </a:xfrm>
          <a:prstGeom prst="rect">
            <a:avLst/>
          </a:prstGeom>
          <a:noFill/>
          <a:ln w="0">
            <a:noFill/>
          </a:ln>
        </p:spPr>
        <p:txBody>
          <a:bodyPr anchor="t">
            <a:normAutofit/>
          </a:bodyPr>
          <a:lstStyle/>
          <a:p>
            <a:pPr algn="l">
              <a:defRPr sz="1155" b="0" i="0">
                <a:solidFill>
                  <a:srgbClr val="5A6674"/>
                </a:solidFill>
                <a:latin typeface="Calibri"/>
                <a:ea typeface="Calibri"/>
                <a:cs typeface="Calibri"/>
              </a:defRPr>
            </a:pPr>
            <a:r>
              <a:rPr sz="1200" b="0" i="0" dirty="0" err="1">
                <a:solidFill>
                  <a:srgbClr val="5A6674"/>
                </a:solidFill>
                <a:latin typeface="Calibri"/>
                <a:ea typeface="Calibri"/>
                <a:cs typeface="Calibri"/>
              </a:rPr>
              <a:t>lambda_handler</a:t>
            </a:r>
            <a:r>
              <a:rPr sz="1200" b="0" i="0" dirty="0">
                <a:solidFill>
                  <a:srgbClr val="5A6674"/>
                </a:solidFill>
                <a:latin typeface="Calibri"/>
                <a:ea typeface="Calibri"/>
                <a:cs typeface="Calibri"/>
              </a:rPr>
              <a:t>(event, context)</a:t>
            </a:r>
          </a:p>
        </p:txBody>
      </p:sp>
      <p:sp>
        <p:nvSpPr>
          <p:cNvPr id="18" name="Oval 17">
            <a:extLst>
              <a:ext uri="{FF2B5EF4-FFF2-40B4-BE49-F238E27FC236}">
                <a16:creationId xmlns:a16="http://schemas.microsoft.com/office/drawing/2014/main" id="{79F5660C-1F78-4823-B717-2725922A65CA}"/>
              </a:ext>
            </a:extLst>
          </p:cNvPr>
          <p:cNvSpPr>
            <a:spLocks noGrp="1"/>
          </p:cNvSpPr>
          <p:nvPr/>
        </p:nvSpPr>
        <p:spPr>
          <a:xfrm>
            <a:off x="7353300" y="2324100"/>
            <a:ext cx="323850" cy="323850"/>
          </a:xfrm>
          <a:prstGeom prst="ellipse">
            <a:avLst/>
          </a:prstGeom>
          <a:solidFill>
            <a:srgbClr val="232F3E"/>
          </a:solidFill>
          <a:ln w="0">
            <a:noFill/>
          </a:ln>
        </p:spPr>
        <p:txBody>
          <a:bodyPr/>
          <a:lstStyle/>
          <a:p>
            <a:endParaRPr lang="en-UA"/>
          </a:p>
        </p:txBody>
      </p:sp>
      <p:sp>
        <p:nvSpPr>
          <p:cNvPr id="19" name="Rectangle 18">
            <a:extLst>
              <a:ext uri="{FF2B5EF4-FFF2-40B4-BE49-F238E27FC236}">
                <a16:creationId xmlns:a16="http://schemas.microsoft.com/office/drawing/2014/main" id="{9E2F0057-0081-42EF-BF69-6618F4DF3A0C}"/>
              </a:ext>
            </a:extLst>
          </p:cNvPr>
          <p:cNvSpPr>
            <a:spLocks noGrp="1"/>
          </p:cNvSpPr>
          <p:nvPr/>
        </p:nvSpPr>
        <p:spPr>
          <a:xfrm>
            <a:off x="7353300" y="2333625"/>
            <a:ext cx="323850" cy="285750"/>
          </a:xfrm>
          <a:prstGeom prst="rect">
            <a:avLst/>
          </a:prstGeom>
          <a:noFill/>
          <a:ln w="0">
            <a:noFill/>
          </a:ln>
        </p:spPr>
        <p:txBody>
          <a:bodyPr anchor="ctr">
            <a:normAutofit fontScale="96591" lnSpcReduction="10000"/>
          </a:bodyPr>
          <a:lstStyle/>
          <a:p>
            <a:pPr algn="ctr">
              <a:defRPr sz="1320" b="1" i="0">
                <a:solidFill>
                  <a:srgbClr val="FF9900"/>
                </a:solidFill>
                <a:latin typeface="Cambria"/>
                <a:ea typeface="Cambria"/>
                <a:cs typeface="Cambria"/>
              </a:defRPr>
            </a:pPr>
            <a:r>
              <a:rPr sz="1320" b="1" i="0" dirty="0">
                <a:solidFill>
                  <a:srgbClr val="FF9900"/>
                </a:solidFill>
                <a:latin typeface="Cambria"/>
                <a:ea typeface="Cambria"/>
                <a:cs typeface="Cambria"/>
              </a:rPr>
              <a:t>4</a:t>
            </a:r>
          </a:p>
        </p:txBody>
      </p:sp>
      <p:sp>
        <p:nvSpPr>
          <p:cNvPr id="20" name="Straight Connector 19">
            <a:extLst>
              <a:ext uri="{FF2B5EF4-FFF2-40B4-BE49-F238E27FC236}">
                <a16:creationId xmlns:a16="http://schemas.microsoft.com/office/drawing/2014/main" id="{EABA5C4D-A58A-481A-B0E6-16621463E18C}"/>
              </a:ext>
            </a:extLst>
          </p:cNvPr>
          <p:cNvSpPr>
            <a:spLocks noGrp="1"/>
          </p:cNvSpPr>
          <p:nvPr/>
        </p:nvSpPr>
        <p:spPr>
          <a:xfrm>
            <a:off x="7734300" y="2486025"/>
            <a:ext cx="1790700" cy="0"/>
          </a:xfrm>
          <a:prstGeom prst="line">
            <a:avLst/>
          </a:prstGeom>
          <a:noFill/>
          <a:ln w="28575">
            <a:solidFill>
              <a:srgbClr val="DDE1E6"/>
            </a:solidFill>
          </a:ln>
        </p:spPr>
        <p:txBody>
          <a:bodyPr/>
          <a:lstStyle/>
          <a:p>
            <a:endParaRPr lang="en-UA"/>
          </a:p>
        </p:txBody>
      </p:sp>
      <p:sp>
        <p:nvSpPr>
          <p:cNvPr id="21" name="Rectangle 20">
            <a:extLst>
              <a:ext uri="{FF2B5EF4-FFF2-40B4-BE49-F238E27FC236}">
                <a16:creationId xmlns:a16="http://schemas.microsoft.com/office/drawing/2014/main" id="{0AC9F914-E9CD-425A-8F70-99D6833FDB73}"/>
              </a:ext>
            </a:extLst>
          </p:cNvPr>
          <p:cNvSpPr>
            <a:spLocks noGrp="1"/>
          </p:cNvSpPr>
          <p:nvPr/>
        </p:nvSpPr>
        <p:spPr>
          <a:xfrm>
            <a:off x="7353300" y="2857500"/>
            <a:ext cx="1952625" cy="323850"/>
          </a:xfrm>
          <a:prstGeom prst="rect">
            <a:avLst/>
          </a:prstGeom>
          <a:noFill/>
          <a:ln w="0">
            <a:noFill/>
          </a:ln>
        </p:spPr>
        <p:txBody>
          <a:bodyPr anchor="t">
            <a:noAutofit/>
          </a:bodyPr>
          <a:lstStyle/>
          <a:p>
            <a:pPr algn="l">
              <a:defRPr sz="1403" b="1" i="0">
                <a:solidFill>
                  <a:srgbClr val="16191F"/>
                </a:solidFill>
                <a:latin typeface="Calibri"/>
                <a:ea typeface="Calibri"/>
                <a:cs typeface="Calibri"/>
              </a:defRPr>
            </a:pPr>
            <a:r>
              <a:rPr sz="1600" b="1" i="0" dirty="0" err="1">
                <a:solidFill>
                  <a:srgbClr val="16191F"/>
                </a:solidFill>
                <a:latin typeface="Calibri"/>
                <a:ea typeface="Calibri"/>
                <a:cs typeface="Calibri"/>
              </a:rPr>
              <a:t>Результат</a:t>
            </a:r>
            <a:endParaRPr sz="1600" b="1" i="0" dirty="0">
              <a:solidFill>
                <a:srgbClr val="16191F"/>
              </a:solidFill>
              <a:latin typeface="Calibri"/>
              <a:ea typeface="Calibri"/>
              <a:cs typeface="Calibri"/>
            </a:endParaRPr>
          </a:p>
        </p:txBody>
      </p:sp>
      <p:sp>
        <p:nvSpPr>
          <p:cNvPr id="22" name="Rectangle 21">
            <a:extLst>
              <a:ext uri="{FF2B5EF4-FFF2-40B4-BE49-F238E27FC236}">
                <a16:creationId xmlns:a16="http://schemas.microsoft.com/office/drawing/2014/main" id="{1868B14B-15F3-47E7-AD1C-EC9DAF1687F6}"/>
              </a:ext>
            </a:extLst>
          </p:cNvPr>
          <p:cNvSpPr>
            <a:spLocks noGrp="1"/>
          </p:cNvSpPr>
          <p:nvPr/>
        </p:nvSpPr>
        <p:spPr>
          <a:xfrm>
            <a:off x="7353300" y="3238500"/>
            <a:ext cx="1952625" cy="819150"/>
          </a:xfrm>
          <a:prstGeom prst="rect">
            <a:avLst/>
          </a:prstGeom>
          <a:noFill/>
          <a:ln w="0">
            <a:noFill/>
          </a:ln>
        </p:spPr>
        <p:txBody>
          <a:bodyPr anchor="t">
            <a:normAutofit/>
          </a:bodyPr>
          <a:lstStyle/>
          <a:p>
            <a:pPr algn="l">
              <a:defRPr sz="1155" b="0" i="0">
                <a:solidFill>
                  <a:srgbClr val="5A6674"/>
                </a:solidFill>
                <a:latin typeface="Calibri"/>
                <a:ea typeface="Calibri"/>
                <a:cs typeface="Calibri"/>
              </a:defRPr>
            </a:pPr>
            <a:r>
              <a:rPr sz="1200" b="0" i="0" dirty="0" err="1">
                <a:solidFill>
                  <a:srgbClr val="5A6674"/>
                </a:solidFill>
                <a:latin typeface="Calibri"/>
                <a:ea typeface="Calibri"/>
                <a:cs typeface="Calibri"/>
              </a:rPr>
              <a:t>Відповідь</a:t>
            </a:r>
            <a:r>
              <a:rPr sz="1200" b="0" i="0" dirty="0">
                <a:solidFill>
                  <a:srgbClr val="5A6674"/>
                </a:solidFill>
                <a:latin typeface="Calibri"/>
                <a:ea typeface="Calibri"/>
                <a:cs typeface="Calibri"/>
              </a:rPr>
              <a:t>, </a:t>
            </a:r>
            <a:r>
              <a:rPr sz="1200" b="0" i="0" dirty="0" err="1">
                <a:solidFill>
                  <a:srgbClr val="5A6674"/>
                </a:solidFill>
                <a:latin typeface="Calibri"/>
                <a:ea typeface="Calibri"/>
                <a:cs typeface="Calibri"/>
              </a:rPr>
              <a:t>запис</a:t>
            </a:r>
            <a:r>
              <a:rPr sz="1200" b="0" i="0" dirty="0">
                <a:solidFill>
                  <a:srgbClr val="5A6674"/>
                </a:solidFill>
                <a:latin typeface="Calibri"/>
                <a:ea typeface="Calibri"/>
                <a:cs typeface="Calibri"/>
              </a:rPr>
              <a:t> </a:t>
            </a:r>
            <a:r>
              <a:rPr sz="1200" b="0" i="0" dirty="0" err="1">
                <a:solidFill>
                  <a:srgbClr val="5A6674"/>
                </a:solidFill>
                <a:latin typeface="Calibri"/>
                <a:ea typeface="Calibri"/>
                <a:cs typeface="Calibri"/>
              </a:rPr>
              <a:t>у</a:t>
            </a:r>
            <a:r>
              <a:rPr sz="1200" b="0" i="0" dirty="0">
                <a:solidFill>
                  <a:srgbClr val="5A6674"/>
                </a:solidFill>
                <a:latin typeface="Calibri"/>
                <a:ea typeface="Calibri"/>
                <a:cs typeface="Calibri"/>
              </a:rPr>
              <a:t> S3 </a:t>
            </a:r>
            <a:r>
              <a:rPr sz="1200" b="0" i="0" dirty="0" err="1">
                <a:solidFill>
                  <a:srgbClr val="5A6674"/>
                </a:solidFill>
                <a:latin typeface="Calibri"/>
                <a:ea typeface="Calibri"/>
                <a:cs typeface="Calibri"/>
              </a:rPr>
              <a:t>або</a:t>
            </a:r>
            <a:r>
              <a:rPr sz="1200" b="0" i="0" dirty="0">
                <a:solidFill>
                  <a:srgbClr val="5A6674"/>
                </a:solidFill>
                <a:latin typeface="Calibri"/>
                <a:ea typeface="Calibri"/>
                <a:cs typeface="Calibri"/>
              </a:rPr>
              <a:t> DynamoDB</a:t>
            </a:r>
          </a:p>
        </p:txBody>
      </p:sp>
      <p:sp>
        <p:nvSpPr>
          <p:cNvPr id="23" name="Oval 22">
            <a:extLst>
              <a:ext uri="{FF2B5EF4-FFF2-40B4-BE49-F238E27FC236}">
                <a16:creationId xmlns:a16="http://schemas.microsoft.com/office/drawing/2014/main" id="{FFA452C9-5F81-4CC6-95F8-621F4427D3CE}"/>
              </a:ext>
            </a:extLst>
          </p:cNvPr>
          <p:cNvSpPr>
            <a:spLocks noGrp="1"/>
          </p:cNvSpPr>
          <p:nvPr/>
        </p:nvSpPr>
        <p:spPr>
          <a:xfrm>
            <a:off x="9620250" y="2324100"/>
            <a:ext cx="323850" cy="323850"/>
          </a:xfrm>
          <a:prstGeom prst="ellipse">
            <a:avLst/>
          </a:prstGeom>
          <a:solidFill>
            <a:srgbClr val="232F3E"/>
          </a:solidFill>
          <a:ln w="0">
            <a:noFill/>
          </a:ln>
        </p:spPr>
        <p:txBody>
          <a:bodyPr/>
          <a:lstStyle/>
          <a:p>
            <a:endParaRPr lang="en-UA"/>
          </a:p>
        </p:txBody>
      </p:sp>
      <p:sp>
        <p:nvSpPr>
          <p:cNvPr id="24" name="Rectangle 23">
            <a:extLst>
              <a:ext uri="{FF2B5EF4-FFF2-40B4-BE49-F238E27FC236}">
                <a16:creationId xmlns:a16="http://schemas.microsoft.com/office/drawing/2014/main" id="{ECFAF400-217D-46E4-A38D-2CCAEA610DAA}"/>
              </a:ext>
            </a:extLst>
          </p:cNvPr>
          <p:cNvSpPr>
            <a:spLocks noGrp="1"/>
          </p:cNvSpPr>
          <p:nvPr/>
        </p:nvSpPr>
        <p:spPr>
          <a:xfrm>
            <a:off x="9620250" y="2333625"/>
            <a:ext cx="323850" cy="285750"/>
          </a:xfrm>
          <a:prstGeom prst="rect">
            <a:avLst/>
          </a:prstGeom>
          <a:noFill/>
          <a:ln w="0">
            <a:noFill/>
          </a:ln>
        </p:spPr>
        <p:txBody>
          <a:bodyPr anchor="ctr">
            <a:normAutofit fontScale="96591" lnSpcReduction="10000"/>
          </a:bodyPr>
          <a:lstStyle/>
          <a:p>
            <a:pPr algn="ctr">
              <a:defRPr sz="1320" b="1" i="0">
                <a:solidFill>
                  <a:srgbClr val="FF9900"/>
                </a:solidFill>
                <a:latin typeface="Cambria"/>
                <a:ea typeface="Cambria"/>
                <a:cs typeface="Cambria"/>
              </a:defRPr>
            </a:pPr>
            <a:r>
              <a:rPr sz="1320" b="1" i="0" dirty="0">
                <a:solidFill>
                  <a:srgbClr val="FF9900"/>
                </a:solidFill>
                <a:latin typeface="Cambria"/>
                <a:ea typeface="Cambria"/>
                <a:cs typeface="Cambria"/>
              </a:rPr>
              <a:t>5</a:t>
            </a:r>
          </a:p>
        </p:txBody>
      </p:sp>
      <p:sp>
        <p:nvSpPr>
          <p:cNvPr id="25" name="Rectangle 24">
            <a:extLst>
              <a:ext uri="{FF2B5EF4-FFF2-40B4-BE49-F238E27FC236}">
                <a16:creationId xmlns:a16="http://schemas.microsoft.com/office/drawing/2014/main" id="{5D605B4D-8362-44EB-B4E1-3402D67E2394}"/>
              </a:ext>
            </a:extLst>
          </p:cNvPr>
          <p:cNvSpPr>
            <a:spLocks noGrp="1"/>
          </p:cNvSpPr>
          <p:nvPr/>
        </p:nvSpPr>
        <p:spPr>
          <a:xfrm>
            <a:off x="9620250" y="2857500"/>
            <a:ext cx="1952625" cy="323850"/>
          </a:xfrm>
          <a:prstGeom prst="rect">
            <a:avLst/>
          </a:prstGeom>
          <a:noFill/>
          <a:ln w="0">
            <a:noFill/>
          </a:ln>
        </p:spPr>
        <p:txBody>
          <a:bodyPr anchor="t">
            <a:noAutofit/>
          </a:bodyPr>
          <a:lstStyle/>
          <a:p>
            <a:pPr algn="l">
              <a:defRPr sz="1403" b="1" i="0">
                <a:solidFill>
                  <a:srgbClr val="16191F"/>
                </a:solidFill>
                <a:latin typeface="Calibri"/>
                <a:ea typeface="Calibri"/>
                <a:cs typeface="Calibri"/>
              </a:defRPr>
            </a:pPr>
            <a:r>
              <a:rPr sz="1600" b="1" i="0" dirty="0" err="1">
                <a:solidFill>
                  <a:srgbClr val="16191F"/>
                </a:solidFill>
                <a:latin typeface="Calibri"/>
                <a:ea typeface="Calibri"/>
                <a:cs typeface="Calibri"/>
              </a:rPr>
              <a:t>Логи</a:t>
            </a:r>
            <a:endParaRPr sz="1600" b="1" i="0" dirty="0">
              <a:solidFill>
                <a:srgbClr val="16191F"/>
              </a:solidFill>
              <a:latin typeface="Calibri"/>
              <a:ea typeface="Calibri"/>
              <a:cs typeface="Calibri"/>
            </a:endParaRPr>
          </a:p>
        </p:txBody>
      </p:sp>
      <p:sp>
        <p:nvSpPr>
          <p:cNvPr id="26" name="Rectangle 25">
            <a:extLst>
              <a:ext uri="{FF2B5EF4-FFF2-40B4-BE49-F238E27FC236}">
                <a16:creationId xmlns:a16="http://schemas.microsoft.com/office/drawing/2014/main" id="{FD96BC87-F5C7-4662-BB63-BC23A39176F9}"/>
              </a:ext>
            </a:extLst>
          </p:cNvPr>
          <p:cNvSpPr>
            <a:spLocks noGrp="1"/>
          </p:cNvSpPr>
          <p:nvPr/>
        </p:nvSpPr>
        <p:spPr>
          <a:xfrm>
            <a:off x="9620250" y="3238500"/>
            <a:ext cx="1952625" cy="819150"/>
          </a:xfrm>
          <a:prstGeom prst="rect">
            <a:avLst/>
          </a:prstGeom>
          <a:noFill/>
          <a:ln w="0">
            <a:noFill/>
          </a:ln>
        </p:spPr>
        <p:txBody>
          <a:bodyPr anchor="t">
            <a:normAutofit/>
          </a:bodyPr>
          <a:lstStyle/>
          <a:p>
            <a:pPr algn="l">
              <a:defRPr sz="1155" b="0" i="0">
                <a:solidFill>
                  <a:srgbClr val="5A6674"/>
                </a:solidFill>
                <a:latin typeface="Calibri"/>
                <a:ea typeface="Calibri"/>
                <a:cs typeface="Calibri"/>
              </a:defRPr>
            </a:pPr>
            <a:r>
              <a:rPr sz="1200" b="0" i="0" dirty="0">
                <a:solidFill>
                  <a:srgbClr val="5A6674"/>
                </a:solidFill>
                <a:latin typeface="Calibri"/>
                <a:ea typeface="Calibri"/>
                <a:cs typeface="Calibri"/>
              </a:rPr>
              <a:t>CloudWatch </a:t>
            </a:r>
            <a:r>
              <a:rPr sz="1200" b="0" i="0" dirty="0" err="1">
                <a:solidFill>
                  <a:srgbClr val="5A6674"/>
                </a:solidFill>
                <a:latin typeface="Calibri"/>
                <a:ea typeface="Calibri"/>
                <a:cs typeface="Calibri"/>
              </a:rPr>
              <a:t>зберігає</a:t>
            </a:r>
            <a:r>
              <a:rPr sz="1200" b="0" i="0" dirty="0">
                <a:solidFill>
                  <a:srgbClr val="5A6674"/>
                </a:solidFill>
                <a:latin typeface="Calibri"/>
                <a:ea typeface="Calibri"/>
                <a:cs typeface="Calibri"/>
              </a:rPr>
              <a:t> </a:t>
            </a:r>
            <a:r>
              <a:rPr sz="1200" b="0" i="0" dirty="0" err="1">
                <a:solidFill>
                  <a:srgbClr val="5A6674"/>
                </a:solidFill>
                <a:latin typeface="Calibri"/>
                <a:ea typeface="Calibri"/>
                <a:cs typeface="Calibri"/>
              </a:rPr>
              <a:t>повідомлення</a:t>
            </a:r>
            <a:r>
              <a:rPr sz="1200" b="0" i="0" dirty="0">
                <a:solidFill>
                  <a:srgbClr val="5A6674"/>
                </a:solidFill>
                <a:latin typeface="Calibri"/>
                <a:ea typeface="Calibri"/>
                <a:cs typeface="Calibri"/>
              </a:rPr>
              <a:t> </a:t>
            </a:r>
            <a:r>
              <a:rPr sz="1200" b="0" i="0" dirty="0" err="1">
                <a:solidFill>
                  <a:srgbClr val="5A6674"/>
                </a:solidFill>
                <a:latin typeface="Calibri"/>
                <a:ea typeface="Calibri"/>
                <a:cs typeface="Calibri"/>
              </a:rPr>
              <a:t>й</a:t>
            </a:r>
            <a:r>
              <a:rPr sz="1200" b="0" i="0" dirty="0">
                <a:solidFill>
                  <a:srgbClr val="5A6674"/>
                </a:solidFill>
                <a:latin typeface="Calibri"/>
                <a:ea typeface="Calibri"/>
                <a:cs typeface="Calibri"/>
              </a:rPr>
              <a:t> </a:t>
            </a:r>
            <a:r>
              <a:rPr sz="1200" b="0" i="0" dirty="0" err="1">
                <a:solidFill>
                  <a:srgbClr val="5A6674"/>
                </a:solidFill>
                <a:latin typeface="Calibri"/>
                <a:ea typeface="Calibri"/>
                <a:cs typeface="Calibri"/>
              </a:rPr>
              <a:t>помилки</a:t>
            </a:r>
            <a:endParaRPr sz="1200" b="0" i="0" dirty="0">
              <a:solidFill>
                <a:srgbClr val="5A6674"/>
              </a:solidFill>
              <a:latin typeface="Calibri"/>
              <a:ea typeface="Calibri"/>
              <a:cs typeface="Calibri"/>
            </a:endParaRPr>
          </a:p>
        </p:txBody>
      </p:sp>
      <p:sp>
        <p:nvSpPr>
          <p:cNvPr id="27" name="Rounded Rectangle 26">
            <a:extLst>
              <a:ext uri="{FF2B5EF4-FFF2-40B4-BE49-F238E27FC236}">
                <a16:creationId xmlns:a16="http://schemas.microsoft.com/office/drawing/2014/main" id="{D990B1BB-9461-4124-A938-2CEDFDF95B48}"/>
              </a:ext>
            </a:extLst>
          </p:cNvPr>
          <p:cNvSpPr>
            <a:spLocks noGrp="1"/>
          </p:cNvSpPr>
          <p:nvPr/>
        </p:nvSpPr>
        <p:spPr>
          <a:xfrm>
            <a:off x="552450" y="4619625"/>
            <a:ext cx="10953750" cy="1047750"/>
          </a:xfrm>
          <a:prstGeom prst="roundRect">
            <a:avLst>
              <a:gd name="adj" fmla="val 7273"/>
            </a:avLst>
          </a:prstGeom>
          <a:solidFill>
            <a:srgbClr val="232F3E"/>
          </a:solidFill>
          <a:ln w="9525">
            <a:solidFill>
              <a:srgbClr val="232F3E"/>
            </a:solidFill>
          </a:ln>
        </p:spPr>
        <p:txBody>
          <a:bodyPr/>
          <a:lstStyle/>
          <a:p>
            <a:endParaRPr lang="en-UA" sz="2000"/>
          </a:p>
        </p:txBody>
      </p:sp>
      <p:sp>
        <p:nvSpPr>
          <p:cNvPr id="28" name="Rectangle 27">
            <a:extLst>
              <a:ext uri="{FF2B5EF4-FFF2-40B4-BE49-F238E27FC236}">
                <a16:creationId xmlns:a16="http://schemas.microsoft.com/office/drawing/2014/main" id="{CE019072-DB3C-4B2D-98C4-F5D251CC8602}"/>
              </a:ext>
            </a:extLst>
          </p:cNvPr>
          <p:cNvSpPr>
            <a:spLocks noGrp="1"/>
          </p:cNvSpPr>
          <p:nvPr/>
        </p:nvSpPr>
        <p:spPr>
          <a:xfrm>
            <a:off x="838200" y="4857750"/>
            <a:ext cx="2000250" cy="285750"/>
          </a:xfrm>
          <a:prstGeom prst="rect">
            <a:avLst/>
          </a:prstGeom>
          <a:noFill/>
          <a:ln w="0">
            <a:noFill/>
          </a:ln>
        </p:spPr>
        <p:txBody>
          <a:bodyPr anchor="t">
            <a:noAutofit/>
          </a:bodyPr>
          <a:lstStyle/>
          <a:p>
            <a:pPr algn="l">
              <a:defRPr sz="1320" b="1" i="0">
                <a:solidFill>
                  <a:srgbClr val="FF9900"/>
                </a:solidFill>
                <a:latin typeface="Calibri"/>
                <a:ea typeface="Calibri"/>
                <a:cs typeface="Calibri"/>
              </a:defRPr>
            </a:pPr>
            <a:r>
              <a:rPr sz="1400" b="1" i="0" dirty="0" err="1">
                <a:solidFill>
                  <a:srgbClr val="FF9900"/>
                </a:solidFill>
                <a:latin typeface="Calibri"/>
                <a:ea typeface="Calibri"/>
                <a:cs typeface="Calibri"/>
              </a:rPr>
              <a:t>Ключова</a:t>
            </a:r>
            <a:r>
              <a:rPr sz="1400" b="1" i="0" dirty="0">
                <a:solidFill>
                  <a:srgbClr val="FF9900"/>
                </a:solidFill>
                <a:latin typeface="Calibri"/>
                <a:ea typeface="Calibri"/>
                <a:cs typeface="Calibri"/>
              </a:rPr>
              <a:t> </a:t>
            </a:r>
            <a:r>
              <a:rPr sz="1400" b="1" i="0" dirty="0" err="1">
                <a:solidFill>
                  <a:srgbClr val="FF9900"/>
                </a:solidFill>
                <a:latin typeface="Calibri"/>
                <a:ea typeface="Calibri"/>
                <a:cs typeface="Calibri"/>
              </a:rPr>
              <a:t>ідея</a:t>
            </a:r>
            <a:endParaRPr sz="1400" b="1" i="0" dirty="0">
              <a:solidFill>
                <a:srgbClr val="FF9900"/>
              </a:solidFill>
              <a:latin typeface="Calibri"/>
              <a:ea typeface="Calibri"/>
              <a:cs typeface="Calibri"/>
            </a:endParaRPr>
          </a:p>
        </p:txBody>
      </p:sp>
      <p:sp>
        <p:nvSpPr>
          <p:cNvPr id="29" name="Rectangle 28">
            <a:extLst>
              <a:ext uri="{FF2B5EF4-FFF2-40B4-BE49-F238E27FC236}">
                <a16:creationId xmlns:a16="http://schemas.microsoft.com/office/drawing/2014/main" id="{4F7F0FB2-7077-453D-9C8A-D7635AA87D98}"/>
              </a:ext>
            </a:extLst>
          </p:cNvPr>
          <p:cNvSpPr>
            <a:spLocks noGrp="1"/>
          </p:cNvSpPr>
          <p:nvPr/>
        </p:nvSpPr>
        <p:spPr>
          <a:xfrm>
            <a:off x="838200" y="5191125"/>
            <a:ext cx="10096500" cy="381000"/>
          </a:xfrm>
          <a:prstGeom prst="rect">
            <a:avLst/>
          </a:prstGeom>
          <a:noFill/>
          <a:ln w="0">
            <a:noFill/>
          </a:ln>
        </p:spPr>
        <p:txBody>
          <a:bodyPr anchor="t">
            <a:normAutofit/>
          </a:bodyPr>
          <a:lstStyle/>
          <a:p>
            <a:pPr algn="l">
              <a:defRPr sz="1485" b="0" i="0">
                <a:solidFill>
                  <a:srgbClr val="FFFFFF"/>
                </a:solidFill>
                <a:latin typeface="Calibri"/>
                <a:ea typeface="Calibri"/>
                <a:cs typeface="Calibri"/>
              </a:defRPr>
            </a:pPr>
            <a:r>
              <a:rPr sz="1600" b="0" i="0">
                <a:solidFill>
                  <a:srgbClr val="FFFFFF"/>
                </a:solidFill>
                <a:latin typeface="Calibri"/>
                <a:ea typeface="Calibri"/>
                <a:cs typeface="Calibri"/>
              </a:rPr>
              <a:t>Lambda не опитує S3. Саме подія S3 викликає функцію та передає дані про завантажений об’єкт.</a:t>
            </a:r>
          </a:p>
        </p:txBody>
      </p:sp>
      <p:sp>
        <p:nvSpPr>
          <p:cNvPr id="30" name="Rectangle 29">
            <a:extLst>
              <a:ext uri="{FF2B5EF4-FFF2-40B4-BE49-F238E27FC236}">
                <a16:creationId xmlns:a16="http://schemas.microsoft.com/office/drawing/2014/main" id="{84D8AF88-0348-4E67-BD16-C6FC9F4B1063}"/>
              </a:ext>
            </a:extLst>
          </p:cNvPr>
          <p:cNvSpPr>
            <a:spLocks noGrp="1"/>
          </p:cNvSpPr>
          <p:nvPr/>
        </p:nvSpPr>
        <p:spPr>
          <a:xfrm>
            <a:off x="457200" y="6515100"/>
            <a:ext cx="5715000" cy="209550"/>
          </a:xfrm>
          <a:prstGeom prst="rect">
            <a:avLst/>
          </a:prstGeom>
          <a:noFill/>
          <a:ln w="0">
            <a:noFill/>
          </a:ln>
        </p:spPr>
        <p:txBody>
          <a:bodyPr anchor="t">
            <a:normAutofit fontScale="93939" lnSpcReduction="10000"/>
          </a:bodyPr>
          <a:lstStyle/>
          <a:p>
            <a:pPr algn="l">
              <a:defRPr sz="825" b="0" i="0">
                <a:solidFill>
                  <a:srgbClr val="5A6674"/>
                </a:solidFill>
                <a:latin typeface="Calibri"/>
                <a:ea typeface="Calibri"/>
                <a:cs typeface="Calibri"/>
              </a:defRPr>
            </a:pPr>
            <a:r>
              <a:rPr sz="825" b="0" i="0">
                <a:solidFill>
                  <a:srgbClr val="5A6674"/>
                </a:solidFill>
                <a:latin typeface="Calibri"/>
                <a:ea typeface="Calibri"/>
                <a:cs typeface="Calibri"/>
              </a:rPr>
              <a:t>Serverless та AWS Lambda</a:t>
            </a:r>
          </a:p>
        </p:txBody>
      </p:sp>
      <p:sp>
        <p:nvSpPr>
          <p:cNvPr id="31" name="Rectangle 30">
            <a:extLst>
              <a:ext uri="{FF2B5EF4-FFF2-40B4-BE49-F238E27FC236}">
                <a16:creationId xmlns:a16="http://schemas.microsoft.com/office/drawing/2014/main" id="{A9AC02B9-19C5-4073-A440-D4A792F96056}"/>
              </a:ext>
            </a:extLst>
          </p:cNvPr>
          <p:cNvSpPr>
            <a:spLocks noGrp="1"/>
          </p:cNvSpPr>
          <p:nvPr/>
        </p:nvSpPr>
        <p:spPr>
          <a:xfrm>
            <a:off x="11239500" y="6515100"/>
            <a:ext cx="476250" cy="209550"/>
          </a:xfrm>
          <a:prstGeom prst="rect">
            <a:avLst/>
          </a:prstGeom>
          <a:noFill/>
          <a:ln w="0">
            <a:noFill/>
          </a:ln>
        </p:spPr>
        <p:txBody>
          <a:bodyPr anchor="t">
            <a:normAutofit fontScale="93939" lnSpcReduction="10000"/>
          </a:bodyPr>
          <a:lstStyle/>
          <a:p>
            <a:pPr algn="r">
              <a:defRPr sz="825" b="0" i="0">
                <a:solidFill>
                  <a:srgbClr val="5A6674"/>
                </a:solidFill>
                <a:latin typeface="Calibri"/>
                <a:ea typeface="Calibri"/>
                <a:cs typeface="Calibri"/>
              </a:defRPr>
            </a:pPr>
            <a:r>
              <a:rPr sz="825" b="0" i="0">
                <a:solidFill>
                  <a:srgbClr val="5A6674"/>
                </a:solidFill>
                <a:latin typeface="Calibri"/>
                <a:ea typeface="Calibri"/>
                <a:cs typeface="Calibri"/>
              </a:rPr>
              <a:t>3</a:t>
            </a:r>
          </a:p>
        </p:txBody>
      </p:sp>
    </p:spTree>
    <p:extLst>
      <p:ext uri="{BB962C8B-B14F-4D97-AF65-F5344CB8AC3E}">
        <p14:creationId xmlns:p14="http://schemas.microsoft.com/office/powerpoint/2010/main" val="1593359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32F3E"/>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17F9521E-78A4-4BF4-98C4-9F568926FA1A}"/>
              </a:ext>
            </a:extLst>
          </p:cNvPr>
          <p:cNvSpPr>
            <a:spLocks noGrp="1"/>
          </p:cNvSpPr>
          <p:nvPr/>
        </p:nvSpPr>
        <p:spPr>
          <a:xfrm>
            <a:off x="552450" y="552450"/>
            <a:ext cx="11049000" cy="666750"/>
          </a:xfrm>
          <a:prstGeom prst="rect">
            <a:avLst/>
          </a:prstGeom>
          <a:noFill/>
          <a:ln w="0">
            <a:noFill/>
          </a:ln>
        </p:spPr>
        <p:txBody>
          <a:bodyPr anchor="t">
            <a:normAutofit/>
          </a:bodyPr>
          <a:lstStyle/>
          <a:p>
            <a:pPr algn="l">
              <a:defRPr sz="2805" b="1" i="0">
                <a:solidFill>
                  <a:srgbClr val="FFFFFF"/>
                </a:solidFill>
                <a:latin typeface="Cambria"/>
                <a:ea typeface="Cambria"/>
                <a:cs typeface="Cambria"/>
              </a:defRPr>
            </a:pPr>
            <a:r>
              <a:rPr sz="3200" b="1" i="0" dirty="0">
                <a:solidFill>
                  <a:srgbClr val="FFFFFF"/>
                </a:solidFill>
                <a:latin typeface="Cambria"/>
                <a:ea typeface="Cambria"/>
                <a:cs typeface="Cambria"/>
              </a:rPr>
              <a:t>Handler, event і context</a:t>
            </a:r>
          </a:p>
        </p:txBody>
      </p:sp>
      <p:sp>
        <p:nvSpPr>
          <p:cNvPr id="2" name="Rounded Rectangle 1">
            <a:extLst>
              <a:ext uri="{FF2B5EF4-FFF2-40B4-BE49-F238E27FC236}">
                <a16:creationId xmlns:a16="http://schemas.microsoft.com/office/drawing/2014/main" id="{7DBFB65E-224A-4953-925F-7FC87D3530D3}"/>
              </a:ext>
            </a:extLst>
          </p:cNvPr>
          <p:cNvSpPr>
            <a:spLocks noGrp="1"/>
          </p:cNvSpPr>
          <p:nvPr/>
        </p:nvSpPr>
        <p:spPr>
          <a:xfrm>
            <a:off x="552449" y="1619250"/>
            <a:ext cx="5943599" cy="3714750"/>
          </a:xfrm>
          <a:prstGeom prst="roundRect">
            <a:avLst>
              <a:gd name="adj" fmla="val 2051"/>
            </a:avLst>
          </a:prstGeom>
          <a:solidFill>
            <a:srgbClr val="1A2431"/>
          </a:solidFill>
          <a:ln w="9525">
            <a:solidFill>
              <a:srgbClr val="37475A"/>
            </a:solidFill>
          </a:ln>
        </p:spPr>
        <p:txBody>
          <a:bodyPr/>
          <a:lstStyle/>
          <a:p>
            <a:endParaRPr lang="en-UA"/>
          </a:p>
        </p:txBody>
      </p:sp>
      <p:sp>
        <p:nvSpPr>
          <p:cNvPr id="3" name="Oval 2">
            <a:extLst>
              <a:ext uri="{FF2B5EF4-FFF2-40B4-BE49-F238E27FC236}">
                <a16:creationId xmlns:a16="http://schemas.microsoft.com/office/drawing/2014/main" id="{F4889D5A-9E05-45B0-802C-5739AD86184D}"/>
              </a:ext>
            </a:extLst>
          </p:cNvPr>
          <p:cNvSpPr>
            <a:spLocks noGrp="1"/>
          </p:cNvSpPr>
          <p:nvPr/>
        </p:nvSpPr>
        <p:spPr>
          <a:xfrm>
            <a:off x="742950" y="1781175"/>
            <a:ext cx="114300" cy="114300"/>
          </a:xfrm>
          <a:prstGeom prst="ellipse">
            <a:avLst/>
          </a:prstGeom>
          <a:solidFill>
            <a:srgbClr val="C0392B"/>
          </a:solidFill>
          <a:ln w="0">
            <a:noFill/>
          </a:ln>
        </p:spPr>
        <p:txBody>
          <a:bodyPr/>
          <a:lstStyle/>
          <a:p>
            <a:endParaRPr lang="en-UA"/>
          </a:p>
        </p:txBody>
      </p:sp>
      <p:sp>
        <p:nvSpPr>
          <p:cNvPr id="4" name="Oval 3">
            <a:extLst>
              <a:ext uri="{FF2B5EF4-FFF2-40B4-BE49-F238E27FC236}">
                <a16:creationId xmlns:a16="http://schemas.microsoft.com/office/drawing/2014/main" id="{82347EE5-792C-4A63-ACFD-25CC80B8EFF5}"/>
              </a:ext>
            </a:extLst>
          </p:cNvPr>
          <p:cNvSpPr>
            <a:spLocks noGrp="1"/>
          </p:cNvSpPr>
          <p:nvPr/>
        </p:nvSpPr>
        <p:spPr>
          <a:xfrm>
            <a:off x="952500" y="1781175"/>
            <a:ext cx="114300" cy="114300"/>
          </a:xfrm>
          <a:prstGeom prst="ellipse">
            <a:avLst/>
          </a:prstGeom>
          <a:solidFill>
            <a:srgbClr val="E8B84B"/>
          </a:solidFill>
          <a:ln w="0">
            <a:noFill/>
          </a:ln>
        </p:spPr>
        <p:txBody>
          <a:bodyPr/>
          <a:lstStyle/>
          <a:p>
            <a:endParaRPr lang="en-UA"/>
          </a:p>
        </p:txBody>
      </p:sp>
      <p:sp>
        <p:nvSpPr>
          <p:cNvPr id="5" name="Oval 4">
            <a:extLst>
              <a:ext uri="{FF2B5EF4-FFF2-40B4-BE49-F238E27FC236}">
                <a16:creationId xmlns:a16="http://schemas.microsoft.com/office/drawing/2014/main" id="{43A18E23-CE46-411D-93EF-962C4AA0059D}"/>
              </a:ext>
            </a:extLst>
          </p:cNvPr>
          <p:cNvSpPr>
            <a:spLocks noGrp="1"/>
          </p:cNvSpPr>
          <p:nvPr/>
        </p:nvSpPr>
        <p:spPr>
          <a:xfrm>
            <a:off x="1162050" y="1781175"/>
            <a:ext cx="114300" cy="114300"/>
          </a:xfrm>
          <a:prstGeom prst="ellipse">
            <a:avLst/>
          </a:prstGeom>
          <a:solidFill>
            <a:srgbClr val="5CB86B"/>
          </a:solidFill>
          <a:ln w="0">
            <a:noFill/>
          </a:ln>
        </p:spPr>
        <p:txBody>
          <a:bodyPr/>
          <a:lstStyle/>
          <a:p>
            <a:endParaRPr lang="en-UA"/>
          </a:p>
        </p:txBody>
      </p:sp>
      <p:sp>
        <p:nvSpPr>
          <p:cNvPr id="6" name="Rectangle 5">
            <a:extLst>
              <a:ext uri="{FF2B5EF4-FFF2-40B4-BE49-F238E27FC236}">
                <a16:creationId xmlns:a16="http://schemas.microsoft.com/office/drawing/2014/main" id="{1D360DD1-25D4-4F7A-BF0E-B13E09B81744}"/>
              </a:ext>
            </a:extLst>
          </p:cNvPr>
          <p:cNvSpPr>
            <a:spLocks noGrp="1"/>
          </p:cNvSpPr>
          <p:nvPr/>
        </p:nvSpPr>
        <p:spPr>
          <a:xfrm>
            <a:off x="1409700" y="1733550"/>
            <a:ext cx="4095750" cy="209550"/>
          </a:xfrm>
          <a:prstGeom prst="rect">
            <a:avLst/>
          </a:prstGeom>
          <a:noFill/>
          <a:ln w="0">
            <a:noFill/>
          </a:ln>
        </p:spPr>
        <p:txBody>
          <a:bodyPr anchor="t">
            <a:normAutofit fontScale="93939" lnSpcReduction="10000"/>
          </a:bodyPr>
          <a:lstStyle/>
          <a:p>
            <a:pPr algn="ctr">
              <a:defRPr sz="825" b="0" i="0">
                <a:solidFill>
                  <a:srgbClr val="8A97A8"/>
                </a:solidFill>
                <a:latin typeface="Consolas"/>
                <a:ea typeface="Consolas"/>
                <a:cs typeface="Consolas"/>
              </a:defRPr>
            </a:pPr>
            <a:r>
              <a:rPr sz="825" b="0" i="0">
                <a:solidFill>
                  <a:srgbClr val="8A97A8"/>
                </a:solidFill>
                <a:latin typeface="Consolas"/>
                <a:ea typeface="Consolas"/>
                <a:cs typeface="Consolas"/>
              </a:rPr>
              <a:t>lambda_function.py</a:t>
            </a:r>
          </a:p>
        </p:txBody>
      </p:sp>
      <p:sp>
        <p:nvSpPr>
          <p:cNvPr id="7" name="Rectangle 6">
            <a:extLst>
              <a:ext uri="{FF2B5EF4-FFF2-40B4-BE49-F238E27FC236}">
                <a16:creationId xmlns:a16="http://schemas.microsoft.com/office/drawing/2014/main" id="{351B3920-73A8-4059-A0F0-D8276CAEB49B}"/>
              </a:ext>
            </a:extLst>
          </p:cNvPr>
          <p:cNvSpPr>
            <a:spLocks noGrp="1"/>
          </p:cNvSpPr>
          <p:nvPr/>
        </p:nvSpPr>
        <p:spPr>
          <a:xfrm>
            <a:off x="628650" y="2081212"/>
            <a:ext cx="5943600" cy="3067050"/>
          </a:xfrm>
          <a:prstGeom prst="rect">
            <a:avLst/>
          </a:prstGeom>
          <a:noFill/>
          <a:ln w="0">
            <a:noFill/>
          </a:ln>
        </p:spPr>
        <p:txBody>
          <a:bodyPr anchor="t">
            <a:normAutofit/>
          </a:bodyPr>
          <a:lstStyle/>
          <a:p>
            <a:pPr algn="l">
              <a:defRPr sz="1155" b="0" i="0">
                <a:solidFill>
                  <a:srgbClr val="B8E986"/>
                </a:solidFill>
                <a:latin typeface="Consolas"/>
                <a:ea typeface="Consolas"/>
                <a:cs typeface="Consolas"/>
              </a:defRPr>
            </a:pPr>
            <a:r>
              <a:rPr sz="1400" b="0" i="0" dirty="0">
                <a:solidFill>
                  <a:srgbClr val="B8E986"/>
                </a:solidFill>
                <a:latin typeface="Consolas"/>
                <a:ea typeface="Consolas"/>
                <a:cs typeface="Consolas"/>
              </a:rPr>
              <a:t>def </a:t>
            </a:r>
            <a:r>
              <a:rPr sz="1400" b="0" i="0" dirty="0" err="1">
                <a:solidFill>
                  <a:srgbClr val="B8E986"/>
                </a:solidFill>
                <a:latin typeface="Consolas"/>
                <a:ea typeface="Consolas"/>
                <a:cs typeface="Consolas"/>
              </a:rPr>
              <a:t>lambda_handler</a:t>
            </a:r>
            <a:r>
              <a:rPr sz="1400" b="0" i="0" dirty="0">
                <a:solidFill>
                  <a:srgbClr val="B8E986"/>
                </a:solidFill>
                <a:latin typeface="Consolas"/>
                <a:ea typeface="Consolas"/>
                <a:cs typeface="Consolas"/>
              </a:rPr>
              <a:t>(event, context):</a:t>
            </a:r>
          </a:p>
          <a:p>
            <a:pPr algn="l">
              <a:defRPr sz="1155" b="0" i="0">
                <a:solidFill>
                  <a:srgbClr val="B8E986"/>
                </a:solidFill>
                <a:latin typeface="Consolas"/>
                <a:ea typeface="Consolas"/>
                <a:cs typeface="Consolas"/>
              </a:defRPr>
            </a:pPr>
            <a:r>
              <a:rPr sz="1400" b="0" i="0" dirty="0">
                <a:solidFill>
                  <a:srgbClr val="B8E986"/>
                </a:solidFill>
                <a:latin typeface="Consolas"/>
                <a:ea typeface="Consolas"/>
                <a:cs typeface="Consolas"/>
              </a:rPr>
              <a:t>    bucket = event["Records"][0]["s3"]["bucket"]["name"]</a:t>
            </a:r>
          </a:p>
          <a:p>
            <a:pPr algn="l">
              <a:defRPr sz="1155" b="0" i="0">
                <a:solidFill>
                  <a:srgbClr val="B8E986"/>
                </a:solidFill>
                <a:latin typeface="Consolas"/>
                <a:ea typeface="Consolas"/>
                <a:cs typeface="Consolas"/>
              </a:defRPr>
            </a:pPr>
            <a:r>
              <a:rPr sz="1400" b="0" i="0" dirty="0">
                <a:solidFill>
                  <a:srgbClr val="B8E986"/>
                </a:solidFill>
                <a:latin typeface="Consolas"/>
                <a:ea typeface="Consolas"/>
                <a:cs typeface="Consolas"/>
              </a:rPr>
              <a:t>    key = event["Records"][0]["s3"]["object"]["key"]</a:t>
            </a:r>
          </a:p>
          <a:p>
            <a:endParaRPr sz="1400" b="0" i="0" dirty="0">
              <a:solidFill>
                <a:srgbClr val="B8E986"/>
              </a:solidFill>
              <a:latin typeface="Consolas"/>
              <a:ea typeface="Consolas"/>
              <a:cs typeface="Consolas"/>
            </a:endParaRPr>
          </a:p>
          <a:p>
            <a:pPr algn="l">
              <a:defRPr sz="1155" b="0" i="0">
                <a:solidFill>
                  <a:srgbClr val="B8E986"/>
                </a:solidFill>
                <a:latin typeface="Consolas"/>
                <a:ea typeface="Consolas"/>
                <a:cs typeface="Consolas"/>
              </a:defRPr>
            </a:pPr>
            <a:r>
              <a:rPr sz="1400" b="0" i="0" dirty="0">
                <a:solidFill>
                  <a:srgbClr val="B8E986"/>
                </a:solidFill>
                <a:latin typeface="Consolas"/>
                <a:ea typeface="Consolas"/>
                <a:cs typeface="Consolas"/>
              </a:rPr>
              <a:t>    print(</a:t>
            </a:r>
            <a:r>
              <a:rPr sz="1400" b="0" i="0" dirty="0" err="1">
                <a:solidFill>
                  <a:srgbClr val="B8E986"/>
                </a:solidFill>
                <a:latin typeface="Consolas"/>
                <a:ea typeface="Consolas"/>
                <a:cs typeface="Consolas"/>
              </a:rPr>
              <a:t>f"Processing</a:t>
            </a:r>
            <a:r>
              <a:rPr sz="1400" b="0" i="0" dirty="0">
                <a:solidFill>
                  <a:srgbClr val="B8E986"/>
                </a:solidFill>
                <a:latin typeface="Consolas"/>
                <a:ea typeface="Consolas"/>
                <a:cs typeface="Consolas"/>
              </a:rPr>
              <a:t> s3://{bucket}/{key}")</a:t>
            </a:r>
          </a:p>
          <a:p>
            <a:pPr algn="l">
              <a:defRPr sz="1155" b="0" i="0">
                <a:solidFill>
                  <a:srgbClr val="B8E986"/>
                </a:solidFill>
                <a:latin typeface="Consolas"/>
                <a:ea typeface="Consolas"/>
                <a:cs typeface="Consolas"/>
              </a:defRPr>
            </a:pPr>
            <a:r>
              <a:rPr sz="1400" b="0" i="0" dirty="0">
                <a:solidFill>
                  <a:srgbClr val="B8E986"/>
                </a:solidFill>
                <a:latin typeface="Consolas"/>
                <a:ea typeface="Consolas"/>
                <a:cs typeface="Consolas"/>
              </a:rPr>
              <a:t>    return {"</a:t>
            </a:r>
            <a:r>
              <a:rPr sz="1400" b="0" i="0" dirty="0" err="1">
                <a:solidFill>
                  <a:srgbClr val="B8E986"/>
                </a:solidFill>
                <a:latin typeface="Consolas"/>
                <a:ea typeface="Consolas"/>
                <a:cs typeface="Consolas"/>
              </a:rPr>
              <a:t>statusCode</a:t>
            </a:r>
            <a:r>
              <a:rPr sz="1400" b="0" i="0" dirty="0">
                <a:solidFill>
                  <a:srgbClr val="B8E986"/>
                </a:solidFill>
                <a:latin typeface="Consolas"/>
                <a:ea typeface="Consolas"/>
                <a:cs typeface="Consolas"/>
              </a:rPr>
              <a:t>": 200}</a:t>
            </a:r>
          </a:p>
        </p:txBody>
      </p:sp>
      <p:sp>
        <p:nvSpPr>
          <p:cNvPr id="8" name="Oval 7">
            <a:extLst>
              <a:ext uri="{FF2B5EF4-FFF2-40B4-BE49-F238E27FC236}">
                <a16:creationId xmlns:a16="http://schemas.microsoft.com/office/drawing/2014/main" id="{9B480B85-4C4E-4571-9057-14FC05EDCBC6}"/>
              </a:ext>
            </a:extLst>
          </p:cNvPr>
          <p:cNvSpPr>
            <a:spLocks noGrp="1"/>
          </p:cNvSpPr>
          <p:nvPr/>
        </p:nvSpPr>
        <p:spPr>
          <a:xfrm>
            <a:off x="6868886" y="1697666"/>
            <a:ext cx="438150" cy="438150"/>
          </a:xfrm>
          <a:prstGeom prst="ellipse">
            <a:avLst/>
          </a:prstGeom>
          <a:solidFill>
            <a:srgbClr val="FF9900"/>
          </a:solidFill>
          <a:ln w="0">
            <a:noFill/>
          </a:ln>
        </p:spPr>
        <p:txBody>
          <a:bodyPr/>
          <a:lstStyle/>
          <a:p>
            <a:endParaRPr lang="en-UA" sz="2000"/>
          </a:p>
        </p:txBody>
      </p:sp>
      <p:sp>
        <p:nvSpPr>
          <p:cNvPr id="9" name="Rectangle 8">
            <a:extLst>
              <a:ext uri="{FF2B5EF4-FFF2-40B4-BE49-F238E27FC236}">
                <a16:creationId xmlns:a16="http://schemas.microsoft.com/office/drawing/2014/main" id="{CC42F61D-7559-4182-BAA2-43EF544B0AF8}"/>
              </a:ext>
            </a:extLst>
          </p:cNvPr>
          <p:cNvSpPr>
            <a:spLocks noGrp="1"/>
          </p:cNvSpPr>
          <p:nvPr/>
        </p:nvSpPr>
        <p:spPr>
          <a:xfrm>
            <a:off x="6868886" y="1754816"/>
            <a:ext cx="438150" cy="285750"/>
          </a:xfrm>
          <a:prstGeom prst="rect">
            <a:avLst/>
          </a:prstGeom>
          <a:noFill/>
          <a:ln w="0">
            <a:noFill/>
          </a:ln>
        </p:spPr>
        <p:txBody>
          <a:bodyPr anchor="t">
            <a:noAutofit/>
          </a:bodyPr>
          <a:lstStyle/>
          <a:p>
            <a:pPr algn="ctr">
              <a:defRPr sz="1238" b="1" i="0">
                <a:solidFill>
                  <a:srgbClr val="232F3E"/>
                </a:solidFill>
                <a:latin typeface="Calibri"/>
                <a:ea typeface="Calibri"/>
                <a:cs typeface="Calibri"/>
              </a:defRPr>
            </a:pPr>
            <a:r>
              <a:rPr lang="en-US" sz="1400" b="1" i="0" dirty="0">
                <a:solidFill>
                  <a:srgbClr val="232F3E"/>
                </a:solidFill>
                <a:latin typeface="Calibri"/>
                <a:ea typeface="Calibri"/>
                <a:cs typeface="Calibri"/>
              </a:rPr>
              <a:t>1</a:t>
            </a:r>
            <a:endParaRPr sz="1400" b="1" i="0" dirty="0">
              <a:solidFill>
                <a:srgbClr val="232F3E"/>
              </a:solidFill>
              <a:latin typeface="Calibri"/>
              <a:ea typeface="Calibri"/>
              <a:cs typeface="Calibri"/>
            </a:endParaRPr>
          </a:p>
        </p:txBody>
      </p:sp>
      <p:sp>
        <p:nvSpPr>
          <p:cNvPr id="10" name="Rectangle 9">
            <a:extLst>
              <a:ext uri="{FF2B5EF4-FFF2-40B4-BE49-F238E27FC236}">
                <a16:creationId xmlns:a16="http://schemas.microsoft.com/office/drawing/2014/main" id="{57212513-8A62-41F3-A26E-466BC3D8132D}"/>
              </a:ext>
            </a:extLst>
          </p:cNvPr>
          <p:cNvSpPr>
            <a:spLocks noGrp="1"/>
          </p:cNvSpPr>
          <p:nvPr/>
        </p:nvSpPr>
        <p:spPr>
          <a:xfrm>
            <a:off x="7516586" y="1676400"/>
            <a:ext cx="1619250" cy="266700"/>
          </a:xfrm>
          <a:prstGeom prst="rect">
            <a:avLst/>
          </a:prstGeom>
          <a:noFill/>
          <a:ln w="0">
            <a:noFill/>
          </a:ln>
        </p:spPr>
        <p:txBody>
          <a:bodyPr anchor="t">
            <a:noAutofit/>
          </a:bodyPr>
          <a:lstStyle/>
          <a:p>
            <a:pPr algn="l">
              <a:defRPr sz="1320" b="1" i="0">
                <a:solidFill>
                  <a:srgbClr val="FF9900"/>
                </a:solidFill>
                <a:latin typeface="Consolas"/>
                <a:ea typeface="Consolas"/>
                <a:cs typeface="Consolas"/>
              </a:defRPr>
            </a:pPr>
            <a:r>
              <a:rPr sz="1400" b="1" i="0">
                <a:solidFill>
                  <a:srgbClr val="FF9900"/>
                </a:solidFill>
                <a:latin typeface="Consolas"/>
                <a:ea typeface="Consolas"/>
                <a:cs typeface="Consolas"/>
              </a:rPr>
              <a:t>handler</a:t>
            </a:r>
          </a:p>
        </p:txBody>
      </p:sp>
      <p:sp>
        <p:nvSpPr>
          <p:cNvPr id="11" name="Rectangle 10">
            <a:extLst>
              <a:ext uri="{FF2B5EF4-FFF2-40B4-BE49-F238E27FC236}">
                <a16:creationId xmlns:a16="http://schemas.microsoft.com/office/drawing/2014/main" id="{7C5595F0-5AAD-4F7B-ADB1-9EB9AA6010E5}"/>
              </a:ext>
            </a:extLst>
          </p:cNvPr>
          <p:cNvSpPr>
            <a:spLocks noGrp="1"/>
          </p:cNvSpPr>
          <p:nvPr/>
        </p:nvSpPr>
        <p:spPr>
          <a:xfrm>
            <a:off x="7516586" y="1962150"/>
            <a:ext cx="3905250" cy="457200"/>
          </a:xfrm>
          <a:prstGeom prst="rect">
            <a:avLst/>
          </a:prstGeom>
          <a:noFill/>
          <a:ln w="0">
            <a:noFill/>
          </a:ln>
        </p:spPr>
        <p:txBody>
          <a:bodyPr anchor="t">
            <a:normAutofit/>
          </a:bodyPr>
          <a:lstStyle/>
          <a:p>
            <a:pPr algn="l">
              <a:defRPr sz="1155" b="0" i="0">
                <a:solidFill>
                  <a:srgbClr val="E6EAF0"/>
                </a:solidFill>
                <a:latin typeface="Calibri"/>
                <a:ea typeface="Calibri"/>
                <a:cs typeface="Calibri"/>
              </a:defRPr>
            </a:pPr>
            <a:r>
              <a:rPr sz="1200" b="0" i="0">
                <a:solidFill>
                  <a:srgbClr val="E6EAF0"/>
                </a:solidFill>
                <a:latin typeface="Calibri"/>
                <a:ea typeface="Calibri"/>
                <a:cs typeface="Calibri"/>
              </a:rPr>
              <a:t>Точка входу, яку викликає Lambda</a:t>
            </a:r>
          </a:p>
        </p:txBody>
      </p:sp>
      <p:sp>
        <p:nvSpPr>
          <p:cNvPr id="12" name="Oval 11">
            <a:extLst>
              <a:ext uri="{FF2B5EF4-FFF2-40B4-BE49-F238E27FC236}">
                <a16:creationId xmlns:a16="http://schemas.microsoft.com/office/drawing/2014/main" id="{B6FC3F42-BA0B-471F-AC79-307EADA33BB6}"/>
              </a:ext>
            </a:extLst>
          </p:cNvPr>
          <p:cNvSpPr>
            <a:spLocks noGrp="1"/>
          </p:cNvSpPr>
          <p:nvPr/>
        </p:nvSpPr>
        <p:spPr>
          <a:xfrm>
            <a:off x="6868886" y="2593016"/>
            <a:ext cx="438150" cy="438150"/>
          </a:xfrm>
          <a:prstGeom prst="ellipse">
            <a:avLst/>
          </a:prstGeom>
          <a:solidFill>
            <a:srgbClr val="FF9900"/>
          </a:solidFill>
          <a:ln w="0">
            <a:noFill/>
          </a:ln>
        </p:spPr>
        <p:txBody>
          <a:bodyPr/>
          <a:lstStyle/>
          <a:p>
            <a:endParaRPr lang="en-UA" sz="2000"/>
          </a:p>
        </p:txBody>
      </p:sp>
      <p:sp>
        <p:nvSpPr>
          <p:cNvPr id="13" name="Rectangle 12">
            <a:extLst>
              <a:ext uri="{FF2B5EF4-FFF2-40B4-BE49-F238E27FC236}">
                <a16:creationId xmlns:a16="http://schemas.microsoft.com/office/drawing/2014/main" id="{B8899553-109E-4D69-BCD6-89BEA4C0AF3A}"/>
              </a:ext>
            </a:extLst>
          </p:cNvPr>
          <p:cNvSpPr>
            <a:spLocks noGrp="1"/>
          </p:cNvSpPr>
          <p:nvPr/>
        </p:nvSpPr>
        <p:spPr>
          <a:xfrm>
            <a:off x="6868886" y="2650166"/>
            <a:ext cx="438150" cy="285750"/>
          </a:xfrm>
          <a:prstGeom prst="rect">
            <a:avLst/>
          </a:prstGeom>
          <a:noFill/>
          <a:ln w="0">
            <a:noFill/>
          </a:ln>
        </p:spPr>
        <p:txBody>
          <a:bodyPr anchor="t">
            <a:noAutofit/>
          </a:bodyPr>
          <a:lstStyle/>
          <a:p>
            <a:pPr algn="ctr">
              <a:defRPr sz="1238" b="1" i="0">
                <a:solidFill>
                  <a:srgbClr val="232F3E"/>
                </a:solidFill>
                <a:latin typeface="Calibri"/>
                <a:ea typeface="Calibri"/>
                <a:cs typeface="Calibri"/>
              </a:defRPr>
            </a:pPr>
            <a:r>
              <a:rPr sz="1400" b="1" i="0">
                <a:solidFill>
                  <a:srgbClr val="232F3E"/>
                </a:solidFill>
                <a:latin typeface="Calibri"/>
                <a:ea typeface="Calibri"/>
                <a:cs typeface="Calibri"/>
              </a:rPr>
              <a:t>2</a:t>
            </a:r>
          </a:p>
        </p:txBody>
      </p:sp>
      <p:sp>
        <p:nvSpPr>
          <p:cNvPr id="14" name="Rectangle 13">
            <a:extLst>
              <a:ext uri="{FF2B5EF4-FFF2-40B4-BE49-F238E27FC236}">
                <a16:creationId xmlns:a16="http://schemas.microsoft.com/office/drawing/2014/main" id="{88D34D1E-762C-4EC2-ADD1-7DC2578886DC}"/>
              </a:ext>
            </a:extLst>
          </p:cNvPr>
          <p:cNvSpPr>
            <a:spLocks noGrp="1"/>
          </p:cNvSpPr>
          <p:nvPr/>
        </p:nvSpPr>
        <p:spPr>
          <a:xfrm>
            <a:off x="7516586" y="2571750"/>
            <a:ext cx="1619250" cy="266700"/>
          </a:xfrm>
          <a:prstGeom prst="rect">
            <a:avLst/>
          </a:prstGeom>
          <a:noFill/>
          <a:ln w="0">
            <a:noFill/>
          </a:ln>
        </p:spPr>
        <p:txBody>
          <a:bodyPr anchor="t">
            <a:noAutofit/>
          </a:bodyPr>
          <a:lstStyle/>
          <a:p>
            <a:pPr algn="l">
              <a:defRPr sz="1320" b="1" i="0">
                <a:solidFill>
                  <a:srgbClr val="FF9900"/>
                </a:solidFill>
                <a:latin typeface="Consolas"/>
                <a:ea typeface="Consolas"/>
                <a:cs typeface="Consolas"/>
              </a:defRPr>
            </a:pPr>
            <a:r>
              <a:rPr sz="1400" b="1" i="0">
                <a:solidFill>
                  <a:srgbClr val="FF9900"/>
                </a:solidFill>
                <a:latin typeface="Consolas"/>
                <a:ea typeface="Consolas"/>
                <a:cs typeface="Consolas"/>
              </a:rPr>
              <a:t>event</a:t>
            </a:r>
          </a:p>
        </p:txBody>
      </p:sp>
      <p:sp>
        <p:nvSpPr>
          <p:cNvPr id="15" name="Rectangle 14">
            <a:extLst>
              <a:ext uri="{FF2B5EF4-FFF2-40B4-BE49-F238E27FC236}">
                <a16:creationId xmlns:a16="http://schemas.microsoft.com/office/drawing/2014/main" id="{A7D5E08C-4899-4474-8412-CCF54FF2B4D2}"/>
              </a:ext>
            </a:extLst>
          </p:cNvPr>
          <p:cNvSpPr>
            <a:spLocks noGrp="1"/>
          </p:cNvSpPr>
          <p:nvPr/>
        </p:nvSpPr>
        <p:spPr>
          <a:xfrm>
            <a:off x="7516586" y="2857500"/>
            <a:ext cx="3905250" cy="457200"/>
          </a:xfrm>
          <a:prstGeom prst="rect">
            <a:avLst/>
          </a:prstGeom>
          <a:noFill/>
          <a:ln w="0">
            <a:noFill/>
          </a:ln>
        </p:spPr>
        <p:txBody>
          <a:bodyPr anchor="t">
            <a:normAutofit/>
          </a:bodyPr>
          <a:lstStyle/>
          <a:p>
            <a:pPr algn="l">
              <a:defRPr sz="1155" b="0" i="0">
                <a:solidFill>
                  <a:srgbClr val="E6EAF0"/>
                </a:solidFill>
                <a:latin typeface="Calibri"/>
                <a:ea typeface="Calibri"/>
                <a:cs typeface="Calibri"/>
              </a:defRPr>
            </a:pPr>
            <a:r>
              <a:rPr sz="1200" b="0" i="0">
                <a:solidFill>
                  <a:srgbClr val="E6EAF0"/>
                </a:solidFill>
                <a:latin typeface="Calibri"/>
                <a:ea typeface="Calibri"/>
                <a:cs typeface="Calibri"/>
              </a:rPr>
              <a:t>Вхідні дані від джерела події</a:t>
            </a:r>
          </a:p>
        </p:txBody>
      </p:sp>
      <p:sp>
        <p:nvSpPr>
          <p:cNvPr id="16" name="Oval 15">
            <a:extLst>
              <a:ext uri="{FF2B5EF4-FFF2-40B4-BE49-F238E27FC236}">
                <a16:creationId xmlns:a16="http://schemas.microsoft.com/office/drawing/2014/main" id="{35E9C264-F710-4676-9ED1-21EF9D4FD4D3}"/>
              </a:ext>
            </a:extLst>
          </p:cNvPr>
          <p:cNvSpPr>
            <a:spLocks noGrp="1"/>
          </p:cNvSpPr>
          <p:nvPr/>
        </p:nvSpPr>
        <p:spPr>
          <a:xfrm>
            <a:off x="6868886" y="3488366"/>
            <a:ext cx="438150" cy="438150"/>
          </a:xfrm>
          <a:prstGeom prst="ellipse">
            <a:avLst/>
          </a:prstGeom>
          <a:solidFill>
            <a:srgbClr val="FF9900"/>
          </a:solidFill>
          <a:ln w="0">
            <a:noFill/>
          </a:ln>
        </p:spPr>
        <p:txBody>
          <a:bodyPr/>
          <a:lstStyle/>
          <a:p>
            <a:endParaRPr lang="en-UA" sz="2000"/>
          </a:p>
        </p:txBody>
      </p:sp>
      <p:sp>
        <p:nvSpPr>
          <p:cNvPr id="17" name="Rectangle 16">
            <a:extLst>
              <a:ext uri="{FF2B5EF4-FFF2-40B4-BE49-F238E27FC236}">
                <a16:creationId xmlns:a16="http://schemas.microsoft.com/office/drawing/2014/main" id="{2FEF7726-4129-4A54-99B3-4C8CEE908ACC}"/>
              </a:ext>
            </a:extLst>
          </p:cNvPr>
          <p:cNvSpPr>
            <a:spLocks noGrp="1"/>
          </p:cNvSpPr>
          <p:nvPr/>
        </p:nvSpPr>
        <p:spPr>
          <a:xfrm>
            <a:off x="6868886" y="3545516"/>
            <a:ext cx="438150" cy="285750"/>
          </a:xfrm>
          <a:prstGeom prst="rect">
            <a:avLst/>
          </a:prstGeom>
          <a:noFill/>
          <a:ln w="0">
            <a:noFill/>
          </a:ln>
        </p:spPr>
        <p:txBody>
          <a:bodyPr anchor="t">
            <a:noAutofit/>
          </a:bodyPr>
          <a:lstStyle/>
          <a:p>
            <a:pPr algn="ctr">
              <a:defRPr sz="1238" b="1" i="0">
                <a:solidFill>
                  <a:srgbClr val="232F3E"/>
                </a:solidFill>
                <a:latin typeface="Calibri"/>
                <a:ea typeface="Calibri"/>
                <a:cs typeface="Calibri"/>
              </a:defRPr>
            </a:pPr>
            <a:r>
              <a:rPr sz="1400" b="1" i="0">
                <a:solidFill>
                  <a:srgbClr val="232F3E"/>
                </a:solidFill>
                <a:latin typeface="Calibri"/>
                <a:ea typeface="Calibri"/>
                <a:cs typeface="Calibri"/>
              </a:rPr>
              <a:t>3</a:t>
            </a:r>
          </a:p>
        </p:txBody>
      </p:sp>
      <p:sp>
        <p:nvSpPr>
          <p:cNvPr id="18" name="Rectangle 17">
            <a:extLst>
              <a:ext uri="{FF2B5EF4-FFF2-40B4-BE49-F238E27FC236}">
                <a16:creationId xmlns:a16="http://schemas.microsoft.com/office/drawing/2014/main" id="{D5016E06-2DED-4D98-ABDA-8FD29AE79C07}"/>
              </a:ext>
            </a:extLst>
          </p:cNvPr>
          <p:cNvSpPr>
            <a:spLocks noGrp="1"/>
          </p:cNvSpPr>
          <p:nvPr/>
        </p:nvSpPr>
        <p:spPr>
          <a:xfrm>
            <a:off x="7516586" y="3467100"/>
            <a:ext cx="1619250" cy="266700"/>
          </a:xfrm>
          <a:prstGeom prst="rect">
            <a:avLst/>
          </a:prstGeom>
          <a:noFill/>
          <a:ln w="0">
            <a:noFill/>
          </a:ln>
        </p:spPr>
        <p:txBody>
          <a:bodyPr anchor="t">
            <a:noAutofit/>
          </a:bodyPr>
          <a:lstStyle/>
          <a:p>
            <a:pPr algn="l">
              <a:defRPr sz="1320" b="1" i="0">
                <a:solidFill>
                  <a:srgbClr val="FF9900"/>
                </a:solidFill>
                <a:latin typeface="Consolas"/>
                <a:ea typeface="Consolas"/>
                <a:cs typeface="Consolas"/>
              </a:defRPr>
            </a:pPr>
            <a:r>
              <a:rPr sz="1400" b="1" i="0">
                <a:solidFill>
                  <a:srgbClr val="FF9900"/>
                </a:solidFill>
                <a:latin typeface="Consolas"/>
                <a:ea typeface="Consolas"/>
                <a:cs typeface="Consolas"/>
              </a:rPr>
              <a:t>context</a:t>
            </a:r>
          </a:p>
        </p:txBody>
      </p:sp>
      <p:sp>
        <p:nvSpPr>
          <p:cNvPr id="19" name="Rectangle 18">
            <a:extLst>
              <a:ext uri="{FF2B5EF4-FFF2-40B4-BE49-F238E27FC236}">
                <a16:creationId xmlns:a16="http://schemas.microsoft.com/office/drawing/2014/main" id="{D2CBD535-730C-4F93-8EA0-49E7BF701E53}"/>
              </a:ext>
            </a:extLst>
          </p:cNvPr>
          <p:cNvSpPr>
            <a:spLocks noGrp="1"/>
          </p:cNvSpPr>
          <p:nvPr/>
        </p:nvSpPr>
        <p:spPr>
          <a:xfrm>
            <a:off x="7516586" y="3752850"/>
            <a:ext cx="3905250" cy="457200"/>
          </a:xfrm>
          <a:prstGeom prst="rect">
            <a:avLst/>
          </a:prstGeom>
          <a:noFill/>
          <a:ln w="0">
            <a:noFill/>
          </a:ln>
        </p:spPr>
        <p:txBody>
          <a:bodyPr anchor="t">
            <a:normAutofit/>
          </a:bodyPr>
          <a:lstStyle/>
          <a:p>
            <a:pPr algn="l">
              <a:defRPr sz="1155" b="0" i="0">
                <a:solidFill>
                  <a:srgbClr val="E6EAF0"/>
                </a:solidFill>
                <a:latin typeface="Calibri"/>
                <a:ea typeface="Calibri"/>
                <a:cs typeface="Calibri"/>
              </a:defRPr>
            </a:pPr>
            <a:r>
              <a:rPr sz="1200" b="0" i="0">
                <a:solidFill>
                  <a:srgbClr val="E6EAF0"/>
                </a:solidFill>
                <a:latin typeface="Calibri"/>
                <a:ea typeface="Calibri"/>
                <a:cs typeface="Calibri"/>
              </a:rPr>
              <a:t>Інформація про поточний виклик і функцію</a:t>
            </a:r>
          </a:p>
        </p:txBody>
      </p:sp>
      <p:sp>
        <p:nvSpPr>
          <p:cNvPr id="20" name="Oval 19">
            <a:extLst>
              <a:ext uri="{FF2B5EF4-FFF2-40B4-BE49-F238E27FC236}">
                <a16:creationId xmlns:a16="http://schemas.microsoft.com/office/drawing/2014/main" id="{14A25049-5CB0-4811-93B2-1513F54B146C}"/>
              </a:ext>
            </a:extLst>
          </p:cNvPr>
          <p:cNvSpPr>
            <a:spLocks noGrp="1"/>
          </p:cNvSpPr>
          <p:nvPr/>
        </p:nvSpPr>
        <p:spPr>
          <a:xfrm>
            <a:off x="6868886" y="4383716"/>
            <a:ext cx="438150" cy="438150"/>
          </a:xfrm>
          <a:prstGeom prst="ellipse">
            <a:avLst/>
          </a:prstGeom>
          <a:solidFill>
            <a:srgbClr val="FF9900"/>
          </a:solidFill>
          <a:ln w="0">
            <a:noFill/>
          </a:ln>
        </p:spPr>
        <p:txBody>
          <a:bodyPr/>
          <a:lstStyle/>
          <a:p>
            <a:endParaRPr lang="en-UA" sz="2000"/>
          </a:p>
        </p:txBody>
      </p:sp>
      <p:sp>
        <p:nvSpPr>
          <p:cNvPr id="21" name="Rectangle 20">
            <a:extLst>
              <a:ext uri="{FF2B5EF4-FFF2-40B4-BE49-F238E27FC236}">
                <a16:creationId xmlns:a16="http://schemas.microsoft.com/office/drawing/2014/main" id="{8162C528-C870-49C3-8B48-B257452D3E6E}"/>
              </a:ext>
            </a:extLst>
          </p:cNvPr>
          <p:cNvSpPr>
            <a:spLocks noGrp="1"/>
          </p:cNvSpPr>
          <p:nvPr/>
        </p:nvSpPr>
        <p:spPr>
          <a:xfrm>
            <a:off x="6868886" y="4440866"/>
            <a:ext cx="438150" cy="285750"/>
          </a:xfrm>
          <a:prstGeom prst="rect">
            <a:avLst/>
          </a:prstGeom>
          <a:noFill/>
          <a:ln w="0">
            <a:noFill/>
          </a:ln>
        </p:spPr>
        <p:txBody>
          <a:bodyPr anchor="t">
            <a:noAutofit/>
          </a:bodyPr>
          <a:lstStyle/>
          <a:p>
            <a:pPr algn="ctr">
              <a:defRPr sz="1238" b="1" i="0">
                <a:solidFill>
                  <a:srgbClr val="232F3E"/>
                </a:solidFill>
                <a:latin typeface="Calibri"/>
                <a:ea typeface="Calibri"/>
                <a:cs typeface="Calibri"/>
              </a:defRPr>
            </a:pPr>
            <a:r>
              <a:rPr sz="1400" b="1" i="0">
                <a:solidFill>
                  <a:srgbClr val="232F3E"/>
                </a:solidFill>
                <a:latin typeface="Calibri"/>
                <a:ea typeface="Calibri"/>
                <a:cs typeface="Calibri"/>
              </a:rPr>
              <a:t>4</a:t>
            </a:r>
          </a:p>
        </p:txBody>
      </p:sp>
      <p:sp>
        <p:nvSpPr>
          <p:cNvPr id="22" name="Rectangle 21">
            <a:extLst>
              <a:ext uri="{FF2B5EF4-FFF2-40B4-BE49-F238E27FC236}">
                <a16:creationId xmlns:a16="http://schemas.microsoft.com/office/drawing/2014/main" id="{4891239B-44CD-46A3-B319-5CBB38F262FA}"/>
              </a:ext>
            </a:extLst>
          </p:cNvPr>
          <p:cNvSpPr>
            <a:spLocks noGrp="1"/>
          </p:cNvSpPr>
          <p:nvPr/>
        </p:nvSpPr>
        <p:spPr>
          <a:xfrm>
            <a:off x="7516586" y="4362450"/>
            <a:ext cx="1619250" cy="266700"/>
          </a:xfrm>
          <a:prstGeom prst="rect">
            <a:avLst/>
          </a:prstGeom>
          <a:noFill/>
          <a:ln w="0">
            <a:noFill/>
          </a:ln>
        </p:spPr>
        <p:txBody>
          <a:bodyPr anchor="t">
            <a:noAutofit/>
          </a:bodyPr>
          <a:lstStyle/>
          <a:p>
            <a:pPr algn="l">
              <a:defRPr sz="1320" b="1" i="0">
                <a:solidFill>
                  <a:srgbClr val="FF9900"/>
                </a:solidFill>
                <a:latin typeface="Consolas"/>
                <a:ea typeface="Consolas"/>
                <a:cs typeface="Consolas"/>
              </a:defRPr>
            </a:pPr>
            <a:r>
              <a:rPr sz="1400" b="1" i="0">
                <a:solidFill>
                  <a:srgbClr val="FF9900"/>
                </a:solidFill>
                <a:latin typeface="Consolas"/>
                <a:ea typeface="Consolas"/>
                <a:cs typeface="Consolas"/>
              </a:rPr>
              <a:t>return</a:t>
            </a:r>
          </a:p>
        </p:txBody>
      </p:sp>
      <p:sp>
        <p:nvSpPr>
          <p:cNvPr id="23" name="Rectangle 22">
            <a:extLst>
              <a:ext uri="{FF2B5EF4-FFF2-40B4-BE49-F238E27FC236}">
                <a16:creationId xmlns:a16="http://schemas.microsoft.com/office/drawing/2014/main" id="{4CAFD0B6-796A-4A1A-AAD3-DBFFD91DB1D7}"/>
              </a:ext>
            </a:extLst>
          </p:cNvPr>
          <p:cNvSpPr>
            <a:spLocks noGrp="1"/>
          </p:cNvSpPr>
          <p:nvPr/>
        </p:nvSpPr>
        <p:spPr>
          <a:xfrm>
            <a:off x="7516586" y="4648200"/>
            <a:ext cx="3905250" cy="457200"/>
          </a:xfrm>
          <a:prstGeom prst="rect">
            <a:avLst/>
          </a:prstGeom>
          <a:noFill/>
          <a:ln w="0">
            <a:noFill/>
          </a:ln>
        </p:spPr>
        <p:txBody>
          <a:bodyPr anchor="t">
            <a:normAutofit/>
          </a:bodyPr>
          <a:lstStyle/>
          <a:p>
            <a:pPr algn="l">
              <a:defRPr sz="1155" b="0" i="0">
                <a:solidFill>
                  <a:srgbClr val="E6EAF0"/>
                </a:solidFill>
                <a:latin typeface="Calibri"/>
                <a:ea typeface="Calibri"/>
                <a:cs typeface="Calibri"/>
              </a:defRPr>
            </a:pPr>
            <a:r>
              <a:rPr sz="1200" b="0" i="0">
                <a:solidFill>
                  <a:srgbClr val="E6EAF0"/>
                </a:solidFill>
                <a:latin typeface="Calibri"/>
                <a:ea typeface="Calibri"/>
                <a:cs typeface="Calibri"/>
              </a:rPr>
              <a:t>Результат для сервісу, який очікує відповідь</a:t>
            </a:r>
          </a:p>
        </p:txBody>
      </p:sp>
      <p:sp>
        <p:nvSpPr>
          <p:cNvPr id="24" name="Rectangle 23">
            <a:extLst>
              <a:ext uri="{FF2B5EF4-FFF2-40B4-BE49-F238E27FC236}">
                <a16:creationId xmlns:a16="http://schemas.microsoft.com/office/drawing/2014/main" id="{98A262E7-B7E4-44C0-B5EF-A635E5E52ACD}"/>
              </a:ext>
            </a:extLst>
          </p:cNvPr>
          <p:cNvSpPr>
            <a:spLocks noGrp="1"/>
          </p:cNvSpPr>
          <p:nvPr/>
        </p:nvSpPr>
        <p:spPr>
          <a:xfrm>
            <a:off x="457200" y="6515100"/>
            <a:ext cx="5715000" cy="209550"/>
          </a:xfrm>
          <a:prstGeom prst="rect">
            <a:avLst/>
          </a:prstGeom>
          <a:noFill/>
          <a:ln w="0">
            <a:noFill/>
          </a:ln>
        </p:spPr>
        <p:txBody>
          <a:bodyPr anchor="t">
            <a:normAutofit fontScale="93939" lnSpcReduction="10000"/>
          </a:bodyPr>
          <a:lstStyle/>
          <a:p>
            <a:pPr algn="l">
              <a:defRPr sz="825" b="0" i="0">
                <a:solidFill>
                  <a:srgbClr val="A9B7C6"/>
                </a:solidFill>
                <a:latin typeface="Calibri"/>
                <a:ea typeface="Calibri"/>
                <a:cs typeface="Calibri"/>
              </a:defRPr>
            </a:pPr>
            <a:r>
              <a:rPr sz="825" b="0" i="0">
                <a:solidFill>
                  <a:srgbClr val="A9B7C6"/>
                </a:solidFill>
                <a:latin typeface="Calibri"/>
                <a:ea typeface="Calibri"/>
                <a:cs typeface="Calibri"/>
              </a:rPr>
              <a:t>Serverless та AWS Lambda</a:t>
            </a:r>
          </a:p>
        </p:txBody>
      </p:sp>
      <p:sp>
        <p:nvSpPr>
          <p:cNvPr id="25" name="Rectangle 24">
            <a:extLst>
              <a:ext uri="{FF2B5EF4-FFF2-40B4-BE49-F238E27FC236}">
                <a16:creationId xmlns:a16="http://schemas.microsoft.com/office/drawing/2014/main" id="{ADDB8FC6-01EA-4BA2-86E4-C5003AD81024}"/>
              </a:ext>
            </a:extLst>
          </p:cNvPr>
          <p:cNvSpPr>
            <a:spLocks noGrp="1"/>
          </p:cNvSpPr>
          <p:nvPr/>
        </p:nvSpPr>
        <p:spPr>
          <a:xfrm>
            <a:off x="11239500" y="6515100"/>
            <a:ext cx="476250" cy="209550"/>
          </a:xfrm>
          <a:prstGeom prst="rect">
            <a:avLst/>
          </a:prstGeom>
          <a:noFill/>
          <a:ln w="0">
            <a:noFill/>
          </a:ln>
        </p:spPr>
        <p:txBody>
          <a:bodyPr anchor="t">
            <a:normAutofit fontScale="93939" lnSpcReduction="10000"/>
          </a:bodyPr>
          <a:lstStyle/>
          <a:p>
            <a:pPr algn="r">
              <a:defRPr sz="825" b="0" i="0">
                <a:solidFill>
                  <a:srgbClr val="A9B7C6"/>
                </a:solidFill>
                <a:latin typeface="Calibri"/>
                <a:ea typeface="Calibri"/>
                <a:cs typeface="Calibri"/>
              </a:defRPr>
            </a:pPr>
            <a:r>
              <a:rPr sz="825" b="0" i="0">
                <a:solidFill>
                  <a:srgbClr val="A9B7C6"/>
                </a:solidFill>
                <a:latin typeface="Calibri"/>
                <a:ea typeface="Calibri"/>
                <a:cs typeface="Calibri"/>
              </a:rPr>
              <a:t>4</a:t>
            </a:r>
          </a:p>
        </p:txBody>
      </p:sp>
    </p:spTree>
    <p:extLst>
      <p:ext uri="{BB962C8B-B14F-4D97-AF65-F5344CB8AC3E}">
        <p14:creationId xmlns:p14="http://schemas.microsoft.com/office/powerpoint/2010/main" val="11572123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3F3"/>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679680E1-5C50-40FD-8D4A-7ACA20C53CBD}"/>
              </a:ext>
            </a:extLst>
          </p:cNvPr>
          <p:cNvSpPr>
            <a:spLocks noGrp="1"/>
          </p:cNvSpPr>
          <p:nvPr/>
        </p:nvSpPr>
        <p:spPr>
          <a:xfrm>
            <a:off x="552450" y="538163"/>
            <a:ext cx="11049000" cy="666750"/>
          </a:xfrm>
          <a:prstGeom prst="rect">
            <a:avLst/>
          </a:prstGeom>
          <a:noFill/>
          <a:ln w="0">
            <a:noFill/>
          </a:ln>
        </p:spPr>
        <p:txBody>
          <a:bodyPr anchor="t">
            <a:normAutofit/>
          </a:bodyPr>
          <a:lstStyle/>
          <a:p>
            <a:pPr algn="l">
              <a:defRPr sz="2805" b="1" i="0">
                <a:solidFill>
                  <a:srgbClr val="16191F"/>
                </a:solidFill>
                <a:latin typeface="Cambria"/>
                <a:ea typeface="Cambria"/>
                <a:cs typeface="Cambria"/>
              </a:defRPr>
            </a:pPr>
            <a:r>
              <a:rPr sz="3200" b="1" i="0" dirty="0">
                <a:solidFill>
                  <a:srgbClr val="16191F"/>
                </a:solidFill>
                <a:latin typeface="Cambria"/>
                <a:ea typeface="Cambria"/>
                <a:cs typeface="Cambria"/>
              </a:rPr>
              <a:t>Execution role: </a:t>
            </a:r>
            <a:r>
              <a:rPr sz="3200" b="1" i="0" dirty="0" err="1">
                <a:solidFill>
                  <a:srgbClr val="16191F"/>
                </a:solidFill>
                <a:latin typeface="Cambria"/>
                <a:ea typeface="Cambria"/>
                <a:cs typeface="Cambria"/>
              </a:rPr>
              <a:t>дозволи</a:t>
            </a:r>
            <a:r>
              <a:rPr sz="3200" b="1" i="0" dirty="0">
                <a:solidFill>
                  <a:srgbClr val="16191F"/>
                </a:solidFill>
                <a:latin typeface="Cambria"/>
                <a:ea typeface="Cambria"/>
                <a:cs typeface="Cambria"/>
              </a:rPr>
              <a:t> </a:t>
            </a:r>
            <a:r>
              <a:rPr sz="3200" b="1" i="0" dirty="0" err="1">
                <a:solidFill>
                  <a:srgbClr val="16191F"/>
                </a:solidFill>
                <a:latin typeface="Cambria"/>
                <a:ea typeface="Cambria"/>
                <a:cs typeface="Cambria"/>
              </a:rPr>
              <a:t>функції</a:t>
            </a:r>
            <a:endParaRPr sz="3200" b="1" i="0" dirty="0">
              <a:solidFill>
                <a:srgbClr val="16191F"/>
              </a:solidFill>
              <a:latin typeface="Cambria"/>
              <a:ea typeface="Cambria"/>
              <a:cs typeface="Cambria"/>
            </a:endParaRPr>
          </a:p>
        </p:txBody>
      </p:sp>
      <p:sp>
        <p:nvSpPr>
          <p:cNvPr id="2" name="Rectangle 1">
            <a:extLst>
              <a:ext uri="{FF2B5EF4-FFF2-40B4-BE49-F238E27FC236}">
                <a16:creationId xmlns:a16="http://schemas.microsoft.com/office/drawing/2014/main" id="{C475255A-E07C-4CC0-A28B-65F1E2CC853D}"/>
              </a:ext>
            </a:extLst>
          </p:cNvPr>
          <p:cNvSpPr>
            <a:spLocks noGrp="1"/>
          </p:cNvSpPr>
          <p:nvPr/>
        </p:nvSpPr>
        <p:spPr>
          <a:xfrm>
            <a:off x="552450" y="1524000"/>
            <a:ext cx="11049000" cy="552450"/>
          </a:xfrm>
          <a:prstGeom prst="rect">
            <a:avLst/>
          </a:prstGeom>
          <a:noFill/>
          <a:ln w="0">
            <a:noFill/>
          </a:ln>
        </p:spPr>
        <p:txBody>
          <a:bodyPr anchor="t">
            <a:normAutofit fontScale="95207"/>
          </a:bodyPr>
          <a:lstStyle/>
          <a:p>
            <a:pPr algn="l">
              <a:defRPr sz="1650" b="0" i="0">
                <a:solidFill>
                  <a:srgbClr val="16191F"/>
                </a:solidFill>
                <a:latin typeface="Calibri"/>
                <a:ea typeface="Calibri"/>
                <a:cs typeface="Calibri"/>
              </a:defRPr>
            </a:pPr>
            <a:r>
              <a:rPr sz="1650" b="0" i="0">
                <a:solidFill>
                  <a:srgbClr val="16191F"/>
                </a:solidFill>
                <a:latin typeface="Calibri"/>
                <a:ea typeface="Calibri"/>
                <a:cs typeface="Calibri"/>
              </a:rPr>
              <a:t>Lambda звертається до AWS-сервісів від імені IAM-ролі. Код не повинен містити Access Key або Secret Access Key.</a:t>
            </a:r>
          </a:p>
        </p:txBody>
      </p:sp>
      <p:sp>
        <p:nvSpPr>
          <p:cNvPr id="3" name="Rounded Rectangle 2">
            <a:extLst>
              <a:ext uri="{FF2B5EF4-FFF2-40B4-BE49-F238E27FC236}">
                <a16:creationId xmlns:a16="http://schemas.microsoft.com/office/drawing/2014/main" id="{A0DCF55E-FBAD-491F-B74F-809F157500C3}"/>
              </a:ext>
            </a:extLst>
          </p:cNvPr>
          <p:cNvSpPr>
            <a:spLocks noGrp="1"/>
          </p:cNvSpPr>
          <p:nvPr/>
        </p:nvSpPr>
        <p:spPr>
          <a:xfrm>
            <a:off x="552450" y="2619375"/>
            <a:ext cx="2381250" cy="1428750"/>
          </a:xfrm>
          <a:prstGeom prst="roundRect">
            <a:avLst>
              <a:gd name="adj" fmla="val 5333"/>
            </a:avLst>
          </a:prstGeom>
          <a:solidFill>
            <a:srgbClr val="FFFFFF"/>
          </a:solidFill>
          <a:ln w="9525">
            <a:solidFill>
              <a:srgbClr val="DDE1E6"/>
            </a:solidFill>
          </a:ln>
        </p:spPr>
        <p:txBody>
          <a:bodyPr/>
          <a:lstStyle/>
          <a:p>
            <a:endParaRPr lang="en-UA"/>
          </a:p>
        </p:txBody>
      </p:sp>
      <p:sp>
        <p:nvSpPr>
          <p:cNvPr id="4" name="Rectangle 3">
            <a:extLst>
              <a:ext uri="{FF2B5EF4-FFF2-40B4-BE49-F238E27FC236}">
                <a16:creationId xmlns:a16="http://schemas.microsoft.com/office/drawing/2014/main" id="{99AD6C48-D68C-4267-BB5B-AAACEB0C3BEB}"/>
              </a:ext>
            </a:extLst>
          </p:cNvPr>
          <p:cNvSpPr>
            <a:spLocks noGrp="1"/>
          </p:cNvSpPr>
          <p:nvPr/>
        </p:nvSpPr>
        <p:spPr>
          <a:xfrm>
            <a:off x="1333500" y="2781300"/>
            <a:ext cx="819150" cy="361950"/>
          </a:xfrm>
          <a:prstGeom prst="rect">
            <a:avLst/>
          </a:prstGeom>
          <a:noFill/>
          <a:ln w="0">
            <a:noFill/>
          </a:ln>
        </p:spPr>
        <p:txBody>
          <a:bodyPr anchor="t">
            <a:normAutofit fontScale="89646" lnSpcReduction="10000"/>
          </a:bodyPr>
          <a:lstStyle/>
          <a:p>
            <a:pPr algn="ctr">
              <a:defRPr sz="1980" b="1" i="0">
                <a:solidFill>
                  <a:srgbClr val="232F3E"/>
                </a:solidFill>
                <a:latin typeface="Cambria"/>
                <a:ea typeface="Cambria"/>
                <a:cs typeface="Cambria"/>
              </a:defRPr>
            </a:pPr>
            <a:r>
              <a:rPr sz="1980" b="1" i="0">
                <a:solidFill>
                  <a:srgbClr val="232F3E"/>
                </a:solidFill>
                <a:latin typeface="Cambria"/>
                <a:ea typeface="Cambria"/>
                <a:cs typeface="Cambria"/>
              </a:rPr>
              <a:t>S3</a:t>
            </a:r>
          </a:p>
        </p:txBody>
      </p:sp>
      <p:sp>
        <p:nvSpPr>
          <p:cNvPr id="5" name="Rectangle 4">
            <a:extLst>
              <a:ext uri="{FF2B5EF4-FFF2-40B4-BE49-F238E27FC236}">
                <a16:creationId xmlns:a16="http://schemas.microsoft.com/office/drawing/2014/main" id="{8C5999D4-1495-4471-B918-6D5698D657AC}"/>
              </a:ext>
            </a:extLst>
          </p:cNvPr>
          <p:cNvSpPr>
            <a:spLocks noGrp="1"/>
          </p:cNvSpPr>
          <p:nvPr/>
        </p:nvSpPr>
        <p:spPr>
          <a:xfrm>
            <a:off x="742950" y="3257550"/>
            <a:ext cx="2000250" cy="266700"/>
          </a:xfrm>
          <a:prstGeom prst="rect">
            <a:avLst/>
          </a:prstGeom>
          <a:noFill/>
          <a:ln w="0">
            <a:noFill/>
          </a:ln>
        </p:spPr>
        <p:txBody>
          <a:bodyPr anchor="t">
            <a:normAutofit fontScale="94621" lnSpcReduction="10000"/>
          </a:bodyPr>
          <a:lstStyle/>
          <a:p>
            <a:pPr algn="ctr">
              <a:defRPr sz="1320" b="1" i="0">
                <a:solidFill>
                  <a:srgbClr val="16191F"/>
                </a:solidFill>
                <a:latin typeface="Calibri"/>
                <a:ea typeface="Calibri"/>
                <a:cs typeface="Calibri"/>
              </a:defRPr>
            </a:pPr>
            <a:r>
              <a:rPr sz="1320" b="1" i="0">
                <a:solidFill>
                  <a:srgbClr val="16191F"/>
                </a:solidFill>
                <a:latin typeface="Calibri"/>
                <a:ea typeface="Calibri"/>
                <a:cs typeface="Calibri"/>
              </a:rPr>
              <a:t>S3 originals</a:t>
            </a:r>
          </a:p>
        </p:txBody>
      </p:sp>
      <p:sp>
        <p:nvSpPr>
          <p:cNvPr id="6" name="Rectangle 5">
            <a:extLst>
              <a:ext uri="{FF2B5EF4-FFF2-40B4-BE49-F238E27FC236}">
                <a16:creationId xmlns:a16="http://schemas.microsoft.com/office/drawing/2014/main" id="{0DBD81C4-F3A0-4195-B80A-12BFC7986DF0}"/>
              </a:ext>
            </a:extLst>
          </p:cNvPr>
          <p:cNvSpPr>
            <a:spLocks noGrp="1"/>
          </p:cNvSpPr>
          <p:nvPr/>
        </p:nvSpPr>
        <p:spPr>
          <a:xfrm>
            <a:off x="742950" y="3571875"/>
            <a:ext cx="2000250" cy="381000"/>
          </a:xfrm>
          <a:prstGeom prst="rect">
            <a:avLst/>
          </a:prstGeom>
          <a:noFill/>
          <a:ln w="0">
            <a:noFill/>
          </a:ln>
        </p:spPr>
        <p:txBody>
          <a:bodyPr anchor="t">
            <a:normAutofit/>
          </a:bodyPr>
          <a:lstStyle/>
          <a:p>
            <a:pPr algn="ctr">
              <a:defRPr sz="990" b="0" i="0">
                <a:solidFill>
                  <a:srgbClr val="5A6674"/>
                </a:solidFill>
                <a:latin typeface="Consolas"/>
                <a:ea typeface="Consolas"/>
                <a:cs typeface="Consolas"/>
              </a:defRPr>
            </a:pPr>
            <a:r>
              <a:rPr sz="990" b="0" i="0">
                <a:solidFill>
                  <a:srgbClr val="5A6674"/>
                </a:solidFill>
                <a:latin typeface="Consolas"/>
                <a:ea typeface="Consolas"/>
                <a:cs typeface="Consolas"/>
              </a:rPr>
              <a:t>s3:GetObject</a:t>
            </a:r>
          </a:p>
        </p:txBody>
      </p:sp>
      <p:sp>
        <p:nvSpPr>
          <p:cNvPr id="7" name="Straight Connector 6">
            <a:extLst>
              <a:ext uri="{FF2B5EF4-FFF2-40B4-BE49-F238E27FC236}">
                <a16:creationId xmlns:a16="http://schemas.microsoft.com/office/drawing/2014/main" id="{3DB164B9-7EF8-4A31-AD3C-32B8FF6833CD}"/>
              </a:ext>
            </a:extLst>
          </p:cNvPr>
          <p:cNvSpPr>
            <a:spLocks noGrp="1"/>
          </p:cNvSpPr>
          <p:nvPr/>
        </p:nvSpPr>
        <p:spPr>
          <a:xfrm>
            <a:off x="2933700" y="3333750"/>
            <a:ext cx="390525" cy="0"/>
          </a:xfrm>
          <a:prstGeom prst="line">
            <a:avLst/>
          </a:prstGeom>
          <a:noFill/>
          <a:ln w="38100">
            <a:solidFill>
              <a:srgbClr val="FF9900"/>
            </a:solidFill>
          </a:ln>
        </p:spPr>
        <p:txBody>
          <a:bodyPr/>
          <a:lstStyle/>
          <a:p>
            <a:endParaRPr lang="en-UA"/>
          </a:p>
        </p:txBody>
      </p:sp>
      <p:sp>
        <p:nvSpPr>
          <p:cNvPr id="8" name="Rounded Rectangle 7">
            <a:extLst>
              <a:ext uri="{FF2B5EF4-FFF2-40B4-BE49-F238E27FC236}">
                <a16:creationId xmlns:a16="http://schemas.microsoft.com/office/drawing/2014/main" id="{27D87B34-76FB-4E05-8D0C-40BB943DF2AC}"/>
              </a:ext>
            </a:extLst>
          </p:cNvPr>
          <p:cNvSpPr>
            <a:spLocks noGrp="1"/>
          </p:cNvSpPr>
          <p:nvPr/>
        </p:nvSpPr>
        <p:spPr>
          <a:xfrm>
            <a:off x="3324225" y="2619375"/>
            <a:ext cx="2381250" cy="1428750"/>
          </a:xfrm>
          <a:prstGeom prst="roundRect">
            <a:avLst>
              <a:gd name="adj" fmla="val 5333"/>
            </a:avLst>
          </a:prstGeom>
          <a:solidFill>
            <a:srgbClr val="232F3E"/>
          </a:solidFill>
          <a:ln w="9525">
            <a:solidFill>
              <a:srgbClr val="232F3E"/>
            </a:solidFill>
          </a:ln>
        </p:spPr>
        <p:txBody>
          <a:bodyPr/>
          <a:lstStyle/>
          <a:p>
            <a:endParaRPr lang="en-UA"/>
          </a:p>
        </p:txBody>
      </p:sp>
      <p:sp>
        <p:nvSpPr>
          <p:cNvPr id="9" name="Rectangle 8">
            <a:extLst>
              <a:ext uri="{FF2B5EF4-FFF2-40B4-BE49-F238E27FC236}">
                <a16:creationId xmlns:a16="http://schemas.microsoft.com/office/drawing/2014/main" id="{11EE8DC6-2B48-418E-B27B-66FE4F76C480}"/>
              </a:ext>
            </a:extLst>
          </p:cNvPr>
          <p:cNvSpPr>
            <a:spLocks noGrp="1"/>
          </p:cNvSpPr>
          <p:nvPr/>
        </p:nvSpPr>
        <p:spPr>
          <a:xfrm>
            <a:off x="4105275" y="2781300"/>
            <a:ext cx="819150" cy="361950"/>
          </a:xfrm>
          <a:prstGeom prst="rect">
            <a:avLst/>
          </a:prstGeom>
          <a:noFill/>
          <a:ln w="0">
            <a:noFill/>
          </a:ln>
        </p:spPr>
        <p:txBody>
          <a:bodyPr anchor="t">
            <a:normAutofit fontScale="89646" lnSpcReduction="10000"/>
          </a:bodyPr>
          <a:lstStyle/>
          <a:p>
            <a:pPr algn="ctr">
              <a:defRPr sz="1980" b="1" i="0">
                <a:solidFill>
                  <a:srgbClr val="FF9900"/>
                </a:solidFill>
                <a:latin typeface="Cambria"/>
                <a:ea typeface="Cambria"/>
                <a:cs typeface="Cambria"/>
              </a:defRPr>
            </a:pPr>
            <a:r>
              <a:rPr sz="1980" b="1" i="0">
                <a:solidFill>
                  <a:srgbClr val="FF9900"/>
                </a:solidFill>
                <a:latin typeface="Cambria"/>
                <a:ea typeface="Cambria"/>
                <a:cs typeface="Cambria"/>
              </a:rPr>
              <a:t>λ</a:t>
            </a:r>
          </a:p>
        </p:txBody>
      </p:sp>
      <p:sp>
        <p:nvSpPr>
          <p:cNvPr id="10" name="Rectangle 9">
            <a:extLst>
              <a:ext uri="{FF2B5EF4-FFF2-40B4-BE49-F238E27FC236}">
                <a16:creationId xmlns:a16="http://schemas.microsoft.com/office/drawing/2014/main" id="{A968D12B-CA7C-4CCD-8944-D73D2180E774}"/>
              </a:ext>
            </a:extLst>
          </p:cNvPr>
          <p:cNvSpPr>
            <a:spLocks noGrp="1"/>
          </p:cNvSpPr>
          <p:nvPr/>
        </p:nvSpPr>
        <p:spPr>
          <a:xfrm>
            <a:off x="3514725" y="3257550"/>
            <a:ext cx="2000250" cy="266700"/>
          </a:xfrm>
          <a:prstGeom prst="rect">
            <a:avLst/>
          </a:prstGeom>
          <a:noFill/>
          <a:ln w="0">
            <a:noFill/>
          </a:ln>
        </p:spPr>
        <p:txBody>
          <a:bodyPr anchor="t">
            <a:normAutofit fontScale="94621" lnSpcReduction="10000"/>
          </a:bodyPr>
          <a:lstStyle/>
          <a:p>
            <a:pPr algn="ctr">
              <a:defRPr sz="1320" b="1" i="0">
                <a:solidFill>
                  <a:srgbClr val="FFFFFF"/>
                </a:solidFill>
                <a:latin typeface="Calibri"/>
                <a:ea typeface="Calibri"/>
                <a:cs typeface="Calibri"/>
              </a:defRPr>
            </a:pPr>
            <a:r>
              <a:rPr sz="1320" b="1" i="0">
                <a:solidFill>
                  <a:srgbClr val="FFFFFF"/>
                </a:solidFill>
                <a:latin typeface="Calibri"/>
                <a:ea typeface="Calibri"/>
                <a:cs typeface="Calibri"/>
              </a:rPr>
              <a:t>AWS Lambda</a:t>
            </a:r>
          </a:p>
        </p:txBody>
      </p:sp>
      <p:sp>
        <p:nvSpPr>
          <p:cNvPr id="11" name="Rectangle 10">
            <a:extLst>
              <a:ext uri="{FF2B5EF4-FFF2-40B4-BE49-F238E27FC236}">
                <a16:creationId xmlns:a16="http://schemas.microsoft.com/office/drawing/2014/main" id="{57809A71-A592-4A10-A424-99F869FD079A}"/>
              </a:ext>
            </a:extLst>
          </p:cNvPr>
          <p:cNvSpPr>
            <a:spLocks noGrp="1"/>
          </p:cNvSpPr>
          <p:nvPr/>
        </p:nvSpPr>
        <p:spPr>
          <a:xfrm>
            <a:off x="3514725" y="3571875"/>
            <a:ext cx="2000250" cy="381000"/>
          </a:xfrm>
          <a:prstGeom prst="rect">
            <a:avLst/>
          </a:prstGeom>
          <a:noFill/>
          <a:ln w="0">
            <a:noFill/>
          </a:ln>
        </p:spPr>
        <p:txBody>
          <a:bodyPr anchor="t">
            <a:normAutofit/>
          </a:bodyPr>
          <a:lstStyle/>
          <a:p>
            <a:pPr algn="ctr">
              <a:defRPr sz="990" b="0" i="0">
                <a:solidFill>
                  <a:srgbClr val="CADCFC"/>
                </a:solidFill>
                <a:latin typeface="Consolas"/>
                <a:ea typeface="Consolas"/>
                <a:cs typeface="Consolas"/>
              </a:defRPr>
            </a:pPr>
            <a:r>
              <a:rPr sz="990" b="0" i="0">
                <a:solidFill>
                  <a:srgbClr val="CADCFC"/>
                </a:solidFill>
                <a:latin typeface="Consolas"/>
                <a:ea typeface="Consolas"/>
                <a:cs typeface="Consolas"/>
              </a:rPr>
              <a:t>execution role</a:t>
            </a:r>
          </a:p>
        </p:txBody>
      </p:sp>
      <p:sp>
        <p:nvSpPr>
          <p:cNvPr id="12" name="Straight Connector 11">
            <a:extLst>
              <a:ext uri="{FF2B5EF4-FFF2-40B4-BE49-F238E27FC236}">
                <a16:creationId xmlns:a16="http://schemas.microsoft.com/office/drawing/2014/main" id="{80CE0B1C-3D3A-407B-B83C-185FC5052C04}"/>
              </a:ext>
            </a:extLst>
          </p:cNvPr>
          <p:cNvSpPr>
            <a:spLocks noGrp="1"/>
          </p:cNvSpPr>
          <p:nvPr/>
        </p:nvSpPr>
        <p:spPr>
          <a:xfrm>
            <a:off x="5705475" y="3333750"/>
            <a:ext cx="390525" cy="0"/>
          </a:xfrm>
          <a:prstGeom prst="line">
            <a:avLst/>
          </a:prstGeom>
          <a:noFill/>
          <a:ln w="38100">
            <a:solidFill>
              <a:srgbClr val="FF9900"/>
            </a:solidFill>
          </a:ln>
        </p:spPr>
        <p:txBody>
          <a:bodyPr/>
          <a:lstStyle/>
          <a:p>
            <a:endParaRPr lang="en-UA"/>
          </a:p>
        </p:txBody>
      </p:sp>
      <p:sp>
        <p:nvSpPr>
          <p:cNvPr id="13" name="Rounded Rectangle 12">
            <a:extLst>
              <a:ext uri="{FF2B5EF4-FFF2-40B4-BE49-F238E27FC236}">
                <a16:creationId xmlns:a16="http://schemas.microsoft.com/office/drawing/2014/main" id="{1788F164-DA2F-43BF-97D9-4DB690EE0251}"/>
              </a:ext>
            </a:extLst>
          </p:cNvPr>
          <p:cNvSpPr>
            <a:spLocks noGrp="1"/>
          </p:cNvSpPr>
          <p:nvPr/>
        </p:nvSpPr>
        <p:spPr>
          <a:xfrm>
            <a:off x="6096000" y="2619375"/>
            <a:ext cx="2381250" cy="1428750"/>
          </a:xfrm>
          <a:prstGeom prst="roundRect">
            <a:avLst>
              <a:gd name="adj" fmla="val 5333"/>
            </a:avLst>
          </a:prstGeom>
          <a:solidFill>
            <a:srgbClr val="FFFFFF"/>
          </a:solidFill>
          <a:ln w="9525">
            <a:solidFill>
              <a:srgbClr val="DDE1E6"/>
            </a:solidFill>
          </a:ln>
        </p:spPr>
        <p:txBody>
          <a:bodyPr/>
          <a:lstStyle/>
          <a:p>
            <a:endParaRPr lang="en-UA"/>
          </a:p>
        </p:txBody>
      </p:sp>
      <p:sp>
        <p:nvSpPr>
          <p:cNvPr id="14" name="Rectangle 13">
            <a:extLst>
              <a:ext uri="{FF2B5EF4-FFF2-40B4-BE49-F238E27FC236}">
                <a16:creationId xmlns:a16="http://schemas.microsoft.com/office/drawing/2014/main" id="{817EAE07-A8C1-4030-8390-00897220668F}"/>
              </a:ext>
            </a:extLst>
          </p:cNvPr>
          <p:cNvSpPr>
            <a:spLocks noGrp="1"/>
          </p:cNvSpPr>
          <p:nvPr/>
        </p:nvSpPr>
        <p:spPr>
          <a:xfrm>
            <a:off x="6877050" y="2781300"/>
            <a:ext cx="819150" cy="361950"/>
          </a:xfrm>
          <a:prstGeom prst="rect">
            <a:avLst/>
          </a:prstGeom>
          <a:noFill/>
          <a:ln w="0">
            <a:noFill/>
          </a:ln>
        </p:spPr>
        <p:txBody>
          <a:bodyPr anchor="t">
            <a:normAutofit fontScale="89646" lnSpcReduction="10000"/>
          </a:bodyPr>
          <a:lstStyle/>
          <a:p>
            <a:pPr algn="ctr">
              <a:defRPr sz="1980" b="1" i="0">
                <a:solidFill>
                  <a:srgbClr val="232F3E"/>
                </a:solidFill>
                <a:latin typeface="Cambria"/>
                <a:ea typeface="Cambria"/>
                <a:cs typeface="Cambria"/>
              </a:defRPr>
            </a:pPr>
            <a:r>
              <a:rPr sz="1980" b="1" i="0">
                <a:solidFill>
                  <a:srgbClr val="232F3E"/>
                </a:solidFill>
                <a:latin typeface="Cambria"/>
                <a:ea typeface="Cambria"/>
                <a:cs typeface="Cambria"/>
              </a:rPr>
              <a:t>S3</a:t>
            </a:r>
          </a:p>
        </p:txBody>
      </p:sp>
      <p:sp>
        <p:nvSpPr>
          <p:cNvPr id="15" name="Rectangle 14">
            <a:extLst>
              <a:ext uri="{FF2B5EF4-FFF2-40B4-BE49-F238E27FC236}">
                <a16:creationId xmlns:a16="http://schemas.microsoft.com/office/drawing/2014/main" id="{BF345AB2-9B75-4E28-ADB6-5BEEFA9B79D9}"/>
              </a:ext>
            </a:extLst>
          </p:cNvPr>
          <p:cNvSpPr>
            <a:spLocks noGrp="1"/>
          </p:cNvSpPr>
          <p:nvPr/>
        </p:nvSpPr>
        <p:spPr>
          <a:xfrm>
            <a:off x="6286500" y="3257550"/>
            <a:ext cx="2000250" cy="266700"/>
          </a:xfrm>
          <a:prstGeom prst="rect">
            <a:avLst/>
          </a:prstGeom>
          <a:noFill/>
          <a:ln w="0">
            <a:noFill/>
          </a:ln>
        </p:spPr>
        <p:txBody>
          <a:bodyPr anchor="t">
            <a:normAutofit fontScale="94621" lnSpcReduction="10000"/>
          </a:bodyPr>
          <a:lstStyle/>
          <a:p>
            <a:pPr algn="ctr">
              <a:defRPr sz="1320" b="1" i="0">
                <a:solidFill>
                  <a:srgbClr val="16191F"/>
                </a:solidFill>
                <a:latin typeface="Calibri"/>
                <a:ea typeface="Calibri"/>
                <a:cs typeface="Calibri"/>
              </a:defRPr>
            </a:pPr>
            <a:r>
              <a:rPr sz="1320" b="1" i="0">
                <a:solidFill>
                  <a:srgbClr val="16191F"/>
                </a:solidFill>
                <a:latin typeface="Calibri"/>
                <a:ea typeface="Calibri"/>
                <a:cs typeface="Calibri"/>
              </a:rPr>
              <a:t>S3 thumbnails</a:t>
            </a:r>
          </a:p>
        </p:txBody>
      </p:sp>
      <p:sp>
        <p:nvSpPr>
          <p:cNvPr id="16" name="Rectangle 15">
            <a:extLst>
              <a:ext uri="{FF2B5EF4-FFF2-40B4-BE49-F238E27FC236}">
                <a16:creationId xmlns:a16="http://schemas.microsoft.com/office/drawing/2014/main" id="{614227E1-E82D-4EAA-A863-E6CBE40E65FD}"/>
              </a:ext>
            </a:extLst>
          </p:cNvPr>
          <p:cNvSpPr>
            <a:spLocks noGrp="1"/>
          </p:cNvSpPr>
          <p:nvPr/>
        </p:nvSpPr>
        <p:spPr>
          <a:xfrm>
            <a:off x="6286500" y="3571875"/>
            <a:ext cx="2000250" cy="381000"/>
          </a:xfrm>
          <a:prstGeom prst="rect">
            <a:avLst/>
          </a:prstGeom>
          <a:noFill/>
          <a:ln w="0">
            <a:noFill/>
          </a:ln>
        </p:spPr>
        <p:txBody>
          <a:bodyPr anchor="t">
            <a:normAutofit/>
          </a:bodyPr>
          <a:lstStyle/>
          <a:p>
            <a:pPr algn="ctr">
              <a:defRPr sz="990" b="0" i="0">
                <a:solidFill>
                  <a:srgbClr val="5A6674"/>
                </a:solidFill>
                <a:latin typeface="Consolas"/>
                <a:ea typeface="Consolas"/>
                <a:cs typeface="Consolas"/>
              </a:defRPr>
            </a:pPr>
            <a:r>
              <a:rPr sz="990" b="0" i="0">
                <a:solidFill>
                  <a:srgbClr val="5A6674"/>
                </a:solidFill>
                <a:latin typeface="Consolas"/>
                <a:ea typeface="Consolas"/>
                <a:cs typeface="Consolas"/>
              </a:rPr>
              <a:t>s3:PutObject</a:t>
            </a:r>
          </a:p>
        </p:txBody>
      </p:sp>
      <p:sp>
        <p:nvSpPr>
          <p:cNvPr id="17" name="Straight Connector 16">
            <a:extLst>
              <a:ext uri="{FF2B5EF4-FFF2-40B4-BE49-F238E27FC236}">
                <a16:creationId xmlns:a16="http://schemas.microsoft.com/office/drawing/2014/main" id="{2F666C30-BD3D-4D0F-A2F4-8686ADFDA1F2}"/>
              </a:ext>
            </a:extLst>
          </p:cNvPr>
          <p:cNvSpPr>
            <a:spLocks noGrp="1"/>
          </p:cNvSpPr>
          <p:nvPr/>
        </p:nvSpPr>
        <p:spPr>
          <a:xfrm>
            <a:off x="8477250" y="3333750"/>
            <a:ext cx="390525" cy="0"/>
          </a:xfrm>
          <a:prstGeom prst="line">
            <a:avLst/>
          </a:prstGeom>
          <a:noFill/>
          <a:ln w="38100">
            <a:solidFill>
              <a:srgbClr val="FF9900"/>
            </a:solidFill>
          </a:ln>
        </p:spPr>
        <p:txBody>
          <a:bodyPr/>
          <a:lstStyle/>
          <a:p>
            <a:endParaRPr lang="en-UA"/>
          </a:p>
        </p:txBody>
      </p:sp>
      <p:sp>
        <p:nvSpPr>
          <p:cNvPr id="18" name="Rounded Rectangle 17">
            <a:extLst>
              <a:ext uri="{FF2B5EF4-FFF2-40B4-BE49-F238E27FC236}">
                <a16:creationId xmlns:a16="http://schemas.microsoft.com/office/drawing/2014/main" id="{5611ACC2-885A-41F5-BB71-68DF1DC62220}"/>
              </a:ext>
            </a:extLst>
          </p:cNvPr>
          <p:cNvSpPr>
            <a:spLocks noGrp="1"/>
          </p:cNvSpPr>
          <p:nvPr/>
        </p:nvSpPr>
        <p:spPr>
          <a:xfrm>
            <a:off x="8867775" y="2619375"/>
            <a:ext cx="2381250" cy="1428750"/>
          </a:xfrm>
          <a:prstGeom prst="roundRect">
            <a:avLst>
              <a:gd name="adj" fmla="val 5333"/>
            </a:avLst>
          </a:prstGeom>
          <a:solidFill>
            <a:srgbClr val="FFFFFF"/>
          </a:solidFill>
          <a:ln w="9525">
            <a:solidFill>
              <a:srgbClr val="DDE1E6"/>
            </a:solidFill>
          </a:ln>
        </p:spPr>
        <p:txBody>
          <a:bodyPr/>
          <a:lstStyle/>
          <a:p>
            <a:endParaRPr lang="en-UA"/>
          </a:p>
        </p:txBody>
      </p:sp>
      <p:sp>
        <p:nvSpPr>
          <p:cNvPr id="19" name="Rectangle 18">
            <a:extLst>
              <a:ext uri="{FF2B5EF4-FFF2-40B4-BE49-F238E27FC236}">
                <a16:creationId xmlns:a16="http://schemas.microsoft.com/office/drawing/2014/main" id="{D1168EEA-11EB-4332-AF52-771B60F4DDDA}"/>
              </a:ext>
            </a:extLst>
          </p:cNvPr>
          <p:cNvSpPr>
            <a:spLocks noGrp="1"/>
          </p:cNvSpPr>
          <p:nvPr/>
        </p:nvSpPr>
        <p:spPr>
          <a:xfrm>
            <a:off x="9648825" y="2781300"/>
            <a:ext cx="819150" cy="361950"/>
          </a:xfrm>
          <a:prstGeom prst="rect">
            <a:avLst/>
          </a:prstGeom>
          <a:noFill/>
          <a:ln w="0">
            <a:noFill/>
          </a:ln>
        </p:spPr>
        <p:txBody>
          <a:bodyPr anchor="t">
            <a:normAutofit fontScale="89646" lnSpcReduction="10000"/>
          </a:bodyPr>
          <a:lstStyle/>
          <a:p>
            <a:pPr algn="ctr">
              <a:defRPr sz="1980" b="1" i="0">
                <a:solidFill>
                  <a:srgbClr val="232F3E"/>
                </a:solidFill>
                <a:latin typeface="Cambria"/>
                <a:ea typeface="Cambria"/>
                <a:cs typeface="Cambria"/>
              </a:defRPr>
            </a:pPr>
            <a:r>
              <a:rPr sz="1980" b="1" i="0">
                <a:solidFill>
                  <a:srgbClr val="232F3E"/>
                </a:solidFill>
                <a:latin typeface="Cambria"/>
                <a:ea typeface="Cambria"/>
                <a:cs typeface="Cambria"/>
              </a:rPr>
              <a:t>LOG</a:t>
            </a:r>
          </a:p>
        </p:txBody>
      </p:sp>
      <p:sp>
        <p:nvSpPr>
          <p:cNvPr id="20" name="Rectangle 19">
            <a:extLst>
              <a:ext uri="{FF2B5EF4-FFF2-40B4-BE49-F238E27FC236}">
                <a16:creationId xmlns:a16="http://schemas.microsoft.com/office/drawing/2014/main" id="{3821BC39-45B5-4121-B2DE-050837B03F3A}"/>
              </a:ext>
            </a:extLst>
          </p:cNvPr>
          <p:cNvSpPr>
            <a:spLocks noGrp="1"/>
          </p:cNvSpPr>
          <p:nvPr/>
        </p:nvSpPr>
        <p:spPr>
          <a:xfrm>
            <a:off x="9058275" y="3257550"/>
            <a:ext cx="2000250" cy="266700"/>
          </a:xfrm>
          <a:prstGeom prst="rect">
            <a:avLst/>
          </a:prstGeom>
          <a:noFill/>
          <a:ln w="0">
            <a:noFill/>
          </a:ln>
        </p:spPr>
        <p:txBody>
          <a:bodyPr anchor="t">
            <a:normAutofit fontScale="94621" lnSpcReduction="10000"/>
          </a:bodyPr>
          <a:lstStyle/>
          <a:p>
            <a:pPr algn="ctr">
              <a:defRPr sz="1320" b="1" i="0">
                <a:solidFill>
                  <a:srgbClr val="16191F"/>
                </a:solidFill>
                <a:latin typeface="Calibri"/>
                <a:ea typeface="Calibri"/>
                <a:cs typeface="Calibri"/>
              </a:defRPr>
            </a:pPr>
            <a:r>
              <a:rPr sz="1320" b="1" i="0">
                <a:solidFill>
                  <a:srgbClr val="16191F"/>
                </a:solidFill>
                <a:latin typeface="Calibri"/>
                <a:ea typeface="Calibri"/>
                <a:cs typeface="Calibri"/>
              </a:rPr>
              <a:t>CloudWatch Logs</a:t>
            </a:r>
          </a:p>
        </p:txBody>
      </p:sp>
      <p:sp>
        <p:nvSpPr>
          <p:cNvPr id="21" name="Rectangle 20">
            <a:extLst>
              <a:ext uri="{FF2B5EF4-FFF2-40B4-BE49-F238E27FC236}">
                <a16:creationId xmlns:a16="http://schemas.microsoft.com/office/drawing/2014/main" id="{27416311-24F1-471C-B515-5CF4122C57F6}"/>
              </a:ext>
            </a:extLst>
          </p:cNvPr>
          <p:cNvSpPr>
            <a:spLocks noGrp="1"/>
          </p:cNvSpPr>
          <p:nvPr/>
        </p:nvSpPr>
        <p:spPr>
          <a:xfrm>
            <a:off x="9058275" y="3571875"/>
            <a:ext cx="2000250" cy="381000"/>
          </a:xfrm>
          <a:prstGeom prst="rect">
            <a:avLst/>
          </a:prstGeom>
          <a:noFill/>
          <a:ln w="0">
            <a:noFill/>
          </a:ln>
        </p:spPr>
        <p:txBody>
          <a:bodyPr anchor="t">
            <a:normAutofit fontScale="95960" lnSpcReduction="10000"/>
          </a:bodyPr>
          <a:lstStyle/>
          <a:p>
            <a:pPr algn="ctr">
              <a:defRPr sz="990" b="0" i="0">
                <a:solidFill>
                  <a:srgbClr val="5A6674"/>
                </a:solidFill>
                <a:latin typeface="Consolas"/>
                <a:ea typeface="Consolas"/>
                <a:cs typeface="Consolas"/>
              </a:defRPr>
            </a:pPr>
            <a:r>
              <a:rPr sz="990" b="0" i="0">
                <a:solidFill>
                  <a:srgbClr val="5A6674"/>
                </a:solidFill>
                <a:latin typeface="Consolas"/>
                <a:ea typeface="Consolas"/>
                <a:cs typeface="Consolas"/>
              </a:rPr>
              <a:t>logs:CreateLogStream</a:t>
            </a:r>
          </a:p>
          <a:p>
            <a:pPr algn="ctr">
              <a:defRPr sz="990" b="0" i="0">
                <a:solidFill>
                  <a:srgbClr val="5A6674"/>
                </a:solidFill>
                <a:latin typeface="Consolas"/>
                <a:ea typeface="Consolas"/>
                <a:cs typeface="Consolas"/>
              </a:defRPr>
            </a:pPr>
            <a:r>
              <a:rPr sz="990" b="0" i="0">
                <a:solidFill>
                  <a:srgbClr val="5A6674"/>
                </a:solidFill>
                <a:latin typeface="Consolas"/>
                <a:ea typeface="Consolas"/>
                <a:cs typeface="Consolas"/>
              </a:rPr>
              <a:t>logs:PutLogEvents</a:t>
            </a:r>
          </a:p>
        </p:txBody>
      </p:sp>
      <p:sp>
        <p:nvSpPr>
          <p:cNvPr id="22" name="Rounded Rectangle 21">
            <a:extLst>
              <a:ext uri="{FF2B5EF4-FFF2-40B4-BE49-F238E27FC236}">
                <a16:creationId xmlns:a16="http://schemas.microsoft.com/office/drawing/2014/main" id="{2142C969-7E98-46A3-8F3C-6B2507CB08C2}"/>
              </a:ext>
            </a:extLst>
          </p:cNvPr>
          <p:cNvSpPr>
            <a:spLocks noGrp="1"/>
          </p:cNvSpPr>
          <p:nvPr/>
        </p:nvSpPr>
        <p:spPr>
          <a:xfrm>
            <a:off x="552450" y="4619625"/>
            <a:ext cx="10696575" cy="952500"/>
          </a:xfrm>
          <a:prstGeom prst="roundRect">
            <a:avLst>
              <a:gd name="adj" fmla="val 8000"/>
            </a:avLst>
          </a:prstGeom>
          <a:solidFill>
            <a:srgbClr val="FFF3E0"/>
          </a:solidFill>
          <a:ln w="9525">
            <a:solidFill>
              <a:srgbClr val="F0C36D"/>
            </a:solidFill>
          </a:ln>
        </p:spPr>
        <p:txBody>
          <a:bodyPr/>
          <a:lstStyle/>
          <a:p>
            <a:endParaRPr lang="en-UA"/>
          </a:p>
        </p:txBody>
      </p:sp>
      <p:sp>
        <p:nvSpPr>
          <p:cNvPr id="23" name="Rectangle 22">
            <a:extLst>
              <a:ext uri="{FF2B5EF4-FFF2-40B4-BE49-F238E27FC236}">
                <a16:creationId xmlns:a16="http://schemas.microsoft.com/office/drawing/2014/main" id="{99E0E287-383C-496F-BA86-C5EF7C3EDEA1}"/>
              </a:ext>
            </a:extLst>
          </p:cNvPr>
          <p:cNvSpPr>
            <a:spLocks noGrp="1"/>
          </p:cNvSpPr>
          <p:nvPr/>
        </p:nvSpPr>
        <p:spPr>
          <a:xfrm>
            <a:off x="781050" y="4781550"/>
            <a:ext cx="3143250" cy="285750"/>
          </a:xfrm>
          <a:prstGeom prst="rect">
            <a:avLst/>
          </a:prstGeom>
          <a:noFill/>
          <a:ln w="0">
            <a:noFill/>
          </a:ln>
        </p:spPr>
        <p:txBody>
          <a:bodyPr anchor="t">
            <a:normAutofit fontScale="90877" lnSpcReduction="10000"/>
          </a:bodyPr>
          <a:lstStyle/>
          <a:p>
            <a:pPr algn="l">
              <a:defRPr sz="1403" b="1" i="0">
                <a:solidFill>
                  <a:srgbClr val="16191F"/>
                </a:solidFill>
                <a:latin typeface="Calibri"/>
                <a:ea typeface="Calibri"/>
                <a:cs typeface="Calibri"/>
              </a:defRPr>
            </a:pPr>
            <a:r>
              <a:rPr sz="1403" b="1" i="0">
                <a:solidFill>
                  <a:srgbClr val="16191F"/>
                </a:solidFill>
                <a:latin typeface="Calibri"/>
                <a:ea typeface="Calibri"/>
                <a:cs typeface="Calibri"/>
              </a:rPr>
              <a:t>Принцип найменших привілеїв</a:t>
            </a:r>
          </a:p>
        </p:txBody>
      </p:sp>
      <p:sp>
        <p:nvSpPr>
          <p:cNvPr id="24" name="Rectangle 23">
            <a:extLst>
              <a:ext uri="{FF2B5EF4-FFF2-40B4-BE49-F238E27FC236}">
                <a16:creationId xmlns:a16="http://schemas.microsoft.com/office/drawing/2014/main" id="{C6CD81F7-6AF3-4A3C-8A0F-042F9D62BD37}"/>
              </a:ext>
            </a:extLst>
          </p:cNvPr>
          <p:cNvSpPr>
            <a:spLocks noGrp="1"/>
          </p:cNvSpPr>
          <p:nvPr/>
        </p:nvSpPr>
        <p:spPr>
          <a:xfrm>
            <a:off x="781050" y="5114925"/>
            <a:ext cx="9906000" cy="342900"/>
          </a:xfrm>
          <a:prstGeom prst="rect">
            <a:avLst/>
          </a:prstGeom>
          <a:noFill/>
          <a:ln w="0">
            <a:noFill/>
          </a:ln>
        </p:spPr>
        <p:txBody>
          <a:bodyPr anchor="t">
            <a:normAutofit/>
          </a:bodyPr>
          <a:lstStyle/>
          <a:p>
            <a:pPr algn="l">
              <a:defRPr sz="1320" b="0" i="0">
                <a:solidFill>
                  <a:srgbClr val="5A6674"/>
                </a:solidFill>
                <a:latin typeface="Calibri"/>
                <a:ea typeface="Calibri"/>
                <a:cs typeface="Calibri"/>
              </a:defRPr>
            </a:pPr>
            <a:r>
              <a:rPr sz="1320" b="0" i="0">
                <a:solidFill>
                  <a:srgbClr val="5A6674"/>
                </a:solidFill>
                <a:latin typeface="Calibri"/>
                <a:ea typeface="Calibri"/>
                <a:cs typeface="Calibri"/>
              </a:rPr>
              <a:t>Дозволяйте читання лише з bucket оригіналів і запис лише в bucket мініатюр. Не використовуйте широке s3:*.</a:t>
            </a:r>
          </a:p>
        </p:txBody>
      </p:sp>
      <p:sp>
        <p:nvSpPr>
          <p:cNvPr id="25" name="Rectangle 24">
            <a:extLst>
              <a:ext uri="{FF2B5EF4-FFF2-40B4-BE49-F238E27FC236}">
                <a16:creationId xmlns:a16="http://schemas.microsoft.com/office/drawing/2014/main" id="{7190489A-17D5-4360-884D-D12A5AB2C9E6}"/>
              </a:ext>
            </a:extLst>
          </p:cNvPr>
          <p:cNvSpPr>
            <a:spLocks noGrp="1"/>
          </p:cNvSpPr>
          <p:nvPr/>
        </p:nvSpPr>
        <p:spPr>
          <a:xfrm>
            <a:off x="457200" y="6515100"/>
            <a:ext cx="5715000" cy="209550"/>
          </a:xfrm>
          <a:prstGeom prst="rect">
            <a:avLst/>
          </a:prstGeom>
          <a:noFill/>
          <a:ln w="0">
            <a:noFill/>
          </a:ln>
        </p:spPr>
        <p:txBody>
          <a:bodyPr anchor="t">
            <a:normAutofit fontScale="93939" lnSpcReduction="10000"/>
          </a:bodyPr>
          <a:lstStyle/>
          <a:p>
            <a:pPr algn="l">
              <a:defRPr sz="825" b="0" i="0">
                <a:solidFill>
                  <a:srgbClr val="5A6674"/>
                </a:solidFill>
                <a:latin typeface="Calibri"/>
                <a:ea typeface="Calibri"/>
                <a:cs typeface="Calibri"/>
              </a:defRPr>
            </a:pPr>
            <a:r>
              <a:rPr sz="825" b="0" i="0">
                <a:solidFill>
                  <a:srgbClr val="5A6674"/>
                </a:solidFill>
                <a:latin typeface="Calibri"/>
                <a:ea typeface="Calibri"/>
                <a:cs typeface="Calibri"/>
              </a:rPr>
              <a:t>Serverless та AWS Lambda</a:t>
            </a:r>
          </a:p>
        </p:txBody>
      </p:sp>
      <p:sp>
        <p:nvSpPr>
          <p:cNvPr id="26" name="Rectangle 25">
            <a:extLst>
              <a:ext uri="{FF2B5EF4-FFF2-40B4-BE49-F238E27FC236}">
                <a16:creationId xmlns:a16="http://schemas.microsoft.com/office/drawing/2014/main" id="{65EFDCC4-3210-486C-8411-0B956C7F5B76}"/>
              </a:ext>
            </a:extLst>
          </p:cNvPr>
          <p:cNvSpPr>
            <a:spLocks noGrp="1"/>
          </p:cNvSpPr>
          <p:nvPr/>
        </p:nvSpPr>
        <p:spPr>
          <a:xfrm>
            <a:off x="11239500" y="6515100"/>
            <a:ext cx="476250" cy="209550"/>
          </a:xfrm>
          <a:prstGeom prst="rect">
            <a:avLst/>
          </a:prstGeom>
          <a:noFill/>
          <a:ln w="0">
            <a:noFill/>
          </a:ln>
        </p:spPr>
        <p:txBody>
          <a:bodyPr anchor="t">
            <a:normAutofit fontScale="93939" lnSpcReduction="10000"/>
          </a:bodyPr>
          <a:lstStyle/>
          <a:p>
            <a:pPr algn="r">
              <a:defRPr sz="825" b="0" i="0">
                <a:solidFill>
                  <a:srgbClr val="5A6674"/>
                </a:solidFill>
                <a:latin typeface="Calibri"/>
                <a:ea typeface="Calibri"/>
                <a:cs typeface="Calibri"/>
              </a:defRPr>
            </a:pPr>
            <a:r>
              <a:rPr sz="825" b="0" i="0">
                <a:solidFill>
                  <a:srgbClr val="5A6674"/>
                </a:solidFill>
                <a:latin typeface="Calibri"/>
                <a:ea typeface="Calibri"/>
                <a:cs typeface="Calibri"/>
              </a:rPr>
              <a:t>5</a:t>
            </a:r>
          </a:p>
        </p:txBody>
      </p:sp>
    </p:spTree>
    <p:extLst>
      <p:ext uri="{BB962C8B-B14F-4D97-AF65-F5344CB8AC3E}">
        <p14:creationId xmlns:p14="http://schemas.microsoft.com/office/powerpoint/2010/main" val="7638047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32F3E"/>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3BDF54F6-CCE8-4E81-9C01-7E0FE4DB9AE1}"/>
              </a:ext>
            </a:extLst>
          </p:cNvPr>
          <p:cNvSpPr>
            <a:spLocks noGrp="1"/>
          </p:cNvSpPr>
          <p:nvPr/>
        </p:nvSpPr>
        <p:spPr>
          <a:xfrm>
            <a:off x="552450" y="571500"/>
            <a:ext cx="11049000" cy="666750"/>
          </a:xfrm>
          <a:prstGeom prst="rect">
            <a:avLst/>
          </a:prstGeom>
          <a:noFill/>
          <a:ln w="0">
            <a:noFill/>
          </a:ln>
        </p:spPr>
        <p:txBody>
          <a:bodyPr anchor="t">
            <a:normAutofit/>
          </a:bodyPr>
          <a:lstStyle/>
          <a:p>
            <a:pPr algn="l">
              <a:defRPr sz="2805" b="1" i="0">
                <a:solidFill>
                  <a:srgbClr val="FFFFFF"/>
                </a:solidFill>
                <a:latin typeface="Cambria"/>
                <a:ea typeface="Cambria"/>
                <a:cs typeface="Cambria"/>
              </a:defRPr>
            </a:pPr>
            <a:r>
              <a:rPr sz="3200" b="1" i="0" dirty="0" err="1">
                <a:solidFill>
                  <a:srgbClr val="FFFFFF"/>
                </a:solidFill>
                <a:latin typeface="Cambria"/>
                <a:ea typeface="Cambria"/>
                <a:cs typeface="Cambria"/>
              </a:rPr>
              <a:t>Пам’ять</a:t>
            </a:r>
            <a:r>
              <a:rPr sz="3200" b="1" i="0" dirty="0">
                <a:solidFill>
                  <a:srgbClr val="FFFFFF"/>
                </a:solidFill>
                <a:latin typeface="Cambria"/>
                <a:ea typeface="Cambria"/>
                <a:cs typeface="Cambria"/>
              </a:rPr>
              <a:t>, timeout і </a:t>
            </a:r>
            <a:r>
              <a:rPr sz="3200" b="1" i="0" dirty="0" err="1">
                <a:solidFill>
                  <a:srgbClr val="FFFFFF"/>
                </a:solidFill>
                <a:latin typeface="Cambria"/>
                <a:ea typeface="Cambria"/>
                <a:cs typeface="Cambria"/>
              </a:rPr>
              <a:t>тимчасове</a:t>
            </a:r>
            <a:r>
              <a:rPr sz="3200" b="1" i="0" dirty="0">
                <a:solidFill>
                  <a:srgbClr val="FFFFFF"/>
                </a:solidFill>
                <a:latin typeface="Cambria"/>
                <a:ea typeface="Cambria"/>
                <a:cs typeface="Cambria"/>
              </a:rPr>
              <a:t> </a:t>
            </a:r>
            <a:r>
              <a:rPr sz="3200" b="1" i="0" dirty="0" err="1">
                <a:solidFill>
                  <a:srgbClr val="FFFFFF"/>
                </a:solidFill>
                <a:latin typeface="Cambria"/>
                <a:ea typeface="Cambria"/>
                <a:cs typeface="Cambria"/>
              </a:rPr>
              <a:t>сховище</a:t>
            </a:r>
            <a:endParaRPr sz="3200" b="1" i="0" dirty="0">
              <a:solidFill>
                <a:srgbClr val="FFFFFF"/>
              </a:solidFill>
              <a:latin typeface="Cambria"/>
              <a:ea typeface="Cambria"/>
              <a:cs typeface="Cambria"/>
            </a:endParaRPr>
          </a:p>
        </p:txBody>
      </p:sp>
      <p:sp>
        <p:nvSpPr>
          <p:cNvPr id="2" name="Rounded Rectangle 1">
            <a:extLst>
              <a:ext uri="{FF2B5EF4-FFF2-40B4-BE49-F238E27FC236}">
                <a16:creationId xmlns:a16="http://schemas.microsoft.com/office/drawing/2014/main" id="{FE6BC89F-1431-4ABA-B43F-FCDC70CC924B}"/>
              </a:ext>
            </a:extLst>
          </p:cNvPr>
          <p:cNvSpPr>
            <a:spLocks noGrp="1"/>
          </p:cNvSpPr>
          <p:nvPr/>
        </p:nvSpPr>
        <p:spPr>
          <a:xfrm>
            <a:off x="552450" y="1619250"/>
            <a:ext cx="5238750" cy="1571625"/>
          </a:xfrm>
          <a:prstGeom prst="roundRect">
            <a:avLst>
              <a:gd name="adj" fmla="val 4848"/>
            </a:avLst>
          </a:prstGeom>
          <a:solidFill>
            <a:srgbClr val="2E3B4E"/>
          </a:solidFill>
          <a:ln w="9525">
            <a:solidFill>
              <a:srgbClr val="37475A"/>
            </a:solidFill>
          </a:ln>
        </p:spPr>
        <p:txBody>
          <a:bodyPr/>
          <a:lstStyle/>
          <a:p>
            <a:endParaRPr lang="en-UA" sz="2000"/>
          </a:p>
        </p:txBody>
      </p:sp>
      <p:sp>
        <p:nvSpPr>
          <p:cNvPr id="3" name="Oval 2">
            <a:extLst>
              <a:ext uri="{FF2B5EF4-FFF2-40B4-BE49-F238E27FC236}">
                <a16:creationId xmlns:a16="http://schemas.microsoft.com/office/drawing/2014/main" id="{8274D9DC-3619-4877-8D95-75046624CE6C}"/>
              </a:ext>
            </a:extLst>
          </p:cNvPr>
          <p:cNvSpPr>
            <a:spLocks noGrp="1"/>
          </p:cNvSpPr>
          <p:nvPr/>
        </p:nvSpPr>
        <p:spPr>
          <a:xfrm>
            <a:off x="819150" y="1905000"/>
            <a:ext cx="495300" cy="495300"/>
          </a:xfrm>
          <a:prstGeom prst="ellipse">
            <a:avLst/>
          </a:prstGeom>
          <a:solidFill>
            <a:srgbClr val="FF9900"/>
          </a:solidFill>
          <a:ln w="0">
            <a:noFill/>
          </a:ln>
        </p:spPr>
        <p:txBody>
          <a:bodyPr/>
          <a:lstStyle/>
          <a:p>
            <a:endParaRPr lang="en-UA" sz="2000"/>
          </a:p>
        </p:txBody>
      </p:sp>
      <p:sp>
        <p:nvSpPr>
          <p:cNvPr id="4" name="Rectangle 3">
            <a:extLst>
              <a:ext uri="{FF2B5EF4-FFF2-40B4-BE49-F238E27FC236}">
                <a16:creationId xmlns:a16="http://schemas.microsoft.com/office/drawing/2014/main" id="{9AF86B40-74C8-4E59-AFBA-7D71BA527027}"/>
              </a:ext>
            </a:extLst>
          </p:cNvPr>
          <p:cNvSpPr>
            <a:spLocks noGrp="1"/>
          </p:cNvSpPr>
          <p:nvPr/>
        </p:nvSpPr>
        <p:spPr>
          <a:xfrm>
            <a:off x="819150" y="2000250"/>
            <a:ext cx="495300" cy="266700"/>
          </a:xfrm>
          <a:prstGeom prst="rect">
            <a:avLst/>
          </a:prstGeom>
          <a:noFill/>
          <a:ln w="0">
            <a:noFill/>
          </a:ln>
        </p:spPr>
        <p:txBody>
          <a:bodyPr anchor="t">
            <a:noAutofit/>
          </a:bodyPr>
          <a:lstStyle/>
          <a:p>
            <a:pPr algn="ctr">
              <a:defRPr sz="1320" b="1" i="0">
                <a:solidFill>
                  <a:srgbClr val="232F3E"/>
                </a:solidFill>
                <a:latin typeface="Consolas"/>
                <a:ea typeface="Consolas"/>
                <a:cs typeface="Consolas"/>
              </a:defRPr>
            </a:pPr>
            <a:r>
              <a:rPr sz="1400" b="1" i="0">
                <a:solidFill>
                  <a:srgbClr val="232F3E"/>
                </a:solidFill>
                <a:latin typeface="Consolas"/>
                <a:ea typeface="Consolas"/>
                <a:cs typeface="Consolas"/>
              </a:rPr>
              <a:t>MB</a:t>
            </a:r>
          </a:p>
        </p:txBody>
      </p:sp>
      <p:sp>
        <p:nvSpPr>
          <p:cNvPr id="5" name="Rectangle 4">
            <a:extLst>
              <a:ext uri="{FF2B5EF4-FFF2-40B4-BE49-F238E27FC236}">
                <a16:creationId xmlns:a16="http://schemas.microsoft.com/office/drawing/2014/main" id="{BF7636DF-693C-4C38-9B72-F0E03B88780A}"/>
              </a:ext>
            </a:extLst>
          </p:cNvPr>
          <p:cNvSpPr>
            <a:spLocks noGrp="1"/>
          </p:cNvSpPr>
          <p:nvPr/>
        </p:nvSpPr>
        <p:spPr>
          <a:xfrm>
            <a:off x="1524000" y="1847850"/>
            <a:ext cx="3905250" cy="323850"/>
          </a:xfrm>
          <a:prstGeom prst="rect">
            <a:avLst/>
          </a:prstGeom>
          <a:noFill/>
          <a:ln w="0">
            <a:noFill/>
          </a:ln>
        </p:spPr>
        <p:txBody>
          <a:bodyPr anchor="t">
            <a:noAutofit/>
          </a:bodyPr>
          <a:lstStyle/>
          <a:p>
            <a:pPr algn="l">
              <a:defRPr sz="1485" b="1" i="0">
                <a:solidFill>
                  <a:srgbClr val="FF9900"/>
                </a:solidFill>
                <a:latin typeface="Calibri"/>
                <a:ea typeface="Calibri"/>
                <a:cs typeface="Calibri"/>
              </a:defRPr>
            </a:pPr>
            <a:r>
              <a:rPr sz="1600" b="1" i="0">
                <a:solidFill>
                  <a:srgbClr val="FF9900"/>
                </a:solidFill>
                <a:latin typeface="Calibri"/>
                <a:ea typeface="Calibri"/>
                <a:cs typeface="Calibri"/>
              </a:rPr>
              <a:t>Memory</a:t>
            </a:r>
          </a:p>
        </p:txBody>
      </p:sp>
      <p:sp>
        <p:nvSpPr>
          <p:cNvPr id="6" name="Rectangle 5">
            <a:extLst>
              <a:ext uri="{FF2B5EF4-FFF2-40B4-BE49-F238E27FC236}">
                <a16:creationId xmlns:a16="http://schemas.microsoft.com/office/drawing/2014/main" id="{A66A3F8E-2599-456E-8ABC-56ADC213CABF}"/>
              </a:ext>
            </a:extLst>
          </p:cNvPr>
          <p:cNvSpPr>
            <a:spLocks noGrp="1"/>
          </p:cNvSpPr>
          <p:nvPr/>
        </p:nvSpPr>
        <p:spPr>
          <a:xfrm>
            <a:off x="1524000" y="2247900"/>
            <a:ext cx="3905250" cy="742950"/>
          </a:xfrm>
          <a:prstGeom prst="rect">
            <a:avLst/>
          </a:prstGeom>
          <a:noFill/>
          <a:ln w="0">
            <a:noFill/>
          </a:ln>
        </p:spPr>
        <p:txBody>
          <a:bodyPr anchor="t">
            <a:normAutofit/>
          </a:bodyPr>
          <a:lstStyle/>
          <a:p>
            <a:pPr algn="l">
              <a:defRPr sz="1155" b="0" i="0">
                <a:solidFill>
                  <a:srgbClr val="E6EAF0"/>
                </a:solidFill>
                <a:latin typeface="Calibri"/>
                <a:ea typeface="Calibri"/>
                <a:cs typeface="Calibri"/>
              </a:defRPr>
            </a:pPr>
            <a:r>
              <a:rPr sz="1200" b="0" i="0">
                <a:solidFill>
                  <a:srgbClr val="E6EAF0"/>
                </a:solidFill>
                <a:latin typeface="Calibri"/>
                <a:ea typeface="Calibri"/>
                <a:cs typeface="Calibri"/>
              </a:rPr>
              <a:t>Більше пам’яті також дає більше процесорної потужності. Добирайте значення за вимірюваннями.</a:t>
            </a:r>
          </a:p>
        </p:txBody>
      </p:sp>
      <p:sp>
        <p:nvSpPr>
          <p:cNvPr id="7" name="Rounded Rectangle 6">
            <a:extLst>
              <a:ext uri="{FF2B5EF4-FFF2-40B4-BE49-F238E27FC236}">
                <a16:creationId xmlns:a16="http://schemas.microsoft.com/office/drawing/2014/main" id="{D23C53A9-B8EC-4F81-BA9B-E44F45CF3E1B}"/>
              </a:ext>
            </a:extLst>
          </p:cNvPr>
          <p:cNvSpPr>
            <a:spLocks noGrp="1"/>
          </p:cNvSpPr>
          <p:nvPr/>
        </p:nvSpPr>
        <p:spPr>
          <a:xfrm>
            <a:off x="6172200" y="1619250"/>
            <a:ext cx="5238750" cy="1571625"/>
          </a:xfrm>
          <a:prstGeom prst="roundRect">
            <a:avLst>
              <a:gd name="adj" fmla="val 4848"/>
            </a:avLst>
          </a:prstGeom>
          <a:solidFill>
            <a:srgbClr val="2E3B4E"/>
          </a:solidFill>
          <a:ln w="9525">
            <a:solidFill>
              <a:srgbClr val="37475A"/>
            </a:solidFill>
          </a:ln>
        </p:spPr>
        <p:txBody>
          <a:bodyPr/>
          <a:lstStyle/>
          <a:p>
            <a:endParaRPr lang="en-UA" sz="2000"/>
          </a:p>
        </p:txBody>
      </p:sp>
      <p:sp>
        <p:nvSpPr>
          <p:cNvPr id="8" name="Oval 7">
            <a:extLst>
              <a:ext uri="{FF2B5EF4-FFF2-40B4-BE49-F238E27FC236}">
                <a16:creationId xmlns:a16="http://schemas.microsoft.com/office/drawing/2014/main" id="{FA264324-C7D1-4073-B1BE-53F44FD06D61}"/>
              </a:ext>
            </a:extLst>
          </p:cNvPr>
          <p:cNvSpPr>
            <a:spLocks noGrp="1"/>
          </p:cNvSpPr>
          <p:nvPr/>
        </p:nvSpPr>
        <p:spPr>
          <a:xfrm>
            <a:off x="6438900" y="1905000"/>
            <a:ext cx="495300" cy="495300"/>
          </a:xfrm>
          <a:prstGeom prst="ellipse">
            <a:avLst/>
          </a:prstGeom>
          <a:solidFill>
            <a:srgbClr val="FF9900"/>
          </a:solidFill>
          <a:ln w="0">
            <a:noFill/>
          </a:ln>
        </p:spPr>
        <p:txBody>
          <a:bodyPr/>
          <a:lstStyle/>
          <a:p>
            <a:endParaRPr lang="en-UA" sz="2000"/>
          </a:p>
        </p:txBody>
      </p:sp>
      <p:sp>
        <p:nvSpPr>
          <p:cNvPr id="9" name="Rectangle 8">
            <a:extLst>
              <a:ext uri="{FF2B5EF4-FFF2-40B4-BE49-F238E27FC236}">
                <a16:creationId xmlns:a16="http://schemas.microsoft.com/office/drawing/2014/main" id="{26D20BD7-9FD7-4C30-8AE2-0EFEE0F25E3A}"/>
              </a:ext>
            </a:extLst>
          </p:cNvPr>
          <p:cNvSpPr>
            <a:spLocks noGrp="1"/>
          </p:cNvSpPr>
          <p:nvPr/>
        </p:nvSpPr>
        <p:spPr>
          <a:xfrm>
            <a:off x="6438900" y="2000250"/>
            <a:ext cx="495300" cy="266700"/>
          </a:xfrm>
          <a:prstGeom prst="rect">
            <a:avLst/>
          </a:prstGeom>
          <a:noFill/>
          <a:ln w="0">
            <a:noFill/>
          </a:ln>
        </p:spPr>
        <p:txBody>
          <a:bodyPr anchor="t">
            <a:noAutofit/>
          </a:bodyPr>
          <a:lstStyle/>
          <a:p>
            <a:pPr algn="ctr">
              <a:defRPr sz="1320" b="1" i="0">
                <a:solidFill>
                  <a:srgbClr val="232F3E"/>
                </a:solidFill>
                <a:latin typeface="Consolas"/>
                <a:ea typeface="Consolas"/>
                <a:cs typeface="Consolas"/>
              </a:defRPr>
            </a:pPr>
            <a:r>
              <a:rPr sz="1400" b="1" i="0">
                <a:solidFill>
                  <a:srgbClr val="232F3E"/>
                </a:solidFill>
                <a:latin typeface="Consolas"/>
                <a:ea typeface="Consolas"/>
                <a:cs typeface="Consolas"/>
              </a:rPr>
              <a:t>⏱</a:t>
            </a:r>
          </a:p>
        </p:txBody>
      </p:sp>
      <p:sp>
        <p:nvSpPr>
          <p:cNvPr id="10" name="Rectangle 9">
            <a:extLst>
              <a:ext uri="{FF2B5EF4-FFF2-40B4-BE49-F238E27FC236}">
                <a16:creationId xmlns:a16="http://schemas.microsoft.com/office/drawing/2014/main" id="{0553DF88-B554-4942-B4A2-B4398E6673C6}"/>
              </a:ext>
            </a:extLst>
          </p:cNvPr>
          <p:cNvSpPr>
            <a:spLocks noGrp="1"/>
          </p:cNvSpPr>
          <p:nvPr/>
        </p:nvSpPr>
        <p:spPr>
          <a:xfrm>
            <a:off x="7143750" y="1847850"/>
            <a:ext cx="3905250" cy="323850"/>
          </a:xfrm>
          <a:prstGeom prst="rect">
            <a:avLst/>
          </a:prstGeom>
          <a:noFill/>
          <a:ln w="0">
            <a:noFill/>
          </a:ln>
        </p:spPr>
        <p:txBody>
          <a:bodyPr anchor="t">
            <a:noAutofit/>
          </a:bodyPr>
          <a:lstStyle/>
          <a:p>
            <a:pPr algn="l">
              <a:defRPr sz="1485" b="1" i="0">
                <a:solidFill>
                  <a:srgbClr val="FF9900"/>
                </a:solidFill>
                <a:latin typeface="Calibri"/>
                <a:ea typeface="Calibri"/>
                <a:cs typeface="Calibri"/>
              </a:defRPr>
            </a:pPr>
            <a:r>
              <a:rPr sz="1600" b="1" i="0">
                <a:solidFill>
                  <a:srgbClr val="FF9900"/>
                </a:solidFill>
                <a:latin typeface="Calibri"/>
                <a:ea typeface="Calibri"/>
                <a:cs typeface="Calibri"/>
              </a:rPr>
              <a:t>Timeout</a:t>
            </a:r>
          </a:p>
        </p:txBody>
      </p:sp>
      <p:sp>
        <p:nvSpPr>
          <p:cNvPr id="11" name="Rectangle 10">
            <a:extLst>
              <a:ext uri="{FF2B5EF4-FFF2-40B4-BE49-F238E27FC236}">
                <a16:creationId xmlns:a16="http://schemas.microsoft.com/office/drawing/2014/main" id="{2231D09D-4A8C-4C7B-8C35-CBE2570491C9}"/>
              </a:ext>
            </a:extLst>
          </p:cNvPr>
          <p:cNvSpPr>
            <a:spLocks noGrp="1"/>
          </p:cNvSpPr>
          <p:nvPr/>
        </p:nvSpPr>
        <p:spPr>
          <a:xfrm>
            <a:off x="7143750" y="2247900"/>
            <a:ext cx="3905250" cy="742950"/>
          </a:xfrm>
          <a:prstGeom prst="rect">
            <a:avLst/>
          </a:prstGeom>
          <a:noFill/>
          <a:ln w="0">
            <a:noFill/>
          </a:ln>
        </p:spPr>
        <p:txBody>
          <a:bodyPr anchor="t">
            <a:normAutofit/>
          </a:bodyPr>
          <a:lstStyle/>
          <a:p>
            <a:pPr algn="l">
              <a:defRPr sz="1155" b="0" i="0">
                <a:solidFill>
                  <a:srgbClr val="E6EAF0"/>
                </a:solidFill>
                <a:latin typeface="Calibri"/>
                <a:ea typeface="Calibri"/>
                <a:cs typeface="Calibri"/>
              </a:defRPr>
            </a:pPr>
            <a:r>
              <a:rPr sz="1200" b="0" i="0">
                <a:solidFill>
                  <a:srgbClr val="E6EAF0"/>
                </a:solidFill>
                <a:latin typeface="Calibri"/>
                <a:ea typeface="Calibri"/>
                <a:cs typeface="Calibri"/>
              </a:rPr>
              <a:t>Обмежує тривалість одного виклику. Надто мале значення обриває роботу, надто велике приховує зависання.</a:t>
            </a:r>
          </a:p>
        </p:txBody>
      </p:sp>
      <p:sp>
        <p:nvSpPr>
          <p:cNvPr id="12" name="Rounded Rectangle 11">
            <a:extLst>
              <a:ext uri="{FF2B5EF4-FFF2-40B4-BE49-F238E27FC236}">
                <a16:creationId xmlns:a16="http://schemas.microsoft.com/office/drawing/2014/main" id="{11A80BD4-3877-43ED-B70E-E95A3F9F095F}"/>
              </a:ext>
            </a:extLst>
          </p:cNvPr>
          <p:cNvSpPr>
            <a:spLocks noGrp="1"/>
          </p:cNvSpPr>
          <p:nvPr/>
        </p:nvSpPr>
        <p:spPr>
          <a:xfrm>
            <a:off x="552450" y="3571875"/>
            <a:ext cx="5238750" cy="1571625"/>
          </a:xfrm>
          <a:prstGeom prst="roundRect">
            <a:avLst>
              <a:gd name="adj" fmla="val 4848"/>
            </a:avLst>
          </a:prstGeom>
          <a:solidFill>
            <a:srgbClr val="2E3B4E"/>
          </a:solidFill>
          <a:ln w="9525">
            <a:solidFill>
              <a:srgbClr val="37475A"/>
            </a:solidFill>
          </a:ln>
        </p:spPr>
        <p:txBody>
          <a:bodyPr/>
          <a:lstStyle/>
          <a:p>
            <a:endParaRPr lang="en-UA" sz="2000"/>
          </a:p>
        </p:txBody>
      </p:sp>
      <p:sp>
        <p:nvSpPr>
          <p:cNvPr id="13" name="Oval 12">
            <a:extLst>
              <a:ext uri="{FF2B5EF4-FFF2-40B4-BE49-F238E27FC236}">
                <a16:creationId xmlns:a16="http://schemas.microsoft.com/office/drawing/2014/main" id="{718FBD9D-CC18-4B3D-B1B0-63EF7F3C6F27}"/>
              </a:ext>
            </a:extLst>
          </p:cNvPr>
          <p:cNvSpPr>
            <a:spLocks noGrp="1"/>
          </p:cNvSpPr>
          <p:nvPr/>
        </p:nvSpPr>
        <p:spPr>
          <a:xfrm>
            <a:off x="819150" y="3857625"/>
            <a:ext cx="495300" cy="495300"/>
          </a:xfrm>
          <a:prstGeom prst="ellipse">
            <a:avLst/>
          </a:prstGeom>
          <a:solidFill>
            <a:srgbClr val="FF9900"/>
          </a:solidFill>
          <a:ln w="0">
            <a:noFill/>
          </a:ln>
        </p:spPr>
        <p:txBody>
          <a:bodyPr/>
          <a:lstStyle/>
          <a:p>
            <a:endParaRPr lang="en-UA" sz="2000"/>
          </a:p>
        </p:txBody>
      </p:sp>
      <p:sp>
        <p:nvSpPr>
          <p:cNvPr id="14" name="Rectangle 13">
            <a:extLst>
              <a:ext uri="{FF2B5EF4-FFF2-40B4-BE49-F238E27FC236}">
                <a16:creationId xmlns:a16="http://schemas.microsoft.com/office/drawing/2014/main" id="{096BFE77-5F33-4F96-9329-161BC5DEE357}"/>
              </a:ext>
            </a:extLst>
          </p:cNvPr>
          <p:cNvSpPr>
            <a:spLocks noGrp="1"/>
          </p:cNvSpPr>
          <p:nvPr/>
        </p:nvSpPr>
        <p:spPr>
          <a:xfrm>
            <a:off x="819150" y="3952875"/>
            <a:ext cx="495300" cy="266700"/>
          </a:xfrm>
          <a:prstGeom prst="rect">
            <a:avLst/>
          </a:prstGeom>
          <a:noFill/>
          <a:ln w="0">
            <a:noFill/>
          </a:ln>
        </p:spPr>
        <p:txBody>
          <a:bodyPr anchor="t">
            <a:noAutofit/>
          </a:bodyPr>
          <a:lstStyle/>
          <a:p>
            <a:pPr algn="ctr">
              <a:defRPr sz="1320" b="1" i="0">
                <a:solidFill>
                  <a:srgbClr val="232F3E"/>
                </a:solidFill>
                <a:latin typeface="Consolas"/>
                <a:ea typeface="Consolas"/>
                <a:cs typeface="Consolas"/>
              </a:defRPr>
            </a:pPr>
            <a:r>
              <a:rPr sz="1400" b="1" i="0">
                <a:solidFill>
                  <a:srgbClr val="232F3E"/>
                </a:solidFill>
                <a:latin typeface="Consolas"/>
                <a:ea typeface="Consolas"/>
                <a:cs typeface="Consolas"/>
              </a:rPr>
              <a:t>/</a:t>
            </a:r>
          </a:p>
        </p:txBody>
      </p:sp>
      <p:sp>
        <p:nvSpPr>
          <p:cNvPr id="15" name="Rectangle 14">
            <a:extLst>
              <a:ext uri="{FF2B5EF4-FFF2-40B4-BE49-F238E27FC236}">
                <a16:creationId xmlns:a16="http://schemas.microsoft.com/office/drawing/2014/main" id="{20869276-0A89-44D2-9F51-56E1294926B6}"/>
              </a:ext>
            </a:extLst>
          </p:cNvPr>
          <p:cNvSpPr>
            <a:spLocks noGrp="1"/>
          </p:cNvSpPr>
          <p:nvPr/>
        </p:nvSpPr>
        <p:spPr>
          <a:xfrm>
            <a:off x="1524000" y="3800475"/>
            <a:ext cx="3905250" cy="323850"/>
          </a:xfrm>
          <a:prstGeom prst="rect">
            <a:avLst/>
          </a:prstGeom>
          <a:noFill/>
          <a:ln w="0">
            <a:noFill/>
          </a:ln>
        </p:spPr>
        <p:txBody>
          <a:bodyPr anchor="t">
            <a:noAutofit/>
          </a:bodyPr>
          <a:lstStyle/>
          <a:p>
            <a:pPr algn="l">
              <a:defRPr sz="1485" b="1" i="0">
                <a:solidFill>
                  <a:srgbClr val="FF9900"/>
                </a:solidFill>
                <a:latin typeface="Calibri"/>
                <a:ea typeface="Calibri"/>
                <a:cs typeface="Calibri"/>
              </a:defRPr>
            </a:pPr>
            <a:r>
              <a:rPr sz="1600" b="1" i="0">
                <a:solidFill>
                  <a:srgbClr val="FF9900"/>
                </a:solidFill>
                <a:latin typeface="Calibri"/>
                <a:ea typeface="Calibri"/>
                <a:cs typeface="Calibri"/>
              </a:rPr>
              <a:t>/tmp</a:t>
            </a:r>
          </a:p>
        </p:txBody>
      </p:sp>
      <p:sp>
        <p:nvSpPr>
          <p:cNvPr id="16" name="Rectangle 15">
            <a:extLst>
              <a:ext uri="{FF2B5EF4-FFF2-40B4-BE49-F238E27FC236}">
                <a16:creationId xmlns:a16="http://schemas.microsoft.com/office/drawing/2014/main" id="{9E73A1AF-0671-4A7C-A5D2-38670F557441}"/>
              </a:ext>
            </a:extLst>
          </p:cNvPr>
          <p:cNvSpPr>
            <a:spLocks noGrp="1"/>
          </p:cNvSpPr>
          <p:nvPr/>
        </p:nvSpPr>
        <p:spPr>
          <a:xfrm>
            <a:off x="1524000" y="4200525"/>
            <a:ext cx="3905250" cy="742950"/>
          </a:xfrm>
          <a:prstGeom prst="rect">
            <a:avLst/>
          </a:prstGeom>
          <a:noFill/>
          <a:ln w="0">
            <a:noFill/>
          </a:ln>
        </p:spPr>
        <p:txBody>
          <a:bodyPr anchor="t">
            <a:normAutofit/>
          </a:bodyPr>
          <a:lstStyle/>
          <a:p>
            <a:pPr algn="l">
              <a:defRPr sz="1155" b="0" i="0">
                <a:solidFill>
                  <a:srgbClr val="E6EAF0"/>
                </a:solidFill>
                <a:latin typeface="Calibri"/>
                <a:ea typeface="Calibri"/>
                <a:cs typeface="Calibri"/>
              </a:defRPr>
            </a:pPr>
            <a:r>
              <a:rPr sz="1200" b="0" i="0">
                <a:solidFill>
                  <a:srgbClr val="E6EAF0"/>
                </a:solidFill>
                <a:latin typeface="Calibri"/>
                <a:ea typeface="Calibri"/>
                <a:cs typeface="Calibri"/>
              </a:rPr>
              <a:t>Тимчасове сховище доступне під час виконання. У практиці сюди завантажуються оригінал і мініатюра.</a:t>
            </a:r>
          </a:p>
        </p:txBody>
      </p:sp>
      <p:sp>
        <p:nvSpPr>
          <p:cNvPr id="17" name="Rounded Rectangle 16">
            <a:extLst>
              <a:ext uri="{FF2B5EF4-FFF2-40B4-BE49-F238E27FC236}">
                <a16:creationId xmlns:a16="http://schemas.microsoft.com/office/drawing/2014/main" id="{95C018B9-ABC8-4279-87B0-A2B68C215E8D}"/>
              </a:ext>
            </a:extLst>
          </p:cNvPr>
          <p:cNvSpPr>
            <a:spLocks noGrp="1"/>
          </p:cNvSpPr>
          <p:nvPr/>
        </p:nvSpPr>
        <p:spPr>
          <a:xfrm>
            <a:off x="6172200" y="3571875"/>
            <a:ext cx="5238750" cy="1571625"/>
          </a:xfrm>
          <a:prstGeom prst="roundRect">
            <a:avLst>
              <a:gd name="adj" fmla="val 4848"/>
            </a:avLst>
          </a:prstGeom>
          <a:solidFill>
            <a:srgbClr val="2E3B4E"/>
          </a:solidFill>
          <a:ln w="9525">
            <a:solidFill>
              <a:srgbClr val="37475A"/>
            </a:solidFill>
          </a:ln>
        </p:spPr>
        <p:txBody>
          <a:bodyPr/>
          <a:lstStyle/>
          <a:p>
            <a:endParaRPr lang="en-UA" sz="2000"/>
          </a:p>
        </p:txBody>
      </p:sp>
      <p:sp>
        <p:nvSpPr>
          <p:cNvPr id="18" name="Oval 17">
            <a:extLst>
              <a:ext uri="{FF2B5EF4-FFF2-40B4-BE49-F238E27FC236}">
                <a16:creationId xmlns:a16="http://schemas.microsoft.com/office/drawing/2014/main" id="{C640C2AE-7EEC-4D5E-8B8B-02870DD69DD4}"/>
              </a:ext>
            </a:extLst>
          </p:cNvPr>
          <p:cNvSpPr>
            <a:spLocks noGrp="1"/>
          </p:cNvSpPr>
          <p:nvPr/>
        </p:nvSpPr>
        <p:spPr>
          <a:xfrm>
            <a:off x="6438900" y="3857625"/>
            <a:ext cx="495300" cy="495300"/>
          </a:xfrm>
          <a:prstGeom prst="ellipse">
            <a:avLst/>
          </a:prstGeom>
          <a:solidFill>
            <a:srgbClr val="FF9900"/>
          </a:solidFill>
          <a:ln w="0">
            <a:noFill/>
          </a:ln>
        </p:spPr>
        <p:txBody>
          <a:bodyPr/>
          <a:lstStyle/>
          <a:p>
            <a:endParaRPr lang="en-UA" sz="2000"/>
          </a:p>
        </p:txBody>
      </p:sp>
      <p:sp>
        <p:nvSpPr>
          <p:cNvPr id="19" name="Rectangle 18">
            <a:extLst>
              <a:ext uri="{FF2B5EF4-FFF2-40B4-BE49-F238E27FC236}">
                <a16:creationId xmlns:a16="http://schemas.microsoft.com/office/drawing/2014/main" id="{E8923C72-B028-4294-A81B-F3D20D17AC57}"/>
              </a:ext>
            </a:extLst>
          </p:cNvPr>
          <p:cNvSpPr>
            <a:spLocks noGrp="1"/>
          </p:cNvSpPr>
          <p:nvPr/>
        </p:nvSpPr>
        <p:spPr>
          <a:xfrm>
            <a:off x="6438900" y="3952875"/>
            <a:ext cx="495300" cy="266700"/>
          </a:xfrm>
          <a:prstGeom prst="rect">
            <a:avLst/>
          </a:prstGeom>
          <a:noFill/>
          <a:ln w="0">
            <a:noFill/>
          </a:ln>
        </p:spPr>
        <p:txBody>
          <a:bodyPr anchor="t">
            <a:normAutofit/>
          </a:bodyPr>
          <a:lstStyle/>
          <a:p>
            <a:pPr algn="ctr">
              <a:defRPr sz="990" b="1" i="0">
                <a:solidFill>
                  <a:srgbClr val="232F3E"/>
                </a:solidFill>
                <a:latin typeface="Consolas"/>
                <a:ea typeface="Consolas"/>
                <a:cs typeface="Consolas"/>
              </a:defRPr>
            </a:pPr>
            <a:r>
              <a:rPr sz="1000" b="1" i="0">
                <a:solidFill>
                  <a:srgbClr val="232F3E"/>
                </a:solidFill>
                <a:latin typeface="Consolas"/>
                <a:ea typeface="Consolas"/>
                <a:cs typeface="Consolas"/>
              </a:rPr>
              <a:t>ENV</a:t>
            </a:r>
          </a:p>
        </p:txBody>
      </p:sp>
      <p:sp>
        <p:nvSpPr>
          <p:cNvPr id="20" name="Rectangle 19">
            <a:extLst>
              <a:ext uri="{FF2B5EF4-FFF2-40B4-BE49-F238E27FC236}">
                <a16:creationId xmlns:a16="http://schemas.microsoft.com/office/drawing/2014/main" id="{DB752F3B-77BC-4010-8C91-FF50AAA36C9A}"/>
              </a:ext>
            </a:extLst>
          </p:cNvPr>
          <p:cNvSpPr>
            <a:spLocks noGrp="1"/>
          </p:cNvSpPr>
          <p:nvPr/>
        </p:nvSpPr>
        <p:spPr>
          <a:xfrm>
            <a:off x="7143750" y="3800475"/>
            <a:ext cx="3905250" cy="323850"/>
          </a:xfrm>
          <a:prstGeom prst="rect">
            <a:avLst/>
          </a:prstGeom>
          <a:noFill/>
          <a:ln w="0">
            <a:noFill/>
          </a:ln>
        </p:spPr>
        <p:txBody>
          <a:bodyPr anchor="t">
            <a:noAutofit/>
          </a:bodyPr>
          <a:lstStyle/>
          <a:p>
            <a:pPr algn="l">
              <a:defRPr sz="1485" b="1" i="0">
                <a:solidFill>
                  <a:srgbClr val="FF9900"/>
                </a:solidFill>
                <a:latin typeface="Calibri"/>
                <a:ea typeface="Calibri"/>
                <a:cs typeface="Calibri"/>
              </a:defRPr>
            </a:pPr>
            <a:r>
              <a:rPr sz="1600" b="1" i="0">
                <a:solidFill>
                  <a:srgbClr val="FF9900"/>
                </a:solidFill>
                <a:latin typeface="Calibri"/>
                <a:ea typeface="Calibri"/>
                <a:cs typeface="Calibri"/>
              </a:rPr>
              <a:t>Environment variables</a:t>
            </a:r>
          </a:p>
        </p:txBody>
      </p:sp>
      <p:sp>
        <p:nvSpPr>
          <p:cNvPr id="21" name="Rectangle 20">
            <a:extLst>
              <a:ext uri="{FF2B5EF4-FFF2-40B4-BE49-F238E27FC236}">
                <a16:creationId xmlns:a16="http://schemas.microsoft.com/office/drawing/2014/main" id="{13FB36A3-8770-4162-8173-E29B8FA60995}"/>
              </a:ext>
            </a:extLst>
          </p:cNvPr>
          <p:cNvSpPr>
            <a:spLocks noGrp="1"/>
          </p:cNvSpPr>
          <p:nvPr/>
        </p:nvSpPr>
        <p:spPr>
          <a:xfrm>
            <a:off x="7143750" y="4200525"/>
            <a:ext cx="3905250" cy="742950"/>
          </a:xfrm>
          <a:prstGeom prst="rect">
            <a:avLst/>
          </a:prstGeom>
          <a:noFill/>
          <a:ln w="0">
            <a:noFill/>
          </a:ln>
        </p:spPr>
        <p:txBody>
          <a:bodyPr anchor="t">
            <a:normAutofit/>
          </a:bodyPr>
          <a:lstStyle/>
          <a:p>
            <a:pPr algn="l">
              <a:defRPr sz="1155" b="0" i="0">
                <a:solidFill>
                  <a:srgbClr val="E6EAF0"/>
                </a:solidFill>
                <a:latin typeface="Calibri"/>
                <a:ea typeface="Calibri"/>
                <a:cs typeface="Calibri"/>
              </a:defRPr>
            </a:pPr>
            <a:r>
              <a:rPr sz="1200" b="0" i="0">
                <a:solidFill>
                  <a:srgbClr val="E6EAF0"/>
                </a:solidFill>
                <a:latin typeface="Calibri"/>
                <a:ea typeface="Calibri"/>
                <a:cs typeface="Calibri"/>
              </a:rPr>
              <a:t>Зберігають конфігурацію, наприклад назву bucket. Секрети краще брати з AWS Secrets Manager.</a:t>
            </a:r>
          </a:p>
        </p:txBody>
      </p:sp>
      <p:sp>
        <p:nvSpPr>
          <p:cNvPr id="22" name="Rectangle 21">
            <a:extLst>
              <a:ext uri="{FF2B5EF4-FFF2-40B4-BE49-F238E27FC236}">
                <a16:creationId xmlns:a16="http://schemas.microsoft.com/office/drawing/2014/main" id="{9A58DBFB-990D-470B-A494-388C3CE39264}"/>
              </a:ext>
            </a:extLst>
          </p:cNvPr>
          <p:cNvSpPr>
            <a:spLocks noGrp="1"/>
          </p:cNvSpPr>
          <p:nvPr/>
        </p:nvSpPr>
        <p:spPr>
          <a:xfrm>
            <a:off x="457200" y="6515100"/>
            <a:ext cx="5715000" cy="209550"/>
          </a:xfrm>
          <a:prstGeom prst="rect">
            <a:avLst/>
          </a:prstGeom>
          <a:noFill/>
          <a:ln w="0">
            <a:noFill/>
          </a:ln>
        </p:spPr>
        <p:txBody>
          <a:bodyPr anchor="t">
            <a:normAutofit fontScale="93939" lnSpcReduction="10000"/>
          </a:bodyPr>
          <a:lstStyle/>
          <a:p>
            <a:pPr algn="l">
              <a:defRPr sz="825" b="0" i="0">
                <a:solidFill>
                  <a:srgbClr val="A9B7C6"/>
                </a:solidFill>
                <a:latin typeface="Calibri"/>
                <a:ea typeface="Calibri"/>
                <a:cs typeface="Calibri"/>
              </a:defRPr>
            </a:pPr>
            <a:r>
              <a:rPr sz="825" b="0" i="0">
                <a:solidFill>
                  <a:srgbClr val="A9B7C6"/>
                </a:solidFill>
                <a:latin typeface="Calibri"/>
                <a:ea typeface="Calibri"/>
                <a:cs typeface="Calibri"/>
              </a:rPr>
              <a:t>Serverless та AWS Lambda</a:t>
            </a:r>
          </a:p>
        </p:txBody>
      </p:sp>
      <p:sp>
        <p:nvSpPr>
          <p:cNvPr id="23" name="Rectangle 22">
            <a:extLst>
              <a:ext uri="{FF2B5EF4-FFF2-40B4-BE49-F238E27FC236}">
                <a16:creationId xmlns:a16="http://schemas.microsoft.com/office/drawing/2014/main" id="{FC4B8C4D-F9E1-4017-B5D7-B5E7000F8E07}"/>
              </a:ext>
            </a:extLst>
          </p:cNvPr>
          <p:cNvSpPr>
            <a:spLocks noGrp="1"/>
          </p:cNvSpPr>
          <p:nvPr/>
        </p:nvSpPr>
        <p:spPr>
          <a:xfrm>
            <a:off x="11239500" y="6515100"/>
            <a:ext cx="476250" cy="209550"/>
          </a:xfrm>
          <a:prstGeom prst="rect">
            <a:avLst/>
          </a:prstGeom>
          <a:noFill/>
          <a:ln w="0">
            <a:noFill/>
          </a:ln>
        </p:spPr>
        <p:txBody>
          <a:bodyPr anchor="t">
            <a:normAutofit fontScale="93939" lnSpcReduction="10000"/>
          </a:bodyPr>
          <a:lstStyle/>
          <a:p>
            <a:pPr algn="r">
              <a:defRPr sz="825" b="0" i="0">
                <a:solidFill>
                  <a:srgbClr val="A9B7C6"/>
                </a:solidFill>
                <a:latin typeface="Calibri"/>
                <a:ea typeface="Calibri"/>
                <a:cs typeface="Calibri"/>
              </a:defRPr>
            </a:pPr>
            <a:r>
              <a:rPr sz="825" b="0" i="0">
                <a:solidFill>
                  <a:srgbClr val="A9B7C6"/>
                </a:solidFill>
                <a:latin typeface="Calibri"/>
                <a:ea typeface="Calibri"/>
                <a:cs typeface="Calibri"/>
              </a:rPr>
              <a:t>6</a:t>
            </a:r>
          </a:p>
        </p:txBody>
      </p:sp>
    </p:spTree>
    <p:extLst>
      <p:ext uri="{BB962C8B-B14F-4D97-AF65-F5344CB8AC3E}">
        <p14:creationId xmlns:p14="http://schemas.microsoft.com/office/powerpoint/2010/main" val="401909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32F3E"/>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00940253-D38D-4B45-8F2F-138EDF25F508}"/>
              </a:ext>
            </a:extLst>
          </p:cNvPr>
          <p:cNvSpPr>
            <a:spLocks noGrp="1"/>
          </p:cNvSpPr>
          <p:nvPr/>
        </p:nvSpPr>
        <p:spPr>
          <a:xfrm>
            <a:off x="552450" y="571500"/>
            <a:ext cx="11049000" cy="666750"/>
          </a:xfrm>
          <a:prstGeom prst="rect">
            <a:avLst/>
          </a:prstGeom>
          <a:noFill/>
          <a:ln w="0">
            <a:noFill/>
          </a:ln>
        </p:spPr>
        <p:txBody>
          <a:bodyPr anchor="t">
            <a:normAutofit/>
          </a:bodyPr>
          <a:lstStyle/>
          <a:p>
            <a:pPr algn="l">
              <a:defRPr sz="2805" b="1" i="0">
                <a:solidFill>
                  <a:srgbClr val="FFFFFF"/>
                </a:solidFill>
                <a:latin typeface="Cambria"/>
                <a:ea typeface="Cambria"/>
                <a:cs typeface="Cambria"/>
              </a:defRPr>
            </a:pPr>
            <a:r>
              <a:rPr sz="3200" b="1" i="0">
                <a:solidFill>
                  <a:srgbClr val="FFFFFF"/>
                </a:solidFill>
                <a:latin typeface="Cambria"/>
                <a:ea typeface="Cambria"/>
                <a:cs typeface="Cambria"/>
              </a:rPr>
              <a:t>CloudWatch Logs: спостереження за виконанням</a:t>
            </a:r>
          </a:p>
        </p:txBody>
      </p:sp>
      <p:sp>
        <p:nvSpPr>
          <p:cNvPr id="2" name="Rounded Rectangle 1">
            <a:extLst>
              <a:ext uri="{FF2B5EF4-FFF2-40B4-BE49-F238E27FC236}">
                <a16:creationId xmlns:a16="http://schemas.microsoft.com/office/drawing/2014/main" id="{D9A5CE77-1DA0-47C2-99B0-70C1AA34FC88}"/>
              </a:ext>
            </a:extLst>
          </p:cNvPr>
          <p:cNvSpPr>
            <a:spLocks noGrp="1"/>
          </p:cNvSpPr>
          <p:nvPr/>
        </p:nvSpPr>
        <p:spPr>
          <a:xfrm>
            <a:off x="552450" y="1619250"/>
            <a:ext cx="6572250" cy="3810000"/>
          </a:xfrm>
          <a:prstGeom prst="roundRect">
            <a:avLst>
              <a:gd name="adj" fmla="val 2000"/>
            </a:avLst>
          </a:prstGeom>
          <a:solidFill>
            <a:srgbClr val="1A2431"/>
          </a:solidFill>
          <a:ln w="9525">
            <a:solidFill>
              <a:srgbClr val="37475A"/>
            </a:solidFill>
          </a:ln>
        </p:spPr>
        <p:txBody>
          <a:bodyPr/>
          <a:lstStyle/>
          <a:p>
            <a:endParaRPr lang="en-UA"/>
          </a:p>
        </p:txBody>
      </p:sp>
      <p:sp>
        <p:nvSpPr>
          <p:cNvPr id="3" name="Oval 2">
            <a:extLst>
              <a:ext uri="{FF2B5EF4-FFF2-40B4-BE49-F238E27FC236}">
                <a16:creationId xmlns:a16="http://schemas.microsoft.com/office/drawing/2014/main" id="{F0E1C9A4-BBED-4F01-8247-D44577DC89F3}"/>
              </a:ext>
            </a:extLst>
          </p:cNvPr>
          <p:cNvSpPr>
            <a:spLocks noGrp="1"/>
          </p:cNvSpPr>
          <p:nvPr/>
        </p:nvSpPr>
        <p:spPr>
          <a:xfrm>
            <a:off x="742950" y="1781175"/>
            <a:ext cx="114300" cy="114300"/>
          </a:xfrm>
          <a:prstGeom prst="ellipse">
            <a:avLst/>
          </a:prstGeom>
          <a:solidFill>
            <a:srgbClr val="C0392B"/>
          </a:solidFill>
          <a:ln w="0">
            <a:noFill/>
          </a:ln>
        </p:spPr>
        <p:txBody>
          <a:bodyPr/>
          <a:lstStyle/>
          <a:p>
            <a:endParaRPr lang="en-UA"/>
          </a:p>
        </p:txBody>
      </p:sp>
      <p:sp>
        <p:nvSpPr>
          <p:cNvPr id="4" name="Oval 3">
            <a:extLst>
              <a:ext uri="{FF2B5EF4-FFF2-40B4-BE49-F238E27FC236}">
                <a16:creationId xmlns:a16="http://schemas.microsoft.com/office/drawing/2014/main" id="{C9C02074-930F-4EEB-BC7A-207F131A11C7}"/>
              </a:ext>
            </a:extLst>
          </p:cNvPr>
          <p:cNvSpPr>
            <a:spLocks noGrp="1"/>
          </p:cNvSpPr>
          <p:nvPr/>
        </p:nvSpPr>
        <p:spPr>
          <a:xfrm>
            <a:off x="952500" y="1781175"/>
            <a:ext cx="114300" cy="114300"/>
          </a:xfrm>
          <a:prstGeom prst="ellipse">
            <a:avLst/>
          </a:prstGeom>
          <a:solidFill>
            <a:srgbClr val="E8B84B"/>
          </a:solidFill>
          <a:ln w="0">
            <a:noFill/>
          </a:ln>
        </p:spPr>
        <p:txBody>
          <a:bodyPr/>
          <a:lstStyle/>
          <a:p>
            <a:endParaRPr lang="en-UA"/>
          </a:p>
        </p:txBody>
      </p:sp>
      <p:sp>
        <p:nvSpPr>
          <p:cNvPr id="5" name="Oval 4">
            <a:extLst>
              <a:ext uri="{FF2B5EF4-FFF2-40B4-BE49-F238E27FC236}">
                <a16:creationId xmlns:a16="http://schemas.microsoft.com/office/drawing/2014/main" id="{24076D99-D2AD-4414-9341-FCBDA4615C60}"/>
              </a:ext>
            </a:extLst>
          </p:cNvPr>
          <p:cNvSpPr>
            <a:spLocks noGrp="1"/>
          </p:cNvSpPr>
          <p:nvPr/>
        </p:nvSpPr>
        <p:spPr>
          <a:xfrm>
            <a:off x="1162050" y="1781175"/>
            <a:ext cx="114300" cy="114300"/>
          </a:xfrm>
          <a:prstGeom prst="ellipse">
            <a:avLst/>
          </a:prstGeom>
          <a:solidFill>
            <a:srgbClr val="5CB86B"/>
          </a:solidFill>
          <a:ln w="0">
            <a:noFill/>
          </a:ln>
        </p:spPr>
        <p:txBody>
          <a:bodyPr/>
          <a:lstStyle/>
          <a:p>
            <a:endParaRPr lang="en-UA"/>
          </a:p>
        </p:txBody>
      </p:sp>
      <p:sp>
        <p:nvSpPr>
          <p:cNvPr id="6" name="Rectangle 5">
            <a:extLst>
              <a:ext uri="{FF2B5EF4-FFF2-40B4-BE49-F238E27FC236}">
                <a16:creationId xmlns:a16="http://schemas.microsoft.com/office/drawing/2014/main" id="{25948697-3F29-47A0-B0DD-C11B6D19687A}"/>
              </a:ext>
            </a:extLst>
          </p:cNvPr>
          <p:cNvSpPr>
            <a:spLocks noGrp="1"/>
          </p:cNvSpPr>
          <p:nvPr/>
        </p:nvSpPr>
        <p:spPr>
          <a:xfrm>
            <a:off x="1409700" y="1733550"/>
            <a:ext cx="4857750" cy="209550"/>
          </a:xfrm>
          <a:prstGeom prst="rect">
            <a:avLst/>
          </a:prstGeom>
          <a:noFill/>
          <a:ln w="0">
            <a:noFill/>
          </a:ln>
        </p:spPr>
        <p:txBody>
          <a:bodyPr anchor="t">
            <a:normAutofit fontScale="93939" lnSpcReduction="10000"/>
          </a:bodyPr>
          <a:lstStyle/>
          <a:p>
            <a:pPr algn="ctr">
              <a:defRPr sz="825" b="0" i="0">
                <a:solidFill>
                  <a:srgbClr val="8A97A8"/>
                </a:solidFill>
                <a:latin typeface="Consolas"/>
                <a:ea typeface="Consolas"/>
                <a:cs typeface="Consolas"/>
              </a:defRPr>
            </a:pPr>
            <a:r>
              <a:rPr sz="825" b="0" i="0">
                <a:solidFill>
                  <a:srgbClr val="8A97A8"/>
                </a:solidFill>
                <a:latin typeface="Consolas"/>
                <a:ea typeface="Consolas"/>
                <a:cs typeface="Consolas"/>
              </a:rPr>
              <a:t>/aws/lambda/create-thumbnail</a:t>
            </a:r>
          </a:p>
        </p:txBody>
      </p:sp>
      <p:sp>
        <p:nvSpPr>
          <p:cNvPr id="7" name="Rectangle 6">
            <a:extLst>
              <a:ext uri="{FF2B5EF4-FFF2-40B4-BE49-F238E27FC236}">
                <a16:creationId xmlns:a16="http://schemas.microsoft.com/office/drawing/2014/main" id="{DEDDB081-2F10-4977-B9FD-9B2D13154FE3}"/>
              </a:ext>
            </a:extLst>
          </p:cNvPr>
          <p:cNvSpPr>
            <a:spLocks noGrp="1"/>
          </p:cNvSpPr>
          <p:nvPr/>
        </p:nvSpPr>
        <p:spPr>
          <a:xfrm>
            <a:off x="819150" y="2114550"/>
            <a:ext cx="6038850" cy="3162300"/>
          </a:xfrm>
          <a:prstGeom prst="rect">
            <a:avLst/>
          </a:prstGeom>
          <a:noFill/>
          <a:ln w="0">
            <a:noFill/>
          </a:ln>
        </p:spPr>
        <p:txBody>
          <a:bodyPr anchor="t">
            <a:normAutofit/>
          </a:bodyPr>
          <a:lstStyle/>
          <a:p>
            <a:pPr algn="l">
              <a:defRPr sz="1073" b="0" i="0">
                <a:solidFill>
                  <a:srgbClr val="B8E986"/>
                </a:solidFill>
                <a:latin typeface="Consolas"/>
                <a:ea typeface="Consolas"/>
                <a:cs typeface="Consolas"/>
              </a:defRPr>
            </a:pPr>
            <a:r>
              <a:rPr sz="1073" b="0" i="0">
                <a:solidFill>
                  <a:srgbClr val="B8E986"/>
                </a:solidFill>
                <a:latin typeface="Consolas"/>
                <a:ea typeface="Consolas"/>
                <a:cs typeface="Consolas"/>
              </a:rPr>
              <a:t>START RequestId: 8d2...</a:t>
            </a:r>
          </a:p>
          <a:p>
            <a:pPr algn="l">
              <a:defRPr sz="1073" b="0" i="0">
                <a:solidFill>
                  <a:srgbClr val="B8E986"/>
                </a:solidFill>
                <a:latin typeface="Consolas"/>
                <a:ea typeface="Consolas"/>
                <a:cs typeface="Consolas"/>
              </a:defRPr>
            </a:pPr>
            <a:r>
              <a:rPr sz="1073" b="0" i="0">
                <a:solidFill>
                  <a:srgbClr val="B8E986"/>
                </a:solidFill>
                <a:latin typeface="Consolas"/>
                <a:ea typeface="Consolas"/>
                <a:cs typeface="Consolas"/>
              </a:rPr>
              <a:t>INFO Processing s3://images/photo.jpg</a:t>
            </a:r>
          </a:p>
          <a:p>
            <a:pPr algn="l">
              <a:defRPr sz="1073" b="0" i="0">
                <a:solidFill>
                  <a:srgbClr val="B8E986"/>
                </a:solidFill>
                <a:latin typeface="Consolas"/>
                <a:ea typeface="Consolas"/>
                <a:cs typeface="Consolas"/>
              </a:defRPr>
            </a:pPr>
            <a:r>
              <a:rPr sz="1073" b="0" i="0">
                <a:solidFill>
                  <a:srgbClr val="B8E986"/>
                </a:solidFill>
                <a:latin typeface="Consolas"/>
                <a:ea typeface="Consolas"/>
                <a:cs typeface="Consolas"/>
              </a:rPr>
              <a:t>INFO Downloaded original to /tmp/photo.jpg</a:t>
            </a:r>
          </a:p>
          <a:p>
            <a:pPr algn="l">
              <a:defRPr sz="1073" b="0" i="0">
                <a:solidFill>
                  <a:srgbClr val="B8E986"/>
                </a:solidFill>
                <a:latin typeface="Consolas"/>
                <a:ea typeface="Consolas"/>
                <a:cs typeface="Consolas"/>
              </a:defRPr>
            </a:pPr>
            <a:r>
              <a:rPr sz="1073" b="0" i="0">
                <a:solidFill>
                  <a:srgbClr val="B8E986"/>
                </a:solidFill>
                <a:latin typeface="Consolas"/>
                <a:ea typeface="Consolas"/>
                <a:cs typeface="Consolas"/>
              </a:rPr>
              <a:t>INFO Saved thumbnail 200x133</a:t>
            </a:r>
          </a:p>
          <a:p>
            <a:pPr algn="l">
              <a:defRPr sz="1073" b="0" i="0">
                <a:solidFill>
                  <a:srgbClr val="B8E986"/>
                </a:solidFill>
                <a:latin typeface="Consolas"/>
                <a:ea typeface="Consolas"/>
                <a:cs typeface="Consolas"/>
              </a:defRPr>
            </a:pPr>
            <a:r>
              <a:rPr sz="1073" b="0" i="0">
                <a:solidFill>
                  <a:srgbClr val="B8E986"/>
                </a:solidFill>
                <a:latin typeface="Consolas"/>
                <a:ea typeface="Consolas"/>
                <a:cs typeface="Consolas"/>
              </a:rPr>
              <a:t>INFO Uploaded s3://thumbnails/thumbnail-photo.jpg</a:t>
            </a:r>
          </a:p>
          <a:p>
            <a:pPr algn="l">
              <a:defRPr sz="1073" b="0" i="0">
                <a:solidFill>
                  <a:srgbClr val="B8E986"/>
                </a:solidFill>
                <a:latin typeface="Consolas"/>
                <a:ea typeface="Consolas"/>
                <a:cs typeface="Consolas"/>
              </a:defRPr>
            </a:pPr>
            <a:r>
              <a:rPr sz="1073" b="0" i="0">
                <a:solidFill>
                  <a:srgbClr val="B8E986"/>
                </a:solidFill>
                <a:latin typeface="Consolas"/>
                <a:ea typeface="Consolas"/>
                <a:cs typeface="Consolas"/>
              </a:rPr>
              <a:t>END RequestId: 8d2...</a:t>
            </a:r>
          </a:p>
          <a:p>
            <a:pPr algn="l">
              <a:defRPr sz="1073" b="0" i="0">
                <a:solidFill>
                  <a:srgbClr val="B8E986"/>
                </a:solidFill>
                <a:latin typeface="Consolas"/>
                <a:ea typeface="Consolas"/>
                <a:cs typeface="Consolas"/>
              </a:defRPr>
            </a:pPr>
            <a:r>
              <a:rPr sz="1073" b="0" i="0">
                <a:solidFill>
                  <a:srgbClr val="B8E986"/>
                </a:solidFill>
                <a:latin typeface="Consolas"/>
                <a:ea typeface="Consolas"/>
                <a:cs typeface="Consolas"/>
              </a:rPr>
              <a:t>REPORT Duration: 842 ms  Memory Used: 118 MB</a:t>
            </a:r>
          </a:p>
        </p:txBody>
      </p:sp>
      <p:sp>
        <p:nvSpPr>
          <p:cNvPr id="8" name="Oval 7">
            <a:extLst>
              <a:ext uri="{FF2B5EF4-FFF2-40B4-BE49-F238E27FC236}">
                <a16:creationId xmlns:a16="http://schemas.microsoft.com/office/drawing/2014/main" id="{61BAF280-F5E9-4DD9-9014-EFEA4B42C361}"/>
              </a:ext>
            </a:extLst>
          </p:cNvPr>
          <p:cNvSpPr>
            <a:spLocks noGrp="1"/>
          </p:cNvSpPr>
          <p:nvPr/>
        </p:nvSpPr>
        <p:spPr>
          <a:xfrm>
            <a:off x="7524750" y="1666875"/>
            <a:ext cx="323850" cy="323850"/>
          </a:xfrm>
          <a:prstGeom prst="ellipse">
            <a:avLst/>
          </a:prstGeom>
          <a:solidFill>
            <a:srgbClr val="FF9900"/>
          </a:solidFill>
          <a:ln w="0">
            <a:noFill/>
          </a:ln>
        </p:spPr>
        <p:txBody>
          <a:bodyPr/>
          <a:lstStyle/>
          <a:p>
            <a:endParaRPr lang="en-UA"/>
          </a:p>
        </p:txBody>
      </p:sp>
      <p:sp>
        <p:nvSpPr>
          <p:cNvPr id="9" name="Rectangle 8">
            <a:extLst>
              <a:ext uri="{FF2B5EF4-FFF2-40B4-BE49-F238E27FC236}">
                <a16:creationId xmlns:a16="http://schemas.microsoft.com/office/drawing/2014/main" id="{FB189AAB-D184-4769-8E8D-36CFAACF093C}"/>
              </a:ext>
            </a:extLst>
          </p:cNvPr>
          <p:cNvSpPr>
            <a:spLocks noGrp="1"/>
          </p:cNvSpPr>
          <p:nvPr/>
        </p:nvSpPr>
        <p:spPr>
          <a:xfrm>
            <a:off x="7524750" y="1676400"/>
            <a:ext cx="323850" cy="285750"/>
          </a:xfrm>
          <a:prstGeom prst="rect">
            <a:avLst/>
          </a:prstGeom>
          <a:noFill/>
          <a:ln w="0">
            <a:noFill/>
          </a:ln>
        </p:spPr>
        <p:txBody>
          <a:bodyPr anchor="ctr">
            <a:normAutofit fontScale="96591" lnSpcReduction="10000"/>
          </a:bodyPr>
          <a:lstStyle/>
          <a:p>
            <a:pPr algn="ctr">
              <a:defRPr sz="1320" b="1" i="0">
                <a:solidFill>
                  <a:srgbClr val="232F3E"/>
                </a:solidFill>
                <a:latin typeface="Cambria"/>
                <a:ea typeface="Cambria"/>
                <a:cs typeface="Cambria"/>
              </a:defRPr>
            </a:pPr>
            <a:r>
              <a:rPr sz="1320" b="1" i="0">
                <a:solidFill>
                  <a:srgbClr val="232F3E"/>
                </a:solidFill>
                <a:latin typeface="Cambria"/>
                <a:ea typeface="Cambria"/>
                <a:cs typeface="Cambria"/>
              </a:rPr>
              <a:t>1</a:t>
            </a:r>
          </a:p>
        </p:txBody>
      </p:sp>
      <p:sp>
        <p:nvSpPr>
          <p:cNvPr id="10" name="Rectangle 9">
            <a:extLst>
              <a:ext uri="{FF2B5EF4-FFF2-40B4-BE49-F238E27FC236}">
                <a16:creationId xmlns:a16="http://schemas.microsoft.com/office/drawing/2014/main" id="{EED38C33-6AEB-4E9E-A02E-F61EFE9AE5C0}"/>
              </a:ext>
            </a:extLst>
          </p:cNvPr>
          <p:cNvSpPr>
            <a:spLocks noGrp="1"/>
          </p:cNvSpPr>
          <p:nvPr/>
        </p:nvSpPr>
        <p:spPr>
          <a:xfrm>
            <a:off x="8048625" y="1647825"/>
            <a:ext cx="1619250" cy="266700"/>
          </a:xfrm>
          <a:prstGeom prst="rect">
            <a:avLst/>
          </a:prstGeom>
          <a:noFill/>
          <a:ln w="0">
            <a:noFill/>
          </a:ln>
        </p:spPr>
        <p:txBody>
          <a:bodyPr anchor="t">
            <a:noAutofit/>
          </a:bodyPr>
          <a:lstStyle/>
          <a:p>
            <a:pPr algn="l">
              <a:defRPr sz="1238" b="1" i="0">
                <a:solidFill>
                  <a:srgbClr val="FF9900"/>
                </a:solidFill>
                <a:latin typeface="Consolas"/>
                <a:ea typeface="Consolas"/>
                <a:cs typeface="Consolas"/>
              </a:defRPr>
            </a:pPr>
            <a:r>
              <a:rPr sz="1400" b="1" i="0">
                <a:solidFill>
                  <a:srgbClr val="FF9900"/>
                </a:solidFill>
                <a:latin typeface="Consolas"/>
                <a:ea typeface="Consolas"/>
                <a:cs typeface="Consolas"/>
              </a:rPr>
              <a:t>RequestId</a:t>
            </a:r>
          </a:p>
        </p:txBody>
      </p:sp>
      <p:sp>
        <p:nvSpPr>
          <p:cNvPr id="11" name="Rectangle 10">
            <a:extLst>
              <a:ext uri="{FF2B5EF4-FFF2-40B4-BE49-F238E27FC236}">
                <a16:creationId xmlns:a16="http://schemas.microsoft.com/office/drawing/2014/main" id="{B8129748-DDE4-49B6-80CD-6C9AAC4784BE}"/>
              </a:ext>
            </a:extLst>
          </p:cNvPr>
          <p:cNvSpPr>
            <a:spLocks noGrp="1"/>
          </p:cNvSpPr>
          <p:nvPr/>
        </p:nvSpPr>
        <p:spPr>
          <a:xfrm>
            <a:off x="8048625" y="1943100"/>
            <a:ext cx="3333750" cy="400050"/>
          </a:xfrm>
          <a:prstGeom prst="rect">
            <a:avLst/>
          </a:prstGeom>
          <a:noFill/>
          <a:ln w="0">
            <a:noFill/>
          </a:ln>
        </p:spPr>
        <p:txBody>
          <a:bodyPr anchor="t">
            <a:normAutofit/>
          </a:bodyPr>
          <a:lstStyle/>
          <a:p>
            <a:pPr algn="l">
              <a:defRPr sz="1155" b="0" i="0">
                <a:solidFill>
                  <a:srgbClr val="E6EAF0"/>
                </a:solidFill>
                <a:latin typeface="Calibri"/>
                <a:ea typeface="Calibri"/>
                <a:cs typeface="Calibri"/>
              </a:defRPr>
            </a:pPr>
            <a:r>
              <a:rPr sz="1200" b="0" i="0">
                <a:solidFill>
                  <a:srgbClr val="E6EAF0"/>
                </a:solidFill>
                <a:latin typeface="Calibri"/>
                <a:ea typeface="Calibri"/>
                <a:cs typeface="Calibri"/>
              </a:rPr>
              <a:t>Зв’язує всі записи одного виклику</a:t>
            </a:r>
          </a:p>
        </p:txBody>
      </p:sp>
      <p:sp>
        <p:nvSpPr>
          <p:cNvPr id="12" name="Oval 11">
            <a:extLst>
              <a:ext uri="{FF2B5EF4-FFF2-40B4-BE49-F238E27FC236}">
                <a16:creationId xmlns:a16="http://schemas.microsoft.com/office/drawing/2014/main" id="{042D231A-A881-40DD-8FD4-8AA956497957}"/>
              </a:ext>
            </a:extLst>
          </p:cNvPr>
          <p:cNvSpPr>
            <a:spLocks noGrp="1"/>
          </p:cNvSpPr>
          <p:nvPr/>
        </p:nvSpPr>
        <p:spPr>
          <a:xfrm>
            <a:off x="7524750" y="2543175"/>
            <a:ext cx="323850" cy="323850"/>
          </a:xfrm>
          <a:prstGeom prst="ellipse">
            <a:avLst/>
          </a:prstGeom>
          <a:solidFill>
            <a:srgbClr val="FF9900"/>
          </a:solidFill>
          <a:ln w="0">
            <a:noFill/>
          </a:ln>
        </p:spPr>
        <p:txBody>
          <a:bodyPr/>
          <a:lstStyle/>
          <a:p>
            <a:endParaRPr lang="en-UA"/>
          </a:p>
        </p:txBody>
      </p:sp>
      <p:sp>
        <p:nvSpPr>
          <p:cNvPr id="13" name="Rectangle 12">
            <a:extLst>
              <a:ext uri="{FF2B5EF4-FFF2-40B4-BE49-F238E27FC236}">
                <a16:creationId xmlns:a16="http://schemas.microsoft.com/office/drawing/2014/main" id="{5C95621A-1007-4A7B-9004-806A35D153D0}"/>
              </a:ext>
            </a:extLst>
          </p:cNvPr>
          <p:cNvSpPr>
            <a:spLocks noGrp="1"/>
          </p:cNvSpPr>
          <p:nvPr/>
        </p:nvSpPr>
        <p:spPr>
          <a:xfrm>
            <a:off x="7524750" y="2552700"/>
            <a:ext cx="323850" cy="285750"/>
          </a:xfrm>
          <a:prstGeom prst="rect">
            <a:avLst/>
          </a:prstGeom>
          <a:noFill/>
          <a:ln w="0">
            <a:noFill/>
          </a:ln>
        </p:spPr>
        <p:txBody>
          <a:bodyPr anchor="ctr">
            <a:normAutofit fontScale="96591" lnSpcReduction="10000"/>
          </a:bodyPr>
          <a:lstStyle/>
          <a:p>
            <a:pPr algn="ctr">
              <a:defRPr sz="1320" b="1" i="0">
                <a:solidFill>
                  <a:srgbClr val="232F3E"/>
                </a:solidFill>
                <a:latin typeface="Cambria"/>
                <a:ea typeface="Cambria"/>
                <a:cs typeface="Cambria"/>
              </a:defRPr>
            </a:pPr>
            <a:r>
              <a:rPr sz="1320" b="1" i="0">
                <a:solidFill>
                  <a:srgbClr val="232F3E"/>
                </a:solidFill>
                <a:latin typeface="Cambria"/>
                <a:ea typeface="Cambria"/>
                <a:cs typeface="Cambria"/>
              </a:rPr>
              <a:t>2</a:t>
            </a:r>
          </a:p>
        </p:txBody>
      </p:sp>
      <p:sp>
        <p:nvSpPr>
          <p:cNvPr id="14" name="Rectangle 13">
            <a:extLst>
              <a:ext uri="{FF2B5EF4-FFF2-40B4-BE49-F238E27FC236}">
                <a16:creationId xmlns:a16="http://schemas.microsoft.com/office/drawing/2014/main" id="{AAE74FED-858C-4656-B5DC-BD2598F19369}"/>
              </a:ext>
            </a:extLst>
          </p:cNvPr>
          <p:cNvSpPr>
            <a:spLocks noGrp="1"/>
          </p:cNvSpPr>
          <p:nvPr/>
        </p:nvSpPr>
        <p:spPr>
          <a:xfrm>
            <a:off x="8048625" y="2524125"/>
            <a:ext cx="1619250" cy="266700"/>
          </a:xfrm>
          <a:prstGeom prst="rect">
            <a:avLst/>
          </a:prstGeom>
          <a:noFill/>
          <a:ln w="0">
            <a:noFill/>
          </a:ln>
        </p:spPr>
        <p:txBody>
          <a:bodyPr anchor="t">
            <a:noAutofit/>
          </a:bodyPr>
          <a:lstStyle/>
          <a:p>
            <a:pPr algn="l">
              <a:defRPr sz="1238" b="1" i="0">
                <a:solidFill>
                  <a:srgbClr val="FF9900"/>
                </a:solidFill>
                <a:latin typeface="Consolas"/>
                <a:ea typeface="Consolas"/>
                <a:cs typeface="Consolas"/>
              </a:defRPr>
            </a:pPr>
            <a:r>
              <a:rPr sz="1400" b="1" i="0">
                <a:solidFill>
                  <a:srgbClr val="FF9900"/>
                </a:solidFill>
                <a:latin typeface="Consolas"/>
                <a:ea typeface="Consolas"/>
                <a:cs typeface="Consolas"/>
              </a:rPr>
              <a:t>Duration</a:t>
            </a:r>
          </a:p>
        </p:txBody>
      </p:sp>
      <p:sp>
        <p:nvSpPr>
          <p:cNvPr id="15" name="Rectangle 14">
            <a:extLst>
              <a:ext uri="{FF2B5EF4-FFF2-40B4-BE49-F238E27FC236}">
                <a16:creationId xmlns:a16="http://schemas.microsoft.com/office/drawing/2014/main" id="{EC66FD28-C1F0-4610-AAD4-A8200914F78D}"/>
              </a:ext>
            </a:extLst>
          </p:cNvPr>
          <p:cNvSpPr>
            <a:spLocks noGrp="1"/>
          </p:cNvSpPr>
          <p:nvPr/>
        </p:nvSpPr>
        <p:spPr>
          <a:xfrm>
            <a:off x="8048625" y="2819400"/>
            <a:ext cx="3333750" cy="400050"/>
          </a:xfrm>
          <a:prstGeom prst="rect">
            <a:avLst/>
          </a:prstGeom>
          <a:noFill/>
          <a:ln w="0">
            <a:noFill/>
          </a:ln>
        </p:spPr>
        <p:txBody>
          <a:bodyPr anchor="t">
            <a:normAutofit/>
          </a:bodyPr>
          <a:lstStyle/>
          <a:p>
            <a:pPr algn="l">
              <a:defRPr sz="1155" b="0" i="0">
                <a:solidFill>
                  <a:srgbClr val="E6EAF0"/>
                </a:solidFill>
                <a:latin typeface="Calibri"/>
                <a:ea typeface="Calibri"/>
                <a:cs typeface="Calibri"/>
              </a:defRPr>
            </a:pPr>
            <a:r>
              <a:rPr sz="1200" b="0" i="0">
                <a:solidFill>
                  <a:srgbClr val="E6EAF0"/>
                </a:solidFill>
                <a:latin typeface="Calibri"/>
                <a:ea typeface="Calibri"/>
                <a:cs typeface="Calibri"/>
              </a:rPr>
              <a:t>Показує фактичний час виконання</a:t>
            </a:r>
          </a:p>
        </p:txBody>
      </p:sp>
      <p:sp>
        <p:nvSpPr>
          <p:cNvPr id="16" name="Oval 15">
            <a:extLst>
              <a:ext uri="{FF2B5EF4-FFF2-40B4-BE49-F238E27FC236}">
                <a16:creationId xmlns:a16="http://schemas.microsoft.com/office/drawing/2014/main" id="{FEE66B5B-61DE-488A-8AC1-BBCEE3BA2F0A}"/>
              </a:ext>
            </a:extLst>
          </p:cNvPr>
          <p:cNvSpPr>
            <a:spLocks noGrp="1"/>
          </p:cNvSpPr>
          <p:nvPr/>
        </p:nvSpPr>
        <p:spPr>
          <a:xfrm>
            <a:off x="7524750" y="3419475"/>
            <a:ext cx="323850" cy="323850"/>
          </a:xfrm>
          <a:prstGeom prst="ellipse">
            <a:avLst/>
          </a:prstGeom>
          <a:solidFill>
            <a:srgbClr val="FF9900"/>
          </a:solidFill>
          <a:ln w="0">
            <a:noFill/>
          </a:ln>
        </p:spPr>
        <p:txBody>
          <a:bodyPr/>
          <a:lstStyle/>
          <a:p>
            <a:endParaRPr lang="en-UA"/>
          </a:p>
        </p:txBody>
      </p:sp>
      <p:sp>
        <p:nvSpPr>
          <p:cNvPr id="17" name="Rectangle 16">
            <a:extLst>
              <a:ext uri="{FF2B5EF4-FFF2-40B4-BE49-F238E27FC236}">
                <a16:creationId xmlns:a16="http://schemas.microsoft.com/office/drawing/2014/main" id="{D5A104E2-86F5-47DD-B2E3-0FAD7D83D459}"/>
              </a:ext>
            </a:extLst>
          </p:cNvPr>
          <p:cNvSpPr>
            <a:spLocks noGrp="1"/>
          </p:cNvSpPr>
          <p:nvPr/>
        </p:nvSpPr>
        <p:spPr>
          <a:xfrm>
            <a:off x="7524750" y="3429000"/>
            <a:ext cx="323850" cy="285750"/>
          </a:xfrm>
          <a:prstGeom prst="rect">
            <a:avLst/>
          </a:prstGeom>
          <a:noFill/>
          <a:ln w="0">
            <a:noFill/>
          </a:ln>
        </p:spPr>
        <p:txBody>
          <a:bodyPr anchor="ctr">
            <a:normAutofit fontScale="96591" lnSpcReduction="10000"/>
          </a:bodyPr>
          <a:lstStyle/>
          <a:p>
            <a:pPr algn="ctr">
              <a:defRPr sz="1320" b="1" i="0">
                <a:solidFill>
                  <a:srgbClr val="232F3E"/>
                </a:solidFill>
                <a:latin typeface="Cambria"/>
                <a:ea typeface="Cambria"/>
                <a:cs typeface="Cambria"/>
              </a:defRPr>
            </a:pPr>
            <a:r>
              <a:rPr sz="1320" b="1" i="0">
                <a:solidFill>
                  <a:srgbClr val="232F3E"/>
                </a:solidFill>
                <a:latin typeface="Cambria"/>
                <a:ea typeface="Cambria"/>
                <a:cs typeface="Cambria"/>
              </a:rPr>
              <a:t>3</a:t>
            </a:r>
          </a:p>
        </p:txBody>
      </p:sp>
      <p:sp>
        <p:nvSpPr>
          <p:cNvPr id="18" name="Rectangle 17">
            <a:extLst>
              <a:ext uri="{FF2B5EF4-FFF2-40B4-BE49-F238E27FC236}">
                <a16:creationId xmlns:a16="http://schemas.microsoft.com/office/drawing/2014/main" id="{06B867A4-BF4F-4D44-90FB-EB45409A1799}"/>
              </a:ext>
            </a:extLst>
          </p:cNvPr>
          <p:cNvSpPr>
            <a:spLocks noGrp="1"/>
          </p:cNvSpPr>
          <p:nvPr/>
        </p:nvSpPr>
        <p:spPr>
          <a:xfrm>
            <a:off x="8048625" y="3400425"/>
            <a:ext cx="1619250" cy="266700"/>
          </a:xfrm>
          <a:prstGeom prst="rect">
            <a:avLst/>
          </a:prstGeom>
          <a:noFill/>
          <a:ln w="0">
            <a:noFill/>
          </a:ln>
        </p:spPr>
        <p:txBody>
          <a:bodyPr anchor="t">
            <a:noAutofit/>
          </a:bodyPr>
          <a:lstStyle/>
          <a:p>
            <a:pPr algn="l">
              <a:defRPr sz="1238" b="1" i="0">
                <a:solidFill>
                  <a:srgbClr val="FF9900"/>
                </a:solidFill>
                <a:latin typeface="Consolas"/>
                <a:ea typeface="Consolas"/>
                <a:cs typeface="Consolas"/>
              </a:defRPr>
            </a:pPr>
            <a:r>
              <a:rPr sz="1400" b="1" i="0">
                <a:solidFill>
                  <a:srgbClr val="FF9900"/>
                </a:solidFill>
                <a:latin typeface="Consolas"/>
                <a:ea typeface="Consolas"/>
                <a:cs typeface="Consolas"/>
              </a:rPr>
              <a:t>Memory Used</a:t>
            </a:r>
          </a:p>
        </p:txBody>
      </p:sp>
      <p:sp>
        <p:nvSpPr>
          <p:cNvPr id="19" name="Rectangle 18">
            <a:extLst>
              <a:ext uri="{FF2B5EF4-FFF2-40B4-BE49-F238E27FC236}">
                <a16:creationId xmlns:a16="http://schemas.microsoft.com/office/drawing/2014/main" id="{8363B807-63B5-42D1-828A-A84D14B549AC}"/>
              </a:ext>
            </a:extLst>
          </p:cNvPr>
          <p:cNvSpPr>
            <a:spLocks noGrp="1"/>
          </p:cNvSpPr>
          <p:nvPr/>
        </p:nvSpPr>
        <p:spPr>
          <a:xfrm>
            <a:off x="8048625" y="3695700"/>
            <a:ext cx="3333750" cy="400050"/>
          </a:xfrm>
          <a:prstGeom prst="rect">
            <a:avLst/>
          </a:prstGeom>
          <a:noFill/>
          <a:ln w="0">
            <a:noFill/>
          </a:ln>
        </p:spPr>
        <p:txBody>
          <a:bodyPr anchor="t">
            <a:normAutofit/>
          </a:bodyPr>
          <a:lstStyle/>
          <a:p>
            <a:pPr algn="l">
              <a:defRPr sz="1155" b="0" i="0">
                <a:solidFill>
                  <a:srgbClr val="E6EAF0"/>
                </a:solidFill>
                <a:latin typeface="Calibri"/>
                <a:ea typeface="Calibri"/>
                <a:cs typeface="Calibri"/>
              </a:defRPr>
            </a:pPr>
            <a:r>
              <a:rPr sz="1200" b="0" i="0">
                <a:solidFill>
                  <a:srgbClr val="E6EAF0"/>
                </a:solidFill>
                <a:latin typeface="Calibri"/>
                <a:ea typeface="Calibri"/>
                <a:cs typeface="Calibri"/>
              </a:rPr>
              <a:t>Допомагає підібрати обсяг пам’яті</a:t>
            </a:r>
          </a:p>
        </p:txBody>
      </p:sp>
      <p:sp>
        <p:nvSpPr>
          <p:cNvPr id="20" name="Oval 19">
            <a:extLst>
              <a:ext uri="{FF2B5EF4-FFF2-40B4-BE49-F238E27FC236}">
                <a16:creationId xmlns:a16="http://schemas.microsoft.com/office/drawing/2014/main" id="{86373F65-5DDB-4097-9DEB-8B10EA1C01F6}"/>
              </a:ext>
            </a:extLst>
          </p:cNvPr>
          <p:cNvSpPr>
            <a:spLocks noGrp="1"/>
          </p:cNvSpPr>
          <p:nvPr/>
        </p:nvSpPr>
        <p:spPr>
          <a:xfrm>
            <a:off x="7524750" y="4295775"/>
            <a:ext cx="323850" cy="323850"/>
          </a:xfrm>
          <a:prstGeom prst="ellipse">
            <a:avLst/>
          </a:prstGeom>
          <a:solidFill>
            <a:srgbClr val="FF9900"/>
          </a:solidFill>
          <a:ln w="0">
            <a:noFill/>
          </a:ln>
        </p:spPr>
        <p:txBody>
          <a:bodyPr/>
          <a:lstStyle/>
          <a:p>
            <a:endParaRPr lang="en-UA"/>
          </a:p>
        </p:txBody>
      </p:sp>
      <p:sp>
        <p:nvSpPr>
          <p:cNvPr id="21" name="Rectangle 20">
            <a:extLst>
              <a:ext uri="{FF2B5EF4-FFF2-40B4-BE49-F238E27FC236}">
                <a16:creationId xmlns:a16="http://schemas.microsoft.com/office/drawing/2014/main" id="{36928EB8-1215-49DF-817E-19FDECA494D3}"/>
              </a:ext>
            </a:extLst>
          </p:cNvPr>
          <p:cNvSpPr>
            <a:spLocks noGrp="1"/>
          </p:cNvSpPr>
          <p:nvPr/>
        </p:nvSpPr>
        <p:spPr>
          <a:xfrm>
            <a:off x="7524750" y="4305300"/>
            <a:ext cx="323850" cy="285750"/>
          </a:xfrm>
          <a:prstGeom prst="rect">
            <a:avLst/>
          </a:prstGeom>
          <a:noFill/>
          <a:ln w="0">
            <a:noFill/>
          </a:ln>
        </p:spPr>
        <p:txBody>
          <a:bodyPr anchor="ctr">
            <a:normAutofit fontScale="96591" lnSpcReduction="10000"/>
          </a:bodyPr>
          <a:lstStyle/>
          <a:p>
            <a:pPr algn="ctr">
              <a:defRPr sz="1320" b="1" i="0">
                <a:solidFill>
                  <a:srgbClr val="232F3E"/>
                </a:solidFill>
                <a:latin typeface="Cambria"/>
                <a:ea typeface="Cambria"/>
                <a:cs typeface="Cambria"/>
              </a:defRPr>
            </a:pPr>
            <a:r>
              <a:rPr sz="1320" b="1" i="0">
                <a:solidFill>
                  <a:srgbClr val="232F3E"/>
                </a:solidFill>
                <a:latin typeface="Cambria"/>
                <a:ea typeface="Cambria"/>
                <a:cs typeface="Cambria"/>
              </a:rPr>
              <a:t>4</a:t>
            </a:r>
          </a:p>
        </p:txBody>
      </p:sp>
      <p:sp>
        <p:nvSpPr>
          <p:cNvPr id="22" name="Rectangle 21">
            <a:extLst>
              <a:ext uri="{FF2B5EF4-FFF2-40B4-BE49-F238E27FC236}">
                <a16:creationId xmlns:a16="http://schemas.microsoft.com/office/drawing/2014/main" id="{51404EEA-9FE3-4BE3-996D-29C82353D98A}"/>
              </a:ext>
            </a:extLst>
          </p:cNvPr>
          <p:cNvSpPr>
            <a:spLocks noGrp="1"/>
          </p:cNvSpPr>
          <p:nvPr/>
        </p:nvSpPr>
        <p:spPr>
          <a:xfrm>
            <a:off x="8048625" y="4276725"/>
            <a:ext cx="1619250" cy="266700"/>
          </a:xfrm>
          <a:prstGeom prst="rect">
            <a:avLst/>
          </a:prstGeom>
          <a:noFill/>
          <a:ln w="0">
            <a:noFill/>
          </a:ln>
        </p:spPr>
        <p:txBody>
          <a:bodyPr anchor="t">
            <a:noAutofit/>
          </a:bodyPr>
          <a:lstStyle/>
          <a:p>
            <a:pPr algn="l">
              <a:defRPr sz="1238" b="1" i="0">
                <a:solidFill>
                  <a:srgbClr val="FF9900"/>
                </a:solidFill>
                <a:latin typeface="Consolas"/>
                <a:ea typeface="Consolas"/>
                <a:cs typeface="Consolas"/>
              </a:defRPr>
            </a:pPr>
            <a:r>
              <a:rPr sz="1400" b="1" i="0">
                <a:solidFill>
                  <a:srgbClr val="FF9900"/>
                </a:solidFill>
                <a:latin typeface="Consolas"/>
                <a:ea typeface="Consolas"/>
                <a:cs typeface="Consolas"/>
              </a:rPr>
              <a:t>Traceback</a:t>
            </a:r>
          </a:p>
        </p:txBody>
      </p:sp>
      <p:sp>
        <p:nvSpPr>
          <p:cNvPr id="23" name="Rectangle 22">
            <a:extLst>
              <a:ext uri="{FF2B5EF4-FFF2-40B4-BE49-F238E27FC236}">
                <a16:creationId xmlns:a16="http://schemas.microsoft.com/office/drawing/2014/main" id="{EE2BCEA4-DC36-4BE4-84EB-7258553BEF2B}"/>
              </a:ext>
            </a:extLst>
          </p:cNvPr>
          <p:cNvSpPr>
            <a:spLocks noGrp="1"/>
          </p:cNvSpPr>
          <p:nvPr/>
        </p:nvSpPr>
        <p:spPr>
          <a:xfrm>
            <a:off x="8048625" y="4572000"/>
            <a:ext cx="3333750" cy="400050"/>
          </a:xfrm>
          <a:prstGeom prst="rect">
            <a:avLst/>
          </a:prstGeom>
          <a:noFill/>
          <a:ln w="0">
            <a:noFill/>
          </a:ln>
        </p:spPr>
        <p:txBody>
          <a:bodyPr anchor="t">
            <a:normAutofit/>
          </a:bodyPr>
          <a:lstStyle/>
          <a:p>
            <a:pPr algn="l">
              <a:defRPr sz="1155" b="0" i="0">
                <a:solidFill>
                  <a:srgbClr val="E6EAF0"/>
                </a:solidFill>
                <a:latin typeface="Calibri"/>
                <a:ea typeface="Calibri"/>
                <a:cs typeface="Calibri"/>
              </a:defRPr>
            </a:pPr>
            <a:r>
              <a:rPr sz="1200" b="0" i="0">
                <a:solidFill>
                  <a:srgbClr val="E6EAF0"/>
                </a:solidFill>
                <a:latin typeface="Calibri"/>
                <a:ea typeface="Calibri"/>
                <a:cs typeface="Calibri"/>
              </a:rPr>
              <a:t>Вказує тип помилки та рядок коду</a:t>
            </a:r>
          </a:p>
        </p:txBody>
      </p:sp>
      <p:sp>
        <p:nvSpPr>
          <p:cNvPr id="24" name="Rectangle 23">
            <a:extLst>
              <a:ext uri="{FF2B5EF4-FFF2-40B4-BE49-F238E27FC236}">
                <a16:creationId xmlns:a16="http://schemas.microsoft.com/office/drawing/2014/main" id="{374C1AE7-AA4E-45C9-858C-DCAC7CF5AC87}"/>
              </a:ext>
            </a:extLst>
          </p:cNvPr>
          <p:cNvSpPr>
            <a:spLocks noGrp="1"/>
          </p:cNvSpPr>
          <p:nvPr/>
        </p:nvSpPr>
        <p:spPr>
          <a:xfrm>
            <a:off x="457200" y="6515100"/>
            <a:ext cx="5715000" cy="209550"/>
          </a:xfrm>
          <a:prstGeom prst="rect">
            <a:avLst/>
          </a:prstGeom>
          <a:noFill/>
          <a:ln w="0">
            <a:noFill/>
          </a:ln>
        </p:spPr>
        <p:txBody>
          <a:bodyPr anchor="t">
            <a:normAutofit fontScale="93939" lnSpcReduction="10000"/>
          </a:bodyPr>
          <a:lstStyle/>
          <a:p>
            <a:pPr algn="l">
              <a:defRPr sz="825" b="0" i="0">
                <a:solidFill>
                  <a:srgbClr val="A9B7C6"/>
                </a:solidFill>
                <a:latin typeface="Calibri"/>
                <a:ea typeface="Calibri"/>
                <a:cs typeface="Calibri"/>
              </a:defRPr>
            </a:pPr>
            <a:r>
              <a:rPr sz="825" b="0" i="0">
                <a:solidFill>
                  <a:srgbClr val="A9B7C6"/>
                </a:solidFill>
                <a:latin typeface="Calibri"/>
                <a:ea typeface="Calibri"/>
                <a:cs typeface="Calibri"/>
              </a:rPr>
              <a:t>Serverless та AWS Lambda</a:t>
            </a:r>
          </a:p>
        </p:txBody>
      </p:sp>
      <p:sp>
        <p:nvSpPr>
          <p:cNvPr id="25" name="Rectangle 24">
            <a:extLst>
              <a:ext uri="{FF2B5EF4-FFF2-40B4-BE49-F238E27FC236}">
                <a16:creationId xmlns:a16="http://schemas.microsoft.com/office/drawing/2014/main" id="{ABA1B438-2150-433F-92A2-38CCCB606FB0}"/>
              </a:ext>
            </a:extLst>
          </p:cNvPr>
          <p:cNvSpPr>
            <a:spLocks noGrp="1"/>
          </p:cNvSpPr>
          <p:nvPr/>
        </p:nvSpPr>
        <p:spPr>
          <a:xfrm>
            <a:off x="11239500" y="6515100"/>
            <a:ext cx="476250" cy="209550"/>
          </a:xfrm>
          <a:prstGeom prst="rect">
            <a:avLst/>
          </a:prstGeom>
          <a:noFill/>
          <a:ln w="0">
            <a:noFill/>
          </a:ln>
        </p:spPr>
        <p:txBody>
          <a:bodyPr anchor="t">
            <a:normAutofit fontScale="93939" lnSpcReduction="10000"/>
          </a:bodyPr>
          <a:lstStyle/>
          <a:p>
            <a:pPr algn="r">
              <a:defRPr sz="825" b="0" i="0">
                <a:solidFill>
                  <a:srgbClr val="A9B7C6"/>
                </a:solidFill>
                <a:latin typeface="Calibri"/>
                <a:ea typeface="Calibri"/>
                <a:cs typeface="Calibri"/>
              </a:defRPr>
            </a:pPr>
            <a:r>
              <a:rPr sz="825" b="0" i="0">
                <a:solidFill>
                  <a:srgbClr val="A9B7C6"/>
                </a:solidFill>
                <a:latin typeface="Calibri"/>
                <a:ea typeface="Calibri"/>
                <a:cs typeface="Calibri"/>
              </a:rPr>
              <a:t>7</a:t>
            </a:r>
          </a:p>
        </p:txBody>
      </p:sp>
    </p:spTree>
    <p:extLst>
      <p:ext uri="{BB962C8B-B14F-4D97-AF65-F5344CB8AC3E}">
        <p14:creationId xmlns:p14="http://schemas.microsoft.com/office/powerpoint/2010/main" val="1248467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3F3"/>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6BAC94D2-F568-4A72-AAFB-D88BB8090C63}"/>
              </a:ext>
            </a:extLst>
          </p:cNvPr>
          <p:cNvSpPr>
            <a:spLocks noGrp="1"/>
          </p:cNvSpPr>
          <p:nvPr/>
        </p:nvSpPr>
        <p:spPr>
          <a:xfrm>
            <a:off x="504825" y="452438"/>
            <a:ext cx="11049000" cy="666750"/>
          </a:xfrm>
          <a:prstGeom prst="rect">
            <a:avLst/>
          </a:prstGeom>
          <a:noFill/>
          <a:ln w="0">
            <a:noFill/>
          </a:ln>
        </p:spPr>
        <p:txBody>
          <a:bodyPr anchor="t">
            <a:normAutofit/>
          </a:bodyPr>
          <a:lstStyle/>
          <a:p>
            <a:pPr algn="l">
              <a:defRPr sz="2805" b="1" i="0">
                <a:solidFill>
                  <a:srgbClr val="16191F"/>
                </a:solidFill>
                <a:latin typeface="Cambria"/>
                <a:ea typeface="Cambria"/>
                <a:cs typeface="Cambria"/>
              </a:defRPr>
            </a:pPr>
            <a:r>
              <a:rPr sz="3200" b="1" i="0" dirty="0">
                <a:solidFill>
                  <a:srgbClr val="16191F"/>
                </a:solidFill>
                <a:latin typeface="Cambria"/>
                <a:ea typeface="Cambria"/>
                <a:cs typeface="Cambria"/>
              </a:rPr>
              <a:t>Автоматичні </a:t>
            </a:r>
            <a:r>
              <a:rPr sz="3200" b="1" i="0" dirty="0" err="1">
                <a:solidFill>
                  <a:srgbClr val="16191F"/>
                </a:solidFill>
                <a:latin typeface="Cambria"/>
                <a:ea typeface="Cambria"/>
                <a:cs typeface="Cambria"/>
              </a:rPr>
              <a:t>мініатюри</a:t>
            </a:r>
            <a:r>
              <a:rPr sz="3200" b="1" i="0" dirty="0">
                <a:solidFill>
                  <a:srgbClr val="16191F"/>
                </a:solidFill>
                <a:latin typeface="Cambria"/>
                <a:ea typeface="Cambria"/>
                <a:cs typeface="Cambria"/>
              </a:rPr>
              <a:t>: S3 </a:t>
            </a:r>
            <a:r>
              <a:rPr sz="3200" b="1" i="0" dirty="0" err="1">
                <a:solidFill>
                  <a:srgbClr val="16191F"/>
                </a:solidFill>
                <a:latin typeface="Cambria"/>
                <a:ea typeface="Cambria"/>
                <a:cs typeface="Cambria"/>
              </a:rPr>
              <a:t>запускає</a:t>
            </a:r>
            <a:r>
              <a:rPr sz="3200" b="1" i="0" dirty="0">
                <a:solidFill>
                  <a:srgbClr val="16191F"/>
                </a:solidFill>
                <a:latin typeface="Cambria"/>
                <a:ea typeface="Cambria"/>
                <a:cs typeface="Cambria"/>
              </a:rPr>
              <a:t> Lambda</a:t>
            </a:r>
          </a:p>
        </p:txBody>
      </p:sp>
      <p:sp>
        <p:nvSpPr>
          <p:cNvPr id="2" name="Rounded Rectangle 1">
            <a:extLst>
              <a:ext uri="{FF2B5EF4-FFF2-40B4-BE49-F238E27FC236}">
                <a16:creationId xmlns:a16="http://schemas.microsoft.com/office/drawing/2014/main" id="{70F402CE-1803-4671-858E-877A80807B67}"/>
              </a:ext>
            </a:extLst>
          </p:cNvPr>
          <p:cNvSpPr>
            <a:spLocks noGrp="1"/>
          </p:cNvSpPr>
          <p:nvPr/>
        </p:nvSpPr>
        <p:spPr>
          <a:xfrm>
            <a:off x="428625" y="2095500"/>
            <a:ext cx="2571750" cy="1809750"/>
          </a:xfrm>
          <a:prstGeom prst="roundRect">
            <a:avLst>
              <a:gd name="adj" fmla="val 4211"/>
            </a:avLst>
          </a:prstGeom>
          <a:solidFill>
            <a:srgbClr val="FFFFFF"/>
          </a:solidFill>
          <a:ln w="9525">
            <a:solidFill>
              <a:srgbClr val="DDE1E6"/>
            </a:solidFill>
          </a:ln>
        </p:spPr>
        <p:txBody>
          <a:bodyPr/>
          <a:lstStyle/>
          <a:p>
            <a:endParaRPr lang="en-UA"/>
          </a:p>
        </p:txBody>
      </p:sp>
      <p:sp>
        <p:nvSpPr>
          <p:cNvPr id="3" name="Oval 2">
            <a:extLst>
              <a:ext uri="{FF2B5EF4-FFF2-40B4-BE49-F238E27FC236}">
                <a16:creationId xmlns:a16="http://schemas.microsoft.com/office/drawing/2014/main" id="{B19E6D83-01BA-4D63-BE04-A332A6FC00C1}"/>
              </a:ext>
            </a:extLst>
          </p:cNvPr>
          <p:cNvSpPr>
            <a:spLocks noGrp="1"/>
          </p:cNvSpPr>
          <p:nvPr/>
        </p:nvSpPr>
        <p:spPr>
          <a:xfrm>
            <a:off x="1419225" y="1571625"/>
            <a:ext cx="590550" cy="590550"/>
          </a:xfrm>
          <a:prstGeom prst="ellipse">
            <a:avLst/>
          </a:prstGeom>
          <a:solidFill>
            <a:srgbClr val="232F3E"/>
          </a:solidFill>
          <a:ln w="0">
            <a:noFill/>
          </a:ln>
        </p:spPr>
        <p:txBody>
          <a:bodyPr/>
          <a:lstStyle/>
          <a:p>
            <a:endParaRPr lang="en-UA"/>
          </a:p>
        </p:txBody>
      </p:sp>
      <p:sp>
        <p:nvSpPr>
          <p:cNvPr id="4" name="Rectangle 3">
            <a:extLst>
              <a:ext uri="{FF2B5EF4-FFF2-40B4-BE49-F238E27FC236}">
                <a16:creationId xmlns:a16="http://schemas.microsoft.com/office/drawing/2014/main" id="{90467DF8-5748-4CB2-B24A-6820B28C1A52}"/>
              </a:ext>
            </a:extLst>
          </p:cNvPr>
          <p:cNvSpPr>
            <a:spLocks noGrp="1"/>
          </p:cNvSpPr>
          <p:nvPr/>
        </p:nvSpPr>
        <p:spPr>
          <a:xfrm>
            <a:off x="1419225" y="1704975"/>
            <a:ext cx="590550" cy="304800"/>
          </a:xfrm>
          <a:prstGeom prst="rect">
            <a:avLst/>
          </a:prstGeom>
          <a:noFill/>
          <a:ln w="0">
            <a:noFill/>
          </a:ln>
        </p:spPr>
        <p:txBody>
          <a:bodyPr anchor="t">
            <a:normAutofit fontScale="92348" lnSpcReduction="10000"/>
          </a:bodyPr>
          <a:lstStyle/>
          <a:p>
            <a:pPr algn="ctr">
              <a:defRPr sz="1650" b="1" i="0">
                <a:solidFill>
                  <a:srgbClr val="FF9900"/>
                </a:solidFill>
                <a:latin typeface="Cambria"/>
                <a:ea typeface="Cambria"/>
                <a:cs typeface="Cambria"/>
              </a:defRPr>
            </a:pPr>
            <a:r>
              <a:rPr sz="1650" b="1" i="0">
                <a:solidFill>
                  <a:srgbClr val="FF9900"/>
                </a:solidFill>
                <a:latin typeface="Cambria"/>
                <a:ea typeface="Cambria"/>
                <a:cs typeface="Cambria"/>
              </a:rPr>
              <a:t>1</a:t>
            </a:r>
          </a:p>
        </p:txBody>
      </p:sp>
      <p:sp>
        <p:nvSpPr>
          <p:cNvPr id="5" name="Rectangle 4">
            <a:extLst>
              <a:ext uri="{FF2B5EF4-FFF2-40B4-BE49-F238E27FC236}">
                <a16:creationId xmlns:a16="http://schemas.microsoft.com/office/drawing/2014/main" id="{8B48BBBF-9E3E-4D6F-9C9C-31447C945A00}"/>
              </a:ext>
            </a:extLst>
          </p:cNvPr>
          <p:cNvSpPr>
            <a:spLocks noGrp="1"/>
          </p:cNvSpPr>
          <p:nvPr/>
        </p:nvSpPr>
        <p:spPr>
          <a:xfrm>
            <a:off x="619125" y="2400300"/>
            <a:ext cx="2190750" cy="323850"/>
          </a:xfrm>
          <a:prstGeom prst="rect">
            <a:avLst/>
          </a:prstGeom>
          <a:noFill/>
          <a:ln w="0">
            <a:noFill/>
          </a:ln>
        </p:spPr>
        <p:txBody>
          <a:bodyPr anchor="t">
            <a:normAutofit/>
          </a:bodyPr>
          <a:lstStyle/>
          <a:p>
            <a:pPr algn="ctr">
              <a:defRPr sz="1403" b="1" i="0">
                <a:solidFill>
                  <a:srgbClr val="16191F"/>
                </a:solidFill>
                <a:latin typeface="Calibri"/>
                <a:ea typeface="Calibri"/>
                <a:cs typeface="Calibri"/>
              </a:defRPr>
            </a:pPr>
            <a:r>
              <a:rPr sz="1403" b="1" i="0">
                <a:solidFill>
                  <a:srgbClr val="16191F"/>
                </a:solidFill>
                <a:latin typeface="Calibri"/>
                <a:ea typeface="Calibri"/>
                <a:cs typeface="Calibri"/>
              </a:rPr>
              <a:t>Originals bucket</a:t>
            </a:r>
          </a:p>
        </p:txBody>
      </p:sp>
      <p:sp>
        <p:nvSpPr>
          <p:cNvPr id="6" name="Rectangle 5">
            <a:extLst>
              <a:ext uri="{FF2B5EF4-FFF2-40B4-BE49-F238E27FC236}">
                <a16:creationId xmlns:a16="http://schemas.microsoft.com/office/drawing/2014/main" id="{324A0B48-6DAF-4A57-A987-73ADCFAEEBA7}"/>
              </a:ext>
            </a:extLst>
          </p:cNvPr>
          <p:cNvSpPr>
            <a:spLocks noGrp="1"/>
          </p:cNvSpPr>
          <p:nvPr/>
        </p:nvSpPr>
        <p:spPr>
          <a:xfrm>
            <a:off x="657225" y="2876550"/>
            <a:ext cx="2114550" cy="762000"/>
          </a:xfrm>
          <a:prstGeom prst="rect">
            <a:avLst/>
          </a:prstGeom>
          <a:noFill/>
          <a:ln w="0">
            <a:noFill/>
          </a:ln>
        </p:spPr>
        <p:txBody>
          <a:bodyPr anchor="t">
            <a:normAutofit/>
          </a:bodyPr>
          <a:lstStyle/>
          <a:p>
            <a:pPr algn="ctr">
              <a:defRPr sz="1155" b="0" i="0">
                <a:solidFill>
                  <a:srgbClr val="5A6674"/>
                </a:solidFill>
                <a:latin typeface="Calibri"/>
                <a:ea typeface="Calibri"/>
                <a:cs typeface="Calibri"/>
              </a:defRPr>
            </a:pPr>
            <a:r>
              <a:rPr sz="1155" b="0" i="0">
                <a:solidFill>
                  <a:srgbClr val="5A6674"/>
                </a:solidFill>
                <a:latin typeface="Calibri"/>
                <a:ea typeface="Calibri"/>
                <a:cs typeface="Calibri"/>
              </a:rPr>
              <a:t>Користувач завантажує JPEG або PNG</a:t>
            </a:r>
          </a:p>
        </p:txBody>
      </p:sp>
      <p:sp>
        <p:nvSpPr>
          <p:cNvPr id="7" name="Straight Connector 6">
            <a:extLst>
              <a:ext uri="{FF2B5EF4-FFF2-40B4-BE49-F238E27FC236}">
                <a16:creationId xmlns:a16="http://schemas.microsoft.com/office/drawing/2014/main" id="{4822F772-15BA-4BAB-85EB-597236DC6146}"/>
              </a:ext>
            </a:extLst>
          </p:cNvPr>
          <p:cNvSpPr>
            <a:spLocks noGrp="1"/>
          </p:cNvSpPr>
          <p:nvPr/>
        </p:nvSpPr>
        <p:spPr>
          <a:xfrm>
            <a:off x="3000375" y="3000375"/>
            <a:ext cx="333375" cy="0"/>
          </a:xfrm>
          <a:prstGeom prst="line">
            <a:avLst/>
          </a:prstGeom>
          <a:noFill/>
          <a:ln w="38100">
            <a:solidFill>
              <a:srgbClr val="FF9900"/>
            </a:solidFill>
          </a:ln>
        </p:spPr>
        <p:txBody>
          <a:bodyPr/>
          <a:lstStyle/>
          <a:p>
            <a:endParaRPr lang="en-UA"/>
          </a:p>
        </p:txBody>
      </p:sp>
      <p:sp>
        <p:nvSpPr>
          <p:cNvPr id="8" name="Rounded Rectangle 7">
            <a:extLst>
              <a:ext uri="{FF2B5EF4-FFF2-40B4-BE49-F238E27FC236}">
                <a16:creationId xmlns:a16="http://schemas.microsoft.com/office/drawing/2014/main" id="{7F134CF4-15A9-4993-9955-D2AF2B851275}"/>
              </a:ext>
            </a:extLst>
          </p:cNvPr>
          <p:cNvSpPr>
            <a:spLocks noGrp="1"/>
          </p:cNvSpPr>
          <p:nvPr/>
        </p:nvSpPr>
        <p:spPr>
          <a:xfrm>
            <a:off x="3333750" y="2095500"/>
            <a:ext cx="2571750" cy="1809750"/>
          </a:xfrm>
          <a:prstGeom prst="roundRect">
            <a:avLst>
              <a:gd name="adj" fmla="val 4211"/>
            </a:avLst>
          </a:prstGeom>
          <a:solidFill>
            <a:srgbClr val="FFFFFF"/>
          </a:solidFill>
          <a:ln w="9525">
            <a:solidFill>
              <a:srgbClr val="DDE1E6"/>
            </a:solidFill>
          </a:ln>
        </p:spPr>
        <p:txBody>
          <a:bodyPr/>
          <a:lstStyle/>
          <a:p>
            <a:endParaRPr lang="en-UA"/>
          </a:p>
        </p:txBody>
      </p:sp>
      <p:sp>
        <p:nvSpPr>
          <p:cNvPr id="9" name="Oval 8">
            <a:extLst>
              <a:ext uri="{FF2B5EF4-FFF2-40B4-BE49-F238E27FC236}">
                <a16:creationId xmlns:a16="http://schemas.microsoft.com/office/drawing/2014/main" id="{EB121FE8-051F-45F2-84B6-359465F92B94}"/>
              </a:ext>
            </a:extLst>
          </p:cNvPr>
          <p:cNvSpPr>
            <a:spLocks noGrp="1"/>
          </p:cNvSpPr>
          <p:nvPr/>
        </p:nvSpPr>
        <p:spPr>
          <a:xfrm>
            <a:off x="4324350" y="1571625"/>
            <a:ext cx="590550" cy="590550"/>
          </a:xfrm>
          <a:prstGeom prst="ellipse">
            <a:avLst/>
          </a:prstGeom>
          <a:solidFill>
            <a:srgbClr val="232F3E"/>
          </a:solidFill>
          <a:ln w="0">
            <a:noFill/>
          </a:ln>
        </p:spPr>
        <p:txBody>
          <a:bodyPr/>
          <a:lstStyle/>
          <a:p>
            <a:endParaRPr lang="en-UA"/>
          </a:p>
        </p:txBody>
      </p:sp>
      <p:sp>
        <p:nvSpPr>
          <p:cNvPr id="10" name="Rectangle 9">
            <a:extLst>
              <a:ext uri="{FF2B5EF4-FFF2-40B4-BE49-F238E27FC236}">
                <a16:creationId xmlns:a16="http://schemas.microsoft.com/office/drawing/2014/main" id="{ECD78F1A-ABB3-4C85-AFDE-31ADF8FA223A}"/>
              </a:ext>
            </a:extLst>
          </p:cNvPr>
          <p:cNvSpPr>
            <a:spLocks noGrp="1"/>
          </p:cNvSpPr>
          <p:nvPr/>
        </p:nvSpPr>
        <p:spPr>
          <a:xfrm>
            <a:off x="4324350" y="1704975"/>
            <a:ext cx="590550" cy="304800"/>
          </a:xfrm>
          <a:prstGeom prst="rect">
            <a:avLst/>
          </a:prstGeom>
          <a:noFill/>
          <a:ln w="0">
            <a:noFill/>
          </a:ln>
        </p:spPr>
        <p:txBody>
          <a:bodyPr anchor="t">
            <a:normAutofit fontScale="92348" lnSpcReduction="10000"/>
          </a:bodyPr>
          <a:lstStyle/>
          <a:p>
            <a:pPr algn="ctr">
              <a:defRPr sz="1650" b="1" i="0">
                <a:solidFill>
                  <a:srgbClr val="FF9900"/>
                </a:solidFill>
                <a:latin typeface="Cambria"/>
                <a:ea typeface="Cambria"/>
                <a:cs typeface="Cambria"/>
              </a:defRPr>
            </a:pPr>
            <a:r>
              <a:rPr sz="1650" b="1" i="0">
                <a:solidFill>
                  <a:srgbClr val="FF9900"/>
                </a:solidFill>
                <a:latin typeface="Cambria"/>
                <a:ea typeface="Cambria"/>
                <a:cs typeface="Cambria"/>
              </a:rPr>
              <a:t>2</a:t>
            </a:r>
          </a:p>
        </p:txBody>
      </p:sp>
      <p:sp>
        <p:nvSpPr>
          <p:cNvPr id="11" name="Rectangle 10">
            <a:extLst>
              <a:ext uri="{FF2B5EF4-FFF2-40B4-BE49-F238E27FC236}">
                <a16:creationId xmlns:a16="http://schemas.microsoft.com/office/drawing/2014/main" id="{2EBEBA88-FF01-4172-9C17-F9F75443F99D}"/>
              </a:ext>
            </a:extLst>
          </p:cNvPr>
          <p:cNvSpPr>
            <a:spLocks noGrp="1"/>
          </p:cNvSpPr>
          <p:nvPr/>
        </p:nvSpPr>
        <p:spPr>
          <a:xfrm>
            <a:off x="3524250" y="2400300"/>
            <a:ext cx="2190750" cy="323850"/>
          </a:xfrm>
          <a:prstGeom prst="rect">
            <a:avLst/>
          </a:prstGeom>
          <a:noFill/>
          <a:ln w="0">
            <a:noFill/>
          </a:ln>
        </p:spPr>
        <p:txBody>
          <a:bodyPr anchor="t">
            <a:normAutofit/>
          </a:bodyPr>
          <a:lstStyle/>
          <a:p>
            <a:pPr algn="ctr">
              <a:defRPr sz="1403" b="1" i="0">
                <a:solidFill>
                  <a:srgbClr val="16191F"/>
                </a:solidFill>
                <a:latin typeface="Calibri"/>
                <a:ea typeface="Calibri"/>
                <a:cs typeface="Calibri"/>
              </a:defRPr>
            </a:pPr>
            <a:r>
              <a:rPr sz="1403" b="1" i="0">
                <a:solidFill>
                  <a:srgbClr val="16191F"/>
                </a:solidFill>
                <a:latin typeface="Calibri"/>
                <a:ea typeface="Calibri"/>
                <a:cs typeface="Calibri"/>
              </a:rPr>
              <a:t>ObjectCreated</a:t>
            </a:r>
          </a:p>
        </p:txBody>
      </p:sp>
      <p:sp>
        <p:nvSpPr>
          <p:cNvPr id="12" name="Rectangle 11">
            <a:extLst>
              <a:ext uri="{FF2B5EF4-FFF2-40B4-BE49-F238E27FC236}">
                <a16:creationId xmlns:a16="http://schemas.microsoft.com/office/drawing/2014/main" id="{756D685B-3858-4276-B56E-6744E59FAEAC}"/>
              </a:ext>
            </a:extLst>
          </p:cNvPr>
          <p:cNvSpPr>
            <a:spLocks noGrp="1"/>
          </p:cNvSpPr>
          <p:nvPr/>
        </p:nvSpPr>
        <p:spPr>
          <a:xfrm>
            <a:off x="3562350" y="2876550"/>
            <a:ext cx="2114550" cy="762000"/>
          </a:xfrm>
          <a:prstGeom prst="rect">
            <a:avLst/>
          </a:prstGeom>
          <a:noFill/>
          <a:ln w="0">
            <a:noFill/>
          </a:ln>
        </p:spPr>
        <p:txBody>
          <a:bodyPr anchor="t">
            <a:normAutofit/>
          </a:bodyPr>
          <a:lstStyle/>
          <a:p>
            <a:pPr algn="ctr">
              <a:defRPr sz="1155" b="0" i="0">
                <a:solidFill>
                  <a:srgbClr val="5A6674"/>
                </a:solidFill>
                <a:latin typeface="Calibri"/>
                <a:ea typeface="Calibri"/>
                <a:cs typeface="Calibri"/>
              </a:defRPr>
            </a:pPr>
            <a:r>
              <a:rPr sz="1155" b="0" i="0">
                <a:solidFill>
                  <a:srgbClr val="5A6674"/>
                </a:solidFill>
                <a:latin typeface="Calibri"/>
                <a:ea typeface="Calibri"/>
                <a:cs typeface="Calibri"/>
              </a:rPr>
              <a:t>S3 формує подію з bucket і key</a:t>
            </a:r>
          </a:p>
        </p:txBody>
      </p:sp>
      <p:sp>
        <p:nvSpPr>
          <p:cNvPr id="13" name="Straight Connector 12">
            <a:extLst>
              <a:ext uri="{FF2B5EF4-FFF2-40B4-BE49-F238E27FC236}">
                <a16:creationId xmlns:a16="http://schemas.microsoft.com/office/drawing/2014/main" id="{F9C13AAA-204E-4F09-A5EE-BF77F09712B8}"/>
              </a:ext>
            </a:extLst>
          </p:cNvPr>
          <p:cNvSpPr>
            <a:spLocks noGrp="1"/>
          </p:cNvSpPr>
          <p:nvPr/>
        </p:nvSpPr>
        <p:spPr>
          <a:xfrm>
            <a:off x="5905500" y="3000375"/>
            <a:ext cx="333375" cy="0"/>
          </a:xfrm>
          <a:prstGeom prst="line">
            <a:avLst/>
          </a:prstGeom>
          <a:noFill/>
          <a:ln w="38100">
            <a:solidFill>
              <a:srgbClr val="FF9900"/>
            </a:solidFill>
          </a:ln>
        </p:spPr>
        <p:txBody>
          <a:bodyPr/>
          <a:lstStyle/>
          <a:p>
            <a:endParaRPr lang="en-UA"/>
          </a:p>
        </p:txBody>
      </p:sp>
      <p:sp>
        <p:nvSpPr>
          <p:cNvPr id="14" name="Rounded Rectangle 13">
            <a:extLst>
              <a:ext uri="{FF2B5EF4-FFF2-40B4-BE49-F238E27FC236}">
                <a16:creationId xmlns:a16="http://schemas.microsoft.com/office/drawing/2014/main" id="{629FEE3A-6660-4AB4-9835-199D81345006}"/>
              </a:ext>
            </a:extLst>
          </p:cNvPr>
          <p:cNvSpPr>
            <a:spLocks noGrp="1"/>
          </p:cNvSpPr>
          <p:nvPr/>
        </p:nvSpPr>
        <p:spPr>
          <a:xfrm>
            <a:off x="6238875" y="2095500"/>
            <a:ext cx="2571750" cy="1809750"/>
          </a:xfrm>
          <a:prstGeom prst="roundRect">
            <a:avLst>
              <a:gd name="adj" fmla="val 4211"/>
            </a:avLst>
          </a:prstGeom>
          <a:solidFill>
            <a:srgbClr val="FFFFFF"/>
          </a:solidFill>
          <a:ln w="9525">
            <a:solidFill>
              <a:srgbClr val="DDE1E6"/>
            </a:solidFill>
          </a:ln>
        </p:spPr>
        <p:txBody>
          <a:bodyPr/>
          <a:lstStyle/>
          <a:p>
            <a:endParaRPr lang="en-UA"/>
          </a:p>
        </p:txBody>
      </p:sp>
      <p:sp>
        <p:nvSpPr>
          <p:cNvPr id="15" name="Oval 14">
            <a:extLst>
              <a:ext uri="{FF2B5EF4-FFF2-40B4-BE49-F238E27FC236}">
                <a16:creationId xmlns:a16="http://schemas.microsoft.com/office/drawing/2014/main" id="{8CE6801E-B093-4B84-A2C7-6AA2C0E58F10}"/>
              </a:ext>
            </a:extLst>
          </p:cNvPr>
          <p:cNvSpPr>
            <a:spLocks noGrp="1"/>
          </p:cNvSpPr>
          <p:nvPr/>
        </p:nvSpPr>
        <p:spPr>
          <a:xfrm>
            <a:off x="7229475" y="1571625"/>
            <a:ext cx="590550" cy="590550"/>
          </a:xfrm>
          <a:prstGeom prst="ellipse">
            <a:avLst/>
          </a:prstGeom>
          <a:solidFill>
            <a:srgbClr val="232F3E"/>
          </a:solidFill>
          <a:ln w="0">
            <a:noFill/>
          </a:ln>
        </p:spPr>
        <p:txBody>
          <a:bodyPr/>
          <a:lstStyle/>
          <a:p>
            <a:endParaRPr lang="en-UA"/>
          </a:p>
        </p:txBody>
      </p:sp>
      <p:sp>
        <p:nvSpPr>
          <p:cNvPr id="16" name="Rectangle 15">
            <a:extLst>
              <a:ext uri="{FF2B5EF4-FFF2-40B4-BE49-F238E27FC236}">
                <a16:creationId xmlns:a16="http://schemas.microsoft.com/office/drawing/2014/main" id="{21B42322-89D3-4D62-B9E7-FA03AD13AEAD}"/>
              </a:ext>
            </a:extLst>
          </p:cNvPr>
          <p:cNvSpPr>
            <a:spLocks noGrp="1"/>
          </p:cNvSpPr>
          <p:nvPr/>
        </p:nvSpPr>
        <p:spPr>
          <a:xfrm>
            <a:off x="7229475" y="1704975"/>
            <a:ext cx="590550" cy="304800"/>
          </a:xfrm>
          <a:prstGeom prst="rect">
            <a:avLst/>
          </a:prstGeom>
          <a:noFill/>
          <a:ln w="0">
            <a:noFill/>
          </a:ln>
        </p:spPr>
        <p:txBody>
          <a:bodyPr anchor="t">
            <a:normAutofit fontScale="92348" lnSpcReduction="10000"/>
          </a:bodyPr>
          <a:lstStyle/>
          <a:p>
            <a:pPr algn="ctr">
              <a:defRPr sz="1650" b="1" i="0">
                <a:solidFill>
                  <a:srgbClr val="FF9900"/>
                </a:solidFill>
                <a:latin typeface="Cambria"/>
                <a:ea typeface="Cambria"/>
                <a:cs typeface="Cambria"/>
              </a:defRPr>
            </a:pPr>
            <a:r>
              <a:rPr sz="1650" b="1" i="0">
                <a:solidFill>
                  <a:srgbClr val="FF9900"/>
                </a:solidFill>
                <a:latin typeface="Cambria"/>
                <a:ea typeface="Cambria"/>
                <a:cs typeface="Cambria"/>
              </a:rPr>
              <a:t>3</a:t>
            </a:r>
          </a:p>
        </p:txBody>
      </p:sp>
      <p:sp>
        <p:nvSpPr>
          <p:cNvPr id="17" name="Rectangle 16">
            <a:extLst>
              <a:ext uri="{FF2B5EF4-FFF2-40B4-BE49-F238E27FC236}">
                <a16:creationId xmlns:a16="http://schemas.microsoft.com/office/drawing/2014/main" id="{0E98070E-C194-4EBF-9E25-9297DB1B026A}"/>
              </a:ext>
            </a:extLst>
          </p:cNvPr>
          <p:cNvSpPr>
            <a:spLocks noGrp="1"/>
          </p:cNvSpPr>
          <p:nvPr/>
        </p:nvSpPr>
        <p:spPr>
          <a:xfrm>
            <a:off x="6429375" y="2400300"/>
            <a:ext cx="2190750" cy="323850"/>
          </a:xfrm>
          <a:prstGeom prst="rect">
            <a:avLst/>
          </a:prstGeom>
          <a:noFill/>
          <a:ln w="0">
            <a:noFill/>
          </a:ln>
        </p:spPr>
        <p:txBody>
          <a:bodyPr anchor="t">
            <a:normAutofit/>
          </a:bodyPr>
          <a:lstStyle/>
          <a:p>
            <a:pPr algn="ctr">
              <a:defRPr sz="1403" b="1" i="0">
                <a:solidFill>
                  <a:srgbClr val="16191F"/>
                </a:solidFill>
                <a:latin typeface="Calibri"/>
                <a:ea typeface="Calibri"/>
                <a:cs typeface="Calibri"/>
              </a:defRPr>
            </a:pPr>
            <a:r>
              <a:rPr sz="1403" b="1" i="0">
                <a:solidFill>
                  <a:srgbClr val="16191F"/>
                </a:solidFill>
                <a:latin typeface="Calibri"/>
                <a:ea typeface="Calibri"/>
                <a:cs typeface="Calibri"/>
              </a:rPr>
              <a:t>Lambda + Pillow</a:t>
            </a:r>
          </a:p>
        </p:txBody>
      </p:sp>
      <p:sp>
        <p:nvSpPr>
          <p:cNvPr id="18" name="Rectangle 17">
            <a:extLst>
              <a:ext uri="{FF2B5EF4-FFF2-40B4-BE49-F238E27FC236}">
                <a16:creationId xmlns:a16="http://schemas.microsoft.com/office/drawing/2014/main" id="{EBAEDE79-6BEA-4F6C-9298-D769C5AB0872}"/>
              </a:ext>
            </a:extLst>
          </p:cNvPr>
          <p:cNvSpPr>
            <a:spLocks noGrp="1"/>
          </p:cNvSpPr>
          <p:nvPr/>
        </p:nvSpPr>
        <p:spPr>
          <a:xfrm>
            <a:off x="6467475" y="2876550"/>
            <a:ext cx="2114550" cy="762000"/>
          </a:xfrm>
          <a:prstGeom prst="rect">
            <a:avLst/>
          </a:prstGeom>
          <a:noFill/>
          <a:ln w="0">
            <a:noFill/>
          </a:ln>
        </p:spPr>
        <p:txBody>
          <a:bodyPr anchor="t">
            <a:normAutofit/>
          </a:bodyPr>
          <a:lstStyle/>
          <a:p>
            <a:pPr algn="ctr">
              <a:defRPr sz="1155" b="0" i="0">
                <a:solidFill>
                  <a:srgbClr val="5A6674"/>
                </a:solidFill>
                <a:latin typeface="Calibri"/>
                <a:ea typeface="Calibri"/>
                <a:cs typeface="Calibri"/>
              </a:defRPr>
            </a:pPr>
            <a:r>
              <a:rPr sz="1155" b="0" i="0">
                <a:solidFill>
                  <a:srgbClr val="5A6674"/>
                </a:solidFill>
                <a:latin typeface="Calibri"/>
                <a:ea typeface="Calibri"/>
                <a:cs typeface="Calibri"/>
              </a:rPr>
              <a:t>Функція створює копію до 200 × 200 px</a:t>
            </a:r>
          </a:p>
        </p:txBody>
      </p:sp>
      <p:sp>
        <p:nvSpPr>
          <p:cNvPr id="19" name="Straight Connector 18">
            <a:extLst>
              <a:ext uri="{FF2B5EF4-FFF2-40B4-BE49-F238E27FC236}">
                <a16:creationId xmlns:a16="http://schemas.microsoft.com/office/drawing/2014/main" id="{3C46B22F-AB2F-4D22-AEF4-37140ABE0C82}"/>
              </a:ext>
            </a:extLst>
          </p:cNvPr>
          <p:cNvSpPr>
            <a:spLocks noGrp="1"/>
          </p:cNvSpPr>
          <p:nvPr/>
        </p:nvSpPr>
        <p:spPr>
          <a:xfrm>
            <a:off x="8810625" y="3000375"/>
            <a:ext cx="333375" cy="0"/>
          </a:xfrm>
          <a:prstGeom prst="line">
            <a:avLst/>
          </a:prstGeom>
          <a:noFill/>
          <a:ln w="38100">
            <a:solidFill>
              <a:srgbClr val="FF9900"/>
            </a:solidFill>
          </a:ln>
        </p:spPr>
        <p:txBody>
          <a:bodyPr/>
          <a:lstStyle/>
          <a:p>
            <a:endParaRPr lang="en-UA"/>
          </a:p>
        </p:txBody>
      </p:sp>
      <p:sp>
        <p:nvSpPr>
          <p:cNvPr id="20" name="Rounded Rectangle 19">
            <a:extLst>
              <a:ext uri="{FF2B5EF4-FFF2-40B4-BE49-F238E27FC236}">
                <a16:creationId xmlns:a16="http://schemas.microsoft.com/office/drawing/2014/main" id="{AC4E2D7F-F5F9-423C-B34C-25D4B29F4A9A}"/>
              </a:ext>
            </a:extLst>
          </p:cNvPr>
          <p:cNvSpPr>
            <a:spLocks noGrp="1"/>
          </p:cNvSpPr>
          <p:nvPr/>
        </p:nvSpPr>
        <p:spPr>
          <a:xfrm>
            <a:off x="9144000" y="2095500"/>
            <a:ext cx="2571750" cy="1809750"/>
          </a:xfrm>
          <a:prstGeom prst="roundRect">
            <a:avLst>
              <a:gd name="adj" fmla="val 4211"/>
            </a:avLst>
          </a:prstGeom>
          <a:solidFill>
            <a:srgbClr val="FFFFFF"/>
          </a:solidFill>
          <a:ln w="9525">
            <a:solidFill>
              <a:srgbClr val="DDE1E6"/>
            </a:solidFill>
          </a:ln>
        </p:spPr>
        <p:txBody>
          <a:bodyPr/>
          <a:lstStyle/>
          <a:p>
            <a:endParaRPr lang="en-UA"/>
          </a:p>
        </p:txBody>
      </p:sp>
      <p:sp>
        <p:nvSpPr>
          <p:cNvPr id="21" name="Oval 20">
            <a:extLst>
              <a:ext uri="{FF2B5EF4-FFF2-40B4-BE49-F238E27FC236}">
                <a16:creationId xmlns:a16="http://schemas.microsoft.com/office/drawing/2014/main" id="{62B5AE4E-7509-4059-9710-56E95522D55E}"/>
              </a:ext>
            </a:extLst>
          </p:cNvPr>
          <p:cNvSpPr>
            <a:spLocks noGrp="1"/>
          </p:cNvSpPr>
          <p:nvPr/>
        </p:nvSpPr>
        <p:spPr>
          <a:xfrm>
            <a:off x="10134600" y="1571625"/>
            <a:ext cx="590550" cy="590550"/>
          </a:xfrm>
          <a:prstGeom prst="ellipse">
            <a:avLst/>
          </a:prstGeom>
          <a:solidFill>
            <a:srgbClr val="232F3E"/>
          </a:solidFill>
          <a:ln w="0">
            <a:noFill/>
          </a:ln>
        </p:spPr>
        <p:txBody>
          <a:bodyPr/>
          <a:lstStyle/>
          <a:p>
            <a:endParaRPr lang="en-UA"/>
          </a:p>
        </p:txBody>
      </p:sp>
      <p:sp>
        <p:nvSpPr>
          <p:cNvPr id="22" name="Rectangle 21">
            <a:extLst>
              <a:ext uri="{FF2B5EF4-FFF2-40B4-BE49-F238E27FC236}">
                <a16:creationId xmlns:a16="http://schemas.microsoft.com/office/drawing/2014/main" id="{3EEA89CE-D051-4A6C-8C8E-8B128830644C}"/>
              </a:ext>
            </a:extLst>
          </p:cNvPr>
          <p:cNvSpPr>
            <a:spLocks noGrp="1"/>
          </p:cNvSpPr>
          <p:nvPr/>
        </p:nvSpPr>
        <p:spPr>
          <a:xfrm>
            <a:off x="10134600" y="1704975"/>
            <a:ext cx="590550" cy="304800"/>
          </a:xfrm>
          <a:prstGeom prst="rect">
            <a:avLst/>
          </a:prstGeom>
          <a:noFill/>
          <a:ln w="0">
            <a:noFill/>
          </a:ln>
        </p:spPr>
        <p:txBody>
          <a:bodyPr anchor="t">
            <a:normAutofit fontScale="92348" lnSpcReduction="10000"/>
          </a:bodyPr>
          <a:lstStyle/>
          <a:p>
            <a:pPr algn="ctr">
              <a:defRPr sz="1650" b="1" i="0">
                <a:solidFill>
                  <a:srgbClr val="FF9900"/>
                </a:solidFill>
                <a:latin typeface="Cambria"/>
                <a:ea typeface="Cambria"/>
                <a:cs typeface="Cambria"/>
              </a:defRPr>
            </a:pPr>
            <a:r>
              <a:rPr sz="1650" b="1" i="0">
                <a:solidFill>
                  <a:srgbClr val="FF9900"/>
                </a:solidFill>
                <a:latin typeface="Cambria"/>
                <a:ea typeface="Cambria"/>
                <a:cs typeface="Cambria"/>
              </a:rPr>
              <a:t>4</a:t>
            </a:r>
          </a:p>
        </p:txBody>
      </p:sp>
      <p:sp>
        <p:nvSpPr>
          <p:cNvPr id="23" name="Rectangle 22">
            <a:extLst>
              <a:ext uri="{FF2B5EF4-FFF2-40B4-BE49-F238E27FC236}">
                <a16:creationId xmlns:a16="http://schemas.microsoft.com/office/drawing/2014/main" id="{789F20AC-5588-4706-916D-C7369782A006}"/>
              </a:ext>
            </a:extLst>
          </p:cNvPr>
          <p:cNvSpPr>
            <a:spLocks noGrp="1"/>
          </p:cNvSpPr>
          <p:nvPr/>
        </p:nvSpPr>
        <p:spPr>
          <a:xfrm>
            <a:off x="9334500" y="2400300"/>
            <a:ext cx="2190750" cy="323850"/>
          </a:xfrm>
          <a:prstGeom prst="rect">
            <a:avLst/>
          </a:prstGeom>
          <a:noFill/>
          <a:ln w="0">
            <a:noFill/>
          </a:ln>
        </p:spPr>
        <p:txBody>
          <a:bodyPr anchor="t">
            <a:normAutofit/>
          </a:bodyPr>
          <a:lstStyle/>
          <a:p>
            <a:pPr algn="ctr">
              <a:defRPr sz="1403" b="1" i="0">
                <a:solidFill>
                  <a:srgbClr val="16191F"/>
                </a:solidFill>
                <a:latin typeface="Calibri"/>
                <a:ea typeface="Calibri"/>
                <a:cs typeface="Calibri"/>
              </a:defRPr>
            </a:pPr>
            <a:r>
              <a:rPr sz="1403" b="1" i="0">
                <a:solidFill>
                  <a:srgbClr val="16191F"/>
                </a:solidFill>
                <a:latin typeface="Calibri"/>
                <a:ea typeface="Calibri"/>
                <a:cs typeface="Calibri"/>
              </a:rPr>
              <a:t>Thumbnails bucket</a:t>
            </a:r>
          </a:p>
        </p:txBody>
      </p:sp>
      <p:sp>
        <p:nvSpPr>
          <p:cNvPr id="24" name="Rectangle 23">
            <a:extLst>
              <a:ext uri="{FF2B5EF4-FFF2-40B4-BE49-F238E27FC236}">
                <a16:creationId xmlns:a16="http://schemas.microsoft.com/office/drawing/2014/main" id="{8ADBD1CA-75A9-4588-940D-F6C3394839F7}"/>
              </a:ext>
            </a:extLst>
          </p:cNvPr>
          <p:cNvSpPr>
            <a:spLocks noGrp="1"/>
          </p:cNvSpPr>
          <p:nvPr/>
        </p:nvSpPr>
        <p:spPr>
          <a:xfrm>
            <a:off x="9372600" y="2876550"/>
            <a:ext cx="2114550" cy="762000"/>
          </a:xfrm>
          <a:prstGeom prst="rect">
            <a:avLst/>
          </a:prstGeom>
          <a:noFill/>
          <a:ln w="0">
            <a:noFill/>
          </a:ln>
        </p:spPr>
        <p:txBody>
          <a:bodyPr anchor="t">
            <a:normAutofit/>
          </a:bodyPr>
          <a:lstStyle/>
          <a:p>
            <a:pPr algn="ctr">
              <a:defRPr sz="1155" b="0" i="0">
                <a:solidFill>
                  <a:srgbClr val="5A6674"/>
                </a:solidFill>
                <a:latin typeface="Calibri"/>
                <a:ea typeface="Calibri"/>
                <a:cs typeface="Calibri"/>
              </a:defRPr>
            </a:pPr>
            <a:r>
              <a:rPr sz="1155" b="0" i="0">
                <a:solidFill>
                  <a:srgbClr val="5A6674"/>
                </a:solidFill>
                <a:latin typeface="Calibri"/>
                <a:ea typeface="Calibri"/>
                <a:cs typeface="Calibri"/>
              </a:rPr>
              <a:t>Результат зберігається з префіксом thumbnail-</a:t>
            </a:r>
          </a:p>
        </p:txBody>
      </p:sp>
      <p:sp>
        <p:nvSpPr>
          <p:cNvPr id="25" name="Rounded Rectangle 24">
            <a:extLst>
              <a:ext uri="{FF2B5EF4-FFF2-40B4-BE49-F238E27FC236}">
                <a16:creationId xmlns:a16="http://schemas.microsoft.com/office/drawing/2014/main" id="{B25CB8C6-CB97-4AE7-8490-FDFE947C4180}"/>
              </a:ext>
            </a:extLst>
          </p:cNvPr>
          <p:cNvSpPr>
            <a:spLocks noGrp="1"/>
          </p:cNvSpPr>
          <p:nvPr/>
        </p:nvSpPr>
        <p:spPr>
          <a:xfrm>
            <a:off x="552450" y="4572000"/>
            <a:ext cx="10953750" cy="857250"/>
          </a:xfrm>
          <a:prstGeom prst="roundRect">
            <a:avLst>
              <a:gd name="adj" fmla="val 8889"/>
            </a:avLst>
          </a:prstGeom>
          <a:solidFill>
            <a:srgbClr val="1A2431"/>
          </a:solidFill>
          <a:ln w="9525">
            <a:solidFill>
              <a:srgbClr val="37475A"/>
            </a:solidFill>
          </a:ln>
        </p:spPr>
        <p:txBody>
          <a:bodyPr/>
          <a:lstStyle/>
          <a:p>
            <a:endParaRPr lang="en-UA"/>
          </a:p>
        </p:txBody>
      </p:sp>
      <p:sp>
        <p:nvSpPr>
          <p:cNvPr id="26" name="Rectangle 25">
            <a:extLst>
              <a:ext uri="{FF2B5EF4-FFF2-40B4-BE49-F238E27FC236}">
                <a16:creationId xmlns:a16="http://schemas.microsoft.com/office/drawing/2014/main" id="{012A9401-4880-441B-9B75-F984B58439CD}"/>
              </a:ext>
            </a:extLst>
          </p:cNvPr>
          <p:cNvSpPr>
            <a:spLocks noGrp="1"/>
          </p:cNvSpPr>
          <p:nvPr/>
        </p:nvSpPr>
        <p:spPr>
          <a:xfrm>
            <a:off x="838200" y="4810125"/>
            <a:ext cx="10382250" cy="381000"/>
          </a:xfrm>
          <a:prstGeom prst="rect">
            <a:avLst/>
          </a:prstGeom>
          <a:noFill/>
          <a:ln w="0">
            <a:noFill/>
          </a:ln>
        </p:spPr>
        <p:txBody>
          <a:bodyPr anchor="t">
            <a:normAutofit/>
          </a:bodyPr>
          <a:lstStyle/>
          <a:p>
            <a:pPr algn="ctr">
              <a:defRPr sz="1650" b="1" i="0">
                <a:solidFill>
                  <a:srgbClr val="B8E986"/>
                </a:solidFill>
                <a:latin typeface="Consolas"/>
                <a:ea typeface="Consolas"/>
                <a:cs typeface="Consolas"/>
              </a:defRPr>
            </a:pPr>
            <a:r>
              <a:rPr sz="1650" b="1" i="0">
                <a:solidFill>
                  <a:srgbClr val="B8E986"/>
                </a:solidFill>
                <a:latin typeface="Consolas"/>
                <a:ea typeface="Consolas"/>
                <a:cs typeface="Consolas"/>
              </a:rPr>
              <a:t>event → download_file → Pillow.thumbnail → upload_file</a:t>
            </a:r>
          </a:p>
        </p:txBody>
      </p:sp>
      <p:sp>
        <p:nvSpPr>
          <p:cNvPr id="27" name="Rectangle 26">
            <a:extLst>
              <a:ext uri="{FF2B5EF4-FFF2-40B4-BE49-F238E27FC236}">
                <a16:creationId xmlns:a16="http://schemas.microsoft.com/office/drawing/2014/main" id="{A7B72A5A-D00F-4F32-91E2-DA4948E1C308}"/>
              </a:ext>
            </a:extLst>
          </p:cNvPr>
          <p:cNvSpPr>
            <a:spLocks noGrp="1"/>
          </p:cNvSpPr>
          <p:nvPr/>
        </p:nvSpPr>
        <p:spPr>
          <a:xfrm>
            <a:off x="457200" y="6515100"/>
            <a:ext cx="5715000" cy="209550"/>
          </a:xfrm>
          <a:prstGeom prst="rect">
            <a:avLst/>
          </a:prstGeom>
          <a:noFill/>
          <a:ln w="0">
            <a:noFill/>
          </a:ln>
        </p:spPr>
        <p:txBody>
          <a:bodyPr anchor="t">
            <a:normAutofit fontScale="93939" lnSpcReduction="10000"/>
          </a:bodyPr>
          <a:lstStyle/>
          <a:p>
            <a:pPr algn="l">
              <a:defRPr sz="825" b="0" i="0">
                <a:solidFill>
                  <a:srgbClr val="5A6674"/>
                </a:solidFill>
                <a:latin typeface="Calibri"/>
                <a:ea typeface="Calibri"/>
                <a:cs typeface="Calibri"/>
              </a:defRPr>
            </a:pPr>
            <a:r>
              <a:rPr sz="825" b="0" i="0">
                <a:solidFill>
                  <a:srgbClr val="5A6674"/>
                </a:solidFill>
                <a:latin typeface="Calibri"/>
                <a:ea typeface="Calibri"/>
                <a:cs typeface="Calibri"/>
              </a:rPr>
              <a:t>Serverless та AWS Lambda</a:t>
            </a:r>
          </a:p>
        </p:txBody>
      </p:sp>
      <p:sp>
        <p:nvSpPr>
          <p:cNvPr id="28" name="Rectangle 27">
            <a:extLst>
              <a:ext uri="{FF2B5EF4-FFF2-40B4-BE49-F238E27FC236}">
                <a16:creationId xmlns:a16="http://schemas.microsoft.com/office/drawing/2014/main" id="{344C6CBB-31B2-46BC-9244-7EAA3CAB7437}"/>
              </a:ext>
            </a:extLst>
          </p:cNvPr>
          <p:cNvSpPr>
            <a:spLocks noGrp="1"/>
          </p:cNvSpPr>
          <p:nvPr/>
        </p:nvSpPr>
        <p:spPr>
          <a:xfrm>
            <a:off x="11239500" y="6515100"/>
            <a:ext cx="476250" cy="209550"/>
          </a:xfrm>
          <a:prstGeom prst="rect">
            <a:avLst/>
          </a:prstGeom>
          <a:noFill/>
          <a:ln w="0">
            <a:noFill/>
          </a:ln>
        </p:spPr>
        <p:txBody>
          <a:bodyPr anchor="t">
            <a:normAutofit fontScale="93939" lnSpcReduction="10000"/>
          </a:bodyPr>
          <a:lstStyle/>
          <a:p>
            <a:pPr algn="r">
              <a:defRPr sz="825" b="0" i="0">
                <a:solidFill>
                  <a:srgbClr val="5A6674"/>
                </a:solidFill>
                <a:latin typeface="Calibri"/>
                <a:ea typeface="Calibri"/>
                <a:cs typeface="Calibri"/>
              </a:defRPr>
            </a:pPr>
            <a:r>
              <a:rPr sz="825" b="0" i="0">
                <a:solidFill>
                  <a:srgbClr val="5A6674"/>
                </a:solidFill>
                <a:latin typeface="Calibri"/>
                <a:ea typeface="Calibri"/>
                <a:cs typeface="Calibri"/>
              </a:rPr>
              <a:t>8</a:t>
            </a:r>
          </a:p>
        </p:txBody>
      </p:sp>
    </p:spTree>
    <p:extLst>
      <p:ext uri="{BB962C8B-B14F-4D97-AF65-F5344CB8AC3E}">
        <p14:creationId xmlns:p14="http://schemas.microsoft.com/office/powerpoint/2010/main" val="1853094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3F3"/>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A163559-B946-4030-98E1-ECF53F86C841}"/>
              </a:ext>
            </a:extLst>
          </p:cNvPr>
          <p:cNvSpPr>
            <a:spLocks noGrp="1"/>
          </p:cNvSpPr>
          <p:nvPr/>
        </p:nvSpPr>
        <p:spPr>
          <a:xfrm>
            <a:off x="552450" y="414338"/>
            <a:ext cx="11049000" cy="666750"/>
          </a:xfrm>
          <a:prstGeom prst="rect">
            <a:avLst/>
          </a:prstGeom>
          <a:noFill/>
          <a:ln w="0">
            <a:noFill/>
          </a:ln>
        </p:spPr>
        <p:txBody>
          <a:bodyPr anchor="t">
            <a:normAutofit/>
          </a:bodyPr>
          <a:lstStyle/>
          <a:p>
            <a:pPr algn="l">
              <a:defRPr sz="2805" b="1" i="0">
                <a:solidFill>
                  <a:srgbClr val="16191F"/>
                </a:solidFill>
                <a:latin typeface="Cambria"/>
                <a:ea typeface="Cambria"/>
                <a:cs typeface="Cambria"/>
              </a:defRPr>
            </a:pPr>
            <a:r>
              <a:rPr sz="3200" b="1" i="0" dirty="0">
                <a:solidFill>
                  <a:srgbClr val="16191F"/>
                </a:solidFill>
                <a:latin typeface="Cambria"/>
                <a:ea typeface="Cambria"/>
                <a:cs typeface="Cambria"/>
              </a:rPr>
              <a:t>Типові </a:t>
            </a:r>
            <a:r>
              <a:rPr sz="3200" b="1" i="0" dirty="0" err="1">
                <a:solidFill>
                  <a:srgbClr val="16191F"/>
                </a:solidFill>
                <a:latin typeface="Cambria"/>
                <a:ea typeface="Cambria"/>
                <a:cs typeface="Cambria"/>
              </a:rPr>
              <a:t>помилки</a:t>
            </a:r>
            <a:r>
              <a:rPr sz="3200" b="1" i="0" dirty="0">
                <a:solidFill>
                  <a:srgbClr val="16191F"/>
                </a:solidFill>
                <a:latin typeface="Cambria"/>
                <a:ea typeface="Cambria"/>
                <a:cs typeface="Cambria"/>
              </a:rPr>
              <a:t> Lambda та </a:t>
            </a:r>
            <a:r>
              <a:rPr sz="3200" b="1" i="0" dirty="0" err="1">
                <a:solidFill>
                  <a:srgbClr val="16191F"/>
                </a:solidFill>
                <a:latin typeface="Cambria"/>
                <a:ea typeface="Cambria"/>
                <a:cs typeface="Cambria"/>
              </a:rPr>
              <a:t>порядок</a:t>
            </a:r>
            <a:r>
              <a:rPr sz="3200" b="1" i="0" dirty="0">
                <a:solidFill>
                  <a:srgbClr val="16191F"/>
                </a:solidFill>
                <a:latin typeface="Cambria"/>
                <a:ea typeface="Cambria"/>
                <a:cs typeface="Cambria"/>
              </a:rPr>
              <a:t> </a:t>
            </a:r>
            <a:r>
              <a:rPr sz="3200" b="1" i="0" dirty="0" err="1">
                <a:solidFill>
                  <a:srgbClr val="16191F"/>
                </a:solidFill>
                <a:latin typeface="Cambria"/>
                <a:ea typeface="Cambria"/>
                <a:cs typeface="Cambria"/>
              </a:rPr>
              <a:t>перевірки</a:t>
            </a:r>
            <a:endParaRPr sz="3200" b="1" i="0" dirty="0">
              <a:solidFill>
                <a:srgbClr val="16191F"/>
              </a:solidFill>
              <a:latin typeface="Cambria"/>
              <a:ea typeface="Cambria"/>
              <a:cs typeface="Cambria"/>
            </a:endParaRPr>
          </a:p>
        </p:txBody>
      </p:sp>
      <p:sp>
        <p:nvSpPr>
          <p:cNvPr id="2" name="Oval 1">
            <a:extLst>
              <a:ext uri="{FF2B5EF4-FFF2-40B4-BE49-F238E27FC236}">
                <a16:creationId xmlns:a16="http://schemas.microsoft.com/office/drawing/2014/main" id="{7559CC2A-8043-4148-964A-EF4534FEA30F}"/>
              </a:ext>
            </a:extLst>
          </p:cNvPr>
          <p:cNvSpPr>
            <a:spLocks noGrp="1"/>
          </p:cNvSpPr>
          <p:nvPr/>
        </p:nvSpPr>
        <p:spPr>
          <a:xfrm>
            <a:off x="552450" y="1581150"/>
            <a:ext cx="323850" cy="323850"/>
          </a:xfrm>
          <a:prstGeom prst="ellipse">
            <a:avLst/>
          </a:prstGeom>
          <a:solidFill>
            <a:srgbClr val="232F3E"/>
          </a:solidFill>
          <a:ln w="0">
            <a:noFill/>
          </a:ln>
        </p:spPr>
        <p:txBody>
          <a:bodyPr/>
          <a:lstStyle/>
          <a:p>
            <a:endParaRPr lang="en-UA"/>
          </a:p>
        </p:txBody>
      </p:sp>
      <p:sp>
        <p:nvSpPr>
          <p:cNvPr id="3" name="Rectangle 2">
            <a:extLst>
              <a:ext uri="{FF2B5EF4-FFF2-40B4-BE49-F238E27FC236}">
                <a16:creationId xmlns:a16="http://schemas.microsoft.com/office/drawing/2014/main" id="{32A6206A-33EC-446A-A1BF-F3BDF37E7AB8}"/>
              </a:ext>
            </a:extLst>
          </p:cNvPr>
          <p:cNvSpPr>
            <a:spLocks noGrp="1"/>
          </p:cNvSpPr>
          <p:nvPr/>
        </p:nvSpPr>
        <p:spPr>
          <a:xfrm>
            <a:off x="552450" y="1590675"/>
            <a:ext cx="323850" cy="285750"/>
          </a:xfrm>
          <a:prstGeom prst="rect">
            <a:avLst/>
          </a:prstGeom>
          <a:noFill/>
          <a:ln w="0">
            <a:noFill/>
          </a:ln>
        </p:spPr>
        <p:txBody>
          <a:bodyPr anchor="ctr">
            <a:normAutofit fontScale="96591" lnSpcReduction="10000"/>
          </a:bodyPr>
          <a:lstStyle/>
          <a:p>
            <a:pPr algn="ctr">
              <a:defRPr sz="1320" b="1" i="0">
                <a:solidFill>
                  <a:srgbClr val="FF9900"/>
                </a:solidFill>
                <a:latin typeface="Cambria"/>
                <a:ea typeface="Cambria"/>
                <a:cs typeface="Cambria"/>
              </a:defRPr>
            </a:pPr>
            <a:r>
              <a:rPr sz="1320" b="1" i="0">
                <a:solidFill>
                  <a:srgbClr val="FF9900"/>
                </a:solidFill>
                <a:latin typeface="Cambria"/>
                <a:ea typeface="Cambria"/>
                <a:cs typeface="Cambria"/>
              </a:rPr>
              <a:t>1</a:t>
            </a:r>
          </a:p>
        </p:txBody>
      </p:sp>
      <p:sp>
        <p:nvSpPr>
          <p:cNvPr id="4" name="Rectangle 3">
            <a:extLst>
              <a:ext uri="{FF2B5EF4-FFF2-40B4-BE49-F238E27FC236}">
                <a16:creationId xmlns:a16="http://schemas.microsoft.com/office/drawing/2014/main" id="{19CEC4BD-66C3-42F0-807C-8EC0063E3489}"/>
              </a:ext>
            </a:extLst>
          </p:cNvPr>
          <p:cNvSpPr>
            <a:spLocks noGrp="1"/>
          </p:cNvSpPr>
          <p:nvPr/>
        </p:nvSpPr>
        <p:spPr>
          <a:xfrm>
            <a:off x="1095375" y="1562100"/>
            <a:ext cx="2571750" cy="285750"/>
          </a:xfrm>
          <a:prstGeom prst="rect">
            <a:avLst/>
          </a:prstGeom>
          <a:noFill/>
          <a:ln w="0">
            <a:noFill/>
          </a:ln>
        </p:spPr>
        <p:txBody>
          <a:bodyPr anchor="t">
            <a:normAutofit fontScale="96591" lnSpcReduction="10000"/>
          </a:bodyPr>
          <a:lstStyle/>
          <a:p>
            <a:pPr algn="l">
              <a:defRPr sz="1320" b="1" i="0">
                <a:solidFill>
                  <a:srgbClr val="16191F"/>
                </a:solidFill>
                <a:latin typeface="Consolas"/>
                <a:ea typeface="Consolas"/>
                <a:cs typeface="Consolas"/>
              </a:defRPr>
            </a:pPr>
            <a:r>
              <a:rPr sz="1320" b="1" i="0">
                <a:solidFill>
                  <a:srgbClr val="16191F"/>
                </a:solidFill>
                <a:latin typeface="Consolas"/>
                <a:ea typeface="Consolas"/>
                <a:cs typeface="Consolas"/>
              </a:rPr>
              <a:t>Handler not found</a:t>
            </a:r>
          </a:p>
        </p:txBody>
      </p:sp>
      <p:sp>
        <p:nvSpPr>
          <p:cNvPr id="5" name="Rectangle 4">
            <a:extLst>
              <a:ext uri="{FF2B5EF4-FFF2-40B4-BE49-F238E27FC236}">
                <a16:creationId xmlns:a16="http://schemas.microsoft.com/office/drawing/2014/main" id="{D8271D24-9675-47D5-B69B-5E71C8FA1DAA}"/>
              </a:ext>
            </a:extLst>
          </p:cNvPr>
          <p:cNvSpPr>
            <a:spLocks noGrp="1"/>
          </p:cNvSpPr>
          <p:nvPr/>
        </p:nvSpPr>
        <p:spPr>
          <a:xfrm>
            <a:off x="3905250" y="1562100"/>
            <a:ext cx="7381875" cy="504825"/>
          </a:xfrm>
          <a:prstGeom prst="rect">
            <a:avLst/>
          </a:prstGeom>
          <a:noFill/>
          <a:ln w="0">
            <a:noFill/>
          </a:ln>
        </p:spPr>
        <p:txBody>
          <a:bodyPr anchor="t">
            <a:normAutofit/>
          </a:bodyPr>
          <a:lstStyle/>
          <a:p>
            <a:pPr algn="l">
              <a:defRPr sz="1320" b="0" i="0">
                <a:solidFill>
                  <a:srgbClr val="5A6674"/>
                </a:solidFill>
                <a:latin typeface="Calibri"/>
                <a:ea typeface="Calibri"/>
                <a:cs typeface="Calibri"/>
              </a:defRPr>
            </a:pPr>
            <a:r>
              <a:rPr sz="1320" b="0" i="0">
                <a:solidFill>
                  <a:srgbClr val="5A6674"/>
                </a:solidFill>
                <a:latin typeface="Calibri"/>
                <a:ea typeface="Calibri"/>
                <a:cs typeface="Calibri"/>
              </a:rPr>
              <a:t>Перевірте ім’я файла та функції в Runtime settings</a:t>
            </a:r>
          </a:p>
        </p:txBody>
      </p:sp>
      <p:sp>
        <p:nvSpPr>
          <p:cNvPr id="6" name="Straight Connector 5">
            <a:extLst>
              <a:ext uri="{FF2B5EF4-FFF2-40B4-BE49-F238E27FC236}">
                <a16:creationId xmlns:a16="http://schemas.microsoft.com/office/drawing/2014/main" id="{C040F3E3-15EA-4558-A075-D39278545A56}"/>
              </a:ext>
            </a:extLst>
          </p:cNvPr>
          <p:cNvSpPr>
            <a:spLocks noGrp="1"/>
          </p:cNvSpPr>
          <p:nvPr/>
        </p:nvSpPr>
        <p:spPr>
          <a:xfrm>
            <a:off x="552450" y="2200275"/>
            <a:ext cx="10715625" cy="0"/>
          </a:xfrm>
          <a:prstGeom prst="line">
            <a:avLst/>
          </a:prstGeom>
          <a:noFill/>
          <a:ln w="9525">
            <a:solidFill>
              <a:srgbClr val="DDE1E6"/>
            </a:solidFill>
          </a:ln>
        </p:spPr>
        <p:txBody>
          <a:bodyPr/>
          <a:lstStyle/>
          <a:p>
            <a:endParaRPr lang="en-UA"/>
          </a:p>
        </p:txBody>
      </p:sp>
      <p:sp>
        <p:nvSpPr>
          <p:cNvPr id="7" name="Oval 6">
            <a:extLst>
              <a:ext uri="{FF2B5EF4-FFF2-40B4-BE49-F238E27FC236}">
                <a16:creationId xmlns:a16="http://schemas.microsoft.com/office/drawing/2014/main" id="{06971008-9DE0-4CE0-9C03-F80F3414652E}"/>
              </a:ext>
            </a:extLst>
          </p:cNvPr>
          <p:cNvSpPr>
            <a:spLocks noGrp="1"/>
          </p:cNvSpPr>
          <p:nvPr/>
        </p:nvSpPr>
        <p:spPr>
          <a:xfrm>
            <a:off x="552450" y="2447925"/>
            <a:ext cx="323850" cy="323850"/>
          </a:xfrm>
          <a:prstGeom prst="ellipse">
            <a:avLst/>
          </a:prstGeom>
          <a:solidFill>
            <a:srgbClr val="232F3E"/>
          </a:solidFill>
          <a:ln w="0">
            <a:noFill/>
          </a:ln>
        </p:spPr>
        <p:txBody>
          <a:bodyPr/>
          <a:lstStyle/>
          <a:p>
            <a:endParaRPr lang="en-UA"/>
          </a:p>
        </p:txBody>
      </p:sp>
      <p:sp>
        <p:nvSpPr>
          <p:cNvPr id="8" name="Rectangle 7">
            <a:extLst>
              <a:ext uri="{FF2B5EF4-FFF2-40B4-BE49-F238E27FC236}">
                <a16:creationId xmlns:a16="http://schemas.microsoft.com/office/drawing/2014/main" id="{4793E01F-6EF5-4081-BFF5-F01E73AFF0D2}"/>
              </a:ext>
            </a:extLst>
          </p:cNvPr>
          <p:cNvSpPr>
            <a:spLocks noGrp="1"/>
          </p:cNvSpPr>
          <p:nvPr/>
        </p:nvSpPr>
        <p:spPr>
          <a:xfrm>
            <a:off x="552450" y="2457450"/>
            <a:ext cx="323850" cy="285750"/>
          </a:xfrm>
          <a:prstGeom prst="rect">
            <a:avLst/>
          </a:prstGeom>
          <a:noFill/>
          <a:ln w="0">
            <a:noFill/>
          </a:ln>
        </p:spPr>
        <p:txBody>
          <a:bodyPr anchor="ctr">
            <a:normAutofit fontScale="96591" lnSpcReduction="10000"/>
          </a:bodyPr>
          <a:lstStyle/>
          <a:p>
            <a:pPr algn="ctr">
              <a:defRPr sz="1320" b="1" i="0">
                <a:solidFill>
                  <a:srgbClr val="FF9900"/>
                </a:solidFill>
                <a:latin typeface="Cambria"/>
                <a:ea typeface="Cambria"/>
                <a:cs typeface="Cambria"/>
              </a:defRPr>
            </a:pPr>
            <a:r>
              <a:rPr sz="1320" b="1" i="0">
                <a:solidFill>
                  <a:srgbClr val="FF9900"/>
                </a:solidFill>
                <a:latin typeface="Cambria"/>
                <a:ea typeface="Cambria"/>
                <a:cs typeface="Cambria"/>
              </a:rPr>
              <a:t>2</a:t>
            </a:r>
          </a:p>
        </p:txBody>
      </p:sp>
      <p:sp>
        <p:nvSpPr>
          <p:cNvPr id="9" name="Rectangle 8">
            <a:extLst>
              <a:ext uri="{FF2B5EF4-FFF2-40B4-BE49-F238E27FC236}">
                <a16:creationId xmlns:a16="http://schemas.microsoft.com/office/drawing/2014/main" id="{809BE3EB-C971-449F-ACE8-A3E7A4BF69DE}"/>
              </a:ext>
            </a:extLst>
          </p:cNvPr>
          <p:cNvSpPr>
            <a:spLocks noGrp="1"/>
          </p:cNvSpPr>
          <p:nvPr/>
        </p:nvSpPr>
        <p:spPr>
          <a:xfrm>
            <a:off x="1095375" y="2428875"/>
            <a:ext cx="2571750" cy="285750"/>
          </a:xfrm>
          <a:prstGeom prst="rect">
            <a:avLst/>
          </a:prstGeom>
          <a:noFill/>
          <a:ln w="0">
            <a:noFill/>
          </a:ln>
        </p:spPr>
        <p:txBody>
          <a:bodyPr anchor="t">
            <a:normAutofit fontScale="96591" lnSpcReduction="10000"/>
          </a:bodyPr>
          <a:lstStyle/>
          <a:p>
            <a:pPr algn="l">
              <a:defRPr sz="1320" b="1" i="0">
                <a:solidFill>
                  <a:srgbClr val="C0392B"/>
                </a:solidFill>
                <a:latin typeface="Consolas"/>
                <a:ea typeface="Consolas"/>
                <a:cs typeface="Consolas"/>
              </a:defRPr>
            </a:pPr>
            <a:r>
              <a:rPr sz="1320" b="1" i="0">
                <a:solidFill>
                  <a:srgbClr val="C0392B"/>
                </a:solidFill>
                <a:latin typeface="Consolas"/>
                <a:ea typeface="Consolas"/>
                <a:cs typeface="Consolas"/>
              </a:rPr>
              <a:t>AccessDenied</a:t>
            </a:r>
          </a:p>
        </p:txBody>
      </p:sp>
      <p:sp>
        <p:nvSpPr>
          <p:cNvPr id="10" name="Rectangle 9">
            <a:extLst>
              <a:ext uri="{FF2B5EF4-FFF2-40B4-BE49-F238E27FC236}">
                <a16:creationId xmlns:a16="http://schemas.microsoft.com/office/drawing/2014/main" id="{886E04E4-7F44-4554-91EB-F2F053642403}"/>
              </a:ext>
            </a:extLst>
          </p:cNvPr>
          <p:cNvSpPr>
            <a:spLocks noGrp="1"/>
          </p:cNvSpPr>
          <p:nvPr/>
        </p:nvSpPr>
        <p:spPr>
          <a:xfrm>
            <a:off x="3905250" y="2428875"/>
            <a:ext cx="7381875" cy="504825"/>
          </a:xfrm>
          <a:prstGeom prst="rect">
            <a:avLst/>
          </a:prstGeom>
          <a:noFill/>
          <a:ln w="0">
            <a:noFill/>
          </a:ln>
        </p:spPr>
        <p:txBody>
          <a:bodyPr anchor="t">
            <a:normAutofit/>
          </a:bodyPr>
          <a:lstStyle/>
          <a:p>
            <a:pPr algn="l">
              <a:defRPr sz="1320" b="0" i="0">
                <a:solidFill>
                  <a:srgbClr val="5A6674"/>
                </a:solidFill>
                <a:latin typeface="Calibri"/>
                <a:ea typeface="Calibri"/>
                <a:cs typeface="Calibri"/>
              </a:defRPr>
            </a:pPr>
            <a:r>
              <a:rPr sz="1320" b="0" i="0">
                <a:solidFill>
                  <a:srgbClr val="5A6674"/>
                </a:solidFill>
                <a:latin typeface="Calibri"/>
                <a:ea typeface="Calibri"/>
                <a:cs typeface="Calibri"/>
              </a:rPr>
              <a:t>Перевірте execution role, дозволені дії та ARN bucket</a:t>
            </a:r>
          </a:p>
        </p:txBody>
      </p:sp>
      <p:sp>
        <p:nvSpPr>
          <p:cNvPr id="11" name="Straight Connector 10">
            <a:extLst>
              <a:ext uri="{FF2B5EF4-FFF2-40B4-BE49-F238E27FC236}">
                <a16:creationId xmlns:a16="http://schemas.microsoft.com/office/drawing/2014/main" id="{AF79DFAF-BE27-483D-A24A-CA91ACAA0BFC}"/>
              </a:ext>
            </a:extLst>
          </p:cNvPr>
          <p:cNvSpPr>
            <a:spLocks noGrp="1"/>
          </p:cNvSpPr>
          <p:nvPr/>
        </p:nvSpPr>
        <p:spPr>
          <a:xfrm>
            <a:off x="552450" y="3067050"/>
            <a:ext cx="10715625" cy="0"/>
          </a:xfrm>
          <a:prstGeom prst="line">
            <a:avLst/>
          </a:prstGeom>
          <a:noFill/>
          <a:ln w="9525">
            <a:solidFill>
              <a:srgbClr val="DDE1E6"/>
            </a:solidFill>
          </a:ln>
        </p:spPr>
        <p:txBody>
          <a:bodyPr/>
          <a:lstStyle/>
          <a:p>
            <a:endParaRPr lang="en-UA"/>
          </a:p>
        </p:txBody>
      </p:sp>
      <p:sp>
        <p:nvSpPr>
          <p:cNvPr id="12" name="Oval 11">
            <a:extLst>
              <a:ext uri="{FF2B5EF4-FFF2-40B4-BE49-F238E27FC236}">
                <a16:creationId xmlns:a16="http://schemas.microsoft.com/office/drawing/2014/main" id="{35C9EC62-5C03-41F3-8ACD-087909BEC35D}"/>
              </a:ext>
            </a:extLst>
          </p:cNvPr>
          <p:cNvSpPr>
            <a:spLocks noGrp="1"/>
          </p:cNvSpPr>
          <p:nvPr/>
        </p:nvSpPr>
        <p:spPr>
          <a:xfrm>
            <a:off x="552450" y="3314700"/>
            <a:ext cx="323850" cy="323850"/>
          </a:xfrm>
          <a:prstGeom prst="ellipse">
            <a:avLst/>
          </a:prstGeom>
          <a:solidFill>
            <a:srgbClr val="232F3E"/>
          </a:solidFill>
          <a:ln w="0">
            <a:noFill/>
          </a:ln>
        </p:spPr>
        <p:txBody>
          <a:bodyPr/>
          <a:lstStyle/>
          <a:p>
            <a:endParaRPr lang="en-UA"/>
          </a:p>
        </p:txBody>
      </p:sp>
      <p:sp>
        <p:nvSpPr>
          <p:cNvPr id="13" name="Rectangle 12">
            <a:extLst>
              <a:ext uri="{FF2B5EF4-FFF2-40B4-BE49-F238E27FC236}">
                <a16:creationId xmlns:a16="http://schemas.microsoft.com/office/drawing/2014/main" id="{1C9238C2-BBF5-40F9-9661-FD0792A4BA16}"/>
              </a:ext>
            </a:extLst>
          </p:cNvPr>
          <p:cNvSpPr>
            <a:spLocks noGrp="1"/>
          </p:cNvSpPr>
          <p:nvPr/>
        </p:nvSpPr>
        <p:spPr>
          <a:xfrm>
            <a:off x="552450" y="3324225"/>
            <a:ext cx="323850" cy="285750"/>
          </a:xfrm>
          <a:prstGeom prst="rect">
            <a:avLst/>
          </a:prstGeom>
          <a:noFill/>
          <a:ln w="0">
            <a:noFill/>
          </a:ln>
        </p:spPr>
        <p:txBody>
          <a:bodyPr anchor="ctr">
            <a:normAutofit fontScale="96591" lnSpcReduction="10000"/>
          </a:bodyPr>
          <a:lstStyle/>
          <a:p>
            <a:pPr algn="ctr">
              <a:defRPr sz="1320" b="1" i="0">
                <a:solidFill>
                  <a:srgbClr val="FF9900"/>
                </a:solidFill>
                <a:latin typeface="Cambria"/>
                <a:ea typeface="Cambria"/>
                <a:cs typeface="Cambria"/>
              </a:defRPr>
            </a:pPr>
            <a:r>
              <a:rPr sz="1320" b="1" i="0">
                <a:solidFill>
                  <a:srgbClr val="FF9900"/>
                </a:solidFill>
                <a:latin typeface="Cambria"/>
                <a:ea typeface="Cambria"/>
                <a:cs typeface="Cambria"/>
              </a:rPr>
              <a:t>3</a:t>
            </a:r>
          </a:p>
        </p:txBody>
      </p:sp>
      <p:sp>
        <p:nvSpPr>
          <p:cNvPr id="14" name="Rectangle 13">
            <a:extLst>
              <a:ext uri="{FF2B5EF4-FFF2-40B4-BE49-F238E27FC236}">
                <a16:creationId xmlns:a16="http://schemas.microsoft.com/office/drawing/2014/main" id="{F9BDD2F3-39DB-4876-9F4B-5D8F1D718219}"/>
              </a:ext>
            </a:extLst>
          </p:cNvPr>
          <p:cNvSpPr>
            <a:spLocks noGrp="1"/>
          </p:cNvSpPr>
          <p:nvPr/>
        </p:nvSpPr>
        <p:spPr>
          <a:xfrm>
            <a:off x="1095375" y="3295650"/>
            <a:ext cx="2571750" cy="285750"/>
          </a:xfrm>
          <a:prstGeom prst="rect">
            <a:avLst/>
          </a:prstGeom>
          <a:noFill/>
          <a:ln w="0">
            <a:noFill/>
          </a:ln>
        </p:spPr>
        <p:txBody>
          <a:bodyPr anchor="t">
            <a:normAutofit fontScale="96591" lnSpcReduction="10000"/>
          </a:bodyPr>
          <a:lstStyle/>
          <a:p>
            <a:pPr algn="l">
              <a:defRPr sz="1320" b="1" i="0">
                <a:solidFill>
                  <a:srgbClr val="16191F"/>
                </a:solidFill>
                <a:latin typeface="Consolas"/>
                <a:ea typeface="Consolas"/>
                <a:cs typeface="Consolas"/>
              </a:defRPr>
            </a:pPr>
            <a:r>
              <a:rPr sz="1320" b="1" i="0">
                <a:solidFill>
                  <a:srgbClr val="16191F"/>
                </a:solidFill>
                <a:latin typeface="Consolas"/>
                <a:ea typeface="Consolas"/>
                <a:cs typeface="Consolas"/>
              </a:rPr>
              <a:t>KeyError у event</a:t>
            </a:r>
          </a:p>
        </p:txBody>
      </p:sp>
      <p:sp>
        <p:nvSpPr>
          <p:cNvPr id="15" name="Rectangle 14">
            <a:extLst>
              <a:ext uri="{FF2B5EF4-FFF2-40B4-BE49-F238E27FC236}">
                <a16:creationId xmlns:a16="http://schemas.microsoft.com/office/drawing/2014/main" id="{56DA6A95-8F4F-4766-A368-1EC185AC7C0B}"/>
              </a:ext>
            </a:extLst>
          </p:cNvPr>
          <p:cNvSpPr>
            <a:spLocks noGrp="1"/>
          </p:cNvSpPr>
          <p:nvPr/>
        </p:nvSpPr>
        <p:spPr>
          <a:xfrm>
            <a:off x="3905250" y="3295650"/>
            <a:ext cx="7381875" cy="504825"/>
          </a:xfrm>
          <a:prstGeom prst="rect">
            <a:avLst/>
          </a:prstGeom>
          <a:noFill/>
          <a:ln w="0">
            <a:noFill/>
          </a:ln>
        </p:spPr>
        <p:txBody>
          <a:bodyPr anchor="t">
            <a:normAutofit/>
          </a:bodyPr>
          <a:lstStyle/>
          <a:p>
            <a:pPr algn="l">
              <a:defRPr sz="1320" b="0" i="0">
                <a:solidFill>
                  <a:srgbClr val="5A6674"/>
                </a:solidFill>
                <a:latin typeface="Calibri"/>
                <a:ea typeface="Calibri"/>
                <a:cs typeface="Calibri"/>
              </a:defRPr>
            </a:pPr>
            <a:r>
              <a:rPr sz="1320" b="0" i="0">
                <a:solidFill>
                  <a:srgbClr val="5A6674"/>
                </a:solidFill>
                <a:latin typeface="Calibri"/>
                <a:ea typeface="Calibri"/>
                <a:cs typeface="Calibri"/>
              </a:rPr>
              <a:t>Зіставте код із реальною структурою події в CloudWatch Logs</a:t>
            </a:r>
          </a:p>
        </p:txBody>
      </p:sp>
      <p:sp>
        <p:nvSpPr>
          <p:cNvPr id="16" name="Straight Connector 15">
            <a:extLst>
              <a:ext uri="{FF2B5EF4-FFF2-40B4-BE49-F238E27FC236}">
                <a16:creationId xmlns:a16="http://schemas.microsoft.com/office/drawing/2014/main" id="{87429625-385B-4A90-A9CC-A1002F84D4EA}"/>
              </a:ext>
            </a:extLst>
          </p:cNvPr>
          <p:cNvSpPr>
            <a:spLocks noGrp="1"/>
          </p:cNvSpPr>
          <p:nvPr/>
        </p:nvSpPr>
        <p:spPr>
          <a:xfrm>
            <a:off x="552450" y="3933825"/>
            <a:ext cx="10715625" cy="0"/>
          </a:xfrm>
          <a:prstGeom prst="line">
            <a:avLst/>
          </a:prstGeom>
          <a:noFill/>
          <a:ln w="9525">
            <a:solidFill>
              <a:srgbClr val="DDE1E6"/>
            </a:solidFill>
          </a:ln>
        </p:spPr>
        <p:txBody>
          <a:bodyPr/>
          <a:lstStyle/>
          <a:p>
            <a:endParaRPr lang="en-UA"/>
          </a:p>
        </p:txBody>
      </p:sp>
      <p:sp>
        <p:nvSpPr>
          <p:cNvPr id="17" name="Oval 16">
            <a:extLst>
              <a:ext uri="{FF2B5EF4-FFF2-40B4-BE49-F238E27FC236}">
                <a16:creationId xmlns:a16="http://schemas.microsoft.com/office/drawing/2014/main" id="{70295110-E699-44CD-A93F-DD5ECED3B529}"/>
              </a:ext>
            </a:extLst>
          </p:cNvPr>
          <p:cNvSpPr>
            <a:spLocks noGrp="1"/>
          </p:cNvSpPr>
          <p:nvPr/>
        </p:nvSpPr>
        <p:spPr>
          <a:xfrm>
            <a:off x="552450" y="4181475"/>
            <a:ext cx="323850" cy="323850"/>
          </a:xfrm>
          <a:prstGeom prst="ellipse">
            <a:avLst/>
          </a:prstGeom>
          <a:solidFill>
            <a:srgbClr val="232F3E"/>
          </a:solidFill>
          <a:ln w="0">
            <a:noFill/>
          </a:ln>
        </p:spPr>
        <p:txBody>
          <a:bodyPr/>
          <a:lstStyle/>
          <a:p>
            <a:endParaRPr lang="en-UA"/>
          </a:p>
        </p:txBody>
      </p:sp>
      <p:sp>
        <p:nvSpPr>
          <p:cNvPr id="18" name="Rectangle 17">
            <a:extLst>
              <a:ext uri="{FF2B5EF4-FFF2-40B4-BE49-F238E27FC236}">
                <a16:creationId xmlns:a16="http://schemas.microsoft.com/office/drawing/2014/main" id="{5E2EB01E-591E-4F97-935A-CE8DB46575E7}"/>
              </a:ext>
            </a:extLst>
          </p:cNvPr>
          <p:cNvSpPr>
            <a:spLocks noGrp="1"/>
          </p:cNvSpPr>
          <p:nvPr/>
        </p:nvSpPr>
        <p:spPr>
          <a:xfrm>
            <a:off x="552450" y="4191000"/>
            <a:ext cx="323850" cy="285750"/>
          </a:xfrm>
          <a:prstGeom prst="rect">
            <a:avLst/>
          </a:prstGeom>
          <a:noFill/>
          <a:ln w="0">
            <a:noFill/>
          </a:ln>
        </p:spPr>
        <p:txBody>
          <a:bodyPr anchor="ctr">
            <a:normAutofit fontScale="96591" lnSpcReduction="10000"/>
          </a:bodyPr>
          <a:lstStyle/>
          <a:p>
            <a:pPr algn="ctr">
              <a:defRPr sz="1320" b="1" i="0">
                <a:solidFill>
                  <a:srgbClr val="FF9900"/>
                </a:solidFill>
                <a:latin typeface="Cambria"/>
                <a:ea typeface="Cambria"/>
                <a:cs typeface="Cambria"/>
              </a:defRPr>
            </a:pPr>
            <a:r>
              <a:rPr sz="1320" b="1" i="0">
                <a:solidFill>
                  <a:srgbClr val="FF9900"/>
                </a:solidFill>
                <a:latin typeface="Cambria"/>
                <a:ea typeface="Cambria"/>
                <a:cs typeface="Cambria"/>
              </a:rPr>
              <a:t>4</a:t>
            </a:r>
          </a:p>
        </p:txBody>
      </p:sp>
      <p:sp>
        <p:nvSpPr>
          <p:cNvPr id="19" name="Rectangle 18">
            <a:extLst>
              <a:ext uri="{FF2B5EF4-FFF2-40B4-BE49-F238E27FC236}">
                <a16:creationId xmlns:a16="http://schemas.microsoft.com/office/drawing/2014/main" id="{E08923C9-31EA-47D8-A812-84532D178B02}"/>
              </a:ext>
            </a:extLst>
          </p:cNvPr>
          <p:cNvSpPr>
            <a:spLocks noGrp="1"/>
          </p:cNvSpPr>
          <p:nvPr/>
        </p:nvSpPr>
        <p:spPr>
          <a:xfrm>
            <a:off x="1095375" y="4162425"/>
            <a:ext cx="2571750" cy="285750"/>
          </a:xfrm>
          <a:prstGeom prst="rect">
            <a:avLst/>
          </a:prstGeom>
          <a:noFill/>
          <a:ln w="0">
            <a:noFill/>
          </a:ln>
        </p:spPr>
        <p:txBody>
          <a:bodyPr anchor="t">
            <a:normAutofit fontScale="96591" lnSpcReduction="10000"/>
          </a:bodyPr>
          <a:lstStyle/>
          <a:p>
            <a:pPr algn="l">
              <a:defRPr sz="1320" b="1" i="0">
                <a:solidFill>
                  <a:srgbClr val="16191F"/>
                </a:solidFill>
                <a:latin typeface="Consolas"/>
                <a:ea typeface="Consolas"/>
                <a:cs typeface="Consolas"/>
              </a:defRPr>
            </a:pPr>
            <a:r>
              <a:rPr sz="1320" b="1" i="0">
                <a:solidFill>
                  <a:srgbClr val="16191F"/>
                </a:solidFill>
                <a:latin typeface="Consolas"/>
                <a:ea typeface="Consolas"/>
                <a:cs typeface="Consolas"/>
              </a:rPr>
              <a:t>Task timed out</a:t>
            </a:r>
          </a:p>
        </p:txBody>
      </p:sp>
      <p:sp>
        <p:nvSpPr>
          <p:cNvPr id="20" name="Rectangle 19">
            <a:extLst>
              <a:ext uri="{FF2B5EF4-FFF2-40B4-BE49-F238E27FC236}">
                <a16:creationId xmlns:a16="http://schemas.microsoft.com/office/drawing/2014/main" id="{3208FA24-728B-4036-97E2-B29A2071B8E8}"/>
              </a:ext>
            </a:extLst>
          </p:cNvPr>
          <p:cNvSpPr>
            <a:spLocks noGrp="1"/>
          </p:cNvSpPr>
          <p:nvPr/>
        </p:nvSpPr>
        <p:spPr>
          <a:xfrm>
            <a:off x="3905250" y="4162425"/>
            <a:ext cx="7381875" cy="504825"/>
          </a:xfrm>
          <a:prstGeom prst="rect">
            <a:avLst/>
          </a:prstGeom>
          <a:noFill/>
          <a:ln w="0">
            <a:noFill/>
          </a:ln>
        </p:spPr>
        <p:txBody>
          <a:bodyPr anchor="t">
            <a:normAutofit/>
          </a:bodyPr>
          <a:lstStyle/>
          <a:p>
            <a:pPr algn="l">
              <a:defRPr sz="1320" b="0" i="0">
                <a:solidFill>
                  <a:srgbClr val="5A6674"/>
                </a:solidFill>
                <a:latin typeface="Calibri"/>
                <a:ea typeface="Calibri"/>
                <a:cs typeface="Calibri"/>
              </a:defRPr>
            </a:pPr>
            <a:r>
              <a:rPr sz="1320" b="0" i="0">
                <a:solidFill>
                  <a:srgbClr val="5A6674"/>
                </a:solidFill>
                <a:latin typeface="Calibri"/>
                <a:ea typeface="Calibri"/>
                <a:cs typeface="Calibri"/>
              </a:rPr>
              <a:t>Збільште timeout або знайдіть повільний зовнішній виклик</a:t>
            </a:r>
          </a:p>
        </p:txBody>
      </p:sp>
      <p:sp>
        <p:nvSpPr>
          <p:cNvPr id="21" name="Straight Connector 20">
            <a:extLst>
              <a:ext uri="{FF2B5EF4-FFF2-40B4-BE49-F238E27FC236}">
                <a16:creationId xmlns:a16="http://schemas.microsoft.com/office/drawing/2014/main" id="{6CA865FF-EC5A-43B6-BC36-0897C68EFA36}"/>
              </a:ext>
            </a:extLst>
          </p:cNvPr>
          <p:cNvSpPr>
            <a:spLocks noGrp="1"/>
          </p:cNvSpPr>
          <p:nvPr/>
        </p:nvSpPr>
        <p:spPr>
          <a:xfrm>
            <a:off x="552450" y="4800600"/>
            <a:ext cx="10715625" cy="0"/>
          </a:xfrm>
          <a:prstGeom prst="line">
            <a:avLst/>
          </a:prstGeom>
          <a:noFill/>
          <a:ln w="9525">
            <a:solidFill>
              <a:srgbClr val="DDE1E6"/>
            </a:solidFill>
          </a:ln>
        </p:spPr>
        <p:txBody>
          <a:bodyPr/>
          <a:lstStyle/>
          <a:p>
            <a:endParaRPr lang="en-UA"/>
          </a:p>
        </p:txBody>
      </p:sp>
      <p:sp>
        <p:nvSpPr>
          <p:cNvPr id="22" name="Oval 21">
            <a:extLst>
              <a:ext uri="{FF2B5EF4-FFF2-40B4-BE49-F238E27FC236}">
                <a16:creationId xmlns:a16="http://schemas.microsoft.com/office/drawing/2014/main" id="{0DF1C857-EBEC-4252-BAC9-7CEC397B3459}"/>
              </a:ext>
            </a:extLst>
          </p:cNvPr>
          <p:cNvSpPr>
            <a:spLocks noGrp="1"/>
          </p:cNvSpPr>
          <p:nvPr/>
        </p:nvSpPr>
        <p:spPr>
          <a:xfrm>
            <a:off x="552450" y="5048250"/>
            <a:ext cx="323850" cy="323850"/>
          </a:xfrm>
          <a:prstGeom prst="ellipse">
            <a:avLst/>
          </a:prstGeom>
          <a:solidFill>
            <a:srgbClr val="232F3E"/>
          </a:solidFill>
          <a:ln w="0">
            <a:noFill/>
          </a:ln>
        </p:spPr>
        <p:txBody>
          <a:bodyPr/>
          <a:lstStyle/>
          <a:p>
            <a:endParaRPr lang="en-UA"/>
          </a:p>
        </p:txBody>
      </p:sp>
      <p:sp>
        <p:nvSpPr>
          <p:cNvPr id="23" name="Rectangle 22">
            <a:extLst>
              <a:ext uri="{FF2B5EF4-FFF2-40B4-BE49-F238E27FC236}">
                <a16:creationId xmlns:a16="http://schemas.microsoft.com/office/drawing/2014/main" id="{D624E4CA-CCEB-44B9-8BC1-5090A2E7583F}"/>
              </a:ext>
            </a:extLst>
          </p:cNvPr>
          <p:cNvSpPr>
            <a:spLocks noGrp="1"/>
          </p:cNvSpPr>
          <p:nvPr/>
        </p:nvSpPr>
        <p:spPr>
          <a:xfrm>
            <a:off x="552450" y="5057775"/>
            <a:ext cx="323850" cy="285750"/>
          </a:xfrm>
          <a:prstGeom prst="rect">
            <a:avLst/>
          </a:prstGeom>
          <a:noFill/>
          <a:ln w="0">
            <a:noFill/>
          </a:ln>
        </p:spPr>
        <p:txBody>
          <a:bodyPr anchor="ctr">
            <a:normAutofit fontScale="96591" lnSpcReduction="10000"/>
          </a:bodyPr>
          <a:lstStyle/>
          <a:p>
            <a:pPr algn="ctr">
              <a:defRPr sz="1320" b="1" i="0">
                <a:solidFill>
                  <a:srgbClr val="FF9900"/>
                </a:solidFill>
                <a:latin typeface="Cambria"/>
                <a:ea typeface="Cambria"/>
                <a:cs typeface="Cambria"/>
              </a:defRPr>
            </a:pPr>
            <a:r>
              <a:rPr sz="1320" b="1" i="0">
                <a:solidFill>
                  <a:srgbClr val="FF9900"/>
                </a:solidFill>
                <a:latin typeface="Cambria"/>
                <a:ea typeface="Cambria"/>
                <a:cs typeface="Cambria"/>
              </a:rPr>
              <a:t>5</a:t>
            </a:r>
          </a:p>
        </p:txBody>
      </p:sp>
      <p:sp>
        <p:nvSpPr>
          <p:cNvPr id="24" name="Rectangle 23">
            <a:extLst>
              <a:ext uri="{FF2B5EF4-FFF2-40B4-BE49-F238E27FC236}">
                <a16:creationId xmlns:a16="http://schemas.microsoft.com/office/drawing/2014/main" id="{9F9B514B-D20A-4566-8600-2A6B58E29E66}"/>
              </a:ext>
            </a:extLst>
          </p:cNvPr>
          <p:cNvSpPr>
            <a:spLocks noGrp="1"/>
          </p:cNvSpPr>
          <p:nvPr/>
        </p:nvSpPr>
        <p:spPr>
          <a:xfrm>
            <a:off x="1095375" y="5029200"/>
            <a:ext cx="2571750" cy="285750"/>
          </a:xfrm>
          <a:prstGeom prst="rect">
            <a:avLst/>
          </a:prstGeom>
          <a:noFill/>
          <a:ln w="0">
            <a:noFill/>
          </a:ln>
        </p:spPr>
        <p:txBody>
          <a:bodyPr anchor="t">
            <a:normAutofit fontScale="96591" lnSpcReduction="10000"/>
          </a:bodyPr>
          <a:lstStyle/>
          <a:p>
            <a:pPr algn="l">
              <a:defRPr sz="1320" b="1" i="0">
                <a:solidFill>
                  <a:srgbClr val="16191F"/>
                </a:solidFill>
                <a:latin typeface="Consolas"/>
                <a:ea typeface="Consolas"/>
                <a:cs typeface="Consolas"/>
              </a:defRPr>
            </a:pPr>
            <a:r>
              <a:rPr sz="1320" b="1" i="0">
                <a:solidFill>
                  <a:srgbClr val="16191F"/>
                </a:solidFill>
                <a:latin typeface="Consolas"/>
                <a:ea typeface="Consolas"/>
                <a:cs typeface="Consolas"/>
              </a:rPr>
              <a:t>No module named PIL</a:t>
            </a:r>
          </a:p>
        </p:txBody>
      </p:sp>
      <p:sp>
        <p:nvSpPr>
          <p:cNvPr id="25" name="Rectangle 24">
            <a:extLst>
              <a:ext uri="{FF2B5EF4-FFF2-40B4-BE49-F238E27FC236}">
                <a16:creationId xmlns:a16="http://schemas.microsoft.com/office/drawing/2014/main" id="{2B95CAE9-B60D-4696-BE6A-00F35404AF99}"/>
              </a:ext>
            </a:extLst>
          </p:cNvPr>
          <p:cNvSpPr>
            <a:spLocks noGrp="1"/>
          </p:cNvSpPr>
          <p:nvPr/>
        </p:nvSpPr>
        <p:spPr>
          <a:xfrm>
            <a:off x="3905250" y="5029200"/>
            <a:ext cx="7381875" cy="504825"/>
          </a:xfrm>
          <a:prstGeom prst="rect">
            <a:avLst/>
          </a:prstGeom>
          <a:noFill/>
          <a:ln w="0">
            <a:noFill/>
          </a:ln>
        </p:spPr>
        <p:txBody>
          <a:bodyPr anchor="t">
            <a:normAutofit/>
          </a:bodyPr>
          <a:lstStyle/>
          <a:p>
            <a:pPr algn="l">
              <a:defRPr sz="1320" b="0" i="0">
                <a:solidFill>
                  <a:srgbClr val="5A6674"/>
                </a:solidFill>
                <a:latin typeface="Calibri"/>
                <a:ea typeface="Calibri"/>
                <a:cs typeface="Calibri"/>
              </a:defRPr>
            </a:pPr>
            <a:r>
              <a:rPr sz="1320" b="0" i="0">
                <a:solidFill>
                  <a:srgbClr val="5A6674"/>
                </a:solidFill>
                <a:latin typeface="Calibri"/>
                <a:ea typeface="Calibri"/>
                <a:cs typeface="Calibri"/>
              </a:rPr>
              <a:t>Додайте залежність у deployment package або Lambda layer</a:t>
            </a:r>
          </a:p>
        </p:txBody>
      </p:sp>
      <p:sp>
        <p:nvSpPr>
          <p:cNvPr id="26" name="Rectangle 25">
            <a:extLst>
              <a:ext uri="{FF2B5EF4-FFF2-40B4-BE49-F238E27FC236}">
                <a16:creationId xmlns:a16="http://schemas.microsoft.com/office/drawing/2014/main" id="{59C84850-160B-456D-8758-21F2539DF174}"/>
              </a:ext>
            </a:extLst>
          </p:cNvPr>
          <p:cNvSpPr>
            <a:spLocks noGrp="1"/>
          </p:cNvSpPr>
          <p:nvPr/>
        </p:nvSpPr>
        <p:spPr>
          <a:xfrm>
            <a:off x="457200" y="6515100"/>
            <a:ext cx="5715000" cy="209550"/>
          </a:xfrm>
          <a:prstGeom prst="rect">
            <a:avLst/>
          </a:prstGeom>
          <a:noFill/>
          <a:ln w="0">
            <a:noFill/>
          </a:ln>
        </p:spPr>
        <p:txBody>
          <a:bodyPr anchor="t">
            <a:normAutofit fontScale="93939" lnSpcReduction="10000"/>
          </a:bodyPr>
          <a:lstStyle/>
          <a:p>
            <a:pPr algn="l">
              <a:defRPr sz="825" b="0" i="0">
                <a:solidFill>
                  <a:srgbClr val="5A6674"/>
                </a:solidFill>
                <a:latin typeface="Calibri"/>
                <a:ea typeface="Calibri"/>
                <a:cs typeface="Calibri"/>
              </a:defRPr>
            </a:pPr>
            <a:r>
              <a:rPr sz="825" b="0" i="0">
                <a:solidFill>
                  <a:srgbClr val="5A6674"/>
                </a:solidFill>
                <a:latin typeface="Calibri"/>
                <a:ea typeface="Calibri"/>
                <a:cs typeface="Calibri"/>
              </a:rPr>
              <a:t>Serverless та AWS Lambda</a:t>
            </a:r>
          </a:p>
        </p:txBody>
      </p:sp>
      <p:sp>
        <p:nvSpPr>
          <p:cNvPr id="27" name="Rectangle 26">
            <a:extLst>
              <a:ext uri="{FF2B5EF4-FFF2-40B4-BE49-F238E27FC236}">
                <a16:creationId xmlns:a16="http://schemas.microsoft.com/office/drawing/2014/main" id="{8353E461-6B7F-4C75-9F4A-2CAB15EA5803}"/>
              </a:ext>
            </a:extLst>
          </p:cNvPr>
          <p:cNvSpPr>
            <a:spLocks noGrp="1"/>
          </p:cNvSpPr>
          <p:nvPr/>
        </p:nvSpPr>
        <p:spPr>
          <a:xfrm>
            <a:off x="11239500" y="6515100"/>
            <a:ext cx="476250" cy="209550"/>
          </a:xfrm>
          <a:prstGeom prst="rect">
            <a:avLst/>
          </a:prstGeom>
          <a:noFill/>
          <a:ln w="0">
            <a:noFill/>
          </a:ln>
        </p:spPr>
        <p:txBody>
          <a:bodyPr anchor="t">
            <a:normAutofit fontScale="93939" lnSpcReduction="10000"/>
          </a:bodyPr>
          <a:lstStyle/>
          <a:p>
            <a:pPr algn="r">
              <a:defRPr sz="825" b="0" i="0">
                <a:solidFill>
                  <a:srgbClr val="5A6674"/>
                </a:solidFill>
                <a:latin typeface="Calibri"/>
                <a:ea typeface="Calibri"/>
                <a:cs typeface="Calibri"/>
              </a:defRPr>
            </a:pPr>
            <a:r>
              <a:rPr sz="825" b="0" i="0">
                <a:solidFill>
                  <a:srgbClr val="5A6674"/>
                </a:solidFill>
                <a:latin typeface="Calibri"/>
                <a:ea typeface="Calibri"/>
                <a:cs typeface="Calibri"/>
              </a:rPr>
              <a:t>9</a:t>
            </a:r>
          </a:p>
        </p:txBody>
      </p:sp>
    </p:spTree>
    <p:extLst>
      <p:ext uri="{BB962C8B-B14F-4D97-AF65-F5344CB8AC3E}">
        <p14:creationId xmlns:p14="http://schemas.microsoft.com/office/powerpoint/2010/main" val="5203631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3F3"/>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FD12D298-C54B-4C5B-BA55-9F8FDEA953F7}"/>
              </a:ext>
            </a:extLst>
          </p:cNvPr>
          <p:cNvSpPr>
            <a:spLocks noGrp="1"/>
          </p:cNvSpPr>
          <p:nvPr/>
        </p:nvSpPr>
        <p:spPr>
          <a:xfrm>
            <a:off x="552450" y="400050"/>
            <a:ext cx="8572500" cy="266700"/>
          </a:xfrm>
          <a:prstGeom prst="rect">
            <a:avLst/>
          </a:prstGeom>
          <a:noFill/>
          <a:ln w="0">
            <a:noFill/>
          </a:ln>
        </p:spPr>
        <p:txBody>
          <a:bodyPr anchor="t">
            <a:normAutofit/>
          </a:bodyPr>
          <a:lstStyle/>
          <a:p>
            <a:pPr algn="l">
              <a:defRPr sz="1073" b="1" i="0">
                <a:solidFill>
                  <a:srgbClr val="FF9900"/>
                </a:solidFill>
                <a:latin typeface="Calibri"/>
                <a:ea typeface="Calibri"/>
                <a:cs typeface="Calibri"/>
              </a:defRPr>
            </a:pPr>
            <a:r>
              <a:rPr sz="1073" b="1" i="0">
                <a:solidFill>
                  <a:srgbClr val="FF9900"/>
                </a:solidFill>
                <a:latin typeface="Calibri"/>
                <a:ea typeface="Calibri"/>
                <a:cs typeface="Calibri"/>
              </a:rPr>
              <a:t>ПІДСУМОК</a:t>
            </a:r>
          </a:p>
        </p:txBody>
      </p:sp>
      <p:sp>
        <p:nvSpPr>
          <p:cNvPr id="2" name="Rectangle 1">
            <a:extLst>
              <a:ext uri="{FF2B5EF4-FFF2-40B4-BE49-F238E27FC236}">
                <a16:creationId xmlns:a16="http://schemas.microsoft.com/office/drawing/2014/main" id="{7AED77E2-E112-48DC-BBF4-E9B28F61A5B9}"/>
              </a:ext>
            </a:extLst>
          </p:cNvPr>
          <p:cNvSpPr>
            <a:spLocks noGrp="1"/>
          </p:cNvSpPr>
          <p:nvPr/>
        </p:nvSpPr>
        <p:spPr>
          <a:xfrm>
            <a:off x="552450" y="742950"/>
            <a:ext cx="11049000" cy="666750"/>
          </a:xfrm>
          <a:prstGeom prst="rect">
            <a:avLst/>
          </a:prstGeom>
          <a:noFill/>
          <a:ln w="0">
            <a:noFill/>
          </a:ln>
        </p:spPr>
        <p:txBody>
          <a:bodyPr anchor="t">
            <a:normAutofit/>
          </a:bodyPr>
          <a:lstStyle/>
          <a:p>
            <a:pPr algn="l">
              <a:defRPr sz="2805" b="1" i="0">
                <a:solidFill>
                  <a:srgbClr val="16191F"/>
                </a:solidFill>
                <a:latin typeface="Cambria"/>
                <a:ea typeface="Cambria"/>
                <a:cs typeface="Cambria"/>
              </a:defRPr>
            </a:pPr>
            <a:r>
              <a:rPr sz="3200" b="1" i="0" dirty="0">
                <a:solidFill>
                  <a:srgbClr val="16191F"/>
                </a:solidFill>
                <a:latin typeface="Cambria"/>
                <a:ea typeface="Cambria"/>
                <a:cs typeface="Cambria"/>
              </a:rPr>
              <a:t>Що потрібно для </a:t>
            </a:r>
            <a:r>
              <a:rPr sz="3200" b="1" i="0" dirty="0" err="1">
                <a:solidFill>
                  <a:srgbClr val="16191F"/>
                </a:solidFill>
                <a:latin typeface="Cambria"/>
                <a:ea typeface="Cambria"/>
                <a:cs typeface="Cambria"/>
              </a:rPr>
              <a:t>надійної</a:t>
            </a:r>
            <a:r>
              <a:rPr sz="3200" b="1" i="0" dirty="0">
                <a:solidFill>
                  <a:srgbClr val="16191F"/>
                </a:solidFill>
                <a:latin typeface="Cambria"/>
                <a:ea typeface="Cambria"/>
                <a:cs typeface="Cambria"/>
              </a:rPr>
              <a:t> Lambda-</a:t>
            </a:r>
            <a:r>
              <a:rPr sz="3200" b="1" i="0" dirty="0" err="1">
                <a:solidFill>
                  <a:srgbClr val="16191F"/>
                </a:solidFill>
                <a:latin typeface="Cambria"/>
                <a:ea typeface="Cambria"/>
                <a:cs typeface="Cambria"/>
              </a:rPr>
              <a:t>функції</a:t>
            </a:r>
            <a:endParaRPr sz="3200" b="1" i="0" dirty="0">
              <a:solidFill>
                <a:srgbClr val="16191F"/>
              </a:solidFill>
              <a:latin typeface="Cambria"/>
              <a:ea typeface="Cambria"/>
              <a:cs typeface="Cambria"/>
            </a:endParaRPr>
          </a:p>
        </p:txBody>
      </p:sp>
      <p:sp>
        <p:nvSpPr>
          <p:cNvPr id="3" name="Rounded Rectangle 2">
            <a:extLst>
              <a:ext uri="{FF2B5EF4-FFF2-40B4-BE49-F238E27FC236}">
                <a16:creationId xmlns:a16="http://schemas.microsoft.com/office/drawing/2014/main" id="{9C6DB387-516F-44B1-85AA-037969F87F72}"/>
              </a:ext>
            </a:extLst>
          </p:cNvPr>
          <p:cNvSpPr>
            <a:spLocks noGrp="1"/>
          </p:cNvSpPr>
          <p:nvPr/>
        </p:nvSpPr>
        <p:spPr>
          <a:xfrm>
            <a:off x="552450" y="1619250"/>
            <a:ext cx="3333750" cy="1571625"/>
          </a:xfrm>
          <a:prstGeom prst="roundRect">
            <a:avLst>
              <a:gd name="adj" fmla="val 4848"/>
            </a:avLst>
          </a:prstGeom>
          <a:solidFill>
            <a:srgbClr val="FFFFFF"/>
          </a:solidFill>
          <a:ln w="9525">
            <a:solidFill>
              <a:srgbClr val="DDE1E6"/>
            </a:solidFill>
          </a:ln>
        </p:spPr>
        <p:txBody>
          <a:bodyPr/>
          <a:lstStyle/>
          <a:p>
            <a:endParaRPr lang="en-UA"/>
          </a:p>
        </p:txBody>
      </p:sp>
      <p:sp>
        <p:nvSpPr>
          <p:cNvPr id="4" name="Oval 3">
            <a:extLst>
              <a:ext uri="{FF2B5EF4-FFF2-40B4-BE49-F238E27FC236}">
                <a16:creationId xmlns:a16="http://schemas.microsoft.com/office/drawing/2014/main" id="{73F77F81-DEA5-4701-9A08-E8A47D88EACD}"/>
              </a:ext>
            </a:extLst>
          </p:cNvPr>
          <p:cNvSpPr>
            <a:spLocks noGrp="1"/>
          </p:cNvSpPr>
          <p:nvPr/>
        </p:nvSpPr>
        <p:spPr>
          <a:xfrm>
            <a:off x="781050" y="1847850"/>
            <a:ext cx="457200" cy="457200"/>
          </a:xfrm>
          <a:prstGeom prst="ellipse">
            <a:avLst/>
          </a:prstGeom>
          <a:solidFill>
            <a:srgbClr val="232F3E"/>
          </a:solidFill>
          <a:ln w="0">
            <a:noFill/>
          </a:ln>
        </p:spPr>
        <p:txBody>
          <a:bodyPr/>
          <a:lstStyle/>
          <a:p>
            <a:endParaRPr lang="en-UA"/>
          </a:p>
        </p:txBody>
      </p:sp>
      <p:sp>
        <p:nvSpPr>
          <p:cNvPr id="5" name="Rectangle 4">
            <a:extLst>
              <a:ext uri="{FF2B5EF4-FFF2-40B4-BE49-F238E27FC236}">
                <a16:creationId xmlns:a16="http://schemas.microsoft.com/office/drawing/2014/main" id="{EB92AA3C-7421-47F6-884C-8501648842F3}"/>
              </a:ext>
            </a:extLst>
          </p:cNvPr>
          <p:cNvSpPr>
            <a:spLocks noGrp="1"/>
          </p:cNvSpPr>
          <p:nvPr/>
        </p:nvSpPr>
        <p:spPr>
          <a:xfrm>
            <a:off x="781050" y="1933575"/>
            <a:ext cx="457200" cy="266700"/>
          </a:xfrm>
          <a:prstGeom prst="rect">
            <a:avLst/>
          </a:prstGeom>
          <a:noFill/>
          <a:ln w="0">
            <a:noFill/>
          </a:ln>
        </p:spPr>
        <p:txBody>
          <a:bodyPr anchor="t">
            <a:normAutofit fontScale="89467" lnSpcReduction="20000"/>
          </a:bodyPr>
          <a:lstStyle/>
          <a:p>
            <a:pPr algn="ctr">
              <a:defRPr sz="1403" b="1" i="0">
                <a:solidFill>
                  <a:srgbClr val="FF9900"/>
                </a:solidFill>
                <a:latin typeface="Cambria"/>
                <a:ea typeface="Cambria"/>
                <a:cs typeface="Cambria"/>
              </a:defRPr>
            </a:pPr>
            <a:r>
              <a:rPr sz="1403" b="1" i="0">
                <a:solidFill>
                  <a:srgbClr val="FF9900"/>
                </a:solidFill>
                <a:latin typeface="Cambria"/>
                <a:ea typeface="Cambria"/>
                <a:cs typeface="Cambria"/>
              </a:rPr>
              <a:t>1</a:t>
            </a:r>
          </a:p>
        </p:txBody>
      </p:sp>
      <p:sp>
        <p:nvSpPr>
          <p:cNvPr id="6" name="Rectangle 5">
            <a:extLst>
              <a:ext uri="{FF2B5EF4-FFF2-40B4-BE49-F238E27FC236}">
                <a16:creationId xmlns:a16="http://schemas.microsoft.com/office/drawing/2014/main" id="{6252585E-D1E6-4244-98BD-39DD6A497D8F}"/>
              </a:ext>
            </a:extLst>
          </p:cNvPr>
          <p:cNvSpPr>
            <a:spLocks noGrp="1"/>
          </p:cNvSpPr>
          <p:nvPr/>
        </p:nvSpPr>
        <p:spPr>
          <a:xfrm>
            <a:off x="1409700" y="1809750"/>
            <a:ext cx="2143125" cy="285750"/>
          </a:xfrm>
          <a:prstGeom prst="rect">
            <a:avLst/>
          </a:prstGeom>
          <a:noFill/>
          <a:ln w="0">
            <a:noFill/>
          </a:ln>
        </p:spPr>
        <p:txBody>
          <a:bodyPr anchor="t">
            <a:normAutofit fontScale="85859" lnSpcReduction="10000"/>
          </a:bodyPr>
          <a:lstStyle/>
          <a:p>
            <a:pPr algn="l">
              <a:defRPr sz="1485" b="1" i="0">
                <a:solidFill>
                  <a:srgbClr val="16191F"/>
                </a:solidFill>
                <a:latin typeface="Calibri"/>
                <a:ea typeface="Calibri"/>
                <a:cs typeface="Calibri"/>
              </a:defRPr>
            </a:pPr>
            <a:r>
              <a:rPr sz="1485" b="1" i="0">
                <a:solidFill>
                  <a:srgbClr val="16191F"/>
                </a:solidFill>
                <a:latin typeface="Calibri"/>
                <a:ea typeface="Calibri"/>
                <a:cs typeface="Calibri"/>
              </a:rPr>
              <a:t>Подія</a:t>
            </a:r>
          </a:p>
        </p:txBody>
      </p:sp>
      <p:sp>
        <p:nvSpPr>
          <p:cNvPr id="7" name="Rectangle 6">
            <a:extLst>
              <a:ext uri="{FF2B5EF4-FFF2-40B4-BE49-F238E27FC236}">
                <a16:creationId xmlns:a16="http://schemas.microsoft.com/office/drawing/2014/main" id="{7F842561-F140-4E8E-9AE5-FF31EF4D0BCB}"/>
              </a:ext>
            </a:extLst>
          </p:cNvPr>
          <p:cNvSpPr>
            <a:spLocks noGrp="1"/>
          </p:cNvSpPr>
          <p:nvPr/>
        </p:nvSpPr>
        <p:spPr>
          <a:xfrm>
            <a:off x="781050" y="2419350"/>
            <a:ext cx="2857500" cy="609600"/>
          </a:xfrm>
          <a:prstGeom prst="rect">
            <a:avLst/>
          </a:prstGeom>
          <a:noFill/>
          <a:ln w="0">
            <a:noFill/>
          </a:ln>
        </p:spPr>
        <p:txBody>
          <a:bodyPr anchor="t">
            <a:normAutofit/>
          </a:bodyPr>
          <a:lstStyle/>
          <a:p>
            <a:pPr algn="l">
              <a:defRPr sz="1155" b="0" i="0">
                <a:solidFill>
                  <a:srgbClr val="5A6674"/>
                </a:solidFill>
                <a:latin typeface="Calibri"/>
                <a:ea typeface="Calibri"/>
                <a:cs typeface="Calibri"/>
              </a:defRPr>
            </a:pPr>
            <a:r>
              <a:rPr sz="1155" b="0" i="0">
                <a:solidFill>
                  <a:srgbClr val="5A6674"/>
                </a:solidFill>
                <a:latin typeface="Calibri"/>
                <a:ea typeface="Calibri"/>
                <a:cs typeface="Calibri"/>
              </a:rPr>
              <a:t>Чітко відома структура event і перевірка вхідних даних</a:t>
            </a:r>
          </a:p>
        </p:txBody>
      </p:sp>
      <p:sp>
        <p:nvSpPr>
          <p:cNvPr id="8" name="Rounded Rectangle 7">
            <a:extLst>
              <a:ext uri="{FF2B5EF4-FFF2-40B4-BE49-F238E27FC236}">
                <a16:creationId xmlns:a16="http://schemas.microsoft.com/office/drawing/2014/main" id="{E79BF80D-DF34-437C-9D5E-EBC97E864125}"/>
              </a:ext>
            </a:extLst>
          </p:cNvPr>
          <p:cNvSpPr>
            <a:spLocks noGrp="1"/>
          </p:cNvSpPr>
          <p:nvPr/>
        </p:nvSpPr>
        <p:spPr>
          <a:xfrm>
            <a:off x="4267200" y="1619250"/>
            <a:ext cx="3333750" cy="1571625"/>
          </a:xfrm>
          <a:prstGeom prst="roundRect">
            <a:avLst>
              <a:gd name="adj" fmla="val 4848"/>
            </a:avLst>
          </a:prstGeom>
          <a:solidFill>
            <a:srgbClr val="FFFFFF"/>
          </a:solidFill>
          <a:ln w="9525">
            <a:solidFill>
              <a:srgbClr val="DDE1E6"/>
            </a:solidFill>
          </a:ln>
        </p:spPr>
        <p:txBody>
          <a:bodyPr/>
          <a:lstStyle/>
          <a:p>
            <a:endParaRPr lang="en-UA"/>
          </a:p>
        </p:txBody>
      </p:sp>
      <p:sp>
        <p:nvSpPr>
          <p:cNvPr id="9" name="Oval 8">
            <a:extLst>
              <a:ext uri="{FF2B5EF4-FFF2-40B4-BE49-F238E27FC236}">
                <a16:creationId xmlns:a16="http://schemas.microsoft.com/office/drawing/2014/main" id="{69E95F48-C201-488A-8621-4D92FBCA567D}"/>
              </a:ext>
            </a:extLst>
          </p:cNvPr>
          <p:cNvSpPr>
            <a:spLocks noGrp="1"/>
          </p:cNvSpPr>
          <p:nvPr/>
        </p:nvSpPr>
        <p:spPr>
          <a:xfrm>
            <a:off x="4495800" y="1847850"/>
            <a:ext cx="457200" cy="457200"/>
          </a:xfrm>
          <a:prstGeom prst="ellipse">
            <a:avLst/>
          </a:prstGeom>
          <a:solidFill>
            <a:srgbClr val="232F3E"/>
          </a:solidFill>
          <a:ln w="0">
            <a:noFill/>
          </a:ln>
        </p:spPr>
        <p:txBody>
          <a:bodyPr/>
          <a:lstStyle/>
          <a:p>
            <a:endParaRPr lang="en-UA"/>
          </a:p>
        </p:txBody>
      </p:sp>
      <p:sp>
        <p:nvSpPr>
          <p:cNvPr id="10" name="Rectangle 9">
            <a:extLst>
              <a:ext uri="{FF2B5EF4-FFF2-40B4-BE49-F238E27FC236}">
                <a16:creationId xmlns:a16="http://schemas.microsoft.com/office/drawing/2014/main" id="{A138DD58-2394-4B77-87F5-C1A8774FA61F}"/>
              </a:ext>
            </a:extLst>
          </p:cNvPr>
          <p:cNvSpPr>
            <a:spLocks noGrp="1"/>
          </p:cNvSpPr>
          <p:nvPr/>
        </p:nvSpPr>
        <p:spPr>
          <a:xfrm>
            <a:off x="4495800" y="1933575"/>
            <a:ext cx="457200" cy="266700"/>
          </a:xfrm>
          <a:prstGeom prst="rect">
            <a:avLst/>
          </a:prstGeom>
          <a:noFill/>
          <a:ln w="0">
            <a:noFill/>
          </a:ln>
        </p:spPr>
        <p:txBody>
          <a:bodyPr anchor="t">
            <a:normAutofit fontScale="89467" lnSpcReduction="20000"/>
          </a:bodyPr>
          <a:lstStyle/>
          <a:p>
            <a:pPr algn="ctr">
              <a:defRPr sz="1403" b="1" i="0">
                <a:solidFill>
                  <a:srgbClr val="FF9900"/>
                </a:solidFill>
                <a:latin typeface="Cambria"/>
                <a:ea typeface="Cambria"/>
                <a:cs typeface="Cambria"/>
              </a:defRPr>
            </a:pPr>
            <a:r>
              <a:rPr sz="1403" b="1" i="0">
                <a:solidFill>
                  <a:srgbClr val="FF9900"/>
                </a:solidFill>
                <a:latin typeface="Cambria"/>
                <a:ea typeface="Cambria"/>
                <a:cs typeface="Cambria"/>
              </a:rPr>
              <a:t>2</a:t>
            </a:r>
          </a:p>
        </p:txBody>
      </p:sp>
      <p:sp>
        <p:nvSpPr>
          <p:cNvPr id="11" name="Rectangle 10">
            <a:extLst>
              <a:ext uri="{FF2B5EF4-FFF2-40B4-BE49-F238E27FC236}">
                <a16:creationId xmlns:a16="http://schemas.microsoft.com/office/drawing/2014/main" id="{28676D2C-A452-45CC-8C39-803074144A4A}"/>
              </a:ext>
            </a:extLst>
          </p:cNvPr>
          <p:cNvSpPr>
            <a:spLocks noGrp="1"/>
          </p:cNvSpPr>
          <p:nvPr/>
        </p:nvSpPr>
        <p:spPr>
          <a:xfrm>
            <a:off x="5124450" y="1809750"/>
            <a:ext cx="2143125" cy="285750"/>
          </a:xfrm>
          <a:prstGeom prst="rect">
            <a:avLst/>
          </a:prstGeom>
          <a:noFill/>
          <a:ln w="0">
            <a:noFill/>
          </a:ln>
        </p:spPr>
        <p:txBody>
          <a:bodyPr anchor="t">
            <a:normAutofit fontScale="85859" lnSpcReduction="10000"/>
          </a:bodyPr>
          <a:lstStyle/>
          <a:p>
            <a:pPr algn="l">
              <a:defRPr sz="1485" b="1" i="0">
                <a:solidFill>
                  <a:srgbClr val="16191F"/>
                </a:solidFill>
                <a:latin typeface="Calibri"/>
                <a:ea typeface="Calibri"/>
                <a:cs typeface="Calibri"/>
              </a:defRPr>
            </a:pPr>
            <a:r>
              <a:rPr sz="1485" b="1" i="0">
                <a:solidFill>
                  <a:srgbClr val="16191F"/>
                </a:solidFill>
                <a:latin typeface="Calibri"/>
                <a:ea typeface="Calibri"/>
                <a:cs typeface="Calibri"/>
              </a:rPr>
              <a:t>Код</a:t>
            </a:r>
          </a:p>
        </p:txBody>
      </p:sp>
      <p:sp>
        <p:nvSpPr>
          <p:cNvPr id="12" name="Rectangle 11">
            <a:extLst>
              <a:ext uri="{FF2B5EF4-FFF2-40B4-BE49-F238E27FC236}">
                <a16:creationId xmlns:a16="http://schemas.microsoft.com/office/drawing/2014/main" id="{2E29634B-8036-4937-9CD1-D82D08E9E7F6}"/>
              </a:ext>
            </a:extLst>
          </p:cNvPr>
          <p:cNvSpPr>
            <a:spLocks noGrp="1"/>
          </p:cNvSpPr>
          <p:nvPr/>
        </p:nvSpPr>
        <p:spPr>
          <a:xfrm>
            <a:off x="4495800" y="2419350"/>
            <a:ext cx="2857500" cy="609600"/>
          </a:xfrm>
          <a:prstGeom prst="rect">
            <a:avLst/>
          </a:prstGeom>
          <a:noFill/>
          <a:ln w="0">
            <a:noFill/>
          </a:ln>
        </p:spPr>
        <p:txBody>
          <a:bodyPr anchor="t">
            <a:normAutofit/>
          </a:bodyPr>
          <a:lstStyle/>
          <a:p>
            <a:pPr algn="l">
              <a:defRPr sz="1155" b="0" i="0">
                <a:solidFill>
                  <a:srgbClr val="5A6674"/>
                </a:solidFill>
                <a:latin typeface="Calibri"/>
                <a:ea typeface="Calibri"/>
                <a:cs typeface="Calibri"/>
              </a:defRPr>
            </a:pPr>
            <a:r>
              <a:rPr sz="1155" b="0" i="0">
                <a:solidFill>
                  <a:srgbClr val="5A6674"/>
                </a:solidFill>
                <a:latin typeface="Calibri"/>
                <a:ea typeface="Calibri"/>
                <a:cs typeface="Calibri"/>
              </a:rPr>
              <a:t>Невеликий handler із логуванням та обробкою помилок</a:t>
            </a:r>
          </a:p>
        </p:txBody>
      </p:sp>
      <p:sp>
        <p:nvSpPr>
          <p:cNvPr id="13" name="Rounded Rectangle 12">
            <a:extLst>
              <a:ext uri="{FF2B5EF4-FFF2-40B4-BE49-F238E27FC236}">
                <a16:creationId xmlns:a16="http://schemas.microsoft.com/office/drawing/2014/main" id="{E6210ABA-2596-4E70-824C-CD98F67670AC}"/>
              </a:ext>
            </a:extLst>
          </p:cNvPr>
          <p:cNvSpPr>
            <a:spLocks noGrp="1"/>
          </p:cNvSpPr>
          <p:nvPr/>
        </p:nvSpPr>
        <p:spPr>
          <a:xfrm>
            <a:off x="7981950" y="1619250"/>
            <a:ext cx="3333750" cy="1571625"/>
          </a:xfrm>
          <a:prstGeom prst="roundRect">
            <a:avLst>
              <a:gd name="adj" fmla="val 4848"/>
            </a:avLst>
          </a:prstGeom>
          <a:solidFill>
            <a:srgbClr val="FFFFFF"/>
          </a:solidFill>
          <a:ln w="9525">
            <a:solidFill>
              <a:srgbClr val="DDE1E6"/>
            </a:solidFill>
          </a:ln>
        </p:spPr>
        <p:txBody>
          <a:bodyPr/>
          <a:lstStyle/>
          <a:p>
            <a:endParaRPr lang="en-UA"/>
          </a:p>
        </p:txBody>
      </p:sp>
      <p:sp>
        <p:nvSpPr>
          <p:cNvPr id="14" name="Oval 13">
            <a:extLst>
              <a:ext uri="{FF2B5EF4-FFF2-40B4-BE49-F238E27FC236}">
                <a16:creationId xmlns:a16="http://schemas.microsoft.com/office/drawing/2014/main" id="{D3C3005F-7E30-43C5-A7D7-FBF4152539A9}"/>
              </a:ext>
            </a:extLst>
          </p:cNvPr>
          <p:cNvSpPr>
            <a:spLocks noGrp="1"/>
          </p:cNvSpPr>
          <p:nvPr/>
        </p:nvSpPr>
        <p:spPr>
          <a:xfrm>
            <a:off x="8210550" y="1847850"/>
            <a:ext cx="457200" cy="457200"/>
          </a:xfrm>
          <a:prstGeom prst="ellipse">
            <a:avLst/>
          </a:prstGeom>
          <a:solidFill>
            <a:srgbClr val="232F3E"/>
          </a:solidFill>
          <a:ln w="0">
            <a:noFill/>
          </a:ln>
        </p:spPr>
        <p:txBody>
          <a:bodyPr/>
          <a:lstStyle/>
          <a:p>
            <a:endParaRPr lang="en-UA"/>
          </a:p>
        </p:txBody>
      </p:sp>
      <p:sp>
        <p:nvSpPr>
          <p:cNvPr id="15" name="Rectangle 14">
            <a:extLst>
              <a:ext uri="{FF2B5EF4-FFF2-40B4-BE49-F238E27FC236}">
                <a16:creationId xmlns:a16="http://schemas.microsoft.com/office/drawing/2014/main" id="{59A5244C-2530-4567-82EE-5C84147E5688}"/>
              </a:ext>
            </a:extLst>
          </p:cNvPr>
          <p:cNvSpPr>
            <a:spLocks noGrp="1"/>
          </p:cNvSpPr>
          <p:nvPr/>
        </p:nvSpPr>
        <p:spPr>
          <a:xfrm>
            <a:off x="8210550" y="1933575"/>
            <a:ext cx="457200" cy="266700"/>
          </a:xfrm>
          <a:prstGeom prst="rect">
            <a:avLst/>
          </a:prstGeom>
          <a:noFill/>
          <a:ln w="0">
            <a:noFill/>
          </a:ln>
        </p:spPr>
        <p:txBody>
          <a:bodyPr anchor="t">
            <a:normAutofit fontScale="89467" lnSpcReduction="20000"/>
          </a:bodyPr>
          <a:lstStyle/>
          <a:p>
            <a:pPr algn="ctr">
              <a:defRPr sz="1403" b="1" i="0">
                <a:solidFill>
                  <a:srgbClr val="FF9900"/>
                </a:solidFill>
                <a:latin typeface="Cambria"/>
                <a:ea typeface="Cambria"/>
                <a:cs typeface="Cambria"/>
              </a:defRPr>
            </a:pPr>
            <a:r>
              <a:rPr sz="1403" b="1" i="0">
                <a:solidFill>
                  <a:srgbClr val="FF9900"/>
                </a:solidFill>
                <a:latin typeface="Cambria"/>
                <a:ea typeface="Cambria"/>
                <a:cs typeface="Cambria"/>
              </a:rPr>
              <a:t>3</a:t>
            </a:r>
          </a:p>
        </p:txBody>
      </p:sp>
      <p:sp>
        <p:nvSpPr>
          <p:cNvPr id="16" name="Rectangle 15">
            <a:extLst>
              <a:ext uri="{FF2B5EF4-FFF2-40B4-BE49-F238E27FC236}">
                <a16:creationId xmlns:a16="http://schemas.microsoft.com/office/drawing/2014/main" id="{375E8E34-F577-4BA5-B22D-66389BC4371D}"/>
              </a:ext>
            </a:extLst>
          </p:cNvPr>
          <p:cNvSpPr>
            <a:spLocks noGrp="1"/>
          </p:cNvSpPr>
          <p:nvPr/>
        </p:nvSpPr>
        <p:spPr>
          <a:xfrm>
            <a:off x="8839200" y="1809750"/>
            <a:ext cx="2143125" cy="285750"/>
          </a:xfrm>
          <a:prstGeom prst="rect">
            <a:avLst/>
          </a:prstGeom>
          <a:noFill/>
          <a:ln w="0">
            <a:noFill/>
          </a:ln>
        </p:spPr>
        <p:txBody>
          <a:bodyPr anchor="t">
            <a:normAutofit fontScale="85859" lnSpcReduction="10000"/>
          </a:bodyPr>
          <a:lstStyle/>
          <a:p>
            <a:pPr algn="l">
              <a:defRPr sz="1485" b="1" i="0">
                <a:solidFill>
                  <a:srgbClr val="16191F"/>
                </a:solidFill>
                <a:latin typeface="Calibri"/>
                <a:ea typeface="Calibri"/>
                <a:cs typeface="Calibri"/>
              </a:defRPr>
            </a:pPr>
            <a:r>
              <a:rPr sz="1485" b="1" i="0">
                <a:solidFill>
                  <a:srgbClr val="16191F"/>
                </a:solidFill>
                <a:latin typeface="Calibri"/>
                <a:ea typeface="Calibri"/>
                <a:cs typeface="Calibri"/>
              </a:rPr>
              <a:t>Доступ</a:t>
            </a:r>
          </a:p>
        </p:txBody>
      </p:sp>
      <p:sp>
        <p:nvSpPr>
          <p:cNvPr id="17" name="Rectangle 16">
            <a:extLst>
              <a:ext uri="{FF2B5EF4-FFF2-40B4-BE49-F238E27FC236}">
                <a16:creationId xmlns:a16="http://schemas.microsoft.com/office/drawing/2014/main" id="{A433EDB5-1471-4CB1-A021-CF41B22F2BAF}"/>
              </a:ext>
            </a:extLst>
          </p:cNvPr>
          <p:cNvSpPr>
            <a:spLocks noGrp="1"/>
          </p:cNvSpPr>
          <p:nvPr/>
        </p:nvSpPr>
        <p:spPr>
          <a:xfrm>
            <a:off x="8210550" y="2419350"/>
            <a:ext cx="2857500" cy="609600"/>
          </a:xfrm>
          <a:prstGeom prst="rect">
            <a:avLst/>
          </a:prstGeom>
          <a:noFill/>
          <a:ln w="0">
            <a:noFill/>
          </a:ln>
        </p:spPr>
        <p:txBody>
          <a:bodyPr anchor="t">
            <a:normAutofit/>
          </a:bodyPr>
          <a:lstStyle/>
          <a:p>
            <a:pPr algn="l">
              <a:defRPr sz="1155" b="0" i="0">
                <a:solidFill>
                  <a:srgbClr val="5A6674"/>
                </a:solidFill>
                <a:latin typeface="Calibri"/>
                <a:ea typeface="Calibri"/>
                <a:cs typeface="Calibri"/>
              </a:defRPr>
            </a:pPr>
            <a:r>
              <a:rPr sz="1155" b="0" i="0">
                <a:solidFill>
                  <a:srgbClr val="5A6674"/>
                </a:solidFill>
                <a:latin typeface="Calibri"/>
                <a:ea typeface="Calibri"/>
                <a:cs typeface="Calibri"/>
              </a:rPr>
              <a:t>Execution role за принципом найменших привілеїв</a:t>
            </a:r>
          </a:p>
        </p:txBody>
      </p:sp>
      <p:sp>
        <p:nvSpPr>
          <p:cNvPr id="18" name="Rounded Rectangle 17">
            <a:extLst>
              <a:ext uri="{FF2B5EF4-FFF2-40B4-BE49-F238E27FC236}">
                <a16:creationId xmlns:a16="http://schemas.microsoft.com/office/drawing/2014/main" id="{DA8EC9EA-DE86-4871-B5AC-8BC41E7A1236}"/>
              </a:ext>
            </a:extLst>
          </p:cNvPr>
          <p:cNvSpPr>
            <a:spLocks noGrp="1"/>
          </p:cNvSpPr>
          <p:nvPr/>
        </p:nvSpPr>
        <p:spPr>
          <a:xfrm>
            <a:off x="2409825" y="3810000"/>
            <a:ext cx="3333750" cy="1571625"/>
          </a:xfrm>
          <a:prstGeom prst="roundRect">
            <a:avLst>
              <a:gd name="adj" fmla="val 4848"/>
            </a:avLst>
          </a:prstGeom>
          <a:solidFill>
            <a:srgbClr val="FFFFFF"/>
          </a:solidFill>
          <a:ln w="9525">
            <a:solidFill>
              <a:srgbClr val="DDE1E6"/>
            </a:solidFill>
          </a:ln>
        </p:spPr>
        <p:txBody>
          <a:bodyPr/>
          <a:lstStyle/>
          <a:p>
            <a:endParaRPr lang="en-UA"/>
          </a:p>
        </p:txBody>
      </p:sp>
      <p:sp>
        <p:nvSpPr>
          <p:cNvPr id="19" name="Oval 18">
            <a:extLst>
              <a:ext uri="{FF2B5EF4-FFF2-40B4-BE49-F238E27FC236}">
                <a16:creationId xmlns:a16="http://schemas.microsoft.com/office/drawing/2014/main" id="{E19C4644-281B-409D-81A0-060EAE80D606}"/>
              </a:ext>
            </a:extLst>
          </p:cNvPr>
          <p:cNvSpPr>
            <a:spLocks noGrp="1"/>
          </p:cNvSpPr>
          <p:nvPr/>
        </p:nvSpPr>
        <p:spPr>
          <a:xfrm>
            <a:off x="2638425" y="4038600"/>
            <a:ext cx="457200" cy="457200"/>
          </a:xfrm>
          <a:prstGeom prst="ellipse">
            <a:avLst/>
          </a:prstGeom>
          <a:solidFill>
            <a:srgbClr val="232F3E"/>
          </a:solidFill>
          <a:ln w="0">
            <a:noFill/>
          </a:ln>
        </p:spPr>
        <p:txBody>
          <a:bodyPr/>
          <a:lstStyle/>
          <a:p>
            <a:endParaRPr lang="en-UA"/>
          </a:p>
        </p:txBody>
      </p:sp>
      <p:sp>
        <p:nvSpPr>
          <p:cNvPr id="20" name="Rectangle 19">
            <a:extLst>
              <a:ext uri="{FF2B5EF4-FFF2-40B4-BE49-F238E27FC236}">
                <a16:creationId xmlns:a16="http://schemas.microsoft.com/office/drawing/2014/main" id="{43285CF1-1D29-4C11-9A4A-99D8041B9B8F}"/>
              </a:ext>
            </a:extLst>
          </p:cNvPr>
          <p:cNvSpPr>
            <a:spLocks noGrp="1"/>
          </p:cNvSpPr>
          <p:nvPr/>
        </p:nvSpPr>
        <p:spPr>
          <a:xfrm>
            <a:off x="2638425" y="4124325"/>
            <a:ext cx="457200" cy="266700"/>
          </a:xfrm>
          <a:prstGeom prst="rect">
            <a:avLst/>
          </a:prstGeom>
          <a:noFill/>
          <a:ln w="0">
            <a:noFill/>
          </a:ln>
        </p:spPr>
        <p:txBody>
          <a:bodyPr anchor="t">
            <a:normAutofit fontScale="89467" lnSpcReduction="20000"/>
          </a:bodyPr>
          <a:lstStyle/>
          <a:p>
            <a:pPr algn="ctr">
              <a:defRPr sz="1403" b="1" i="0">
                <a:solidFill>
                  <a:srgbClr val="FF9900"/>
                </a:solidFill>
                <a:latin typeface="Cambria"/>
                <a:ea typeface="Cambria"/>
                <a:cs typeface="Cambria"/>
              </a:defRPr>
            </a:pPr>
            <a:r>
              <a:rPr sz="1403" b="1" i="0">
                <a:solidFill>
                  <a:srgbClr val="FF9900"/>
                </a:solidFill>
                <a:latin typeface="Cambria"/>
                <a:ea typeface="Cambria"/>
                <a:cs typeface="Cambria"/>
              </a:rPr>
              <a:t>4</a:t>
            </a:r>
          </a:p>
        </p:txBody>
      </p:sp>
      <p:sp>
        <p:nvSpPr>
          <p:cNvPr id="21" name="Rectangle 20">
            <a:extLst>
              <a:ext uri="{FF2B5EF4-FFF2-40B4-BE49-F238E27FC236}">
                <a16:creationId xmlns:a16="http://schemas.microsoft.com/office/drawing/2014/main" id="{C24F3614-DC38-471E-9BAC-E2B80923841F}"/>
              </a:ext>
            </a:extLst>
          </p:cNvPr>
          <p:cNvSpPr>
            <a:spLocks noGrp="1"/>
          </p:cNvSpPr>
          <p:nvPr/>
        </p:nvSpPr>
        <p:spPr>
          <a:xfrm>
            <a:off x="3267075" y="4000500"/>
            <a:ext cx="2143125" cy="285750"/>
          </a:xfrm>
          <a:prstGeom prst="rect">
            <a:avLst/>
          </a:prstGeom>
          <a:noFill/>
          <a:ln w="0">
            <a:noFill/>
          </a:ln>
        </p:spPr>
        <p:txBody>
          <a:bodyPr anchor="t">
            <a:normAutofit fontScale="85859" lnSpcReduction="10000"/>
          </a:bodyPr>
          <a:lstStyle/>
          <a:p>
            <a:pPr algn="l">
              <a:defRPr sz="1485" b="1" i="0">
                <a:solidFill>
                  <a:srgbClr val="16191F"/>
                </a:solidFill>
                <a:latin typeface="Calibri"/>
                <a:ea typeface="Calibri"/>
                <a:cs typeface="Calibri"/>
              </a:defRPr>
            </a:pPr>
            <a:r>
              <a:rPr sz="1485" b="1" i="0">
                <a:solidFill>
                  <a:srgbClr val="16191F"/>
                </a:solidFill>
                <a:latin typeface="Calibri"/>
                <a:ea typeface="Calibri"/>
                <a:cs typeface="Calibri"/>
              </a:rPr>
              <a:t>Ресурси</a:t>
            </a:r>
          </a:p>
        </p:txBody>
      </p:sp>
      <p:sp>
        <p:nvSpPr>
          <p:cNvPr id="22" name="Rectangle 21">
            <a:extLst>
              <a:ext uri="{FF2B5EF4-FFF2-40B4-BE49-F238E27FC236}">
                <a16:creationId xmlns:a16="http://schemas.microsoft.com/office/drawing/2014/main" id="{445E2AA6-636C-47BF-9BBC-17A28CFC24D2}"/>
              </a:ext>
            </a:extLst>
          </p:cNvPr>
          <p:cNvSpPr>
            <a:spLocks noGrp="1"/>
          </p:cNvSpPr>
          <p:nvPr/>
        </p:nvSpPr>
        <p:spPr>
          <a:xfrm>
            <a:off x="2638425" y="4610100"/>
            <a:ext cx="2857500" cy="609600"/>
          </a:xfrm>
          <a:prstGeom prst="rect">
            <a:avLst/>
          </a:prstGeom>
          <a:noFill/>
          <a:ln w="0">
            <a:noFill/>
          </a:ln>
        </p:spPr>
        <p:txBody>
          <a:bodyPr anchor="t">
            <a:normAutofit/>
          </a:bodyPr>
          <a:lstStyle/>
          <a:p>
            <a:pPr algn="l">
              <a:defRPr sz="1155" b="0" i="0">
                <a:solidFill>
                  <a:srgbClr val="5A6674"/>
                </a:solidFill>
                <a:latin typeface="Calibri"/>
                <a:ea typeface="Calibri"/>
                <a:cs typeface="Calibri"/>
              </a:defRPr>
            </a:pPr>
            <a:r>
              <a:rPr sz="1155" b="0" i="0">
                <a:solidFill>
                  <a:srgbClr val="5A6674"/>
                </a:solidFill>
                <a:latin typeface="Calibri"/>
                <a:ea typeface="Calibri"/>
                <a:cs typeface="Calibri"/>
              </a:rPr>
              <a:t>Обґрунтовані memory, timeout і використання /tmp</a:t>
            </a:r>
          </a:p>
        </p:txBody>
      </p:sp>
      <p:sp>
        <p:nvSpPr>
          <p:cNvPr id="23" name="Rounded Rectangle 22">
            <a:extLst>
              <a:ext uri="{FF2B5EF4-FFF2-40B4-BE49-F238E27FC236}">
                <a16:creationId xmlns:a16="http://schemas.microsoft.com/office/drawing/2014/main" id="{B6C061C1-BD4E-494E-A00B-48477EDBC14D}"/>
              </a:ext>
            </a:extLst>
          </p:cNvPr>
          <p:cNvSpPr>
            <a:spLocks noGrp="1"/>
          </p:cNvSpPr>
          <p:nvPr/>
        </p:nvSpPr>
        <p:spPr>
          <a:xfrm>
            <a:off x="6124575" y="3810000"/>
            <a:ext cx="3333750" cy="1571625"/>
          </a:xfrm>
          <a:prstGeom prst="roundRect">
            <a:avLst>
              <a:gd name="adj" fmla="val 4848"/>
            </a:avLst>
          </a:prstGeom>
          <a:solidFill>
            <a:srgbClr val="FFFFFF"/>
          </a:solidFill>
          <a:ln w="9525">
            <a:solidFill>
              <a:srgbClr val="DDE1E6"/>
            </a:solidFill>
          </a:ln>
        </p:spPr>
        <p:txBody>
          <a:bodyPr/>
          <a:lstStyle/>
          <a:p>
            <a:endParaRPr lang="en-UA"/>
          </a:p>
        </p:txBody>
      </p:sp>
      <p:sp>
        <p:nvSpPr>
          <p:cNvPr id="24" name="Oval 23">
            <a:extLst>
              <a:ext uri="{FF2B5EF4-FFF2-40B4-BE49-F238E27FC236}">
                <a16:creationId xmlns:a16="http://schemas.microsoft.com/office/drawing/2014/main" id="{D8B808ED-B8CF-45D9-918C-A851E145FD56}"/>
              </a:ext>
            </a:extLst>
          </p:cNvPr>
          <p:cNvSpPr>
            <a:spLocks noGrp="1"/>
          </p:cNvSpPr>
          <p:nvPr/>
        </p:nvSpPr>
        <p:spPr>
          <a:xfrm>
            <a:off x="6353175" y="4038600"/>
            <a:ext cx="457200" cy="457200"/>
          </a:xfrm>
          <a:prstGeom prst="ellipse">
            <a:avLst/>
          </a:prstGeom>
          <a:solidFill>
            <a:srgbClr val="232F3E"/>
          </a:solidFill>
          <a:ln w="0">
            <a:noFill/>
          </a:ln>
        </p:spPr>
        <p:txBody>
          <a:bodyPr/>
          <a:lstStyle/>
          <a:p>
            <a:endParaRPr lang="en-UA"/>
          </a:p>
        </p:txBody>
      </p:sp>
      <p:sp>
        <p:nvSpPr>
          <p:cNvPr id="25" name="Rectangle 24">
            <a:extLst>
              <a:ext uri="{FF2B5EF4-FFF2-40B4-BE49-F238E27FC236}">
                <a16:creationId xmlns:a16="http://schemas.microsoft.com/office/drawing/2014/main" id="{346214F9-5079-4182-9DD9-70398DF31DFA}"/>
              </a:ext>
            </a:extLst>
          </p:cNvPr>
          <p:cNvSpPr>
            <a:spLocks noGrp="1"/>
          </p:cNvSpPr>
          <p:nvPr/>
        </p:nvSpPr>
        <p:spPr>
          <a:xfrm>
            <a:off x="6353175" y="4124325"/>
            <a:ext cx="457200" cy="266700"/>
          </a:xfrm>
          <a:prstGeom prst="rect">
            <a:avLst/>
          </a:prstGeom>
          <a:noFill/>
          <a:ln w="0">
            <a:noFill/>
          </a:ln>
        </p:spPr>
        <p:txBody>
          <a:bodyPr anchor="t">
            <a:normAutofit fontScale="89467" lnSpcReduction="20000"/>
          </a:bodyPr>
          <a:lstStyle/>
          <a:p>
            <a:pPr algn="ctr">
              <a:defRPr sz="1403" b="1" i="0">
                <a:solidFill>
                  <a:srgbClr val="FF9900"/>
                </a:solidFill>
                <a:latin typeface="Cambria"/>
                <a:ea typeface="Cambria"/>
                <a:cs typeface="Cambria"/>
              </a:defRPr>
            </a:pPr>
            <a:r>
              <a:rPr sz="1403" b="1" i="0">
                <a:solidFill>
                  <a:srgbClr val="FF9900"/>
                </a:solidFill>
                <a:latin typeface="Cambria"/>
                <a:ea typeface="Cambria"/>
                <a:cs typeface="Cambria"/>
              </a:rPr>
              <a:t>5</a:t>
            </a:r>
          </a:p>
        </p:txBody>
      </p:sp>
      <p:sp>
        <p:nvSpPr>
          <p:cNvPr id="26" name="Rectangle 25">
            <a:extLst>
              <a:ext uri="{FF2B5EF4-FFF2-40B4-BE49-F238E27FC236}">
                <a16:creationId xmlns:a16="http://schemas.microsoft.com/office/drawing/2014/main" id="{387EC09D-C865-40F8-9E8D-7C1667283160}"/>
              </a:ext>
            </a:extLst>
          </p:cNvPr>
          <p:cNvSpPr>
            <a:spLocks noGrp="1"/>
          </p:cNvSpPr>
          <p:nvPr/>
        </p:nvSpPr>
        <p:spPr>
          <a:xfrm>
            <a:off x="6981825" y="4000500"/>
            <a:ext cx="2143125" cy="285750"/>
          </a:xfrm>
          <a:prstGeom prst="rect">
            <a:avLst/>
          </a:prstGeom>
          <a:noFill/>
          <a:ln w="0">
            <a:noFill/>
          </a:ln>
        </p:spPr>
        <p:txBody>
          <a:bodyPr anchor="t">
            <a:normAutofit fontScale="85859" lnSpcReduction="10000"/>
          </a:bodyPr>
          <a:lstStyle/>
          <a:p>
            <a:pPr algn="l">
              <a:defRPr sz="1485" b="1" i="0">
                <a:solidFill>
                  <a:srgbClr val="16191F"/>
                </a:solidFill>
                <a:latin typeface="Calibri"/>
                <a:ea typeface="Calibri"/>
                <a:cs typeface="Calibri"/>
              </a:defRPr>
            </a:pPr>
            <a:r>
              <a:rPr sz="1485" b="1" i="0">
                <a:solidFill>
                  <a:srgbClr val="16191F"/>
                </a:solidFill>
                <a:latin typeface="Calibri"/>
                <a:ea typeface="Calibri"/>
                <a:cs typeface="Calibri"/>
              </a:rPr>
              <a:t>Контроль</a:t>
            </a:r>
          </a:p>
        </p:txBody>
      </p:sp>
      <p:sp>
        <p:nvSpPr>
          <p:cNvPr id="27" name="Rectangle 26">
            <a:extLst>
              <a:ext uri="{FF2B5EF4-FFF2-40B4-BE49-F238E27FC236}">
                <a16:creationId xmlns:a16="http://schemas.microsoft.com/office/drawing/2014/main" id="{3FFBA618-EF43-4DEA-962C-CCD711395499}"/>
              </a:ext>
            </a:extLst>
          </p:cNvPr>
          <p:cNvSpPr>
            <a:spLocks noGrp="1"/>
          </p:cNvSpPr>
          <p:nvPr/>
        </p:nvSpPr>
        <p:spPr>
          <a:xfrm>
            <a:off x="6353175" y="4610100"/>
            <a:ext cx="2857500" cy="609600"/>
          </a:xfrm>
          <a:prstGeom prst="rect">
            <a:avLst/>
          </a:prstGeom>
          <a:noFill/>
          <a:ln w="0">
            <a:noFill/>
          </a:ln>
        </p:spPr>
        <p:txBody>
          <a:bodyPr anchor="t">
            <a:normAutofit/>
          </a:bodyPr>
          <a:lstStyle/>
          <a:p>
            <a:pPr algn="l">
              <a:defRPr sz="1155" b="0" i="0">
                <a:solidFill>
                  <a:srgbClr val="5A6674"/>
                </a:solidFill>
                <a:latin typeface="Calibri"/>
                <a:ea typeface="Calibri"/>
                <a:cs typeface="Calibri"/>
              </a:defRPr>
            </a:pPr>
            <a:r>
              <a:rPr sz="1155" b="0" i="0">
                <a:solidFill>
                  <a:srgbClr val="5A6674"/>
                </a:solidFill>
                <a:latin typeface="Calibri"/>
                <a:ea typeface="Calibri"/>
                <a:cs typeface="Calibri"/>
              </a:rPr>
              <a:t>Тестова подія та перевірка CloudWatch Logs</a:t>
            </a:r>
          </a:p>
        </p:txBody>
      </p:sp>
      <p:sp>
        <p:nvSpPr>
          <p:cNvPr id="28" name="Rectangle 27">
            <a:extLst>
              <a:ext uri="{FF2B5EF4-FFF2-40B4-BE49-F238E27FC236}">
                <a16:creationId xmlns:a16="http://schemas.microsoft.com/office/drawing/2014/main" id="{9DAAE306-186C-4D5E-A3DC-92BDF2B66F10}"/>
              </a:ext>
            </a:extLst>
          </p:cNvPr>
          <p:cNvSpPr>
            <a:spLocks noGrp="1"/>
          </p:cNvSpPr>
          <p:nvPr/>
        </p:nvSpPr>
        <p:spPr>
          <a:xfrm>
            <a:off x="552450" y="5810250"/>
            <a:ext cx="10668000" cy="342900"/>
          </a:xfrm>
          <a:prstGeom prst="rect">
            <a:avLst/>
          </a:prstGeom>
          <a:noFill/>
          <a:ln w="0">
            <a:noFill/>
          </a:ln>
        </p:spPr>
        <p:txBody>
          <a:bodyPr anchor="t">
            <a:normAutofit/>
          </a:bodyPr>
          <a:lstStyle/>
          <a:p>
            <a:pPr algn="ctr">
              <a:defRPr sz="1320" b="0" i="1">
                <a:solidFill>
                  <a:srgbClr val="5A6674"/>
                </a:solidFill>
                <a:latin typeface="Calibri"/>
                <a:ea typeface="Calibri"/>
                <a:cs typeface="Calibri"/>
              </a:defRPr>
            </a:pPr>
            <a:r>
              <a:rPr sz="1320" b="0" i="1">
                <a:solidFill>
                  <a:srgbClr val="5A6674"/>
                </a:solidFill>
                <a:latin typeface="Calibri"/>
                <a:ea typeface="Calibri"/>
                <a:cs typeface="Calibri"/>
              </a:rPr>
              <a:t>Наступне заняття: Amazon API Gateway та інтеграція serverless-сервісів</a:t>
            </a:r>
          </a:p>
        </p:txBody>
      </p:sp>
      <p:sp>
        <p:nvSpPr>
          <p:cNvPr id="29" name="Rectangle 28">
            <a:extLst>
              <a:ext uri="{FF2B5EF4-FFF2-40B4-BE49-F238E27FC236}">
                <a16:creationId xmlns:a16="http://schemas.microsoft.com/office/drawing/2014/main" id="{1E9883BC-5FEF-4206-91DE-8CEB5E8A93A1}"/>
              </a:ext>
            </a:extLst>
          </p:cNvPr>
          <p:cNvSpPr>
            <a:spLocks noGrp="1"/>
          </p:cNvSpPr>
          <p:nvPr/>
        </p:nvSpPr>
        <p:spPr>
          <a:xfrm>
            <a:off x="457200" y="6515100"/>
            <a:ext cx="5715000" cy="209550"/>
          </a:xfrm>
          <a:prstGeom prst="rect">
            <a:avLst/>
          </a:prstGeom>
          <a:noFill/>
          <a:ln w="0">
            <a:noFill/>
          </a:ln>
        </p:spPr>
        <p:txBody>
          <a:bodyPr anchor="t">
            <a:normAutofit fontScale="93939" lnSpcReduction="10000"/>
          </a:bodyPr>
          <a:lstStyle/>
          <a:p>
            <a:pPr algn="l">
              <a:defRPr sz="825" b="0" i="0">
                <a:solidFill>
                  <a:srgbClr val="5A6674"/>
                </a:solidFill>
                <a:latin typeface="Calibri"/>
                <a:ea typeface="Calibri"/>
                <a:cs typeface="Calibri"/>
              </a:defRPr>
            </a:pPr>
            <a:r>
              <a:rPr sz="825" b="0" i="0">
                <a:solidFill>
                  <a:srgbClr val="5A6674"/>
                </a:solidFill>
                <a:latin typeface="Calibri"/>
                <a:ea typeface="Calibri"/>
                <a:cs typeface="Calibri"/>
              </a:rPr>
              <a:t>Serverless та AWS Lambda</a:t>
            </a:r>
          </a:p>
        </p:txBody>
      </p:sp>
      <p:sp>
        <p:nvSpPr>
          <p:cNvPr id="30" name="Rectangle 29">
            <a:extLst>
              <a:ext uri="{FF2B5EF4-FFF2-40B4-BE49-F238E27FC236}">
                <a16:creationId xmlns:a16="http://schemas.microsoft.com/office/drawing/2014/main" id="{2634FAC6-B467-4F67-857B-29D7576B9A1D}"/>
              </a:ext>
            </a:extLst>
          </p:cNvPr>
          <p:cNvSpPr>
            <a:spLocks noGrp="1"/>
          </p:cNvSpPr>
          <p:nvPr/>
        </p:nvSpPr>
        <p:spPr>
          <a:xfrm>
            <a:off x="11239500" y="6515100"/>
            <a:ext cx="476250" cy="209550"/>
          </a:xfrm>
          <a:prstGeom prst="rect">
            <a:avLst/>
          </a:prstGeom>
          <a:noFill/>
          <a:ln w="0">
            <a:noFill/>
          </a:ln>
        </p:spPr>
        <p:txBody>
          <a:bodyPr anchor="t">
            <a:normAutofit fontScale="93939" lnSpcReduction="10000"/>
          </a:bodyPr>
          <a:lstStyle/>
          <a:p>
            <a:pPr algn="r">
              <a:defRPr sz="825" b="0" i="0">
                <a:solidFill>
                  <a:srgbClr val="5A6674"/>
                </a:solidFill>
                <a:latin typeface="Calibri"/>
                <a:ea typeface="Calibri"/>
                <a:cs typeface="Calibri"/>
              </a:defRPr>
            </a:pPr>
            <a:r>
              <a:rPr sz="825" b="0" i="0">
                <a:solidFill>
                  <a:srgbClr val="5A6674"/>
                </a:solidFill>
                <a:latin typeface="Calibri"/>
                <a:ea typeface="Calibri"/>
                <a:cs typeface="Calibri"/>
              </a:rPr>
              <a:t>10</a:t>
            </a:r>
          </a:p>
        </p:txBody>
      </p:sp>
    </p:spTree>
    <p:extLst>
      <p:ext uri="{BB962C8B-B14F-4D97-AF65-F5344CB8AC3E}">
        <p14:creationId xmlns:p14="http://schemas.microsoft.com/office/powerpoint/2010/main" val="204506318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1442</Words>
  <Application>Microsoft Macintosh PowerPoint</Application>
  <DocSecurity>0</DocSecurity>
  <PresentationFormat>Widescreen</PresentationFormat>
  <Paragraphs>194</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Calibri</vt:lpstr>
      <vt:lpstr>Cambria</vt:lpstr>
      <vt:lpstr>Consolas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Дмитро Штефан</cp:lastModifiedBy>
  <cp:revision>2</cp:revision>
  <dcterms:created xsi:type="dcterms:W3CDTF">2026-10-02T20:01:36Z</dcterms:created>
  <dcterms:modified xsi:type="dcterms:W3CDTF">2026-10-02T20:12:03Z</dcterms:modified>
</cp:coreProperties>
</file>