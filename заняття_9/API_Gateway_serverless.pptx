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WS API Gateway" id="{2bb1c422-8108-873f-37f0-48a3345f7272}">
          <p14:sldIdLst>
            <p14:sldId id="256"/>
            <p14:sldId id="257"/>
            <p14:sldId id="258"/>
            <p14:sldId id="259"/>
          </p14:sldIdLst>
        </p14:section>
        <p14:section name="Інтеграція Lambda + API Gateway + DynamoDB" id="{2680c9b4-f3ba-e3f5-57f0-d3bee32952bf}">
          <p14:sldIdLst>
            <p14:sldId id="260"/>
            <p14:sldId id="261"/>
            <p14:sldId id="262"/>
          </p14:sldIdLst>
        </p14:section>
        <p14:section name="Практичний скрізний сценарій" id="{6f408a71-6a23-f2b8-cf6a-12b0f35ecd52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Вітаю! Сьогодні ми зберемо маленький, але повноцінний бекенд без жодного сервера. Подивіться на схему справа: клієнт надсилає запит, API Gateway його приймає, Lambda виконує код, а DynamoDB зберігає дані. План заняття: спершу розбираємося, що таке API Gateway і які бувають API, потім підключаємо Lambda, налаштовуємо безпеку, ліміти та кеш, і наприкінці разом проходимо повний практичний сценарій з тестуванням у Postman.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Питання до групи: що буде, якщо кожен клієнт звертатиметься напряму до вашої Lambda чи бази? Доведеться самим перевіряти ключі, рахувати ліміти, вести логи в кожному сервісі. API Gateway бере це на себе: це «рецепція» вашого бекенду. Клієнти (сайт, мобільний застосунок, IoT) знають лише одну адресу, а Gateway вирішує, куди направити запит, чи пускати його і чи не забагато їх одночасно. Внизу п'ять ключових можливостей — до кожної ми ще повернемося на практиці.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API Gateway є три різновиди API. REST API — найбагатший за функціями: саме він вміє API-ключі, usage plans і кешування. HTTP API — спрощений і дешевший, підходить, коли потрібні швидкість і JWT-токени. WebSocket API потрібен, коли сервер має сам надсилати дані клієнту: чат, сповіщення, ігри. Для нашого заняття беремо REST API, бо хочу показати вам усі інструменти: ключі, ліміти, кеш.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Показую на живому прикладі в консолі AWS. Крок 1 — створюємо REST API. Крок 2 — додаємо ресурс, це частина URL, наприклад /items. Крок 3 — до ресурсу додаємо метод: GET, POST. Крок 4 — вказуємо інтеграцію, тобто куди передати запит; поки це може бути Mock, далі підключимо Lambda. Крок 5 — Deploy у stage. Запам'ятайте головне: поки ви не зробили Deploy, ваші зміни не діють. Ліворуч внизу — ті самі дії через AWS CLI, для тих, хто любить термінал.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Тут ключова ідея: Lambda нічого не знає про HTTP. Вона отримує звичайний JSON-об'єкт event, який зібрав для неї API Gateway. У ньому є метод, шлях, параметри з URL, заголовки й тіло. Зверніть увагу: тіло приходить рядком, його треба розпарсити через json.loads. У відповідь Lambda повертає словник із statusCode, headers і body. Якщо цього формату немає — Gateway відповість 502. Це найпоширеніша помилка на практиці, тому запам'ятайте цей слайд.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Є чотири способи захистити метод. API-ключ — це радше «номерок клієнта»: він потрібен, щоб застосувати ліміти. IAM підходить для внутрішніх викликів між сервісами AWS. Cognito — коли у вас є користувачі зі входом у застосунок. Lambda authorizer — коли потрібна власна логіка перевірки. Праворуч покроково, як підключити ключ. І окремо підкреслюю: API-ключ не є справжньою безпекою, бо його можна побачити в запитах. Для реального захисту беріть один із трьох інших способів.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Ліміти. Уявіть відро з токенами: кожен запит забирає один токен, а токени повертаються зі швидкістю rate. Burst — це розмір відра, тобто короткий сплеск, який ми дозволяємо. Quota — загальний ліміт на добу. Якщо відро порожнє, клієнт отримує помилку 429. Це захищає і ваш бекенд, і ваш рахунок за AWS. Кеш. Перший запит (MISS) іде до Lambda та бази, а відповідь запам'ятовується на TTL секунд. Наступні запити (HIT) віддаються одразу. Це швидше й дешевше, але кеш платний і підходить для даних, що рідко змінюються.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 збираємо все разом. Наш сценарій простий: API з двома маршрутами. POST /items зберігає елемент, GET /items/{id} його читає. Схема зверху — це шлях запиту. Зверніть увагу на два допоміжні елементи: Lambda потрібна IAM-роль із правами на DynamoDB, інакше вона отримає помилку доступу, а CloudWatch Logs — це наше вікно для налагодження. Внизу п'ять кроків, які ми зараз пройдемо по черзі. Хто відстане — не хвилюйтеся, код на наступному слайді.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Розбираємо код по частинах. Зверху — підключення до таблиці; назву беремо зі змінної оточення, щоб не «зашивати» її в код. У handler дивимося на метод. Для POST розпаршуємо body і викликаємо put_item. Для GET беремо id із pathParameters і викликаємо get_item. Якщо елемента немає — повертаємо 404, якщо метод невідомий — 405. Функція resp() збирає відповідь у форматі, який чекає API Gateway. default=str потрібен, бо числа з DynamoDB приходять як Decimal, а json.dumps їх сам не вміє серіалізувати.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Фінал: перевіряємо, чи все працює. У Postman створюємо змінну base_url з адресою stage, додаємо заголовок x-api-key і надсилаємо POST із JSON. Очікуємо 201. Потім GET /items/1 — має повернутися наш елемент. Так само це можна зробити з терміналу через curl. Внизу — коди відповідей, за якими ви діагностуватимете проблеми: 403 — з ключем чи авторизацією, 404 — немає запису, 429 — спрацювали ліміти, 502 — Lambda повернула відповідь у неправильному форматі. Підсумок: ви пройшли шлях від запиту до даних у DynamoDB без жодного власного сервера. Домашнє завдання: додайте метод DELETE та usage plan із лімітом.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7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91640"/>
            <a:ext cx="64008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34340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7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69164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API Gateway та інтеграція serverless-сервісів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3434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Практична лекція: від першого HTTP-запиту до запису в DynamoDB</a:t>
            </a:r>
            <a:endParaRPr lang="en-US" sz="2000" dirty="0"/>
          </a:p>
        </p:txBody>
      </p:sp>
      <p:sp>
        <p:nvSpPr>
          <p:cNvPr id="4" name="text-1"/>
          <p:cNvSpPr txBox="1"/>
          <p:nvPr/>
        </p:nvSpPr>
        <p:spPr>
          <a:xfrm>
            <a:off x="73152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AWS · SERVERLESS · ЛЕКЦІЯ</a:t>
            </a:r>
            <a:endParaRPr lang="en-US" sz="1400" dirty="0"/>
          </a:p>
        </p:txBody>
      </p:sp>
      <p:sp>
        <p:nvSpPr>
          <p:cNvPr id="5" name="panel-2"/>
          <p:cNvSpPr/>
          <p:nvPr/>
        </p:nvSpPr>
        <p:spPr>
          <a:xfrm>
            <a:off x="7772400" y="86868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6" name="icon-circle-3"/>
          <p:cNvSpPr/>
          <p:nvPr/>
        </p:nvSpPr>
        <p:spPr>
          <a:xfrm>
            <a:off x="7955280" y="10287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4" descr="Deskto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5300" y="1188720"/>
            <a:ext cx="320040" cy="320040"/>
          </a:xfrm>
          <a:prstGeom prst="rect">
            <a:avLst/>
          </a:prstGeom>
        </p:spPr>
      </p:pic>
      <p:sp>
        <p:nvSpPr>
          <p:cNvPr id="8" name="text-5"/>
          <p:cNvSpPr txBox="1"/>
          <p:nvPr/>
        </p:nvSpPr>
        <p:spPr>
          <a:xfrm>
            <a:off x="8778240" y="10241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Клієнт</a:t>
            </a:r>
            <a:endParaRPr lang="en-US" sz="1800" dirty="0"/>
          </a:p>
        </p:txBody>
      </p:sp>
      <p:sp>
        <p:nvSpPr>
          <p:cNvPr id="9" name="text-6"/>
          <p:cNvSpPr txBox="1"/>
          <p:nvPr/>
        </p:nvSpPr>
        <p:spPr>
          <a:xfrm>
            <a:off x="8778240" y="13716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Postman, браузер, застосунок</a:t>
            </a:r>
            <a:endParaRPr lang="en-US" sz="1400" dirty="0"/>
          </a:p>
        </p:txBody>
      </p:sp>
      <p:sp>
        <p:nvSpPr>
          <p:cNvPr id="10" name="arrow-7"/>
          <p:cNvSpPr/>
          <p:nvPr/>
        </p:nvSpPr>
        <p:spPr>
          <a:xfrm>
            <a:off x="8275320" y="187452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panel-8"/>
          <p:cNvSpPr/>
          <p:nvPr/>
        </p:nvSpPr>
        <p:spPr>
          <a:xfrm>
            <a:off x="7772400" y="228600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2" name="icon-circle-9"/>
          <p:cNvSpPr/>
          <p:nvPr/>
        </p:nvSpPr>
        <p:spPr>
          <a:xfrm>
            <a:off x="7955280" y="24460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con-10" descr="NetworkWire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2606040"/>
            <a:ext cx="320040" cy="320040"/>
          </a:xfrm>
          <a:prstGeom prst="rect">
            <a:avLst/>
          </a:prstGeom>
        </p:spPr>
      </p:pic>
      <p:sp>
        <p:nvSpPr>
          <p:cNvPr id="14" name="text-11"/>
          <p:cNvSpPr txBox="1"/>
          <p:nvPr/>
        </p:nvSpPr>
        <p:spPr>
          <a:xfrm>
            <a:off x="8778240" y="244144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API Gateway</a:t>
            </a:r>
            <a:endParaRPr lang="en-US" sz="1800" dirty="0"/>
          </a:p>
        </p:txBody>
      </p:sp>
      <p:sp>
        <p:nvSpPr>
          <p:cNvPr id="15" name="text-12"/>
          <p:cNvSpPr txBox="1"/>
          <p:nvPr/>
        </p:nvSpPr>
        <p:spPr>
          <a:xfrm>
            <a:off x="8778240" y="27889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Єдина точка входу в API</a:t>
            </a:r>
            <a:endParaRPr lang="en-US" sz="1400" dirty="0"/>
          </a:p>
        </p:txBody>
      </p:sp>
      <p:sp>
        <p:nvSpPr>
          <p:cNvPr id="16" name="arrow-13"/>
          <p:cNvSpPr/>
          <p:nvPr/>
        </p:nvSpPr>
        <p:spPr>
          <a:xfrm>
            <a:off x="8275320" y="329184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panel-14"/>
          <p:cNvSpPr/>
          <p:nvPr/>
        </p:nvSpPr>
        <p:spPr>
          <a:xfrm>
            <a:off x="7772400" y="370332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18" name="icon-circle-15"/>
          <p:cNvSpPr/>
          <p:nvPr/>
        </p:nvSpPr>
        <p:spPr>
          <a:xfrm>
            <a:off x="7955280" y="38633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icon-16" descr="Bo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4023360"/>
            <a:ext cx="320040" cy="320040"/>
          </a:xfrm>
          <a:prstGeom prst="rect">
            <a:avLst/>
          </a:prstGeom>
        </p:spPr>
      </p:pic>
      <p:sp>
        <p:nvSpPr>
          <p:cNvPr id="20" name="text-17"/>
          <p:cNvSpPr txBox="1"/>
          <p:nvPr/>
        </p:nvSpPr>
        <p:spPr>
          <a:xfrm>
            <a:off x="8778240" y="38587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AWS Lambda</a:t>
            </a:r>
            <a:endParaRPr lang="en-US" sz="1800" dirty="0"/>
          </a:p>
        </p:txBody>
      </p:sp>
      <p:sp>
        <p:nvSpPr>
          <p:cNvPr id="21" name="text-18"/>
          <p:cNvSpPr txBox="1"/>
          <p:nvPr/>
        </p:nvSpPr>
        <p:spPr>
          <a:xfrm>
            <a:off x="8778240" y="420624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Код без керування серверами</a:t>
            </a:r>
            <a:endParaRPr lang="en-US" sz="1400" dirty="0"/>
          </a:p>
        </p:txBody>
      </p:sp>
      <p:sp>
        <p:nvSpPr>
          <p:cNvPr id="22" name="arrow-19"/>
          <p:cNvSpPr/>
          <p:nvPr/>
        </p:nvSpPr>
        <p:spPr>
          <a:xfrm>
            <a:off x="8275320" y="4709160"/>
            <a:ext cx="0" cy="36576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panel-20"/>
          <p:cNvSpPr/>
          <p:nvPr/>
        </p:nvSpPr>
        <p:spPr>
          <a:xfrm>
            <a:off x="7772400" y="5120640"/>
            <a:ext cx="3840480" cy="96012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/>
        </p:spPr>
      </p:sp>
      <p:sp>
        <p:nvSpPr>
          <p:cNvPr id="24" name="icon-circle-21"/>
          <p:cNvSpPr/>
          <p:nvPr/>
        </p:nvSpPr>
        <p:spPr>
          <a:xfrm>
            <a:off x="7955280" y="52806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-22" descr="Databas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5440680"/>
            <a:ext cx="320040" cy="320040"/>
          </a:xfrm>
          <a:prstGeom prst="rect">
            <a:avLst/>
          </a:prstGeom>
        </p:spPr>
      </p:pic>
      <p:sp>
        <p:nvSpPr>
          <p:cNvPr id="26" name="text-23"/>
          <p:cNvSpPr txBox="1"/>
          <p:nvPr/>
        </p:nvSpPr>
        <p:spPr>
          <a:xfrm>
            <a:off x="8778240" y="527608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DynamoDB</a:t>
            </a:r>
            <a:endParaRPr lang="en-US" sz="1800" dirty="0"/>
          </a:p>
        </p:txBody>
      </p:sp>
      <p:sp>
        <p:nvSpPr>
          <p:cNvPr id="27" name="text-24"/>
          <p:cNvSpPr txBox="1"/>
          <p:nvPr/>
        </p:nvSpPr>
        <p:spPr>
          <a:xfrm>
            <a:off x="8778240" y="56235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NoSQL-база даних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Навіщо потрібен API Gateway</a:t>
            </a:r>
            <a:endParaRPr lang="en-US" sz="3400" dirty="0"/>
          </a:p>
        </p:txBody>
      </p:sp>
      <p:sp>
        <p:nvSpPr>
          <p:cNvPr id="3" name="panel-25"/>
          <p:cNvSpPr/>
          <p:nvPr/>
        </p:nvSpPr>
        <p:spPr>
          <a:xfrm>
            <a:off x="548640" y="1463040"/>
            <a:ext cx="4114800" cy="27432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-circle-26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27" descr="ConciergeBell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97380"/>
            <a:ext cx="320040" cy="320040"/>
          </a:xfrm>
          <a:prstGeom prst="rect">
            <a:avLst/>
          </a:prstGeom>
        </p:spPr>
      </p:pic>
      <p:sp>
        <p:nvSpPr>
          <p:cNvPr id="6" name="text-28"/>
          <p:cNvSpPr txBox="1"/>
          <p:nvPr/>
        </p:nvSpPr>
        <p:spPr>
          <a:xfrm>
            <a:off x="1645920" y="1737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Аналогія: рецепція готелю</a:t>
            </a:r>
            <a:endParaRPr lang="en-US" sz="1800" dirty="0"/>
          </a:p>
        </p:txBody>
      </p:sp>
      <p:sp>
        <p:nvSpPr>
          <p:cNvPr id="7" name="text-29"/>
          <p:cNvSpPr txBox="1"/>
          <p:nvPr/>
        </p:nvSpPr>
        <p:spPr>
          <a:xfrm>
            <a:off x="822960" y="256032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Гість не йде одразу на кухню чи в номери: рецепція перевіряє документи, направляє до потрібної служби й не пускає забагато людей одразу.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API Gateway робить те саме для вашого бекенду.</a:t>
            </a:r>
            <a:endParaRPr lang="en-US" sz="1500" dirty="0"/>
          </a:p>
        </p:txBody>
      </p:sp>
      <p:sp>
        <p:nvSpPr>
          <p:cNvPr id="8" name="panel-30"/>
          <p:cNvSpPr/>
          <p:nvPr/>
        </p:nvSpPr>
        <p:spPr>
          <a:xfrm>
            <a:off x="4937760" y="1463040"/>
            <a:ext cx="173736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-circle-31"/>
          <p:cNvSpPr/>
          <p:nvPr/>
        </p:nvSpPr>
        <p:spPr>
          <a:xfrm>
            <a:off x="507492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32" descr="Glob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9220" y="1714500"/>
            <a:ext cx="228600" cy="228600"/>
          </a:xfrm>
          <a:prstGeom prst="rect">
            <a:avLst/>
          </a:prstGeom>
        </p:spPr>
      </p:pic>
      <p:sp>
        <p:nvSpPr>
          <p:cNvPr id="11" name="text-33"/>
          <p:cNvSpPr txBox="1"/>
          <p:nvPr/>
        </p:nvSpPr>
        <p:spPr>
          <a:xfrm>
            <a:off x="5669280" y="14630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Web</a:t>
            </a:r>
            <a:endParaRPr lang="en-US" sz="1400" dirty="0"/>
          </a:p>
        </p:txBody>
      </p:sp>
      <p:sp>
        <p:nvSpPr>
          <p:cNvPr id="12" name="arrow-34"/>
          <p:cNvSpPr/>
          <p:nvPr/>
        </p:nvSpPr>
        <p:spPr>
          <a:xfrm>
            <a:off x="6720840" y="1828800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panel-35"/>
          <p:cNvSpPr/>
          <p:nvPr/>
        </p:nvSpPr>
        <p:spPr>
          <a:xfrm>
            <a:off x="4937760" y="2468880"/>
            <a:ext cx="173736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-circle-36"/>
          <p:cNvSpPr/>
          <p:nvPr/>
        </p:nvSpPr>
        <p:spPr>
          <a:xfrm>
            <a:off x="5074920" y="2606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37" descr="MobileA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220" y="2720340"/>
            <a:ext cx="228600" cy="228600"/>
          </a:xfrm>
          <a:prstGeom prst="rect">
            <a:avLst/>
          </a:prstGeom>
        </p:spPr>
      </p:pic>
      <p:sp>
        <p:nvSpPr>
          <p:cNvPr id="16" name="text-38"/>
          <p:cNvSpPr txBox="1"/>
          <p:nvPr/>
        </p:nvSpPr>
        <p:spPr>
          <a:xfrm>
            <a:off x="5669280" y="246888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Mobile</a:t>
            </a:r>
            <a:endParaRPr lang="en-US" sz="1400" dirty="0"/>
          </a:p>
        </p:txBody>
      </p:sp>
      <p:sp>
        <p:nvSpPr>
          <p:cNvPr id="17" name="arrow-39"/>
          <p:cNvSpPr/>
          <p:nvPr/>
        </p:nvSpPr>
        <p:spPr>
          <a:xfrm>
            <a:off x="6720840" y="2834640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panel-40"/>
          <p:cNvSpPr/>
          <p:nvPr/>
        </p:nvSpPr>
        <p:spPr>
          <a:xfrm>
            <a:off x="4937760" y="3474720"/>
            <a:ext cx="1737360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-circle-41"/>
          <p:cNvSpPr/>
          <p:nvPr/>
        </p:nvSpPr>
        <p:spPr>
          <a:xfrm>
            <a:off x="5074920" y="3611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42" descr="Microchip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9220" y="3726180"/>
            <a:ext cx="228600" cy="228600"/>
          </a:xfrm>
          <a:prstGeom prst="rect">
            <a:avLst/>
          </a:prstGeom>
        </p:spPr>
      </p:pic>
      <p:sp>
        <p:nvSpPr>
          <p:cNvPr id="21" name="text-43"/>
          <p:cNvSpPr txBox="1"/>
          <p:nvPr/>
        </p:nvSpPr>
        <p:spPr>
          <a:xfrm>
            <a:off x="5669280" y="347472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IoT</a:t>
            </a:r>
            <a:endParaRPr lang="en-US" sz="1400" dirty="0"/>
          </a:p>
        </p:txBody>
      </p:sp>
      <p:sp>
        <p:nvSpPr>
          <p:cNvPr id="22" name="arrow-44"/>
          <p:cNvSpPr/>
          <p:nvPr/>
        </p:nvSpPr>
        <p:spPr>
          <a:xfrm>
            <a:off x="6720840" y="3840480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panel-45"/>
          <p:cNvSpPr/>
          <p:nvPr/>
        </p:nvSpPr>
        <p:spPr>
          <a:xfrm>
            <a:off x="7223760" y="146304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tx1"/>
          </a:solidFill>
          <a:ln/>
        </p:spPr>
      </p:sp>
      <p:sp>
        <p:nvSpPr>
          <p:cNvPr id="24" name="icon-circle-46"/>
          <p:cNvSpPr/>
          <p:nvPr/>
        </p:nvSpPr>
        <p:spPr>
          <a:xfrm>
            <a:off x="7726680" y="178308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con-47" descr="NetworkWired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2011680"/>
            <a:ext cx="457200" cy="457200"/>
          </a:xfrm>
          <a:prstGeom prst="rect">
            <a:avLst/>
          </a:prstGeom>
        </p:spPr>
      </p:pic>
      <p:sp>
        <p:nvSpPr>
          <p:cNvPr id="26" name="text-48"/>
          <p:cNvSpPr txBox="1"/>
          <p:nvPr/>
        </p:nvSpPr>
        <p:spPr>
          <a:xfrm>
            <a:off x="731520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API Gateway</a:t>
            </a:r>
            <a:endParaRPr lang="en-US" sz="1800" dirty="0"/>
          </a:p>
        </p:txBody>
      </p:sp>
      <p:sp>
        <p:nvSpPr>
          <p:cNvPr id="27" name="text-49"/>
          <p:cNvSpPr txBox="1"/>
          <p:nvPr/>
        </p:nvSpPr>
        <p:spPr>
          <a:xfrm>
            <a:off x="7315200" y="3337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один вхід для всіх</a:t>
            </a:r>
            <a:endParaRPr lang="en-US" sz="1400" dirty="0"/>
          </a:p>
        </p:txBody>
      </p:sp>
      <p:sp>
        <p:nvSpPr>
          <p:cNvPr id="28" name="arrow-50"/>
          <p:cNvSpPr/>
          <p:nvPr/>
        </p:nvSpPr>
        <p:spPr>
          <a:xfrm>
            <a:off x="9189720" y="1828800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9" name="panel-51"/>
          <p:cNvSpPr/>
          <p:nvPr/>
        </p:nvSpPr>
        <p:spPr>
          <a:xfrm>
            <a:off x="9692640" y="1463040"/>
            <a:ext cx="1950415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icon-circle-52"/>
          <p:cNvSpPr/>
          <p:nvPr/>
        </p:nvSpPr>
        <p:spPr>
          <a:xfrm>
            <a:off x="982980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icon-53" descr="Bolt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4100" y="1714500"/>
            <a:ext cx="228600" cy="228600"/>
          </a:xfrm>
          <a:prstGeom prst="rect">
            <a:avLst/>
          </a:prstGeom>
        </p:spPr>
      </p:pic>
      <p:sp>
        <p:nvSpPr>
          <p:cNvPr id="32" name="text-54"/>
          <p:cNvSpPr txBox="1"/>
          <p:nvPr/>
        </p:nvSpPr>
        <p:spPr>
          <a:xfrm>
            <a:off x="10424160" y="14630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Lambda</a:t>
            </a:r>
            <a:endParaRPr lang="en-US" sz="1400" dirty="0"/>
          </a:p>
        </p:txBody>
      </p:sp>
      <p:sp>
        <p:nvSpPr>
          <p:cNvPr id="33" name="arrow-55"/>
          <p:cNvSpPr/>
          <p:nvPr/>
        </p:nvSpPr>
        <p:spPr>
          <a:xfrm>
            <a:off x="9189720" y="2834640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4" name="panel-56"/>
          <p:cNvSpPr/>
          <p:nvPr/>
        </p:nvSpPr>
        <p:spPr>
          <a:xfrm>
            <a:off x="9692640" y="2468880"/>
            <a:ext cx="1950415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icon-circle-57"/>
          <p:cNvSpPr/>
          <p:nvPr/>
        </p:nvSpPr>
        <p:spPr>
          <a:xfrm>
            <a:off x="9829800" y="2606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icon-58" descr="Server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44100" y="2720340"/>
            <a:ext cx="228600" cy="228600"/>
          </a:xfrm>
          <a:prstGeom prst="rect">
            <a:avLst/>
          </a:prstGeom>
        </p:spPr>
      </p:pic>
      <p:sp>
        <p:nvSpPr>
          <p:cNvPr id="37" name="text-59"/>
          <p:cNvSpPr txBox="1"/>
          <p:nvPr/>
        </p:nvSpPr>
        <p:spPr>
          <a:xfrm>
            <a:off x="10424160" y="2468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EC2 / HTTP</a:t>
            </a:r>
            <a:endParaRPr lang="en-US" sz="1400" dirty="0"/>
          </a:p>
        </p:txBody>
      </p:sp>
      <p:sp>
        <p:nvSpPr>
          <p:cNvPr id="38" name="arrow-60"/>
          <p:cNvSpPr/>
          <p:nvPr/>
        </p:nvSpPr>
        <p:spPr>
          <a:xfrm>
            <a:off x="9189720" y="3840480"/>
            <a:ext cx="4572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9" name="panel-61"/>
          <p:cNvSpPr/>
          <p:nvPr/>
        </p:nvSpPr>
        <p:spPr>
          <a:xfrm>
            <a:off x="9692640" y="3474720"/>
            <a:ext cx="1950415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icon-circle-62"/>
          <p:cNvSpPr/>
          <p:nvPr/>
        </p:nvSpPr>
        <p:spPr>
          <a:xfrm>
            <a:off x="9829800" y="3611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1" name="icon-63" descr="Cloud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44100" y="3726180"/>
            <a:ext cx="228600" cy="228600"/>
          </a:xfrm>
          <a:prstGeom prst="rect">
            <a:avLst/>
          </a:prstGeom>
        </p:spPr>
      </p:pic>
      <p:sp>
        <p:nvSpPr>
          <p:cNvPr id="42" name="text-64"/>
          <p:cNvSpPr txBox="1"/>
          <p:nvPr/>
        </p:nvSpPr>
        <p:spPr>
          <a:xfrm>
            <a:off x="10424160" y="34747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AWS-сервіси</a:t>
            </a:r>
            <a:endParaRPr lang="en-US" sz="1400" dirty="0"/>
          </a:p>
        </p:txBody>
      </p:sp>
      <p:sp>
        <p:nvSpPr>
          <p:cNvPr id="43" name="text-65"/>
          <p:cNvSpPr txBox="1"/>
          <p:nvPr/>
        </p:nvSpPr>
        <p:spPr>
          <a:xfrm>
            <a:off x="548640" y="44074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Що вміє API Gateway</a:t>
            </a:r>
            <a:endParaRPr lang="en-US" sz="1600" dirty="0"/>
          </a:p>
        </p:txBody>
      </p:sp>
      <p:sp>
        <p:nvSpPr>
          <p:cNvPr id="44" name="panel-66"/>
          <p:cNvSpPr/>
          <p:nvPr/>
        </p:nvSpPr>
        <p:spPr>
          <a:xfrm>
            <a:off x="548640" y="4754880"/>
            <a:ext cx="2109155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icon-circle-67"/>
          <p:cNvSpPr/>
          <p:nvPr/>
        </p:nvSpPr>
        <p:spPr>
          <a:xfrm>
            <a:off x="731520" y="4892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6" name="icon-68" descr="Rout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820" y="5006340"/>
            <a:ext cx="228600" cy="228600"/>
          </a:xfrm>
          <a:prstGeom prst="rect">
            <a:avLst/>
          </a:prstGeom>
        </p:spPr>
      </p:pic>
      <p:sp>
        <p:nvSpPr>
          <p:cNvPr id="47" name="text-69"/>
          <p:cNvSpPr txBox="1"/>
          <p:nvPr/>
        </p:nvSpPr>
        <p:spPr>
          <a:xfrm>
            <a:off x="731520" y="5440680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Маршрутизація</a:t>
            </a:r>
            <a:endParaRPr lang="en-US" sz="1600" dirty="0"/>
          </a:p>
        </p:txBody>
      </p:sp>
      <p:sp>
        <p:nvSpPr>
          <p:cNvPr id="48" name="text-70"/>
          <p:cNvSpPr txBox="1"/>
          <p:nvPr/>
        </p:nvSpPr>
        <p:spPr>
          <a:xfrm>
            <a:off x="731520" y="5733288"/>
            <a:ext cx="18348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Кожен шлях — до свого сервісу</a:t>
            </a:r>
            <a:endParaRPr lang="en-US" sz="1400" dirty="0"/>
          </a:p>
        </p:txBody>
      </p:sp>
      <p:sp>
        <p:nvSpPr>
          <p:cNvPr id="49" name="panel-71"/>
          <p:cNvSpPr/>
          <p:nvPr/>
        </p:nvSpPr>
        <p:spPr>
          <a:xfrm>
            <a:off x="2794955" y="4754880"/>
            <a:ext cx="2109155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0" name="icon-circle-72"/>
          <p:cNvSpPr/>
          <p:nvPr/>
        </p:nvSpPr>
        <p:spPr>
          <a:xfrm>
            <a:off x="2977835" y="4892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1" name="icon-73" descr="UserShield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92135" y="5006340"/>
            <a:ext cx="228600" cy="228600"/>
          </a:xfrm>
          <a:prstGeom prst="rect">
            <a:avLst/>
          </a:prstGeom>
        </p:spPr>
      </p:pic>
      <p:sp>
        <p:nvSpPr>
          <p:cNvPr id="52" name="text-74"/>
          <p:cNvSpPr txBox="1"/>
          <p:nvPr/>
        </p:nvSpPr>
        <p:spPr>
          <a:xfrm>
            <a:off x="2977835" y="5440680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Авторизація</a:t>
            </a:r>
            <a:endParaRPr lang="en-US" sz="1600" dirty="0"/>
          </a:p>
        </p:txBody>
      </p:sp>
      <p:sp>
        <p:nvSpPr>
          <p:cNvPr id="53" name="text-75"/>
          <p:cNvSpPr txBox="1"/>
          <p:nvPr/>
        </p:nvSpPr>
        <p:spPr>
          <a:xfrm>
            <a:off x="2977835" y="5733288"/>
            <a:ext cx="18348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Перевіряє ключі й токени</a:t>
            </a:r>
            <a:endParaRPr lang="en-US" sz="1400" dirty="0"/>
          </a:p>
        </p:txBody>
      </p:sp>
      <p:sp>
        <p:nvSpPr>
          <p:cNvPr id="54" name="panel-76"/>
          <p:cNvSpPr/>
          <p:nvPr/>
        </p:nvSpPr>
        <p:spPr>
          <a:xfrm>
            <a:off x="5041270" y="4754880"/>
            <a:ext cx="2109155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55" name="icon-circle-77"/>
          <p:cNvSpPr/>
          <p:nvPr/>
        </p:nvSpPr>
        <p:spPr>
          <a:xfrm>
            <a:off x="5224150" y="4892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6" name="icon-78" descr="TachometerAlt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8450" y="5006340"/>
            <a:ext cx="228600" cy="228600"/>
          </a:xfrm>
          <a:prstGeom prst="rect">
            <a:avLst/>
          </a:prstGeom>
        </p:spPr>
      </p:pic>
      <p:sp>
        <p:nvSpPr>
          <p:cNvPr id="57" name="text-79"/>
          <p:cNvSpPr txBox="1"/>
          <p:nvPr/>
        </p:nvSpPr>
        <p:spPr>
          <a:xfrm>
            <a:off x="5224150" y="5440680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Ліміти</a:t>
            </a:r>
            <a:endParaRPr lang="en-US" sz="1600" dirty="0"/>
          </a:p>
        </p:txBody>
      </p:sp>
      <p:sp>
        <p:nvSpPr>
          <p:cNvPr id="58" name="text-80"/>
          <p:cNvSpPr txBox="1"/>
          <p:nvPr/>
        </p:nvSpPr>
        <p:spPr>
          <a:xfrm>
            <a:off x="5224150" y="5733288"/>
            <a:ext cx="18348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Захист від перевантаження</a:t>
            </a:r>
            <a:endParaRPr lang="en-US" sz="1400" dirty="0"/>
          </a:p>
        </p:txBody>
      </p:sp>
      <p:sp>
        <p:nvSpPr>
          <p:cNvPr id="59" name="panel-81"/>
          <p:cNvSpPr/>
          <p:nvPr/>
        </p:nvSpPr>
        <p:spPr>
          <a:xfrm>
            <a:off x="7287585" y="4754880"/>
            <a:ext cx="2109155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0" name="icon-circle-82"/>
          <p:cNvSpPr/>
          <p:nvPr/>
        </p:nvSpPr>
        <p:spPr>
          <a:xfrm>
            <a:off x="7470465" y="4892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1" name="icon-83" descr="Memory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84765" y="5006340"/>
            <a:ext cx="228600" cy="228600"/>
          </a:xfrm>
          <a:prstGeom prst="rect">
            <a:avLst/>
          </a:prstGeom>
        </p:spPr>
      </p:pic>
      <p:sp>
        <p:nvSpPr>
          <p:cNvPr id="62" name="text-84"/>
          <p:cNvSpPr txBox="1"/>
          <p:nvPr/>
        </p:nvSpPr>
        <p:spPr>
          <a:xfrm>
            <a:off x="7470465" y="5440680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Кешування</a:t>
            </a:r>
            <a:endParaRPr lang="en-US" sz="1600" dirty="0"/>
          </a:p>
        </p:txBody>
      </p:sp>
      <p:sp>
        <p:nvSpPr>
          <p:cNvPr id="63" name="text-85"/>
          <p:cNvSpPr txBox="1"/>
          <p:nvPr/>
        </p:nvSpPr>
        <p:spPr>
          <a:xfrm>
            <a:off x="7470465" y="5733288"/>
            <a:ext cx="18348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Швидкі повторні відповіді</a:t>
            </a:r>
            <a:endParaRPr lang="en-US" sz="1400" dirty="0"/>
          </a:p>
        </p:txBody>
      </p:sp>
      <p:sp>
        <p:nvSpPr>
          <p:cNvPr id="64" name="panel-86"/>
          <p:cNvSpPr/>
          <p:nvPr/>
        </p:nvSpPr>
        <p:spPr>
          <a:xfrm>
            <a:off x="9533900" y="4754880"/>
            <a:ext cx="2109155" cy="1554480"/>
          </a:xfrm>
          <a:prstGeom prst="roundRect">
            <a:avLst>
              <a:gd name="adj" fmla="val 7059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5" name="icon-circle-87"/>
          <p:cNvSpPr/>
          <p:nvPr/>
        </p:nvSpPr>
        <p:spPr>
          <a:xfrm>
            <a:off x="9716780" y="4892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6" name="icon-88" descr="ChartLine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31080" y="5006340"/>
            <a:ext cx="228600" cy="228600"/>
          </a:xfrm>
          <a:prstGeom prst="rect">
            <a:avLst/>
          </a:prstGeom>
        </p:spPr>
      </p:pic>
      <p:sp>
        <p:nvSpPr>
          <p:cNvPr id="67" name="text-89"/>
          <p:cNvSpPr txBox="1"/>
          <p:nvPr/>
        </p:nvSpPr>
        <p:spPr>
          <a:xfrm>
            <a:off x="9716780" y="5440680"/>
            <a:ext cx="18348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Моніторинг</a:t>
            </a:r>
            <a:endParaRPr lang="en-US" sz="1600" dirty="0"/>
          </a:p>
        </p:txBody>
      </p:sp>
      <p:sp>
        <p:nvSpPr>
          <p:cNvPr id="68" name="text-90"/>
          <p:cNvSpPr txBox="1"/>
          <p:nvPr/>
        </p:nvSpPr>
        <p:spPr>
          <a:xfrm>
            <a:off x="9716780" y="5733288"/>
            <a:ext cx="18348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Логи й метрики в CloudWatch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Три типи API: REST, HTTP, WebSocket</a:t>
            </a:r>
            <a:endParaRPr lang="en-US" sz="3400" dirty="0"/>
          </a:p>
        </p:txBody>
      </p:sp>
      <p:sp>
        <p:nvSpPr>
          <p:cNvPr id="3" name="panel-91"/>
          <p:cNvSpPr/>
          <p:nvPr/>
        </p:nvSpPr>
        <p:spPr>
          <a:xfrm>
            <a:off x="548640" y="1463040"/>
            <a:ext cx="3576218" cy="3840480"/>
          </a:xfrm>
          <a:prstGeom prst="roundRect">
            <a:avLst>
              <a:gd name="adj" fmla="val 3068"/>
            </a:avLst>
          </a:prstGeom>
          <a:solidFill>
            <a:schemeClr val="tx2"/>
          </a:solidFill>
          <a:ln/>
        </p:spPr>
      </p:sp>
      <p:sp>
        <p:nvSpPr>
          <p:cNvPr id="4" name="icon-circle-9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93" descr="Cog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920240"/>
            <a:ext cx="365760" cy="365760"/>
          </a:xfrm>
          <a:prstGeom prst="rect">
            <a:avLst/>
          </a:prstGeom>
        </p:spPr>
      </p:pic>
      <p:sp>
        <p:nvSpPr>
          <p:cNvPr id="6" name="text-94"/>
          <p:cNvSpPr txBox="1"/>
          <p:nvPr/>
        </p:nvSpPr>
        <p:spPr>
          <a:xfrm>
            <a:off x="822960" y="26974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REST API</a:t>
            </a:r>
            <a:endParaRPr lang="en-US" sz="2600" dirty="0"/>
          </a:p>
        </p:txBody>
      </p:sp>
      <p:sp>
        <p:nvSpPr>
          <p:cNvPr id="7" name="text-95"/>
          <p:cNvSpPr txBox="1"/>
          <p:nvPr/>
        </p:nvSpPr>
        <p:spPr>
          <a:xfrm>
            <a:off x="822960" y="320040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Максимум можливостей</a:t>
            </a:r>
            <a:endParaRPr lang="en-US" sz="1600" dirty="0"/>
          </a:p>
        </p:txBody>
      </p:sp>
      <p:sp>
        <p:nvSpPr>
          <p:cNvPr id="8" name="text-96"/>
          <p:cNvSpPr txBox="1"/>
          <p:nvPr/>
        </p:nvSpPr>
        <p:spPr>
          <a:xfrm>
            <a:off x="822960" y="3703320"/>
            <a:ext cx="3027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API-ключі та usage plans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Кешування й валідація запитів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Інтеграція з WAF, Cognito, IAM</a:t>
            </a:r>
            <a:endParaRPr lang="en-US" sz="1500" dirty="0"/>
          </a:p>
        </p:txBody>
      </p:sp>
      <p:sp>
        <p:nvSpPr>
          <p:cNvPr id="9" name="panel-97"/>
          <p:cNvSpPr/>
          <p:nvPr/>
        </p:nvSpPr>
        <p:spPr>
          <a:xfrm>
            <a:off x="4307738" y="1463040"/>
            <a:ext cx="3576218" cy="3840480"/>
          </a:xfrm>
          <a:prstGeom prst="roundRect">
            <a:avLst>
              <a:gd name="adj" fmla="val 3068"/>
            </a:avLst>
          </a:prstGeom>
          <a:solidFill>
            <a:schemeClr val="tx2"/>
          </a:solidFill>
          <a:ln/>
        </p:spPr>
      </p:sp>
      <p:sp>
        <p:nvSpPr>
          <p:cNvPr id="10" name="icon-circle-98"/>
          <p:cNvSpPr/>
          <p:nvPr/>
        </p:nvSpPr>
        <p:spPr>
          <a:xfrm>
            <a:off x="4582058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99" descr="Rocke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938" y="1920240"/>
            <a:ext cx="365760" cy="365760"/>
          </a:xfrm>
          <a:prstGeom prst="rect">
            <a:avLst/>
          </a:prstGeom>
        </p:spPr>
      </p:pic>
      <p:sp>
        <p:nvSpPr>
          <p:cNvPr id="12" name="text-100"/>
          <p:cNvSpPr txBox="1"/>
          <p:nvPr/>
        </p:nvSpPr>
        <p:spPr>
          <a:xfrm>
            <a:off x="4582058" y="26974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HTTP API</a:t>
            </a:r>
            <a:endParaRPr lang="en-US" sz="2600" dirty="0"/>
          </a:p>
        </p:txBody>
      </p:sp>
      <p:sp>
        <p:nvSpPr>
          <p:cNvPr id="13" name="text-101"/>
          <p:cNvSpPr txBox="1"/>
          <p:nvPr/>
        </p:nvSpPr>
        <p:spPr>
          <a:xfrm>
            <a:off x="4582058" y="320040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Просто, швидко, дешевше</a:t>
            </a:r>
            <a:endParaRPr lang="en-US" sz="1600" dirty="0"/>
          </a:p>
        </p:txBody>
      </p:sp>
      <p:sp>
        <p:nvSpPr>
          <p:cNvPr id="14" name="text-102"/>
          <p:cNvSpPr txBox="1"/>
          <p:nvPr/>
        </p:nvSpPr>
        <p:spPr>
          <a:xfrm>
            <a:off x="4582058" y="3703320"/>
            <a:ext cx="3027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Менша ціна й затримка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JWT-авторизація, CORS «з коробки»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Без API-ключів і кешування</a:t>
            </a:r>
            <a:endParaRPr lang="en-US" sz="1500" dirty="0"/>
          </a:p>
        </p:txBody>
      </p:sp>
      <p:sp>
        <p:nvSpPr>
          <p:cNvPr id="15" name="panel-103"/>
          <p:cNvSpPr/>
          <p:nvPr/>
        </p:nvSpPr>
        <p:spPr>
          <a:xfrm>
            <a:off x="8066837" y="1463040"/>
            <a:ext cx="3576218" cy="3840480"/>
          </a:xfrm>
          <a:prstGeom prst="roundRect">
            <a:avLst>
              <a:gd name="adj" fmla="val 3068"/>
            </a:avLst>
          </a:prstGeom>
          <a:solidFill>
            <a:schemeClr val="tx2"/>
          </a:solidFill>
          <a:ln/>
        </p:spPr>
      </p:sp>
      <p:sp>
        <p:nvSpPr>
          <p:cNvPr id="16" name="icon-circle-104"/>
          <p:cNvSpPr/>
          <p:nvPr/>
        </p:nvSpPr>
        <p:spPr>
          <a:xfrm>
            <a:off x="8341157" y="17373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105" descr="ExchangeA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1920240"/>
            <a:ext cx="365760" cy="365760"/>
          </a:xfrm>
          <a:prstGeom prst="rect">
            <a:avLst/>
          </a:prstGeom>
        </p:spPr>
      </p:pic>
      <p:sp>
        <p:nvSpPr>
          <p:cNvPr id="18" name="text-106"/>
          <p:cNvSpPr txBox="1"/>
          <p:nvPr/>
        </p:nvSpPr>
        <p:spPr>
          <a:xfrm>
            <a:off x="8341157" y="2697480"/>
            <a:ext cx="3027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WebSocket API</a:t>
            </a:r>
            <a:endParaRPr lang="en-US" sz="2600" dirty="0"/>
          </a:p>
        </p:txBody>
      </p:sp>
      <p:sp>
        <p:nvSpPr>
          <p:cNvPr id="19" name="text-107"/>
          <p:cNvSpPr txBox="1"/>
          <p:nvPr/>
        </p:nvSpPr>
        <p:spPr>
          <a:xfrm>
            <a:off x="8341157" y="3200400"/>
            <a:ext cx="3027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Двосторонній зв'язок</a:t>
            </a:r>
            <a:endParaRPr lang="en-US" sz="1600" dirty="0"/>
          </a:p>
        </p:txBody>
      </p:sp>
      <p:sp>
        <p:nvSpPr>
          <p:cNvPr id="20" name="text-108"/>
          <p:cNvSpPr txBox="1"/>
          <p:nvPr/>
        </p:nvSpPr>
        <p:spPr>
          <a:xfrm>
            <a:off x="8341157" y="3703320"/>
            <a:ext cx="302757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Постійне з'єднання з клієнтом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Чати, сповіщення, онлайн-ігри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Маршрути $connect, $disconnect</a:t>
            </a:r>
            <a:endParaRPr lang="en-US" sz="1500" dirty="0"/>
          </a:p>
        </p:txBody>
      </p:sp>
      <p:sp>
        <p:nvSpPr>
          <p:cNvPr id="21" name="panel-109"/>
          <p:cNvSpPr/>
          <p:nvPr/>
        </p:nvSpPr>
        <p:spPr>
          <a:xfrm>
            <a:off x="548640" y="553212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22" name="text-110"/>
          <p:cNvSpPr txBox="1"/>
          <p:nvPr/>
        </p:nvSpPr>
        <p:spPr>
          <a:xfrm>
            <a:off x="822960" y="5532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На практиці працюємо з REST API: на ньому видно всі можливості — ключі, ліміти й кеш.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7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Створюємо та публікуємо REST API</a:t>
            </a:r>
            <a:endParaRPr lang="en-US" sz="3400" dirty="0"/>
          </a:p>
        </p:txBody>
      </p:sp>
      <p:sp>
        <p:nvSpPr>
          <p:cNvPr id="3" name="panel-111"/>
          <p:cNvSpPr/>
          <p:nvPr/>
        </p:nvSpPr>
        <p:spPr>
          <a:xfrm>
            <a:off x="548640" y="1417320"/>
            <a:ext cx="2014057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num-112"/>
          <p:cNvSpPr txBox="1"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-113"/>
          <p:cNvSpPr txBox="1"/>
          <p:nvPr/>
        </p:nvSpPr>
        <p:spPr>
          <a:xfrm>
            <a:off x="731520" y="2194560"/>
            <a:ext cx="1739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Create API</a:t>
            </a:r>
            <a:endParaRPr lang="en-US" sz="1700" dirty="0"/>
          </a:p>
        </p:txBody>
      </p:sp>
      <p:sp>
        <p:nvSpPr>
          <p:cNvPr id="6" name="text-114"/>
          <p:cNvSpPr txBox="1"/>
          <p:nvPr/>
        </p:nvSpPr>
        <p:spPr>
          <a:xfrm>
            <a:off x="731520" y="2560320"/>
            <a:ext cx="173973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Тип REST, Regional</a:t>
            </a:r>
            <a:endParaRPr lang="en-US" sz="1400" dirty="0"/>
          </a:p>
        </p:txBody>
      </p:sp>
      <p:sp>
        <p:nvSpPr>
          <p:cNvPr id="7" name="arrow-115"/>
          <p:cNvSpPr/>
          <p:nvPr/>
        </p:nvSpPr>
        <p:spPr>
          <a:xfrm>
            <a:off x="2580985" y="2304288"/>
            <a:ext cx="21945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8" name="panel-116"/>
          <p:cNvSpPr/>
          <p:nvPr/>
        </p:nvSpPr>
        <p:spPr>
          <a:xfrm>
            <a:off x="2818729" y="1417320"/>
            <a:ext cx="2014057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um-117"/>
          <p:cNvSpPr txBox="1"/>
          <p:nvPr/>
        </p:nvSpPr>
        <p:spPr>
          <a:xfrm>
            <a:off x="3001609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-118"/>
          <p:cNvSpPr txBox="1"/>
          <p:nvPr/>
        </p:nvSpPr>
        <p:spPr>
          <a:xfrm>
            <a:off x="3001609" y="2194560"/>
            <a:ext cx="1739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Resource</a:t>
            </a:r>
            <a:endParaRPr lang="en-US" sz="1700" dirty="0"/>
          </a:p>
        </p:txBody>
      </p:sp>
      <p:sp>
        <p:nvSpPr>
          <p:cNvPr id="11" name="text-119"/>
          <p:cNvSpPr txBox="1"/>
          <p:nvPr/>
        </p:nvSpPr>
        <p:spPr>
          <a:xfrm>
            <a:off x="3001609" y="2560320"/>
            <a:ext cx="173973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Шлях, наприклад /items</a:t>
            </a:r>
            <a:endParaRPr lang="en-US" sz="1400" dirty="0"/>
          </a:p>
        </p:txBody>
      </p:sp>
      <p:sp>
        <p:nvSpPr>
          <p:cNvPr id="12" name="arrow-120"/>
          <p:cNvSpPr/>
          <p:nvPr/>
        </p:nvSpPr>
        <p:spPr>
          <a:xfrm>
            <a:off x="4851075" y="2304288"/>
            <a:ext cx="21945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3" name="panel-121"/>
          <p:cNvSpPr/>
          <p:nvPr/>
        </p:nvSpPr>
        <p:spPr>
          <a:xfrm>
            <a:off x="5088819" y="1417320"/>
            <a:ext cx="2014057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num-122"/>
          <p:cNvSpPr txBox="1"/>
          <p:nvPr/>
        </p:nvSpPr>
        <p:spPr>
          <a:xfrm>
            <a:off x="5271699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-123"/>
          <p:cNvSpPr txBox="1"/>
          <p:nvPr/>
        </p:nvSpPr>
        <p:spPr>
          <a:xfrm>
            <a:off x="5271699" y="2194560"/>
            <a:ext cx="1739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Method</a:t>
            </a:r>
            <a:endParaRPr lang="en-US" sz="1700" dirty="0"/>
          </a:p>
        </p:txBody>
      </p:sp>
      <p:sp>
        <p:nvSpPr>
          <p:cNvPr id="16" name="text-124"/>
          <p:cNvSpPr txBox="1"/>
          <p:nvPr/>
        </p:nvSpPr>
        <p:spPr>
          <a:xfrm>
            <a:off x="5271699" y="2560320"/>
            <a:ext cx="173973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GET, POST… для ресурсу</a:t>
            </a:r>
            <a:endParaRPr lang="en-US" sz="1400" dirty="0"/>
          </a:p>
        </p:txBody>
      </p:sp>
      <p:sp>
        <p:nvSpPr>
          <p:cNvPr id="17" name="arrow-125"/>
          <p:cNvSpPr/>
          <p:nvPr/>
        </p:nvSpPr>
        <p:spPr>
          <a:xfrm>
            <a:off x="7121164" y="2304288"/>
            <a:ext cx="21945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8" name="panel-126"/>
          <p:cNvSpPr/>
          <p:nvPr/>
        </p:nvSpPr>
        <p:spPr>
          <a:xfrm>
            <a:off x="7358908" y="1417320"/>
            <a:ext cx="2014057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num-127"/>
          <p:cNvSpPr txBox="1"/>
          <p:nvPr/>
        </p:nvSpPr>
        <p:spPr>
          <a:xfrm>
            <a:off x="7541788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-128"/>
          <p:cNvSpPr txBox="1"/>
          <p:nvPr/>
        </p:nvSpPr>
        <p:spPr>
          <a:xfrm>
            <a:off x="7541788" y="2194560"/>
            <a:ext cx="1739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Integration</a:t>
            </a:r>
            <a:endParaRPr lang="en-US" sz="1700" dirty="0"/>
          </a:p>
        </p:txBody>
      </p:sp>
      <p:sp>
        <p:nvSpPr>
          <p:cNvPr id="21" name="text-129"/>
          <p:cNvSpPr txBox="1"/>
          <p:nvPr/>
        </p:nvSpPr>
        <p:spPr>
          <a:xfrm>
            <a:off x="7541788" y="2560320"/>
            <a:ext cx="173973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Куди йде запит: Lambda</a:t>
            </a:r>
            <a:endParaRPr lang="en-US" sz="1400" dirty="0"/>
          </a:p>
        </p:txBody>
      </p:sp>
      <p:sp>
        <p:nvSpPr>
          <p:cNvPr id="22" name="arrow-130"/>
          <p:cNvSpPr/>
          <p:nvPr/>
        </p:nvSpPr>
        <p:spPr>
          <a:xfrm>
            <a:off x="9391254" y="2304288"/>
            <a:ext cx="219456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panel-131"/>
          <p:cNvSpPr/>
          <p:nvPr/>
        </p:nvSpPr>
        <p:spPr>
          <a:xfrm>
            <a:off x="9628998" y="1417320"/>
            <a:ext cx="2014057" cy="178308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num-132"/>
          <p:cNvSpPr txBox="1"/>
          <p:nvPr/>
        </p:nvSpPr>
        <p:spPr>
          <a:xfrm>
            <a:off x="9811878" y="16002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-133"/>
          <p:cNvSpPr txBox="1"/>
          <p:nvPr/>
        </p:nvSpPr>
        <p:spPr>
          <a:xfrm>
            <a:off x="9811878" y="2194560"/>
            <a:ext cx="173973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Deploy</a:t>
            </a:r>
            <a:endParaRPr lang="en-US" sz="1700" dirty="0"/>
          </a:p>
        </p:txBody>
      </p:sp>
      <p:sp>
        <p:nvSpPr>
          <p:cNvPr id="26" name="text-134"/>
          <p:cNvSpPr txBox="1"/>
          <p:nvPr/>
        </p:nvSpPr>
        <p:spPr>
          <a:xfrm>
            <a:off x="9811878" y="2560320"/>
            <a:ext cx="173973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Публікація в stage prod</a:t>
            </a:r>
            <a:endParaRPr lang="en-US" sz="1400" dirty="0"/>
          </a:p>
        </p:txBody>
      </p:sp>
      <p:sp>
        <p:nvSpPr>
          <p:cNvPr id="27" name="panel-135"/>
          <p:cNvSpPr/>
          <p:nvPr/>
        </p:nvSpPr>
        <p:spPr>
          <a:xfrm>
            <a:off x="548640" y="3474720"/>
            <a:ext cx="7040880" cy="2834640"/>
          </a:xfrm>
          <a:prstGeom prst="roundRect">
            <a:avLst>
              <a:gd name="adj" fmla="val 3871"/>
            </a:avLst>
          </a:prstGeom>
          <a:solidFill>
            <a:schemeClr val="tx1"/>
          </a:solidFill>
          <a:ln/>
        </p:spPr>
      </p:sp>
      <p:sp>
        <p:nvSpPr>
          <p:cNvPr id="28" name="text-136"/>
          <p:cNvSpPr txBox="1"/>
          <p:nvPr/>
        </p:nvSpPr>
        <p:spPr>
          <a:xfrm>
            <a:off x="822960" y="3639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Те саме через AWS CLI</a:t>
            </a:r>
            <a:endParaRPr lang="en-US" sz="1400" dirty="0"/>
          </a:p>
        </p:txBody>
      </p:sp>
      <p:sp>
        <p:nvSpPr>
          <p:cNvPr id="29" name="text-137"/>
          <p:cNvSpPr txBox="1"/>
          <p:nvPr/>
        </p:nvSpPr>
        <p:spPr>
          <a:xfrm>
            <a:off x="822960" y="402336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apigateway create-rest-api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--name items-api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apigateway create-resource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--rest-api-id $API --parent-id $ROOT --path-part items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apigateway put-method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--rest-api-id $API --resource-id $RES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--http-method GET --authorization-type NONE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aws apigateway create-deployment \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--rest-api-id $API --stage-name prod</a:t>
            </a:r>
            <a:endParaRPr lang="en-US" sz="1300" dirty="0"/>
          </a:p>
        </p:txBody>
      </p:sp>
      <p:sp>
        <p:nvSpPr>
          <p:cNvPr id="30" name="panel-138"/>
          <p:cNvSpPr/>
          <p:nvPr/>
        </p:nvSpPr>
        <p:spPr>
          <a:xfrm>
            <a:off x="7863840" y="3474720"/>
            <a:ext cx="3779215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-139"/>
          <p:cNvSpPr txBox="1"/>
          <p:nvPr/>
        </p:nvSpPr>
        <p:spPr>
          <a:xfrm>
            <a:off x="8138160" y="36301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Stage — «зліпок» API</a:t>
            </a:r>
            <a:endParaRPr lang="en-US" sz="1600" dirty="0"/>
          </a:p>
        </p:txBody>
      </p:sp>
      <p:sp>
        <p:nvSpPr>
          <p:cNvPr id="32" name="text-140"/>
          <p:cNvSpPr txBox="1"/>
          <p:nvPr/>
        </p:nvSpPr>
        <p:spPr>
          <a:xfrm>
            <a:off x="8138160" y="39776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Зміни діють лише після Deploy. Stage-и: dev, test, prod.</a:t>
            </a:r>
            <a:endParaRPr lang="en-US" sz="1400" dirty="0"/>
          </a:p>
        </p:txBody>
      </p:sp>
      <p:sp>
        <p:nvSpPr>
          <p:cNvPr id="33" name="panel-141"/>
          <p:cNvSpPr/>
          <p:nvPr/>
        </p:nvSpPr>
        <p:spPr>
          <a:xfrm>
            <a:off x="7863840" y="4983480"/>
            <a:ext cx="3779215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-142"/>
          <p:cNvSpPr txBox="1"/>
          <p:nvPr/>
        </p:nvSpPr>
        <p:spPr>
          <a:xfrm>
            <a:off x="8138160" y="51389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Адреса опублікованого API</a:t>
            </a:r>
            <a:endParaRPr lang="en-US" sz="1600" dirty="0"/>
          </a:p>
        </p:txBody>
      </p:sp>
      <p:sp>
        <p:nvSpPr>
          <p:cNvPr id="35" name="text-143"/>
          <p:cNvSpPr txBox="1"/>
          <p:nvPr/>
        </p:nvSpPr>
        <p:spPr>
          <a:xfrm>
            <a:off x="8138160" y="550468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https://{api-id}.execute-api.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{region}.amazonaws.com/prod/items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Як HTTP-запит потрапляє в Lambda</a:t>
            </a:r>
            <a:endParaRPr lang="en-US" sz="3400" dirty="0"/>
          </a:p>
        </p:txBody>
      </p:sp>
      <p:sp>
        <p:nvSpPr>
          <p:cNvPr id="3" name="panel-144"/>
          <p:cNvSpPr/>
          <p:nvPr/>
        </p:nvSpPr>
        <p:spPr>
          <a:xfrm>
            <a:off x="548640" y="141732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4" name="icon-circle-145"/>
          <p:cNvSpPr/>
          <p:nvPr/>
        </p:nvSpPr>
        <p:spPr>
          <a:xfrm>
            <a:off x="73152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146" descr="Glob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805940"/>
            <a:ext cx="320040" cy="320040"/>
          </a:xfrm>
          <a:prstGeom prst="rect">
            <a:avLst/>
          </a:prstGeom>
        </p:spPr>
      </p:pic>
      <p:sp>
        <p:nvSpPr>
          <p:cNvPr id="6" name="text-147"/>
          <p:cNvSpPr txBox="1"/>
          <p:nvPr/>
        </p:nvSpPr>
        <p:spPr>
          <a:xfrm>
            <a:off x="1554480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HTTP-запит</a:t>
            </a:r>
            <a:endParaRPr lang="en-US" sz="1800" dirty="0"/>
          </a:p>
        </p:txBody>
      </p:sp>
      <p:sp>
        <p:nvSpPr>
          <p:cNvPr id="7" name="text-148"/>
          <p:cNvSpPr txBox="1"/>
          <p:nvPr/>
        </p:nvSpPr>
        <p:spPr>
          <a:xfrm>
            <a:off x="1554480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POST /items/42</a:t>
            </a:r>
            <a:endParaRPr lang="en-US" sz="1400" dirty="0"/>
          </a:p>
        </p:txBody>
      </p:sp>
      <p:sp>
        <p:nvSpPr>
          <p:cNvPr id="8" name="arrow-149"/>
          <p:cNvSpPr/>
          <p:nvPr/>
        </p:nvSpPr>
        <p:spPr>
          <a:xfrm>
            <a:off x="3840480" y="1965960"/>
            <a:ext cx="56372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panel-150"/>
          <p:cNvSpPr/>
          <p:nvPr/>
        </p:nvSpPr>
        <p:spPr>
          <a:xfrm>
            <a:off x="4495648" y="141732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0" name="icon-circle-151"/>
          <p:cNvSpPr/>
          <p:nvPr/>
        </p:nvSpPr>
        <p:spPr>
          <a:xfrm>
            <a:off x="4678528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152" descr="NetworkWire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548" y="1805940"/>
            <a:ext cx="320040" cy="320040"/>
          </a:xfrm>
          <a:prstGeom prst="rect">
            <a:avLst/>
          </a:prstGeom>
        </p:spPr>
      </p:pic>
      <p:sp>
        <p:nvSpPr>
          <p:cNvPr id="12" name="text-153"/>
          <p:cNvSpPr txBox="1"/>
          <p:nvPr/>
        </p:nvSpPr>
        <p:spPr>
          <a:xfrm>
            <a:off x="5501488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API Gateway</a:t>
            </a:r>
            <a:endParaRPr lang="en-US" sz="1800" dirty="0"/>
          </a:p>
        </p:txBody>
      </p:sp>
      <p:sp>
        <p:nvSpPr>
          <p:cNvPr id="13" name="text-154"/>
          <p:cNvSpPr txBox="1"/>
          <p:nvPr/>
        </p:nvSpPr>
        <p:spPr>
          <a:xfrm>
            <a:off x="5501488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Lambda proxy integration</a:t>
            </a:r>
            <a:endParaRPr lang="en-US" sz="1400" dirty="0"/>
          </a:p>
        </p:txBody>
      </p:sp>
      <p:sp>
        <p:nvSpPr>
          <p:cNvPr id="14" name="arrow-155"/>
          <p:cNvSpPr/>
          <p:nvPr/>
        </p:nvSpPr>
        <p:spPr>
          <a:xfrm>
            <a:off x="7787488" y="1965960"/>
            <a:ext cx="56372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panel-156"/>
          <p:cNvSpPr/>
          <p:nvPr/>
        </p:nvSpPr>
        <p:spPr>
          <a:xfrm>
            <a:off x="8442655" y="1417320"/>
            <a:ext cx="320040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6" name="icon-circle-157"/>
          <p:cNvSpPr/>
          <p:nvPr/>
        </p:nvSpPr>
        <p:spPr>
          <a:xfrm>
            <a:off x="8625535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158" descr="Bo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555" y="1805940"/>
            <a:ext cx="320040" cy="320040"/>
          </a:xfrm>
          <a:prstGeom prst="rect">
            <a:avLst/>
          </a:prstGeom>
        </p:spPr>
      </p:pic>
      <p:sp>
        <p:nvSpPr>
          <p:cNvPr id="18" name="text-159"/>
          <p:cNvSpPr txBox="1"/>
          <p:nvPr/>
        </p:nvSpPr>
        <p:spPr>
          <a:xfrm>
            <a:off x="9448495" y="1600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Lambda</a:t>
            </a:r>
            <a:endParaRPr lang="en-US" sz="1800" dirty="0"/>
          </a:p>
        </p:txBody>
      </p:sp>
      <p:sp>
        <p:nvSpPr>
          <p:cNvPr id="19" name="text-160"/>
          <p:cNvSpPr txBox="1"/>
          <p:nvPr/>
        </p:nvSpPr>
        <p:spPr>
          <a:xfrm>
            <a:off x="9448495" y="1965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handler(event, context)</a:t>
            </a:r>
            <a:endParaRPr lang="en-US" sz="1400" dirty="0"/>
          </a:p>
        </p:txBody>
      </p:sp>
      <p:sp>
        <p:nvSpPr>
          <p:cNvPr id="20" name="panel-161"/>
          <p:cNvSpPr/>
          <p:nvPr/>
        </p:nvSpPr>
        <p:spPr>
          <a:xfrm>
            <a:off x="548640" y="2834640"/>
            <a:ext cx="4937760" cy="3474720"/>
          </a:xfrm>
          <a:prstGeom prst="roundRect">
            <a:avLst>
              <a:gd name="adj" fmla="val 3158"/>
            </a:avLst>
          </a:prstGeom>
          <a:solidFill>
            <a:schemeClr val="tx2"/>
          </a:solidFill>
          <a:ln/>
        </p:spPr>
      </p:sp>
      <p:sp>
        <p:nvSpPr>
          <p:cNvPr id="21" name="text-162"/>
          <p:cNvSpPr txBox="1"/>
          <p:nvPr/>
        </p:nvSpPr>
        <p:spPr>
          <a:xfrm>
            <a:off x="822960" y="3017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event — що отримує Lambda</a:t>
            </a:r>
            <a:endParaRPr lang="en-US" sz="1400" dirty="0"/>
          </a:p>
        </p:txBody>
      </p:sp>
      <p:sp>
        <p:nvSpPr>
          <p:cNvPr id="22" name="text-163"/>
          <p:cNvSpPr txBox="1"/>
          <p:nvPr/>
        </p:nvSpPr>
        <p:spPr>
          <a:xfrm>
            <a:off x="822960" y="3383280"/>
            <a:ext cx="44805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"httpMethod": "POST",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"path": "/items/42",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"pathParameters": {"id": "42"},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"queryStringParameters": {"lang": "uk"},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"headers": {"x-api-key": "..."},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"body": "{\"title\": \"Book\"}"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3" name="text-164"/>
          <p:cNvSpPr txBox="1"/>
          <p:nvPr/>
        </p:nvSpPr>
        <p:spPr>
          <a:xfrm>
            <a:off x="822960" y="53492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pathParameters — частини шляху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queryStringParameters — після «?»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body — тіло запиту, завжди рядок</a:t>
            </a:r>
            <a:endParaRPr lang="en-US" sz="1400" dirty="0"/>
          </a:p>
        </p:txBody>
      </p:sp>
      <p:sp>
        <p:nvSpPr>
          <p:cNvPr id="24" name="panel-165"/>
          <p:cNvSpPr/>
          <p:nvPr/>
        </p:nvSpPr>
        <p:spPr>
          <a:xfrm>
            <a:off x="5715000" y="2834640"/>
            <a:ext cx="5928055" cy="219456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25" name="text-166"/>
          <p:cNvSpPr txBox="1"/>
          <p:nvPr/>
        </p:nvSpPr>
        <p:spPr>
          <a:xfrm>
            <a:off x="5989320" y="3017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return — що Lambda повертає</a:t>
            </a:r>
            <a:endParaRPr lang="en-US" sz="1400" dirty="0"/>
          </a:p>
        </p:txBody>
      </p:sp>
      <p:sp>
        <p:nvSpPr>
          <p:cNvPr id="26" name="text-167"/>
          <p:cNvSpPr txBox="1"/>
          <p:nvPr/>
        </p:nvSpPr>
        <p:spPr>
          <a:xfrm>
            <a:off x="5989320" y="3429000"/>
            <a:ext cx="5440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"statusCode": 201,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"headers": {"Content-Type": "application/json"},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"body": "{\"id\": \"42\"}"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27" name="panel-168"/>
          <p:cNvSpPr/>
          <p:nvPr/>
        </p:nvSpPr>
        <p:spPr>
          <a:xfrm>
            <a:off x="5715000" y="5212080"/>
            <a:ext cx="5928055" cy="109728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/>
        </p:spPr>
      </p:sp>
      <p:sp>
        <p:nvSpPr>
          <p:cNvPr id="28" name="text-169"/>
          <p:cNvSpPr txBox="1"/>
          <p:nvPr/>
        </p:nvSpPr>
        <p:spPr>
          <a:xfrm>
            <a:off x="5989320" y="52120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Помилка 502? Lambda повернула відповідь без statusCode або з body, що не є рядком.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7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Безпека: авторизація та API-ключі</a:t>
            </a:r>
            <a:endParaRPr lang="en-US" sz="3400" dirty="0"/>
          </a:p>
        </p:txBody>
      </p:sp>
      <p:sp>
        <p:nvSpPr>
          <p:cNvPr id="3" name="panel-170"/>
          <p:cNvSpPr/>
          <p:nvPr/>
        </p:nvSpPr>
        <p:spPr>
          <a:xfrm>
            <a:off x="548640" y="1463040"/>
            <a:ext cx="310896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-circle-171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172" descr="Ke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274320" cy="274320"/>
          </a:xfrm>
          <a:prstGeom prst="rect">
            <a:avLst/>
          </a:prstGeom>
        </p:spPr>
      </p:pic>
      <p:sp>
        <p:nvSpPr>
          <p:cNvPr id="6" name="text-173"/>
          <p:cNvSpPr txBox="1"/>
          <p:nvPr/>
        </p:nvSpPr>
        <p:spPr>
          <a:xfrm>
            <a:off x="1463040" y="1691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API Key + Usage Plan</a:t>
            </a:r>
            <a:endParaRPr lang="en-US" sz="1700" dirty="0"/>
          </a:p>
        </p:txBody>
      </p:sp>
      <p:sp>
        <p:nvSpPr>
          <p:cNvPr id="7" name="text-174"/>
          <p:cNvSpPr txBox="1"/>
          <p:nvPr/>
        </p:nvSpPr>
        <p:spPr>
          <a:xfrm>
            <a:off x="777240" y="242316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Ідентифікує клієнта й підключає його до лімітів. Це не повноцінна авторизація.</a:t>
            </a:r>
            <a:endParaRPr lang="en-US" sz="1400" dirty="0"/>
          </a:p>
        </p:txBody>
      </p:sp>
      <p:sp>
        <p:nvSpPr>
          <p:cNvPr id="8" name="panel-175"/>
          <p:cNvSpPr/>
          <p:nvPr/>
        </p:nvSpPr>
        <p:spPr>
          <a:xfrm>
            <a:off x="3840480" y="1463040"/>
            <a:ext cx="310896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-circle-176"/>
          <p:cNvSpPr/>
          <p:nvPr/>
        </p:nvSpPr>
        <p:spPr>
          <a:xfrm>
            <a:off x="4069080" y="16916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con-177" descr="UserShiel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828800"/>
            <a:ext cx="274320" cy="274320"/>
          </a:xfrm>
          <a:prstGeom prst="rect">
            <a:avLst/>
          </a:prstGeom>
        </p:spPr>
      </p:pic>
      <p:sp>
        <p:nvSpPr>
          <p:cNvPr id="11" name="text-178"/>
          <p:cNvSpPr txBox="1"/>
          <p:nvPr/>
        </p:nvSpPr>
        <p:spPr>
          <a:xfrm>
            <a:off x="4754880" y="16916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IAM</a:t>
            </a:r>
            <a:endParaRPr lang="en-US" sz="1700" dirty="0"/>
          </a:p>
        </p:txBody>
      </p:sp>
      <p:sp>
        <p:nvSpPr>
          <p:cNvPr id="12" name="text-179"/>
          <p:cNvSpPr txBox="1"/>
          <p:nvPr/>
        </p:nvSpPr>
        <p:spPr>
          <a:xfrm>
            <a:off x="4069080" y="242316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Підпис запитів SigV4. Для викликів між сервісами AWS і внутрішніх систем.</a:t>
            </a:r>
            <a:endParaRPr lang="en-US" sz="1400" dirty="0"/>
          </a:p>
        </p:txBody>
      </p:sp>
      <p:sp>
        <p:nvSpPr>
          <p:cNvPr id="13" name="panel-180"/>
          <p:cNvSpPr/>
          <p:nvPr/>
        </p:nvSpPr>
        <p:spPr>
          <a:xfrm>
            <a:off x="548640" y="3886200"/>
            <a:ext cx="310896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-circle-181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con-182" descr="User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251960"/>
            <a:ext cx="274320" cy="274320"/>
          </a:xfrm>
          <a:prstGeom prst="rect">
            <a:avLst/>
          </a:prstGeom>
        </p:spPr>
      </p:pic>
      <p:sp>
        <p:nvSpPr>
          <p:cNvPr id="16" name="text-183"/>
          <p:cNvSpPr txBox="1"/>
          <p:nvPr/>
        </p:nvSpPr>
        <p:spPr>
          <a:xfrm>
            <a:off x="1463040" y="4114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Cognito Authorizer</a:t>
            </a:r>
            <a:endParaRPr lang="en-US" sz="1700" dirty="0"/>
          </a:p>
        </p:txBody>
      </p:sp>
      <p:sp>
        <p:nvSpPr>
          <p:cNvPr id="17" name="text-184"/>
          <p:cNvSpPr txBox="1"/>
          <p:nvPr/>
        </p:nvSpPr>
        <p:spPr>
          <a:xfrm>
            <a:off x="777240" y="484632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Перевіряє JWT-токен користувача вашого застосунку після входу в систему.</a:t>
            </a:r>
            <a:endParaRPr lang="en-US" sz="1400" dirty="0"/>
          </a:p>
        </p:txBody>
      </p:sp>
      <p:sp>
        <p:nvSpPr>
          <p:cNvPr id="18" name="panel-185"/>
          <p:cNvSpPr/>
          <p:nvPr/>
        </p:nvSpPr>
        <p:spPr>
          <a:xfrm>
            <a:off x="3840480" y="3886200"/>
            <a:ext cx="310896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-circle-186"/>
          <p:cNvSpPr/>
          <p:nvPr/>
        </p:nvSpPr>
        <p:spPr>
          <a:xfrm>
            <a:off x="406908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con-187" descr="Cod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0" y="4251960"/>
            <a:ext cx="274320" cy="274320"/>
          </a:xfrm>
          <a:prstGeom prst="rect">
            <a:avLst/>
          </a:prstGeom>
        </p:spPr>
      </p:pic>
      <p:sp>
        <p:nvSpPr>
          <p:cNvPr id="21" name="text-188"/>
          <p:cNvSpPr txBox="1"/>
          <p:nvPr/>
        </p:nvSpPr>
        <p:spPr>
          <a:xfrm>
            <a:off x="4754880" y="4114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Lambda Authorizer</a:t>
            </a:r>
            <a:endParaRPr lang="en-US" sz="1700" dirty="0"/>
          </a:p>
        </p:txBody>
      </p:sp>
      <p:sp>
        <p:nvSpPr>
          <p:cNvPr id="22" name="text-189"/>
          <p:cNvSpPr txBox="1"/>
          <p:nvPr/>
        </p:nvSpPr>
        <p:spPr>
          <a:xfrm>
            <a:off x="4069080" y="484632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Ваша функція сама вирішує, чи пускати запит: перевірка токена чи заголовків.</a:t>
            </a:r>
            <a:endParaRPr lang="en-US" sz="1400" dirty="0"/>
          </a:p>
        </p:txBody>
      </p:sp>
      <p:sp>
        <p:nvSpPr>
          <p:cNvPr id="23" name="panel-190"/>
          <p:cNvSpPr/>
          <p:nvPr/>
        </p:nvSpPr>
        <p:spPr>
          <a:xfrm>
            <a:off x="7223760" y="1463040"/>
            <a:ext cx="4419295" cy="4663440"/>
          </a:xfrm>
          <a:prstGeom prst="roundRect">
            <a:avLst>
              <a:gd name="adj" fmla="val 2483"/>
            </a:avLst>
          </a:prstGeom>
          <a:solidFill>
            <a:schemeClr val="tx1"/>
          </a:solidFill>
          <a:ln/>
        </p:spPr>
      </p:sp>
      <p:sp>
        <p:nvSpPr>
          <p:cNvPr id="24" name="text-191"/>
          <p:cNvSpPr txBox="1"/>
          <p:nvPr/>
        </p:nvSpPr>
        <p:spPr>
          <a:xfrm>
            <a:off x="754380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Як увімкнути API-ключ</a:t>
            </a:r>
            <a:endParaRPr lang="en-US" sz="1800" dirty="0"/>
          </a:p>
        </p:txBody>
      </p:sp>
      <p:sp>
        <p:nvSpPr>
          <p:cNvPr id="25" name="text-192"/>
          <p:cNvSpPr txBox="1"/>
          <p:nvPr/>
        </p:nvSpPr>
        <p:spPr>
          <a:xfrm>
            <a:off x="7543800" y="2240280"/>
            <a:ext cx="38404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Створити API key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Створити Usage Plan (rate, burst, quota)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Прив'язати ключ і stage до плану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У методі: API Key Required = true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bg1"/>
                </a:solidFill>
              </a:rPr>
              <a:t>Клієнт додає заголовок x-api-key</a:t>
            </a:r>
            <a:endParaRPr lang="en-US" sz="1500" dirty="0"/>
          </a:p>
        </p:txBody>
      </p:sp>
      <p:sp>
        <p:nvSpPr>
          <p:cNvPr id="26" name="panel-193"/>
          <p:cNvSpPr/>
          <p:nvPr/>
        </p:nvSpPr>
        <p:spPr>
          <a:xfrm>
            <a:off x="7543800" y="4663440"/>
            <a:ext cx="3870655" cy="1188720"/>
          </a:xfrm>
          <a:prstGeom prst="roundRect">
            <a:avLst>
              <a:gd name="adj" fmla="val 9231"/>
            </a:avLst>
          </a:prstGeom>
          <a:solidFill>
            <a:schemeClr val="accent1"/>
          </a:solidFill>
          <a:ln/>
        </p:spPr>
      </p:sp>
      <p:sp>
        <p:nvSpPr>
          <p:cNvPr id="27" name="text-194"/>
          <p:cNvSpPr txBox="1"/>
          <p:nvPr/>
        </p:nvSpPr>
        <p:spPr>
          <a:xfrm>
            <a:off x="7772400" y="4663440"/>
            <a:ext cx="3429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Ключ ≠ захист. Його легко скопіювати, тому для користувачів додайте Cognito, IAM або Lambda authorizer.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Ліміти та кешування</a:t>
            </a:r>
            <a:endParaRPr lang="en-US" sz="3400" dirty="0"/>
          </a:p>
        </p:txBody>
      </p:sp>
      <p:sp>
        <p:nvSpPr>
          <p:cNvPr id="3" name="panel-195"/>
          <p:cNvSpPr/>
          <p:nvPr/>
        </p:nvSpPr>
        <p:spPr>
          <a:xfrm>
            <a:off x="548640" y="1463040"/>
            <a:ext cx="5394960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/>
        </p:spPr>
      </p:sp>
      <p:sp>
        <p:nvSpPr>
          <p:cNvPr id="4" name="icon-circle-196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197" descr="TachometerAl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897380"/>
            <a:ext cx="320040" cy="320040"/>
          </a:xfrm>
          <a:prstGeom prst="rect">
            <a:avLst/>
          </a:prstGeom>
        </p:spPr>
      </p:pic>
      <p:sp>
        <p:nvSpPr>
          <p:cNvPr id="6" name="text-198"/>
          <p:cNvSpPr txBox="1"/>
          <p:nvPr/>
        </p:nvSpPr>
        <p:spPr>
          <a:xfrm>
            <a:off x="1645920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Ліміти (throttling)</a:t>
            </a:r>
            <a:endParaRPr lang="en-US" sz="2200" dirty="0"/>
          </a:p>
        </p:txBody>
      </p:sp>
      <p:sp>
        <p:nvSpPr>
          <p:cNvPr id="7" name="text-199"/>
          <p:cNvSpPr txBox="1"/>
          <p:nvPr/>
        </p:nvSpPr>
        <p:spPr>
          <a:xfrm>
            <a:off x="164592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Приклад значень для usage plan</a:t>
            </a:r>
            <a:endParaRPr lang="en-US" sz="1400" dirty="0"/>
          </a:p>
        </p:txBody>
      </p:sp>
      <p:sp>
        <p:nvSpPr>
          <p:cNvPr id="8" name="text-200"/>
          <p:cNvSpPr txBox="1"/>
          <p:nvPr/>
        </p:nvSpPr>
        <p:spPr>
          <a:xfrm>
            <a:off x="822960" y="2743200"/>
            <a:ext cx="152430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100</a:t>
            </a:r>
            <a:endParaRPr lang="en-US" sz="3200" dirty="0"/>
          </a:p>
        </p:txBody>
      </p:sp>
      <p:sp>
        <p:nvSpPr>
          <p:cNvPr id="9" name="text-201"/>
          <p:cNvSpPr txBox="1"/>
          <p:nvPr/>
        </p:nvSpPr>
        <p:spPr>
          <a:xfrm>
            <a:off x="822960" y="3383280"/>
            <a:ext cx="143286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rate — запитів на секунду</a:t>
            </a:r>
            <a:endParaRPr lang="en-US" sz="1400" dirty="0"/>
          </a:p>
        </p:txBody>
      </p:sp>
      <p:sp>
        <p:nvSpPr>
          <p:cNvPr id="10" name="text-202"/>
          <p:cNvSpPr txBox="1"/>
          <p:nvPr/>
        </p:nvSpPr>
        <p:spPr>
          <a:xfrm>
            <a:off x="2484425" y="2743200"/>
            <a:ext cx="152430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200</a:t>
            </a:r>
            <a:endParaRPr lang="en-US" sz="3200" dirty="0"/>
          </a:p>
        </p:txBody>
      </p:sp>
      <p:sp>
        <p:nvSpPr>
          <p:cNvPr id="11" name="text-203"/>
          <p:cNvSpPr txBox="1"/>
          <p:nvPr/>
        </p:nvSpPr>
        <p:spPr>
          <a:xfrm>
            <a:off x="2484425" y="3383280"/>
            <a:ext cx="143286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burst — короткий сплеск</a:t>
            </a:r>
            <a:endParaRPr lang="en-US" sz="1400" dirty="0"/>
          </a:p>
        </p:txBody>
      </p:sp>
      <p:sp>
        <p:nvSpPr>
          <p:cNvPr id="12" name="text-204"/>
          <p:cNvSpPr txBox="1"/>
          <p:nvPr/>
        </p:nvSpPr>
        <p:spPr>
          <a:xfrm>
            <a:off x="4145890" y="2743200"/>
            <a:ext cx="152430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10 000</a:t>
            </a:r>
            <a:endParaRPr lang="en-US" sz="3200" dirty="0"/>
          </a:p>
        </p:txBody>
      </p:sp>
      <p:sp>
        <p:nvSpPr>
          <p:cNvPr id="13" name="text-205"/>
          <p:cNvSpPr txBox="1"/>
          <p:nvPr/>
        </p:nvSpPr>
        <p:spPr>
          <a:xfrm>
            <a:off x="4145890" y="3383280"/>
            <a:ext cx="143286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quota — запитів на добу</a:t>
            </a:r>
            <a:endParaRPr lang="en-US" sz="1400" dirty="0"/>
          </a:p>
        </p:txBody>
      </p:sp>
      <p:sp>
        <p:nvSpPr>
          <p:cNvPr id="14" name="text-206"/>
          <p:cNvSpPr txBox="1"/>
          <p:nvPr/>
        </p:nvSpPr>
        <p:spPr>
          <a:xfrm>
            <a:off x="822960" y="42062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Token bucket: кожен запит забирає 1 токен</a:t>
            </a:r>
            <a:endParaRPr lang="en-US" sz="1400" dirty="0"/>
          </a:p>
        </p:txBody>
      </p:sp>
      <p:sp>
        <p:nvSpPr>
          <p:cNvPr id="15" name="token-207"/>
          <p:cNvSpPr/>
          <p:nvPr/>
        </p:nvSpPr>
        <p:spPr>
          <a:xfrm>
            <a:off x="822960" y="45720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oken-208"/>
          <p:cNvSpPr/>
          <p:nvPr/>
        </p:nvSpPr>
        <p:spPr>
          <a:xfrm>
            <a:off x="1280160" y="45720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oken-209"/>
          <p:cNvSpPr/>
          <p:nvPr/>
        </p:nvSpPr>
        <p:spPr>
          <a:xfrm>
            <a:off x="1737360" y="45720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oken-210"/>
          <p:cNvSpPr/>
          <p:nvPr/>
        </p:nvSpPr>
        <p:spPr>
          <a:xfrm>
            <a:off x="2194560" y="45720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oken-211"/>
          <p:cNvSpPr/>
          <p:nvPr/>
        </p:nvSpPr>
        <p:spPr>
          <a:xfrm>
            <a:off x="2651760" y="45720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oken-212"/>
          <p:cNvSpPr/>
          <p:nvPr/>
        </p:nvSpPr>
        <p:spPr>
          <a:xfrm>
            <a:off x="3108960" y="45720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oken-213"/>
          <p:cNvSpPr/>
          <p:nvPr/>
        </p:nvSpPr>
        <p:spPr>
          <a:xfrm>
            <a:off x="3566160" y="45720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oken-214"/>
          <p:cNvSpPr/>
          <p:nvPr/>
        </p:nvSpPr>
        <p:spPr>
          <a:xfrm>
            <a:off x="4023360" y="4572000"/>
            <a:ext cx="310896" cy="31089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3" name="token-215"/>
          <p:cNvSpPr/>
          <p:nvPr/>
        </p:nvSpPr>
        <p:spPr>
          <a:xfrm>
            <a:off x="4480560" y="4572000"/>
            <a:ext cx="310896" cy="31089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token-216"/>
          <p:cNvSpPr/>
          <p:nvPr/>
        </p:nvSpPr>
        <p:spPr>
          <a:xfrm>
            <a:off x="4937760" y="4572000"/>
            <a:ext cx="310896" cy="310896"/>
          </a:xfrm>
          <a:prstGeom prst="ellipse">
            <a:avLst/>
          </a:prstGeom>
          <a:solidFill>
            <a:schemeClr val="tx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5" name="text-217"/>
          <p:cNvSpPr txBox="1"/>
          <p:nvPr/>
        </p:nvSpPr>
        <p:spPr>
          <a:xfrm>
            <a:off x="822960" y="50749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Токени поповнюються зі швидкістю rate. Відро порожнє — клієнт отримує 429 Too Many Requests.</a:t>
            </a:r>
            <a:endParaRPr lang="en-US" sz="1400" dirty="0"/>
          </a:p>
        </p:txBody>
      </p:sp>
      <p:sp>
        <p:nvSpPr>
          <p:cNvPr id="26" name="panel-218"/>
          <p:cNvSpPr/>
          <p:nvPr/>
        </p:nvSpPr>
        <p:spPr>
          <a:xfrm>
            <a:off x="6248095" y="1463040"/>
            <a:ext cx="5394960" cy="4754880"/>
          </a:xfrm>
          <a:prstGeom prst="roundRect">
            <a:avLst>
              <a:gd name="adj" fmla="val 2308"/>
            </a:avLst>
          </a:prstGeom>
          <a:solidFill>
            <a:schemeClr val="tx2"/>
          </a:solidFill>
          <a:ln/>
        </p:spPr>
      </p:sp>
      <p:sp>
        <p:nvSpPr>
          <p:cNvPr id="27" name="icon-circle-219"/>
          <p:cNvSpPr/>
          <p:nvPr/>
        </p:nvSpPr>
        <p:spPr>
          <a:xfrm>
            <a:off x="6522415" y="17373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con-220" descr="Memory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2435" y="1897380"/>
            <a:ext cx="320040" cy="320040"/>
          </a:xfrm>
          <a:prstGeom prst="rect">
            <a:avLst/>
          </a:prstGeom>
        </p:spPr>
      </p:pic>
      <p:sp>
        <p:nvSpPr>
          <p:cNvPr id="29" name="text-221"/>
          <p:cNvSpPr txBox="1"/>
          <p:nvPr/>
        </p:nvSpPr>
        <p:spPr>
          <a:xfrm>
            <a:off x="7345375" y="1737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Кешування (stage cache)</a:t>
            </a:r>
            <a:endParaRPr lang="en-US" sz="2200" dirty="0"/>
          </a:p>
        </p:txBody>
      </p:sp>
      <p:sp>
        <p:nvSpPr>
          <p:cNvPr id="30" name="text-222"/>
          <p:cNvSpPr txBox="1"/>
          <p:nvPr/>
        </p:nvSpPr>
        <p:spPr>
          <a:xfrm>
            <a:off x="7345375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Відповіді GET зберігаються в кеші</a:t>
            </a:r>
            <a:endParaRPr lang="en-US" sz="1400" dirty="0"/>
          </a:p>
        </p:txBody>
      </p:sp>
      <p:sp>
        <p:nvSpPr>
          <p:cNvPr id="31" name="text-223"/>
          <p:cNvSpPr txBox="1"/>
          <p:nvPr/>
        </p:nvSpPr>
        <p:spPr>
          <a:xfrm>
            <a:off x="6522415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HIT</a:t>
            </a:r>
            <a:endParaRPr lang="en-US" sz="1400" dirty="0"/>
          </a:p>
        </p:txBody>
      </p:sp>
      <p:sp>
        <p:nvSpPr>
          <p:cNvPr id="32" name="chip-224"/>
          <p:cNvSpPr txBox="1"/>
          <p:nvPr/>
        </p:nvSpPr>
        <p:spPr>
          <a:xfrm>
            <a:off x="6522415" y="3063240"/>
            <a:ext cx="1051560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Клієнт</a:t>
            </a:r>
            <a:endParaRPr lang="en-US" sz="1400" dirty="0"/>
          </a:p>
        </p:txBody>
      </p:sp>
      <p:sp>
        <p:nvSpPr>
          <p:cNvPr id="33" name="arrow-225"/>
          <p:cNvSpPr/>
          <p:nvPr/>
        </p:nvSpPr>
        <p:spPr>
          <a:xfrm>
            <a:off x="7592263" y="3314700"/>
            <a:ext cx="1920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4" name="chip-226"/>
          <p:cNvSpPr txBox="1"/>
          <p:nvPr/>
        </p:nvSpPr>
        <p:spPr>
          <a:xfrm>
            <a:off x="7802575" y="3063240"/>
            <a:ext cx="105156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Cache</a:t>
            </a:r>
            <a:endParaRPr lang="en-US" sz="1400" dirty="0"/>
          </a:p>
        </p:txBody>
      </p:sp>
      <p:sp>
        <p:nvSpPr>
          <p:cNvPr id="35" name="text-227"/>
          <p:cNvSpPr txBox="1"/>
          <p:nvPr/>
        </p:nvSpPr>
        <p:spPr>
          <a:xfrm>
            <a:off x="9174175" y="30175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Lambda не викликається, відповідь за мілісекунди</a:t>
            </a:r>
            <a:endParaRPr lang="en-US" sz="1400" dirty="0"/>
          </a:p>
        </p:txBody>
      </p:sp>
      <p:sp>
        <p:nvSpPr>
          <p:cNvPr id="36" name="text-228"/>
          <p:cNvSpPr txBox="1"/>
          <p:nvPr/>
        </p:nvSpPr>
        <p:spPr>
          <a:xfrm>
            <a:off x="6522415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MISS</a:t>
            </a:r>
            <a:endParaRPr lang="en-US" sz="1400" dirty="0"/>
          </a:p>
        </p:txBody>
      </p:sp>
      <p:sp>
        <p:nvSpPr>
          <p:cNvPr id="37" name="chip-229"/>
          <p:cNvSpPr txBox="1"/>
          <p:nvPr/>
        </p:nvSpPr>
        <p:spPr>
          <a:xfrm>
            <a:off x="6522415" y="4114800"/>
            <a:ext cx="1051560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Клієнт</a:t>
            </a:r>
            <a:endParaRPr lang="en-US" sz="1400" dirty="0"/>
          </a:p>
        </p:txBody>
      </p:sp>
      <p:sp>
        <p:nvSpPr>
          <p:cNvPr id="38" name="arrow-230"/>
          <p:cNvSpPr/>
          <p:nvPr/>
        </p:nvSpPr>
        <p:spPr>
          <a:xfrm>
            <a:off x="7592263" y="4366260"/>
            <a:ext cx="1920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9" name="chip-231"/>
          <p:cNvSpPr txBox="1"/>
          <p:nvPr/>
        </p:nvSpPr>
        <p:spPr>
          <a:xfrm>
            <a:off x="7802575" y="4114800"/>
            <a:ext cx="1051560" cy="502920"/>
          </a:xfrm>
          <a:prstGeom prst="roundRect">
            <a:avLst>
              <a:gd name="adj" fmla="val 18182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Cache</a:t>
            </a:r>
            <a:endParaRPr lang="en-US" sz="1400" dirty="0"/>
          </a:p>
        </p:txBody>
      </p:sp>
      <p:sp>
        <p:nvSpPr>
          <p:cNvPr id="40" name="arrow-232"/>
          <p:cNvSpPr/>
          <p:nvPr/>
        </p:nvSpPr>
        <p:spPr>
          <a:xfrm>
            <a:off x="8872423" y="4366260"/>
            <a:ext cx="1920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1" name="chip-233"/>
          <p:cNvSpPr txBox="1"/>
          <p:nvPr/>
        </p:nvSpPr>
        <p:spPr>
          <a:xfrm>
            <a:off x="9082735" y="4114800"/>
            <a:ext cx="1051560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Lambda</a:t>
            </a:r>
            <a:endParaRPr lang="en-US" sz="1400" dirty="0"/>
          </a:p>
        </p:txBody>
      </p:sp>
      <p:sp>
        <p:nvSpPr>
          <p:cNvPr id="42" name="arrow-234"/>
          <p:cNvSpPr/>
          <p:nvPr/>
        </p:nvSpPr>
        <p:spPr>
          <a:xfrm>
            <a:off x="10152583" y="4366260"/>
            <a:ext cx="192024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3" name="chip-235"/>
          <p:cNvSpPr txBox="1"/>
          <p:nvPr/>
        </p:nvSpPr>
        <p:spPr>
          <a:xfrm>
            <a:off x="10362895" y="4114800"/>
            <a:ext cx="1051560" cy="502920"/>
          </a:xfrm>
          <a:prstGeom prst="roundRect">
            <a:avLst>
              <a:gd name="adj" fmla="val 18182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DynamoDB</a:t>
            </a:r>
            <a:endParaRPr lang="en-US" sz="1400" dirty="0"/>
          </a:p>
        </p:txBody>
      </p:sp>
      <p:sp>
        <p:nvSpPr>
          <p:cNvPr id="44" name="text-236"/>
          <p:cNvSpPr txBox="1"/>
          <p:nvPr/>
        </p:nvSpPr>
        <p:spPr>
          <a:xfrm>
            <a:off x="6522415" y="4937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TTL за замовчуванням — 300 с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Кеш вмикається на stage і платний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Кешуємо лише GET-запити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7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End-to-End: архітектура сценарію</a:t>
            </a:r>
            <a:endParaRPr lang="en-US" sz="3400" dirty="0"/>
          </a:p>
        </p:txBody>
      </p:sp>
      <p:sp>
        <p:nvSpPr>
          <p:cNvPr id="3" name="panel-237"/>
          <p:cNvSpPr/>
          <p:nvPr/>
        </p:nvSpPr>
        <p:spPr>
          <a:xfrm>
            <a:off x="548640" y="1417320"/>
            <a:ext cx="23774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-circle-238"/>
          <p:cNvSpPr/>
          <p:nvPr/>
        </p:nvSpPr>
        <p:spPr>
          <a:xfrm>
            <a:off x="777240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239" descr="Deskto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1805940"/>
            <a:ext cx="320040" cy="320040"/>
          </a:xfrm>
          <a:prstGeom prst="rect">
            <a:avLst/>
          </a:prstGeom>
        </p:spPr>
      </p:pic>
      <p:sp>
        <p:nvSpPr>
          <p:cNvPr id="6" name="text-240"/>
          <p:cNvSpPr txBox="1"/>
          <p:nvPr/>
        </p:nvSpPr>
        <p:spPr>
          <a:xfrm>
            <a:off x="777240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Postman / curl</a:t>
            </a:r>
            <a:endParaRPr lang="en-US" sz="1800" dirty="0"/>
          </a:p>
        </p:txBody>
      </p:sp>
      <p:sp>
        <p:nvSpPr>
          <p:cNvPr id="7" name="text-241"/>
          <p:cNvSpPr txBox="1"/>
          <p:nvPr/>
        </p:nvSpPr>
        <p:spPr>
          <a:xfrm>
            <a:off x="777240" y="27614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клієнт, що шле запити</a:t>
            </a:r>
            <a:endParaRPr lang="en-US" sz="1400" dirty="0"/>
          </a:p>
        </p:txBody>
      </p:sp>
      <p:sp>
        <p:nvSpPr>
          <p:cNvPr id="8" name="arrow-242"/>
          <p:cNvSpPr/>
          <p:nvPr/>
        </p:nvSpPr>
        <p:spPr>
          <a:xfrm>
            <a:off x="2971800" y="1965960"/>
            <a:ext cx="43677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panel-243"/>
          <p:cNvSpPr/>
          <p:nvPr/>
        </p:nvSpPr>
        <p:spPr>
          <a:xfrm>
            <a:off x="3454298" y="1417320"/>
            <a:ext cx="23774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con-circle-244"/>
          <p:cNvSpPr/>
          <p:nvPr/>
        </p:nvSpPr>
        <p:spPr>
          <a:xfrm>
            <a:off x="3682898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con-245" descr="NetworkWire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918" y="1805940"/>
            <a:ext cx="320040" cy="320040"/>
          </a:xfrm>
          <a:prstGeom prst="rect">
            <a:avLst/>
          </a:prstGeom>
        </p:spPr>
      </p:pic>
      <p:sp>
        <p:nvSpPr>
          <p:cNvPr id="12" name="text-246"/>
          <p:cNvSpPr txBox="1"/>
          <p:nvPr/>
        </p:nvSpPr>
        <p:spPr>
          <a:xfrm>
            <a:off x="3682898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API Gateway</a:t>
            </a:r>
            <a:endParaRPr lang="en-US" sz="1800" dirty="0"/>
          </a:p>
        </p:txBody>
      </p:sp>
      <p:sp>
        <p:nvSpPr>
          <p:cNvPr id="13" name="text-247"/>
          <p:cNvSpPr txBox="1"/>
          <p:nvPr/>
        </p:nvSpPr>
        <p:spPr>
          <a:xfrm>
            <a:off x="3682898" y="27614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POST /items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GET /items/{id}</a:t>
            </a:r>
            <a:endParaRPr lang="en-US" sz="1400" dirty="0"/>
          </a:p>
        </p:txBody>
      </p:sp>
      <p:sp>
        <p:nvSpPr>
          <p:cNvPr id="14" name="arrow-248"/>
          <p:cNvSpPr/>
          <p:nvPr/>
        </p:nvSpPr>
        <p:spPr>
          <a:xfrm>
            <a:off x="5877458" y="1965960"/>
            <a:ext cx="43677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panel-249"/>
          <p:cNvSpPr/>
          <p:nvPr/>
        </p:nvSpPr>
        <p:spPr>
          <a:xfrm>
            <a:off x="6359957" y="1417320"/>
            <a:ext cx="23774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-circle-250"/>
          <p:cNvSpPr/>
          <p:nvPr/>
        </p:nvSpPr>
        <p:spPr>
          <a:xfrm>
            <a:off x="6588557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con-251" descr="Bol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8577" y="1805940"/>
            <a:ext cx="320040" cy="320040"/>
          </a:xfrm>
          <a:prstGeom prst="rect">
            <a:avLst/>
          </a:prstGeom>
        </p:spPr>
      </p:pic>
      <p:sp>
        <p:nvSpPr>
          <p:cNvPr id="18" name="text-252"/>
          <p:cNvSpPr txBox="1"/>
          <p:nvPr/>
        </p:nvSpPr>
        <p:spPr>
          <a:xfrm>
            <a:off x="6588557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AWS Lambda</a:t>
            </a:r>
            <a:endParaRPr lang="en-US" sz="1800" dirty="0"/>
          </a:p>
        </p:txBody>
      </p:sp>
      <p:sp>
        <p:nvSpPr>
          <p:cNvPr id="19" name="text-253"/>
          <p:cNvSpPr txBox="1"/>
          <p:nvPr/>
        </p:nvSpPr>
        <p:spPr>
          <a:xfrm>
            <a:off x="6588557" y="27614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items-handler, Python</a:t>
            </a:r>
            <a:endParaRPr lang="en-US" sz="1400" dirty="0"/>
          </a:p>
        </p:txBody>
      </p:sp>
      <p:sp>
        <p:nvSpPr>
          <p:cNvPr id="20" name="arrow-254"/>
          <p:cNvSpPr/>
          <p:nvPr/>
        </p:nvSpPr>
        <p:spPr>
          <a:xfrm>
            <a:off x="8783117" y="1965960"/>
            <a:ext cx="436778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panel-255"/>
          <p:cNvSpPr/>
          <p:nvPr/>
        </p:nvSpPr>
        <p:spPr>
          <a:xfrm>
            <a:off x="9265615" y="1417320"/>
            <a:ext cx="2377440" cy="192024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icon-circle-256"/>
          <p:cNvSpPr/>
          <p:nvPr/>
        </p:nvSpPr>
        <p:spPr>
          <a:xfrm>
            <a:off x="9494215" y="16459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con-257" descr="Databas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4235" y="1805940"/>
            <a:ext cx="320040" cy="320040"/>
          </a:xfrm>
          <a:prstGeom prst="rect">
            <a:avLst/>
          </a:prstGeom>
        </p:spPr>
      </p:pic>
      <p:sp>
        <p:nvSpPr>
          <p:cNvPr id="24" name="text-258"/>
          <p:cNvSpPr txBox="1"/>
          <p:nvPr/>
        </p:nvSpPr>
        <p:spPr>
          <a:xfrm>
            <a:off x="9494215" y="2423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DynamoDB</a:t>
            </a:r>
            <a:endParaRPr lang="en-US" sz="1800" dirty="0"/>
          </a:p>
        </p:txBody>
      </p:sp>
      <p:sp>
        <p:nvSpPr>
          <p:cNvPr id="25" name="text-259"/>
          <p:cNvSpPr txBox="1"/>
          <p:nvPr/>
        </p:nvSpPr>
        <p:spPr>
          <a:xfrm>
            <a:off x="9494215" y="27614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таблиця Items, ключ id</a:t>
            </a:r>
            <a:endParaRPr lang="en-US" sz="1400" dirty="0"/>
          </a:p>
        </p:txBody>
      </p:sp>
      <p:sp>
        <p:nvSpPr>
          <p:cNvPr id="26" name="panel-260"/>
          <p:cNvSpPr/>
          <p:nvPr/>
        </p:nvSpPr>
        <p:spPr>
          <a:xfrm>
            <a:off x="548640" y="3566160"/>
            <a:ext cx="5283098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icon-circle-261"/>
          <p:cNvSpPr/>
          <p:nvPr/>
        </p:nvSpPr>
        <p:spPr>
          <a:xfrm>
            <a:off x="731520" y="36758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8" name="icon-262" descr="ChartLin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790188"/>
            <a:ext cx="228600" cy="228600"/>
          </a:xfrm>
          <a:prstGeom prst="rect">
            <a:avLst/>
          </a:prstGeom>
        </p:spPr>
      </p:pic>
      <p:sp>
        <p:nvSpPr>
          <p:cNvPr id="29" name="text-263"/>
          <p:cNvSpPr txBox="1"/>
          <p:nvPr/>
        </p:nvSpPr>
        <p:spPr>
          <a:xfrm>
            <a:off x="1371600" y="35661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CloudWatch Logs — логи запитів і помилок</a:t>
            </a:r>
            <a:endParaRPr lang="en-US" sz="1400" dirty="0"/>
          </a:p>
        </p:txBody>
      </p:sp>
      <p:sp>
        <p:nvSpPr>
          <p:cNvPr id="30" name="panel-264"/>
          <p:cNvSpPr/>
          <p:nvPr/>
        </p:nvSpPr>
        <p:spPr>
          <a:xfrm>
            <a:off x="6359957" y="3566160"/>
            <a:ext cx="5283098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icon-circle-265"/>
          <p:cNvSpPr/>
          <p:nvPr/>
        </p:nvSpPr>
        <p:spPr>
          <a:xfrm>
            <a:off x="6542837" y="367588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2" name="icon-266" descr="UserShield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7137" y="3790188"/>
            <a:ext cx="228600" cy="228600"/>
          </a:xfrm>
          <a:prstGeom prst="rect">
            <a:avLst/>
          </a:prstGeom>
        </p:spPr>
      </p:pic>
      <p:sp>
        <p:nvSpPr>
          <p:cNvPr id="33" name="text-267"/>
          <p:cNvSpPr txBox="1"/>
          <p:nvPr/>
        </p:nvSpPr>
        <p:spPr>
          <a:xfrm>
            <a:off x="7182917" y="356616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IAM-роль Lambda: дозволи dynamodb:PutItem і GetItem</a:t>
            </a:r>
            <a:endParaRPr lang="en-US" sz="1400" dirty="0"/>
          </a:p>
        </p:txBody>
      </p:sp>
      <p:sp>
        <p:nvSpPr>
          <p:cNvPr id="34" name="text-268"/>
          <p:cNvSpPr txBox="1"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План практики: 5 кроків</a:t>
            </a:r>
            <a:endParaRPr lang="en-US" sz="1600" dirty="0"/>
          </a:p>
        </p:txBody>
      </p:sp>
      <p:sp>
        <p:nvSpPr>
          <p:cNvPr id="35" name="panel-269"/>
          <p:cNvSpPr/>
          <p:nvPr/>
        </p:nvSpPr>
        <p:spPr>
          <a:xfrm>
            <a:off x="548640" y="4846320"/>
            <a:ext cx="2109155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num-270"/>
          <p:cNvSpPr txBox="1"/>
          <p:nvPr/>
        </p:nvSpPr>
        <p:spPr>
          <a:xfrm>
            <a:off x="731520" y="4983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37" name="text-271"/>
          <p:cNvSpPr txBox="1"/>
          <p:nvPr/>
        </p:nvSpPr>
        <p:spPr>
          <a:xfrm>
            <a:off x="731520" y="5532120"/>
            <a:ext cx="17891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Створити таблицю DynamoDB</a:t>
            </a:r>
            <a:endParaRPr lang="en-US" sz="1400" dirty="0"/>
          </a:p>
        </p:txBody>
      </p:sp>
      <p:sp>
        <p:nvSpPr>
          <p:cNvPr id="38" name="panel-272"/>
          <p:cNvSpPr/>
          <p:nvPr/>
        </p:nvSpPr>
        <p:spPr>
          <a:xfrm>
            <a:off x="2794955" y="4846320"/>
            <a:ext cx="2109155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num-273"/>
          <p:cNvSpPr txBox="1"/>
          <p:nvPr/>
        </p:nvSpPr>
        <p:spPr>
          <a:xfrm>
            <a:off x="2977835" y="4983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40" name="text-274"/>
          <p:cNvSpPr txBox="1"/>
          <p:nvPr/>
        </p:nvSpPr>
        <p:spPr>
          <a:xfrm>
            <a:off x="2977835" y="5532120"/>
            <a:ext cx="17891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Створити Lambda з IAM-роллю</a:t>
            </a:r>
            <a:endParaRPr lang="en-US" sz="1400" dirty="0"/>
          </a:p>
        </p:txBody>
      </p:sp>
      <p:sp>
        <p:nvSpPr>
          <p:cNvPr id="41" name="panel-275"/>
          <p:cNvSpPr/>
          <p:nvPr/>
        </p:nvSpPr>
        <p:spPr>
          <a:xfrm>
            <a:off x="5041270" y="4846320"/>
            <a:ext cx="2109155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2" name="num-276"/>
          <p:cNvSpPr txBox="1"/>
          <p:nvPr/>
        </p:nvSpPr>
        <p:spPr>
          <a:xfrm>
            <a:off x="5224150" y="4983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43" name="text-277"/>
          <p:cNvSpPr txBox="1"/>
          <p:nvPr/>
        </p:nvSpPr>
        <p:spPr>
          <a:xfrm>
            <a:off x="5224150" y="5532120"/>
            <a:ext cx="17891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Створити REST API і ресурс /items</a:t>
            </a:r>
            <a:endParaRPr lang="en-US" sz="1400" dirty="0"/>
          </a:p>
        </p:txBody>
      </p:sp>
      <p:sp>
        <p:nvSpPr>
          <p:cNvPr id="44" name="panel-278"/>
          <p:cNvSpPr/>
          <p:nvPr/>
        </p:nvSpPr>
        <p:spPr>
          <a:xfrm>
            <a:off x="7287585" y="4846320"/>
            <a:ext cx="2109155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5" name="num-279"/>
          <p:cNvSpPr txBox="1"/>
          <p:nvPr/>
        </p:nvSpPr>
        <p:spPr>
          <a:xfrm>
            <a:off x="7470465" y="4983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46" name="text-280"/>
          <p:cNvSpPr txBox="1"/>
          <p:nvPr/>
        </p:nvSpPr>
        <p:spPr>
          <a:xfrm>
            <a:off x="7470465" y="5532120"/>
            <a:ext cx="17891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Підключити Lambda та зробити Deploy</a:t>
            </a:r>
            <a:endParaRPr lang="en-US" sz="1400" dirty="0"/>
          </a:p>
        </p:txBody>
      </p:sp>
      <p:sp>
        <p:nvSpPr>
          <p:cNvPr id="47" name="panel-281"/>
          <p:cNvSpPr/>
          <p:nvPr/>
        </p:nvSpPr>
        <p:spPr>
          <a:xfrm>
            <a:off x="9533900" y="4846320"/>
            <a:ext cx="2109155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8" name="num-282"/>
          <p:cNvSpPr txBox="1"/>
          <p:nvPr/>
        </p:nvSpPr>
        <p:spPr>
          <a:xfrm>
            <a:off x="9716780" y="498348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5</a:t>
            </a:r>
            <a:endParaRPr lang="en-US" sz="1500" dirty="0"/>
          </a:p>
        </p:txBody>
      </p:sp>
      <p:sp>
        <p:nvSpPr>
          <p:cNvPr id="49" name="text-283"/>
          <p:cNvSpPr txBox="1"/>
          <p:nvPr/>
        </p:nvSpPr>
        <p:spPr>
          <a:xfrm>
            <a:off x="9716780" y="5532120"/>
            <a:ext cx="17891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Протестувати в Postman і curl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Lambda + DynamoDB: код функції</a:t>
            </a:r>
            <a:endParaRPr lang="en-US" sz="3400" dirty="0"/>
          </a:p>
        </p:txBody>
      </p:sp>
      <p:sp>
        <p:nvSpPr>
          <p:cNvPr id="3" name="panel-284"/>
          <p:cNvSpPr/>
          <p:nvPr/>
        </p:nvSpPr>
        <p:spPr>
          <a:xfrm>
            <a:off x="548640" y="1417320"/>
            <a:ext cx="6949440" cy="4892040"/>
          </a:xfrm>
          <a:prstGeom prst="roundRect">
            <a:avLst>
              <a:gd name="adj" fmla="val 2243"/>
            </a:avLst>
          </a:prstGeom>
          <a:solidFill>
            <a:schemeClr val="tx2"/>
          </a:solidFill>
          <a:ln/>
        </p:spPr>
      </p:sp>
      <p:sp>
        <p:nvSpPr>
          <p:cNvPr id="4" name="text-285"/>
          <p:cNvSpPr txBox="1"/>
          <p:nvPr/>
        </p:nvSpPr>
        <p:spPr>
          <a:xfrm>
            <a:off x="82296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lambda_function.py</a:t>
            </a:r>
            <a:endParaRPr lang="en-US" sz="1200" dirty="0"/>
          </a:p>
        </p:txBody>
      </p:sp>
      <p:sp>
        <p:nvSpPr>
          <p:cNvPr id="5" name="text-286"/>
          <p:cNvSpPr txBox="1"/>
          <p:nvPr/>
        </p:nvSpPr>
        <p:spPr>
          <a:xfrm>
            <a:off x="822960" y="1920240"/>
            <a:ext cx="6400800" cy="425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json, os, boto3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= boto3.resource("dynamodb").Table(os.environ["TABLE"])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handler(event, context):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 = event["httpMethod"]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method == "POST":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item = json.loads(event["body"])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table.put_item(Item=item)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resp(201, {"saved": item["id"]})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method == "GET":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key = event["pathParameters"]["id"]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found = table.get_item(Key={"id": key}).get("Item")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found: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resp(200, found)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resp(404, {"error": "not found"})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resp(405, {"error": "method not allowed"})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resp(code, body):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{"statusCode": code,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"headers": {"Content-Type": "application/json"},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"body": json.dumps(body, default=str)}</a:t>
            </a:r>
            <a:endParaRPr lang="en-US" sz="1200" dirty="0"/>
          </a:p>
        </p:txBody>
      </p:sp>
      <p:sp>
        <p:nvSpPr>
          <p:cNvPr id="6" name="num-287"/>
          <p:cNvSpPr txBox="1"/>
          <p:nvPr/>
        </p:nvSpPr>
        <p:spPr>
          <a:xfrm>
            <a:off x="7772400" y="14173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-288"/>
          <p:cNvSpPr txBox="1"/>
          <p:nvPr/>
        </p:nvSpPr>
        <p:spPr>
          <a:xfrm>
            <a:off x="8412480" y="137160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Читаємо метод запиту з event["httpMethod"]</a:t>
            </a:r>
            <a:endParaRPr lang="en-US" sz="1400" dirty="0"/>
          </a:p>
        </p:txBody>
      </p:sp>
      <p:sp>
        <p:nvSpPr>
          <p:cNvPr id="8" name="num-289"/>
          <p:cNvSpPr txBox="1"/>
          <p:nvPr/>
        </p:nvSpPr>
        <p:spPr>
          <a:xfrm>
            <a:off x="7772400" y="2286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-290"/>
          <p:cNvSpPr txBox="1"/>
          <p:nvPr/>
        </p:nvSpPr>
        <p:spPr>
          <a:xfrm>
            <a:off x="8412480" y="224028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POST /items — put_item зберігає елемент у таблиці</a:t>
            </a:r>
            <a:endParaRPr lang="en-US" sz="1400" dirty="0"/>
          </a:p>
        </p:txBody>
      </p:sp>
      <p:sp>
        <p:nvSpPr>
          <p:cNvPr id="10" name="num-291"/>
          <p:cNvSpPr txBox="1"/>
          <p:nvPr/>
        </p:nvSpPr>
        <p:spPr>
          <a:xfrm>
            <a:off x="777240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-292"/>
          <p:cNvSpPr txBox="1"/>
          <p:nvPr/>
        </p:nvSpPr>
        <p:spPr>
          <a:xfrm>
            <a:off x="8412480" y="310896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GET /items/{id} — get_item шукає за ключем id</a:t>
            </a:r>
            <a:endParaRPr lang="en-US" sz="1400" dirty="0"/>
          </a:p>
        </p:txBody>
      </p:sp>
      <p:sp>
        <p:nvSpPr>
          <p:cNvPr id="12" name="num-293"/>
          <p:cNvSpPr txBox="1"/>
          <p:nvPr/>
        </p:nvSpPr>
        <p:spPr>
          <a:xfrm>
            <a:off x="7772400" y="4023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3" name="text-294"/>
          <p:cNvSpPr txBox="1"/>
          <p:nvPr/>
        </p:nvSpPr>
        <p:spPr>
          <a:xfrm>
            <a:off x="8412480" y="3977640"/>
            <a:ext cx="32278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resp() повертає statusCode і body-рядок; default=str потрібен для Decimal</a:t>
            </a:r>
            <a:endParaRPr lang="en-US" sz="1400" dirty="0"/>
          </a:p>
        </p:txBody>
      </p:sp>
      <p:sp>
        <p:nvSpPr>
          <p:cNvPr id="14" name="panel-295"/>
          <p:cNvSpPr/>
          <p:nvPr/>
        </p:nvSpPr>
        <p:spPr>
          <a:xfrm>
            <a:off x="7772400" y="5074920"/>
            <a:ext cx="3870655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15" name="text-296"/>
          <p:cNvSpPr txBox="1"/>
          <p:nvPr/>
        </p:nvSpPr>
        <p:spPr>
          <a:xfrm>
            <a:off x="8001000" y="5074920"/>
            <a:ext cx="3429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Змінна оточення TABLE зберігає назву таблиці, а роль Lambda дає доступ PutItem і GetItem.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7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Тестуємо API: Postman та CLI</a:t>
            </a:r>
            <a:endParaRPr lang="en-US" sz="3400" dirty="0"/>
          </a:p>
        </p:txBody>
      </p:sp>
      <p:sp>
        <p:nvSpPr>
          <p:cNvPr id="3" name="panel-297"/>
          <p:cNvSpPr/>
          <p:nvPr/>
        </p:nvSpPr>
        <p:spPr>
          <a:xfrm>
            <a:off x="548640" y="1463040"/>
            <a:ext cx="548640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-298"/>
          <p:cNvSpPr txBox="1"/>
          <p:nvPr/>
        </p:nvSpPr>
        <p:spPr>
          <a:xfrm>
            <a:off x="8229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6"/>
                </a:solidFill>
              </a:rPr>
              <a:t>Postman</a:t>
            </a:r>
            <a:endParaRPr lang="en-US" sz="1400" dirty="0"/>
          </a:p>
        </p:txBody>
      </p:sp>
      <p:sp>
        <p:nvSpPr>
          <p:cNvPr id="5" name="method-299"/>
          <p:cNvSpPr txBox="1"/>
          <p:nvPr/>
        </p:nvSpPr>
        <p:spPr>
          <a:xfrm>
            <a:off x="822960" y="1965960"/>
            <a:ext cx="82296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POST</a:t>
            </a:r>
            <a:endParaRPr lang="en-US" sz="1400" dirty="0"/>
          </a:p>
        </p:txBody>
      </p:sp>
      <p:sp>
        <p:nvSpPr>
          <p:cNvPr id="6" name="url-300"/>
          <p:cNvSpPr txBox="1"/>
          <p:nvPr/>
        </p:nvSpPr>
        <p:spPr>
          <a:xfrm>
            <a:off x="1737360" y="1965960"/>
            <a:ext cx="2926080" cy="4572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{{base_url}}/items</a:t>
            </a:r>
            <a:endParaRPr lang="en-US" sz="1300" dirty="0"/>
          </a:p>
        </p:txBody>
      </p:sp>
      <p:sp>
        <p:nvSpPr>
          <p:cNvPr id="7" name="send-301"/>
          <p:cNvSpPr txBox="1"/>
          <p:nvPr/>
        </p:nvSpPr>
        <p:spPr>
          <a:xfrm>
            <a:off x="4800600" y="1965960"/>
            <a:ext cx="96012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Send</a:t>
            </a:r>
            <a:endParaRPr lang="en-US" sz="1400" dirty="0"/>
          </a:p>
        </p:txBody>
      </p:sp>
      <p:sp>
        <p:nvSpPr>
          <p:cNvPr id="8" name="text-302"/>
          <p:cNvSpPr txBox="1"/>
          <p:nvPr/>
        </p:nvSpPr>
        <p:spPr>
          <a:xfrm>
            <a:off x="82296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Headers</a:t>
            </a:r>
            <a:endParaRPr lang="en-US" sz="1400" dirty="0"/>
          </a:p>
        </p:txBody>
      </p:sp>
      <p:sp>
        <p:nvSpPr>
          <p:cNvPr id="9" name="text-303"/>
          <p:cNvSpPr txBox="1"/>
          <p:nvPr/>
        </p:nvSpPr>
        <p:spPr>
          <a:xfrm>
            <a:off x="822960" y="29443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x-api-key</a:t>
            </a:r>
            <a:endParaRPr lang="en-US" sz="1300" dirty="0"/>
          </a:p>
        </p:txBody>
      </p:sp>
      <p:sp>
        <p:nvSpPr>
          <p:cNvPr id="10" name="text-304"/>
          <p:cNvSpPr txBox="1"/>
          <p:nvPr/>
        </p:nvSpPr>
        <p:spPr>
          <a:xfrm>
            <a:off x="2560320" y="29443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a1b2c3…</a:t>
            </a:r>
            <a:endParaRPr lang="en-US" sz="1300" dirty="0"/>
          </a:p>
        </p:txBody>
      </p:sp>
      <p:sp>
        <p:nvSpPr>
          <p:cNvPr id="11" name="text-305"/>
          <p:cNvSpPr txBox="1"/>
          <p:nvPr/>
        </p:nvSpPr>
        <p:spPr>
          <a:xfrm>
            <a:off x="822960" y="32186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</a:t>
            </a:r>
            <a:endParaRPr lang="en-US" sz="1300" dirty="0"/>
          </a:p>
        </p:txBody>
      </p:sp>
      <p:sp>
        <p:nvSpPr>
          <p:cNvPr id="12" name="text-306"/>
          <p:cNvSpPr txBox="1"/>
          <p:nvPr/>
        </p:nvSpPr>
        <p:spPr>
          <a:xfrm>
            <a:off x="2560320" y="32186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application/json</a:t>
            </a:r>
            <a:endParaRPr lang="en-US" sz="1300" dirty="0"/>
          </a:p>
        </p:txBody>
      </p:sp>
      <p:sp>
        <p:nvSpPr>
          <p:cNvPr id="13" name="text-307"/>
          <p:cNvSpPr txBox="1"/>
          <p:nvPr/>
        </p:nvSpPr>
        <p:spPr>
          <a:xfrm>
            <a:off x="822960" y="3611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Body (raw, JSON)</a:t>
            </a:r>
            <a:endParaRPr lang="en-US" sz="1400" dirty="0"/>
          </a:p>
        </p:txBody>
      </p:sp>
      <p:sp>
        <p:nvSpPr>
          <p:cNvPr id="14" name="text-308"/>
          <p:cNvSpPr txBox="1"/>
          <p:nvPr/>
        </p:nvSpPr>
        <p:spPr>
          <a:xfrm>
            <a:off x="822960" y="39044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{"id": "1", "title": "Serverless"}</a:t>
            </a:r>
            <a:endParaRPr lang="en-US" sz="1300" dirty="0"/>
          </a:p>
        </p:txBody>
      </p:sp>
      <p:sp>
        <p:nvSpPr>
          <p:cNvPr id="15" name="status-309"/>
          <p:cNvSpPr txBox="1"/>
          <p:nvPr/>
        </p:nvSpPr>
        <p:spPr>
          <a:xfrm>
            <a:off x="3566160" y="1554480"/>
            <a:ext cx="2194560" cy="320040"/>
          </a:xfrm>
          <a:prstGeom prst="roundRect">
            <a:avLst>
              <a:gd name="adj" fmla="val 22857"/>
            </a:avLst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Response: 201 Created</a:t>
            </a:r>
            <a:endParaRPr lang="en-US" sz="1300" dirty="0"/>
          </a:p>
        </p:txBody>
      </p:sp>
      <p:sp>
        <p:nvSpPr>
          <p:cNvPr id="16" name="panel-310"/>
          <p:cNvSpPr/>
          <p:nvPr/>
        </p:nvSpPr>
        <p:spPr>
          <a:xfrm>
            <a:off x="6309360" y="1463040"/>
            <a:ext cx="5333695" cy="301752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/>
        </p:spPr>
      </p:sp>
      <p:sp>
        <p:nvSpPr>
          <p:cNvPr id="17" name="text-311"/>
          <p:cNvSpPr txBox="1"/>
          <p:nvPr/>
        </p:nvSpPr>
        <p:spPr>
          <a:xfrm>
            <a:off x="6583680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curl (термінал)</a:t>
            </a:r>
            <a:endParaRPr lang="en-US" sz="1400" dirty="0"/>
          </a:p>
        </p:txBody>
      </p:sp>
      <p:sp>
        <p:nvSpPr>
          <p:cNvPr id="18" name="text-312"/>
          <p:cNvSpPr txBox="1"/>
          <p:nvPr/>
        </p:nvSpPr>
        <p:spPr>
          <a:xfrm>
            <a:off x="6583680" y="20116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створити елемент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"$URL/items"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"x-api-key: $KEY"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"Content-Type: application/json" \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'{"id":"1","title":"Serverless"}'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прочитати елемент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"$URL/items/1" -H "x-api-key: $KEY"</a:t>
            </a:r>
            <a:endParaRPr lang="en-US" sz="1400" dirty="0"/>
          </a:p>
        </p:txBody>
      </p:sp>
      <p:sp>
        <p:nvSpPr>
          <p:cNvPr id="19" name="text-313"/>
          <p:cNvSpPr txBox="1"/>
          <p:nvPr/>
        </p:nvSpPr>
        <p:spPr>
          <a:xfrm>
            <a:off x="548640" y="4645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Що можна побачити у відповіді</a:t>
            </a:r>
            <a:endParaRPr lang="en-US" sz="1600" dirty="0"/>
          </a:p>
        </p:txBody>
      </p:sp>
      <p:sp>
        <p:nvSpPr>
          <p:cNvPr id="20" name="panel-314"/>
          <p:cNvSpPr/>
          <p:nvPr/>
        </p:nvSpPr>
        <p:spPr>
          <a:xfrm>
            <a:off x="548640" y="4983480"/>
            <a:ext cx="1734769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-315"/>
          <p:cNvSpPr txBox="1"/>
          <p:nvPr/>
        </p:nvSpPr>
        <p:spPr>
          <a:xfrm>
            <a:off x="731520" y="5074920"/>
            <a:ext cx="14604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201</a:t>
            </a:r>
            <a:endParaRPr lang="en-US" sz="2800" dirty="0"/>
          </a:p>
        </p:txBody>
      </p:sp>
      <p:sp>
        <p:nvSpPr>
          <p:cNvPr id="22" name="text-316"/>
          <p:cNvSpPr txBox="1"/>
          <p:nvPr/>
        </p:nvSpPr>
        <p:spPr>
          <a:xfrm>
            <a:off x="731520" y="5623560"/>
            <a:ext cx="14604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створено елемент</a:t>
            </a:r>
            <a:endParaRPr lang="en-US" sz="1400" dirty="0"/>
          </a:p>
        </p:txBody>
      </p:sp>
      <p:sp>
        <p:nvSpPr>
          <p:cNvPr id="23" name="panel-317"/>
          <p:cNvSpPr/>
          <p:nvPr/>
        </p:nvSpPr>
        <p:spPr>
          <a:xfrm>
            <a:off x="2420569" y="4983480"/>
            <a:ext cx="1734769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-318"/>
          <p:cNvSpPr txBox="1"/>
          <p:nvPr/>
        </p:nvSpPr>
        <p:spPr>
          <a:xfrm>
            <a:off x="2603449" y="5074920"/>
            <a:ext cx="14604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</a:rPr>
              <a:t>200</a:t>
            </a:r>
            <a:endParaRPr lang="en-US" sz="2800" dirty="0"/>
          </a:p>
        </p:txBody>
      </p:sp>
      <p:sp>
        <p:nvSpPr>
          <p:cNvPr id="25" name="text-319"/>
          <p:cNvSpPr txBox="1"/>
          <p:nvPr/>
        </p:nvSpPr>
        <p:spPr>
          <a:xfrm>
            <a:off x="2603449" y="5623560"/>
            <a:ext cx="14604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дані знайдено</a:t>
            </a:r>
            <a:endParaRPr lang="en-US" sz="1400" dirty="0"/>
          </a:p>
        </p:txBody>
      </p:sp>
      <p:sp>
        <p:nvSpPr>
          <p:cNvPr id="26" name="panel-320"/>
          <p:cNvSpPr/>
          <p:nvPr/>
        </p:nvSpPr>
        <p:spPr>
          <a:xfrm>
            <a:off x="4292498" y="4983480"/>
            <a:ext cx="1734769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-321"/>
          <p:cNvSpPr txBox="1"/>
          <p:nvPr/>
        </p:nvSpPr>
        <p:spPr>
          <a:xfrm>
            <a:off x="4475378" y="5074920"/>
            <a:ext cx="14604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403</a:t>
            </a:r>
            <a:endParaRPr lang="en-US" sz="2800" dirty="0"/>
          </a:p>
        </p:txBody>
      </p:sp>
      <p:sp>
        <p:nvSpPr>
          <p:cNvPr id="28" name="text-322"/>
          <p:cNvSpPr txBox="1"/>
          <p:nvPr/>
        </p:nvSpPr>
        <p:spPr>
          <a:xfrm>
            <a:off x="4475378" y="5623560"/>
            <a:ext cx="14604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ключ відсутній або хибний</a:t>
            </a:r>
            <a:endParaRPr lang="en-US" sz="1400" dirty="0"/>
          </a:p>
        </p:txBody>
      </p:sp>
      <p:sp>
        <p:nvSpPr>
          <p:cNvPr id="29" name="panel-323"/>
          <p:cNvSpPr/>
          <p:nvPr/>
        </p:nvSpPr>
        <p:spPr>
          <a:xfrm>
            <a:off x="6164428" y="4983480"/>
            <a:ext cx="1734769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text-324"/>
          <p:cNvSpPr txBox="1"/>
          <p:nvPr/>
        </p:nvSpPr>
        <p:spPr>
          <a:xfrm>
            <a:off x="6347308" y="5074920"/>
            <a:ext cx="14604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404</a:t>
            </a:r>
            <a:endParaRPr lang="en-US" sz="2800" dirty="0"/>
          </a:p>
        </p:txBody>
      </p:sp>
      <p:sp>
        <p:nvSpPr>
          <p:cNvPr id="31" name="text-325"/>
          <p:cNvSpPr txBox="1"/>
          <p:nvPr/>
        </p:nvSpPr>
        <p:spPr>
          <a:xfrm>
            <a:off x="6347308" y="5623560"/>
            <a:ext cx="14604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елемента немає в таблиці</a:t>
            </a:r>
            <a:endParaRPr lang="en-US" sz="1400" dirty="0"/>
          </a:p>
        </p:txBody>
      </p:sp>
      <p:sp>
        <p:nvSpPr>
          <p:cNvPr id="32" name="panel-326"/>
          <p:cNvSpPr/>
          <p:nvPr/>
        </p:nvSpPr>
        <p:spPr>
          <a:xfrm>
            <a:off x="8036357" y="4983480"/>
            <a:ext cx="1734769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-327"/>
          <p:cNvSpPr txBox="1"/>
          <p:nvPr/>
        </p:nvSpPr>
        <p:spPr>
          <a:xfrm>
            <a:off x="8219237" y="5074920"/>
            <a:ext cx="14604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429</a:t>
            </a:r>
            <a:endParaRPr lang="en-US" sz="2800" dirty="0"/>
          </a:p>
        </p:txBody>
      </p:sp>
      <p:sp>
        <p:nvSpPr>
          <p:cNvPr id="34" name="text-328"/>
          <p:cNvSpPr txBox="1"/>
          <p:nvPr/>
        </p:nvSpPr>
        <p:spPr>
          <a:xfrm>
            <a:off x="8219237" y="5623560"/>
            <a:ext cx="14604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перевищено ліміт</a:t>
            </a:r>
            <a:endParaRPr lang="en-US" sz="1400" dirty="0"/>
          </a:p>
        </p:txBody>
      </p:sp>
      <p:sp>
        <p:nvSpPr>
          <p:cNvPr id="35" name="panel-329"/>
          <p:cNvSpPr/>
          <p:nvPr/>
        </p:nvSpPr>
        <p:spPr>
          <a:xfrm>
            <a:off x="9908286" y="4983480"/>
            <a:ext cx="1734769" cy="1325880"/>
          </a:xfrm>
          <a:prstGeom prst="roundRect">
            <a:avLst>
              <a:gd name="adj" fmla="val 8276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6" name="text-330"/>
          <p:cNvSpPr txBox="1"/>
          <p:nvPr/>
        </p:nvSpPr>
        <p:spPr>
          <a:xfrm>
            <a:off x="10091166" y="5074920"/>
            <a:ext cx="146044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</a:rPr>
              <a:t>502</a:t>
            </a:r>
            <a:endParaRPr lang="en-US" sz="2800" dirty="0"/>
          </a:p>
        </p:txBody>
      </p:sp>
      <p:sp>
        <p:nvSpPr>
          <p:cNvPr id="37" name="text-331"/>
          <p:cNvSpPr txBox="1"/>
          <p:nvPr/>
        </p:nvSpPr>
        <p:spPr>
          <a:xfrm>
            <a:off x="10091166" y="5623560"/>
            <a:ext cx="146044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некоректна відповідь Lambda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8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WS Navy Orange">
  <a:themeElements>
    <a:clrScheme name="AWS Navy Orange">
      <a:dk1>
        <a:srgbClr val="16213A"/>
      </a:dk1>
      <a:lt1>
        <a:srgbClr val="FFFFFF"/>
      </a:lt1>
      <a:dk2>
        <a:srgbClr val="2B3C63"/>
      </a:dk2>
      <a:lt2>
        <a:srgbClr val="EEF1F5"/>
      </a:lt2>
      <a:accent1>
        <a:srgbClr val="FF9900"/>
      </a:accent1>
      <a:accent2>
        <a:srgbClr val="3B82C4"/>
      </a:accent2>
      <a:accent3>
        <a:srgbClr val="1F8A7C"/>
      </a:accent3>
      <a:accent4>
        <a:srgbClr val="7A8AA6"/>
      </a:accent4>
      <a:accent5>
        <a:srgbClr val="C0392B"/>
      </a:accent5>
      <a:accent6>
        <a:srgbClr val="5B6B8C"/>
      </a:accent6>
      <a:hlink>
        <a:srgbClr val="3B82C4"/>
      </a:hlink>
      <a:folHlink>
        <a:srgbClr val="7A8AA6"/>
      </a:folHlink>
    </a:clrScheme>
    <a:fontScheme name="AWS Navy Oran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Gateway та інтеграція serverless-сервісів</dc:title>
  <dc:subject>AWS API Gateway, Lambda, DynamoDB</dc:subject>
  <dc:creator>PptxGenJS</dc:creator>
  <cp:lastModifiedBy>PptxGenJS</cp:lastModifiedBy>
  <cp:revision>1</cp:revision>
  <dcterms:created xsi:type="dcterms:W3CDTF">2026-10-03T11:50:25Z</dcterms:created>
  <dcterms:modified xsi:type="dcterms:W3CDTF">2026-10-03T11:50:25Z</dcterms:modified>
</cp:coreProperties>
</file>