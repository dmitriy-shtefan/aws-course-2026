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23"/>
    <p:restoredTop sz="94610"/>
  </p:normalViewPr>
  <p:slideViewPr>
    <p:cSldViewPr snapToGrid="0" snapToObjects="1">
      <p:cViewPr varScale="1">
        <p:scale>
          <a:sx n="156" d="100"/>
          <a:sy n="156" d="100"/>
        </p:scale>
        <p:origin x="6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118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Вітаю на новому занятті! Сьогодні розглянемо три способи, якими можна керувати AWS: через веб-консоль — це те, з чим ми працювали на попередніх заняттях, клікаючи мишкою; через командний рядок — AWS CLI, який дозволяє виконувати ті самі дії текстовими командами; і через SDK — набори бібліотек для улюбленої мови програмування, які дозволяють керувати AWS прямо з коду застосунку. До кінця заняття ви зможете встановити й налаштувати CLI, розберетесь у профілях доступу, і напишете свій перший Python-скрипт на boto3, який звертається до AWS IAM. Також розберемо типові помилки авторизації, з якими стикається кожен розробник на початку роботи з AWS.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Management Console — це те, з чим більшість людей уперше стикається, коли починає роботу з AWS: звичайний веб-сайт console.aws.amazon.com, куди ви заходите через браузер. Зверху завжди є рядок пошуку — почніть вводити назву сервісу, наприклад "S3", і консоль одразу запропонує перейти туди; поруч — перемикач регіону, дуже важливий елемент, бо більшість ресурсів AWS прив'язані до конкретного регіону, і якщо ви створили сервер в одному регіоні, а дивитесь в іншому — просто його не побачите. Щодо першого налаштування — ми детально розбирали це на минулому занятті про IAM: реєструєте акаунт, одразу вмикаєте MFA для root, і найголовніше — ніколи не працюєте під root у повсякденних задачах, а створюєте окремого IAM-адміністратора. На дашборді ви побачите картки з сервісами та історію останніх відвіданих розділів — це зручно, коли ви часто перемикаєтесь між кількома сервісами в межах одного завдання.</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Коли ви тільки починаєте, консоль AWS може здатись величезною й заплутаною — і це справедливо, адже сервісів там понад дві сотні. Тому варто одразу освоїти кілька прийомів навігації. По-перше, рядок пошуку зверху — це найшвидший спосіб потрапити куди завгодно, набагато швидший, ніж гортати список категорій зліва. По-друге, обрані сервіси: якщо ви щодня працюєте з EC2, S3 і Lambda, закріпіть їх зірочкою — вони з'являться у верхній панелі поруч із рядком пошуку, і більше не доведеться їх шукати. І по-третє, коли інфраструктура зростає — з'являються десятки чи сотні ресурсів різних типів — на допомогу приходять теги: якщо ви послідовно тегуєте ресурси, наприклад Project=Backend чи Environment=Production, Tag Editor дозволяє миттєво знайти всі ресурси певного проєкту незалежно від того, до якого сервісу вони належать.</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 — це офіційний інструмент командного рядка від AWS, який працює однаково на Windows, macOS і Linux. Головна ідея: усе, що можна зробити в консолі мишкою, можна зробити й командою в терміналі — і часто це набагато швидше. Уявіть, що потрібно перевірити статус 50 серверів: у консолі це означає відкрити EC2, прогорнути список, подивитись колонку статусу для кожного. Командою aws ec2 describe-instances з фільтром — це одна команда і миттєвий результат. Але справжня сила CLI розкривається в автоматизації: ви можете написати bash-скрипт, який щоночі бекапить дані в S3, або Python-скрипт, який перевіряє здоров'я інфраструктури — і CLI-команди стають будівельними блоками цієї автоматизації. Ще одна перевага: команди можна зберігати в документації чи скриптах — це вже елемент підходу Infrastructure as Code, де інфраструктура описується та відтворюється як код, а не як послідовність кліків, яку важко задокументувати.</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Встановлення CLI залежить від операційної системи: на Windows це звичайний MSI-інсталятор, на macOS — пакет .pkg або, якщо ви користуєтесь Homebrew, одна команда brew install awscli, а на Linux — офіційний скрипт, який завантажується через curl і розпаковується. Після встановлення перевірте версію командою aws --version — якщо все встановлено коректно, побачите номер версії CLI та версію Python, на якому він працює. Далі — найважливіший крок: конфігурація через aws configure. Ця команда запитає чотири речі: Access Key ID та Secret Access Key — це облікові дані користувача IAM, які ви створюєте заздалегідь у консолі, у розділі Security credentials; регіон за замовчуванням, щоб щоразу його не вказувати; і формат виводу — зазвичай json, бо його зручно обробляти скриптами. Важливо: ці ключі дають CLI ті самі права, що має відповідний IAM-користувач у консолі — саме тому принцип мінімальних привілеїв, який ми розглядали минулого разу, застосовується тут так само суворо.</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практиці розробник рідко працює лише з одним AWS-акаунтом: часто є окремі облікові дані для розробки, для тестового середовища, для продакшену, або навіть для акаунтів різних клієнтів. Замість того, щоб щоразу переналаштовувати CLI командою aws configure, AWS дозволяє зберігати кілька іменованих профілів. Фізично це два текстові файли у вашій домашній директорії: ~/.aws/credentials зберігає секретні ключі для кожного профілю, а ~/.aws/config — публічні налаштування на кшталт регіону та формату виводу. Профіль "default" використовується автоматично, коли ви не вказуєте інший. Щоб створити новий профіль, наприклад "production", виконайте aws configure --profile production — CLI запитає окремі ключі саме для цього профілю і збереже їх під відповідною секцією у файлах. Далі, щоб виконати команду від імені конкретного профілю, достатньо додати прапорець --profile до будь-якої команди — це критично важливо, щоб випадково не виконати операцію в продакшн-акаунті, працюючи з тестовим.</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Незалежно від того, з яким сервісом ви працюєте, структура команди CLI завжди однакова: aws, потім назва сервіса, потім дія, і опційно — додаткові параметри. Наприклад, aws s3 ls — це сервіс s3 і дія ls, список бакетів. aws s3 cp — дія копіювання, тут же ви вказуєте локальний файл і призначення в S3. aws ec2 describe-instances покаже всі ваші сервери разом зі станом — running, stopped і так далі. aws iam list-users — те, з чим ми познайомимось детальніше буквально за кілька слайдів через SDK. Зверніть увагу: назва дії в CLI майже завжди відповідає назві методу API AWS — це не випадковість, CLI, по суті, є тонкою обгорткою над тим самим API, яким користується і Management Console, і SDK. Тому, вивчивши структуру команд, ви одночасно починаєте розуміти й структуру самого AWS API, що дуже стане в пригоді, коли ми перейдемо до SDK.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 чудово підходить для ручних команд і скриптів, але коли AWS потрібно викликати прямо з застосунку — наприклад, ваш backend повинен зберегти файл у S3 після завантаження користувачем — на допомогу приходить SDK. AWS підтримує офіційні SDK для всіх популярних мов програмування. Для Python це boto3 — саме його ми будемо використовувати на наступному слайді, він особливо популярний у дата-інженерії та машинному навчанні. Для JavaScript є AWS SDK версії 3, який має модульну архітектуру — замість того, щоб підключати весь SDK одним важким пакетом, ви ставите лише клієнт потрібного сервісу, наприклад @aws-sdk/client-s3, це суттєво зменшує розмір застосунку. Для C# є AWS SDK for .NET з глибокою підтримкою сучасних патернів — async/await, dependency injection, що добре лягає на типову архітектуру .NET-застосунків. Незалежно від мови, принцип той самий: SDK — це обгортка над тим самим AWS API, тому логіка автентифікації, профілів та дозволів, які ми вже розглянули, працює однаково для CLI та для будь-якого SDK.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Розберемо цей приклад рядок за рядком, так само, як робили б на практичному занятті. Спочатку імпортуємо бібліотеку boto3 — її потрібно попередньо встановити командою pip install boto3. Далі створюємо Session, і саме тут вказуємо, який профіль використати — той самий profile_name, який ми налаштували раніше через aws configure --profile; якщо профіль не вказати, buto3 автоматично візьме профіль "default". З сесії створюємо клієнта для конкретного сервісу — session.client("iam") — і зверніть увагу, це саме той самий принцип, що й у CLI, де ми писали aws iam. Далі викликаємо метод list_users() — і це прямий аналог команди aws iam list-users, яку ми бачили кілька слайдів тому: boto3 просто надає ці самі можливості у вигляді Python-методів замість текстових команд. Відповідь від AWS приходить як звичайний Python-словник, з яким можна працювати як із будь-яким іншим об'єктом — тут ми проходимось циклом по списку користувачів і друкуємо ім'я кожного. Головний висновок цього слайду: CLI, Console і SDK — це три різні інтерфейси до одного й того самого AWS API, тому логіка команд і структура даних між ними майже завжди збігаються.</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Завершимо заняття розбором помилок, які практично гарантовано зустрінуться вам у перші дні роботи з CLI чи SDK — і це нормально, важливо вміти швидко їх діагностувати. AccessDenied — найчастіша помилка: ваші облікові дані коректні, AWS вас впізнав, але політика IAM просто не дозволяє цю конкретну дію — рішення завжди починається з перегляду відповідної IAM-політики. InvalidClientTokenId зазвичай означає одне: Access Key ID введений з помилкою або ключ вже видалили в консолі — варто звірити його символ у символ. ExpiredToken з'являється, коли ви працюєте з тимчасовими обліковими даними, наприклад отриманими через роль чи AWS SSO — вони автоматично закінчуються за годину чи кілька годин, і рішення просте: повторний логін. І SignatureDoesNotMatch — підступна помилка, яка майже завжди означає, що Secret Access Key скопійований з зайвим пробілом чи символом переносу рядка — найнадійніше рішення тут — перестворити профіль наново, акуратно скопіювавши ключ. І насамкінець практична порада: прапорець --debug у будь-якій CLI-команді покаже вам повний HTTP-запит і відповідь від AWS — це найшвидший спосіб зрозуміти, що саме пішло не так.</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a:effectLst/>
      </p:bgPr>
    </p:bg>
    <p:spTree>
      <p:nvGrpSpPr>
        <p:cNvPr id="1" name=""/>
        <p:cNvGrpSpPr/>
        <p:nvPr/>
      </p:nvGrpSpPr>
      <p:grpSpPr>
        <a:xfrm>
          <a:off x="0" y="0"/>
          <a:ext cx="0" cy="0"/>
          <a:chOff x="0" y="0"/>
          <a:chExt cx="0" cy="0"/>
        </a:xfrm>
      </p:grpSpPr>
      <p:pic>
        <p:nvPicPr>
          <p:cNvPr id="2" name="Image 0" descr="/home/claude/icons/terminal_slate.png"/>
          <p:cNvPicPr>
            <a:picLocks noChangeAspect="1"/>
          </p:cNvPicPr>
          <p:nvPr/>
        </p:nvPicPr>
        <p:blipFill>
          <a:blip r:embed="rId3">
            <a:alphaModFix amt="26000"/>
          </a:blip>
          <a:stretch>
            <a:fillRect/>
          </a:stretch>
        </p:blipFill>
        <p:spPr>
          <a:xfrm>
            <a:off x="8595360" y="3291840"/>
            <a:ext cx="3931920" cy="3931920"/>
          </a:xfrm>
          <a:prstGeom prst="rect">
            <a:avLst/>
          </a:prstGeom>
        </p:spPr>
      </p:pic>
      <p:pic>
        <p:nvPicPr>
          <p:cNvPr id="3" name="Image 1" descr="/home/claude/icons/code_slate.png"/>
          <p:cNvPicPr>
            <a:picLocks noChangeAspect="1"/>
          </p:cNvPicPr>
          <p:nvPr/>
        </p:nvPicPr>
        <p:blipFill>
          <a:blip r:embed="rId4">
            <a:alphaModFix amt="20000"/>
          </a:blip>
          <a:stretch>
            <a:fillRect/>
          </a:stretch>
        </p:blipFill>
        <p:spPr>
          <a:xfrm>
            <a:off x="7223760" y="4709160"/>
            <a:ext cx="2286000" cy="2286000"/>
          </a:xfrm>
          <a:prstGeom prst="rect">
            <a:avLst/>
          </a:prstGeom>
        </p:spPr>
      </p:pic>
      <p:sp>
        <p:nvSpPr>
          <p:cNvPr id="4" name="Text 0"/>
          <p:cNvSpPr txBox="1"/>
          <p:nvPr/>
        </p:nvSpPr>
        <p:spPr>
          <a:xfrm>
            <a:off x="822960" y="1371600"/>
            <a:ext cx="8229600" cy="365760"/>
          </a:xfrm>
          <a:prstGeom prst="rect">
            <a:avLst/>
          </a:prstGeom>
          <a:noFill/>
          <a:ln/>
        </p:spPr>
        <p:txBody>
          <a:bodyPr wrap="square" rtlCol="0" anchor="ctr"/>
          <a:lstStyle/>
          <a:p>
            <a:r>
              <a:rPr lang="uk-UA" sz="1400" b="1" kern="0" spc="200" dirty="0">
                <a:solidFill>
                  <a:srgbClr val="FF9900"/>
                </a:solidFill>
                <a:latin typeface="Calibri" pitchFamily="34" charset="0"/>
                <a:ea typeface="Calibri" pitchFamily="34" charset="-122"/>
                <a:cs typeface="Calibri" pitchFamily="34" charset="-120"/>
              </a:rPr>
              <a:t>СТВОРЕННЯ </a:t>
            </a:r>
            <a:r>
              <a:rPr lang="en-US" sz="1400" b="1" kern="0" spc="200" dirty="0">
                <a:solidFill>
                  <a:srgbClr val="FF9900"/>
                </a:solidFill>
                <a:latin typeface="Calibri" pitchFamily="34" charset="0"/>
                <a:ea typeface="Calibri" pitchFamily="34" charset="-122"/>
                <a:cs typeface="Calibri" pitchFamily="34" charset="-120"/>
              </a:rPr>
              <a:t>ХМАРНИХ </a:t>
            </a:r>
            <a:r>
              <a:rPr lang="uk-UA" sz="1400" b="1" kern="0" spc="200" dirty="0">
                <a:solidFill>
                  <a:srgbClr val="FF9900"/>
                </a:solidFill>
                <a:latin typeface="Calibri" pitchFamily="34" charset="0"/>
                <a:ea typeface="Calibri" pitchFamily="34" charset="-122"/>
                <a:cs typeface="Calibri" pitchFamily="34" charset="-120"/>
              </a:rPr>
              <a:t>РІШЕНЬ З ВИКОРИСТАННЯМ </a:t>
            </a:r>
            <a:r>
              <a:rPr lang="en-US" sz="1400" b="1" kern="0" spc="200" dirty="0">
                <a:solidFill>
                  <a:srgbClr val="FF9900"/>
                </a:solidFill>
                <a:latin typeface="Calibri" pitchFamily="34" charset="0"/>
                <a:ea typeface="Calibri" pitchFamily="34" charset="-122"/>
                <a:cs typeface="Calibri" pitchFamily="34" charset="-120"/>
              </a:rPr>
              <a:t>AWS</a:t>
            </a:r>
            <a:endParaRPr lang="en-US" sz="1400" dirty="0"/>
          </a:p>
        </p:txBody>
      </p:sp>
      <p:sp>
        <p:nvSpPr>
          <p:cNvPr id="5" name="Text 1"/>
          <p:cNvSpPr txBox="1"/>
          <p:nvPr/>
        </p:nvSpPr>
        <p:spPr>
          <a:xfrm>
            <a:off x="777240" y="1828800"/>
            <a:ext cx="9875520" cy="1371600"/>
          </a:xfrm>
          <a:prstGeom prst="rect">
            <a:avLst/>
          </a:prstGeom>
          <a:noFill/>
          <a:ln/>
        </p:spPr>
        <p:txBody>
          <a:bodyPr wrap="square" rtlCol="0" anchor="ctr"/>
          <a:lstStyle/>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AWS Console, CLI та SDK</a:t>
            </a:r>
            <a:endParaRPr lang="en-US" sz="4600" dirty="0"/>
          </a:p>
        </p:txBody>
      </p:sp>
      <p:sp>
        <p:nvSpPr>
          <p:cNvPr id="6" name="Text 2"/>
          <p:cNvSpPr txBox="1"/>
          <p:nvPr/>
        </p:nvSpPr>
        <p:spPr>
          <a:xfrm>
            <a:off x="822960" y="3246120"/>
            <a:ext cx="8686800" cy="73152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Три способи керувати AWS: від кліків мишкою в браузері до автоматизації кодом</a:t>
            </a:r>
            <a:endParaRPr lang="en-US" sz="1600" dirty="0"/>
          </a:p>
        </p:txBody>
      </p:sp>
      <p:sp>
        <p:nvSpPr>
          <p:cNvPr id="7" name="Shape 3"/>
          <p:cNvSpPr/>
          <p:nvPr/>
        </p:nvSpPr>
        <p:spPr>
          <a:xfrm>
            <a:off x="1149535" y="5349240"/>
            <a:ext cx="502920" cy="502920"/>
          </a:xfrm>
          <a:prstGeom prst="ellipse">
            <a:avLst/>
          </a:prstGeom>
          <a:solidFill>
            <a:srgbClr val="37475A"/>
          </a:solidFill>
          <a:ln/>
        </p:spPr>
        <p:txBody>
          <a:bodyPr/>
          <a:lstStyle/>
          <a:p>
            <a:endParaRPr lang="en-UA"/>
          </a:p>
        </p:txBody>
      </p:sp>
      <p:pic>
        <p:nvPicPr>
          <p:cNvPr id="8" name="Image 2" descr="/home/claude/icons/desktop_orange.png"/>
          <p:cNvPicPr>
            <a:picLocks noChangeAspect="1"/>
          </p:cNvPicPr>
          <p:nvPr/>
        </p:nvPicPr>
        <p:blipFill>
          <a:blip r:embed="rId5"/>
          <a:stretch>
            <a:fillRect/>
          </a:stretch>
        </p:blipFill>
        <p:spPr>
          <a:xfrm>
            <a:off x="1250119" y="5449824"/>
            <a:ext cx="301752" cy="301752"/>
          </a:xfrm>
          <a:prstGeom prst="rect">
            <a:avLst/>
          </a:prstGeom>
        </p:spPr>
      </p:pic>
      <p:sp>
        <p:nvSpPr>
          <p:cNvPr id="9" name="Text 4"/>
          <p:cNvSpPr txBox="1"/>
          <p:nvPr/>
        </p:nvSpPr>
        <p:spPr>
          <a:xfrm>
            <a:off x="744586" y="5897880"/>
            <a:ext cx="1920240" cy="457200"/>
          </a:xfrm>
          <a:prstGeom prst="rect">
            <a:avLst/>
          </a:prstGeom>
          <a:noFill/>
          <a:ln/>
        </p:spPr>
        <p:txBody>
          <a:bodyPr wrap="square" rtlCol="0" anchor="ctr"/>
          <a:lstStyle/>
          <a:p>
            <a:pPr marL="0" indent="0" algn="l">
              <a:buNone/>
            </a:pPr>
            <a:r>
              <a:rPr lang="en-US" sz="1050" dirty="0">
                <a:solidFill>
                  <a:srgbClr val="A9B7C6"/>
                </a:solidFill>
                <a:latin typeface="Calibri" pitchFamily="34" charset="0"/>
                <a:ea typeface="Calibri" pitchFamily="34" charset="-122"/>
                <a:cs typeface="Calibri" pitchFamily="34" charset="-120"/>
              </a:rPr>
              <a:t>Management Console</a:t>
            </a:r>
            <a:endParaRPr lang="en-US" sz="1050" dirty="0"/>
          </a:p>
        </p:txBody>
      </p:sp>
      <p:sp>
        <p:nvSpPr>
          <p:cNvPr id="10" name="Shape 5"/>
          <p:cNvSpPr/>
          <p:nvPr/>
        </p:nvSpPr>
        <p:spPr>
          <a:xfrm>
            <a:off x="3161215" y="5349240"/>
            <a:ext cx="502920" cy="502920"/>
          </a:xfrm>
          <a:prstGeom prst="ellipse">
            <a:avLst/>
          </a:prstGeom>
          <a:solidFill>
            <a:srgbClr val="37475A"/>
          </a:solidFill>
          <a:ln/>
        </p:spPr>
        <p:txBody>
          <a:bodyPr/>
          <a:lstStyle/>
          <a:p>
            <a:endParaRPr lang="en-UA"/>
          </a:p>
        </p:txBody>
      </p:sp>
      <p:pic>
        <p:nvPicPr>
          <p:cNvPr id="11" name="Image 3" descr="/home/claude/icons/terminal_orange.png"/>
          <p:cNvPicPr>
            <a:picLocks noChangeAspect="1"/>
          </p:cNvPicPr>
          <p:nvPr/>
        </p:nvPicPr>
        <p:blipFill>
          <a:blip r:embed="rId6"/>
          <a:stretch>
            <a:fillRect/>
          </a:stretch>
        </p:blipFill>
        <p:spPr>
          <a:xfrm>
            <a:off x="3261799" y="5449824"/>
            <a:ext cx="301752" cy="301752"/>
          </a:xfrm>
          <a:prstGeom prst="rect">
            <a:avLst/>
          </a:prstGeom>
        </p:spPr>
      </p:pic>
      <p:sp>
        <p:nvSpPr>
          <p:cNvPr id="12" name="Text 6"/>
          <p:cNvSpPr txBox="1"/>
          <p:nvPr/>
        </p:nvSpPr>
        <p:spPr>
          <a:xfrm>
            <a:off x="2756266" y="5897880"/>
            <a:ext cx="1920240" cy="457200"/>
          </a:xfrm>
          <a:prstGeom prst="rect">
            <a:avLst/>
          </a:prstGeom>
          <a:noFill/>
          <a:ln/>
        </p:spPr>
        <p:txBody>
          <a:bodyPr wrap="square" rtlCol="0" anchor="ctr"/>
          <a:lstStyle/>
          <a:p>
            <a:pPr marL="0" indent="0" algn="l">
              <a:buNone/>
            </a:pPr>
            <a:r>
              <a:rPr lang="en-US" sz="1050" dirty="0">
                <a:solidFill>
                  <a:srgbClr val="A9B7C6"/>
                </a:solidFill>
                <a:latin typeface="Calibri" pitchFamily="34" charset="0"/>
                <a:ea typeface="Calibri" pitchFamily="34" charset="-122"/>
                <a:cs typeface="Calibri" pitchFamily="34" charset="-120"/>
              </a:rPr>
              <a:t>Command Line (CLI)</a:t>
            </a:r>
            <a:endParaRPr lang="en-US" sz="1050" dirty="0"/>
          </a:p>
        </p:txBody>
      </p:sp>
      <p:sp>
        <p:nvSpPr>
          <p:cNvPr id="13" name="Shape 7"/>
          <p:cNvSpPr/>
          <p:nvPr/>
        </p:nvSpPr>
        <p:spPr>
          <a:xfrm>
            <a:off x="5172895" y="5349240"/>
            <a:ext cx="502920" cy="502920"/>
          </a:xfrm>
          <a:prstGeom prst="ellipse">
            <a:avLst/>
          </a:prstGeom>
          <a:solidFill>
            <a:srgbClr val="37475A"/>
          </a:solidFill>
          <a:ln/>
        </p:spPr>
        <p:txBody>
          <a:bodyPr/>
          <a:lstStyle/>
          <a:p>
            <a:endParaRPr lang="en-UA"/>
          </a:p>
        </p:txBody>
      </p:sp>
      <p:pic>
        <p:nvPicPr>
          <p:cNvPr id="14" name="Image 4" descr="/home/claude/icons/code_orange.png"/>
          <p:cNvPicPr>
            <a:picLocks noChangeAspect="1"/>
          </p:cNvPicPr>
          <p:nvPr/>
        </p:nvPicPr>
        <p:blipFill>
          <a:blip r:embed="rId7"/>
          <a:stretch>
            <a:fillRect/>
          </a:stretch>
        </p:blipFill>
        <p:spPr>
          <a:xfrm>
            <a:off x="5273479" y="5449824"/>
            <a:ext cx="301752" cy="301752"/>
          </a:xfrm>
          <a:prstGeom prst="rect">
            <a:avLst/>
          </a:prstGeom>
        </p:spPr>
      </p:pic>
      <p:sp>
        <p:nvSpPr>
          <p:cNvPr id="15" name="Text 8"/>
          <p:cNvSpPr txBox="1"/>
          <p:nvPr/>
        </p:nvSpPr>
        <p:spPr>
          <a:xfrm>
            <a:off x="4767946" y="5897880"/>
            <a:ext cx="1920240" cy="457200"/>
          </a:xfrm>
          <a:prstGeom prst="rect">
            <a:avLst/>
          </a:prstGeom>
          <a:noFill/>
          <a:ln/>
        </p:spPr>
        <p:txBody>
          <a:bodyPr wrap="square" rtlCol="0" anchor="ctr"/>
          <a:lstStyle/>
          <a:p>
            <a:pPr marL="0" indent="0" algn="l">
              <a:buNone/>
            </a:pPr>
            <a:r>
              <a:rPr lang="en-US" sz="1050" dirty="0">
                <a:solidFill>
                  <a:srgbClr val="A9B7C6"/>
                </a:solidFill>
                <a:latin typeface="Calibri" pitchFamily="34" charset="0"/>
                <a:ea typeface="Calibri" pitchFamily="34" charset="-122"/>
                <a:cs typeface="Calibri" pitchFamily="34" charset="-120"/>
              </a:rPr>
              <a:t>SDK для розробників</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3F3"/>
        </a:solidFill>
        <a:effectLst/>
      </p:bgPr>
    </p:bg>
    <p:spTree>
      <p:nvGrpSpPr>
        <p:cNvPr id="1" name=""/>
        <p:cNvGrpSpPr/>
        <p:nvPr/>
      </p:nvGrpSpPr>
      <p:grpSpPr>
        <a:xfrm>
          <a:off x="0" y="0"/>
          <a:ext cx="0" cy="0"/>
          <a:chOff x="0" y="0"/>
          <a:chExt cx="0" cy="0"/>
        </a:xfrm>
      </p:grpSpPr>
      <p:sp>
        <p:nvSpPr>
          <p:cNvPr id="3" name="Text 1"/>
          <p:cNvSpPr txBox="1"/>
          <p:nvPr/>
        </p:nvSpPr>
        <p:spPr>
          <a:xfrm>
            <a:off x="548640" y="352044"/>
            <a:ext cx="11064240" cy="822960"/>
          </a:xfrm>
          <a:prstGeom prst="rect">
            <a:avLst/>
          </a:prstGeom>
          <a:noFill/>
          <a:ln/>
        </p:spPr>
        <p:txBody>
          <a:bodyPr wrap="square" rtlCol="0" anchor="ctr"/>
          <a:lstStyle/>
          <a:p>
            <a:pPr marL="0" indent="0">
              <a:buNone/>
            </a:pPr>
            <a:r>
              <a:rPr lang="en-US" sz="3200" b="1" dirty="0">
                <a:solidFill>
                  <a:srgbClr val="16191F"/>
                </a:solidFill>
                <a:latin typeface="Cambria" pitchFamily="34" charset="0"/>
                <a:ea typeface="Cambria" pitchFamily="34" charset="-122"/>
                <a:cs typeface="Cambria" pitchFamily="34" charset="-120"/>
              </a:rPr>
              <a:t>AWS Management Console: огляд і налаштування</a:t>
            </a:r>
            <a:endParaRPr lang="en-US" sz="3200" dirty="0"/>
          </a:p>
        </p:txBody>
      </p:sp>
      <p:sp>
        <p:nvSpPr>
          <p:cNvPr id="4" name="Text 2"/>
          <p:cNvSpPr txBox="1"/>
          <p:nvPr/>
        </p:nvSpPr>
        <p:spPr>
          <a:xfrm>
            <a:off x="548640" y="1444752"/>
            <a:ext cx="5212080" cy="914400"/>
          </a:xfrm>
          <a:prstGeom prst="rect">
            <a:avLst/>
          </a:prstGeom>
          <a:noFill/>
          <a:ln/>
        </p:spPr>
        <p:txBody>
          <a:bodyPr wrap="square" rtlCol="0" anchor="ctr"/>
          <a:lstStyle/>
          <a:p>
            <a:pPr marL="0" indent="0">
              <a:lnSpc>
                <a:spcPct val="130000"/>
              </a:lnSpc>
              <a:buNone/>
            </a:pPr>
            <a:r>
              <a:rPr lang="en-US" sz="1400" b="1" dirty="0">
                <a:solidFill>
                  <a:srgbClr val="16191F"/>
                </a:solidFill>
                <a:latin typeface="Calibri" pitchFamily="34" charset="0"/>
                <a:ea typeface="Calibri" pitchFamily="34" charset="-122"/>
                <a:cs typeface="Calibri" pitchFamily="34" charset="-120"/>
              </a:rPr>
              <a:t>AWS Management Console </a:t>
            </a:r>
            <a:r>
              <a:rPr lang="en-US" sz="1400" dirty="0">
                <a:solidFill>
                  <a:srgbClr val="16191F"/>
                </a:solidFill>
                <a:latin typeface="Calibri" pitchFamily="34" charset="0"/>
                <a:ea typeface="Calibri" pitchFamily="34" charset="-122"/>
                <a:cs typeface="Calibri" pitchFamily="34" charset="-120"/>
              </a:rPr>
              <a:t>— веб-інтерфейс для керування ресурсами AWS вручну, у браузері, без написання коду.</a:t>
            </a:r>
            <a:endParaRPr lang="en-US" sz="1400" dirty="0"/>
          </a:p>
        </p:txBody>
      </p:sp>
      <p:sp>
        <p:nvSpPr>
          <p:cNvPr id="5" name="Text 3"/>
          <p:cNvSpPr txBox="1"/>
          <p:nvPr/>
        </p:nvSpPr>
        <p:spPr>
          <a:xfrm>
            <a:off x="548640" y="2606040"/>
            <a:ext cx="5212080" cy="320040"/>
          </a:xfrm>
          <a:prstGeom prst="rect">
            <a:avLst/>
          </a:prstGeom>
          <a:noFill/>
          <a:ln/>
        </p:spPr>
        <p:txBody>
          <a:bodyPr wrap="square" rtlCol="0" anchor="ctr"/>
          <a:lstStyle/>
          <a:p>
            <a:pPr marL="0" indent="0">
              <a:buNone/>
            </a:pPr>
            <a:r>
              <a:rPr lang="en-US" sz="1300" b="1" dirty="0">
                <a:solidFill>
                  <a:srgbClr val="16191F"/>
                </a:solidFill>
                <a:latin typeface="Calibri" pitchFamily="34" charset="0"/>
                <a:ea typeface="Calibri" pitchFamily="34" charset="-122"/>
                <a:cs typeface="Calibri" pitchFamily="34" charset="-120"/>
              </a:rPr>
              <a:t>Перше налаштування облікового запису:</a:t>
            </a:r>
            <a:endParaRPr lang="en-US" sz="1300" dirty="0"/>
          </a:p>
        </p:txBody>
      </p:sp>
      <p:sp>
        <p:nvSpPr>
          <p:cNvPr id="6" name="Shape 4"/>
          <p:cNvSpPr/>
          <p:nvPr/>
        </p:nvSpPr>
        <p:spPr>
          <a:xfrm>
            <a:off x="548640" y="3017520"/>
            <a:ext cx="384048" cy="384048"/>
          </a:xfrm>
          <a:prstGeom prst="ellipse">
            <a:avLst/>
          </a:prstGeom>
          <a:solidFill>
            <a:srgbClr val="232F3E"/>
          </a:solidFill>
          <a:ln/>
        </p:spPr>
        <p:txBody>
          <a:bodyPr/>
          <a:lstStyle/>
          <a:p>
            <a:endParaRPr lang="en-UA"/>
          </a:p>
        </p:txBody>
      </p:sp>
      <p:pic>
        <p:nvPicPr>
          <p:cNvPr id="7" name="Image 0" descr="/home/claude/icons/idCard_orange.png"/>
          <p:cNvPicPr>
            <a:picLocks noChangeAspect="1"/>
          </p:cNvPicPr>
          <p:nvPr/>
        </p:nvPicPr>
        <p:blipFill>
          <a:blip r:embed="rId3"/>
          <a:stretch>
            <a:fillRect/>
          </a:stretch>
        </p:blipFill>
        <p:spPr>
          <a:xfrm>
            <a:off x="649224" y="3118104"/>
            <a:ext cx="182880" cy="182880"/>
          </a:xfrm>
          <a:prstGeom prst="rect">
            <a:avLst/>
          </a:prstGeom>
        </p:spPr>
      </p:pic>
      <p:sp>
        <p:nvSpPr>
          <p:cNvPr id="8" name="Text 5"/>
          <p:cNvSpPr txBox="1"/>
          <p:nvPr/>
        </p:nvSpPr>
        <p:spPr>
          <a:xfrm>
            <a:off x="1051560" y="2990088"/>
            <a:ext cx="4709160" cy="457200"/>
          </a:xfrm>
          <a:prstGeom prst="rect">
            <a:avLst/>
          </a:prstGeom>
          <a:noFill/>
          <a:ln/>
        </p:spPr>
        <p:txBody>
          <a:bodyPr wrap="square" rtlCol="0" anchor="ctr"/>
          <a:lstStyle/>
          <a:p>
            <a:pPr marL="0" indent="0">
              <a:lnSpc>
                <a:spcPct val="115000"/>
              </a:lnSpc>
              <a:buNone/>
            </a:pPr>
            <a:r>
              <a:rPr lang="en-US" sz="1150" dirty="0">
                <a:solidFill>
                  <a:srgbClr val="16191F"/>
                </a:solidFill>
                <a:latin typeface="Calibri" pitchFamily="34" charset="0"/>
                <a:ea typeface="Calibri" pitchFamily="34" charset="-122"/>
                <a:cs typeface="Calibri" pitchFamily="34" charset="-120"/>
              </a:rPr>
              <a:t>Реєстрація акаунту та підтвердження платіжної картки</a:t>
            </a:r>
            <a:endParaRPr lang="en-US" sz="1150" dirty="0"/>
          </a:p>
        </p:txBody>
      </p:sp>
      <p:sp>
        <p:nvSpPr>
          <p:cNvPr id="9" name="Shape 6"/>
          <p:cNvSpPr/>
          <p:nvPr/>
        </p:nvSpPr>
        <p:spPr>
          <a:xfrm>
            <a:off x="548640" y="3584448"/>
            <a:ext cx="384048" cy="384048"/>
          </a:xfrm>
          <a:prstGeom prst="ellipse">
            <a:avLst/>
          </a:prstGeom>
          <a:solidFill>
            <a:srgbClr val="232F3E"/>
          </a:solidFill>
          <a:ln/>
        </p:spPr>
        <p:txBody>
          <a:bodyPr/>
          <a:lstStyle/>
          <a:p>
            <a:endParaRPr lang="en-UA"/>
          </a:p>
        </p:txBody>
      </p:sp>
      <p:pic>
        <p:nvPicPr>
          <p:cNvPr id="10" name="Image 1" descr="/home/claude/icons/fingerprint_orange.png"/>
          <p:cNvPicPr>
            <a:picLocks noChangeAspect="1"/>
          </p:cNvPicPr>
          <p:nvPr/>
        </p:nvPicPr>
        <p:blipFill>
          <a:blip r:embed="rId4"/>
          <a:stretch>
            <a:fillRect/>
          </a:stretch>
        </p:blipFill>
        <p:spPr>
          <a:xfrm>
            <a:off x="649224" y="3685032"/>
            <a:ext cx="182880" cy="182880"/>
          </a:xfrm>
          <a:prstGeom prst="rect">
            <a:avLst/>
          </a:prstGeom>
        </p:spPr>
      </p:pic>
      <p:sp>
        <p:nvSpPr>
          <p:cNvPr id="11" name="Text 7"/>
          <p:cNvSpPr txBox="1"/>
          <p:nvPr/>
        </p:nvSpPr>
        <p:spPr>
          <a:xfrm>
            <a:off x="1051560" y="3557016"/>
            <a:ext cx="4709160" cy="457200"/>
          </a:xfrm>
          <a:prstGeom prst="rect">
            <a:avLst/>
          </a:prstGeom>
          <a:noFill/>
          <a:ln/>
        </p:spPr>
        <p:txBody>
          <a:bodyPr wrap="square" rtlCol="0" anchor="ctr"/>
          <a:lstStyle/>
          <a:p>
            <a:pPr marL="0" indent="0">
              <a:lnSpc>
                <a:spcPct val="115000"/>
              </a:lnSpc>
              <a:buNone/>
            </a:pPr>
            <a:r>
              <a:rPr lang="en-US" sz="1150" dirty="0">
                <a:solidFill>
                  <a:srgbClr val="16191F"/>
                </a:solidFill>
                <a:latin typeface="Calibri" pitchFamily="34" charset="0"/>
                <a:ea typeface="Calibri" pitchFamily="34" charset="-122"/>
                <a:cs typeface="Calibri" pitchFamily="34" charset="-120"/>
              </a:rPr>
              <a:t>Увімкнення MFA для root-користувача</a:t>
            </a:r>
            <a:endParaRPr lang="en-US" sz="1150" dirty="0"/>
          </a:p>
        </p:txBody>
      </p:sp>
      <p:sp>
        <p:nvSpPr>
          <p:cNvPr id="12" name="Shape 8"/>
          <p:cNvSpPr/>
          <p:nvPr/>
        </p:nvSpPr>
        <p:spPr>
          <a:xfrm>
            <a:off x="548640" y="4151376"/>
            <a:ext cx="384048" cy="384048"/>
          </a:xfrm>
          <a:prstGeom prst="ellipse">
            <a:avLst/>
          </a:prstGeom>
          <a:solidFill>
            <a:srgbClr val="232F3E"/>
          </a:solidFill>
          <a:ln/>
        </p:spPr>
        <p:txBody>
          <a:bodyPr/>
          <a:lstStyle/>
          <a:p>
            <a:endParaRPr lang="en-UA"/>
          </a:p>
        </p:txBody>
      </p:sp>
      <p:pic>
        <p:nvPicPr>
          <p:cNvPr id="13" name="Image 2" descr="/home/claude/icons/userTag_orange.png"/>
          <p:cNvPicPr>
            <a:picLocks noChangeAspect="1"/>
          </p:cNvPicPr>
          <p:nvPr/>
        </p:nvPicPr>
        <p:blipFill>
          <a:blip r:embed="rId5"/>
          <a:stretch>
            <a:fillRect/>
          </a:stretch>
        </p:blipFill>
        <p:spPr>
          <a:xfrm>
            <a:off x="649224" y="4251960"/>
            <a:ext cx="182880" cy="182880"/>
          </a:xfrm>
          <a:prstGeom prst="rect">
            <a:avLst/>
          </a:prstGeom>
        </p:spPr>
      </p:pic>
      <p:sp>
        <p:nvSpPr>
          <p:cNvPr id="14" name="Text 9"/>
          <p:cNvSpPr txBox="1"/>
          <p:nvPr/>
        </p:nvSpPr>
        <p:spPr>
          <a:xfrm>
            <a:off x="1051560" y="4123944"/>
            <a:ext cx="4709160" cy="457200"/>
          </a:xfrm>
          <a:prstGeom prst="rect">
            <a:avLst/>
          </a:prstGeom>
          <a:noFill/>
          <a:ln/>
        </p:spPr>
        <p:txBody>
          <a:bodyPr wrap="square" rtlCol="0" anchor="ctr"/>
          <a:lstStyle/>
          <a:p>
            <a:pPr marL="0" indent="0">
              <a:lnSpc>
                <a:spcPct val="115000"/>
              </a:lnSpc>
              <a:buNone/>
            </a:pPr>
            <a:r>
              <a:rPr lang="en-US" sz="1150" dirty="0">
                <a:solidFill>
                  <a:srgbClr val="16191F"/>
                </a:solidFill>
                <a:latin typeface="Calibri" pitchFamily="34" charset="0"/>
                <a:ea typeface="Calibri" pitchFamily="34" charset="-122"/>
                <a:cs typeface="Calibri" pitchFamily="34" charset="-120"/>
              </a:rPr>
              <a:t>Створення окремого IAM-адміністратора замість root</a:t>
            </a:r>
            <a:endParaRPr lang="en-US" sz="1150" dirty="0"/>
          </a:p>
        </p:txBody>
      </p:sp>
      <p:sp>
        <p:nvSpPr>
          <p:cNvPr id="15" name="Shape 10"/>
          <p:cNvSpPr/>
          <p:nvPr/>
        </p:nvSpPr>
        <p:spPr>
          <a:xfrm>
            <a:off x="548640" y="4718304"/>
            <a:ext cx="384048" cy="384048"/>
          </a:xfrm>
          <a:prstGeom prst="ellipse">
            <a:avLst/>
          </a:prstGeom>
          <a:solidFill>
            <a:srgbClr val="232F3E"/>
          </a:solidFill>
          <a:ln/>
        </p:spPr>
        <p:txBody>
          <a:bodyPr/>
          <a:lstStyle/>
          <a:p>
            <a:endParaRPr lang="en-UA"/>
          </a:p>
        </p:txBody>
      </p:sp>
      <p:pic>
        <p:nvPicPr>
          <p:cNvPr id="16" name="Image 3" descr="/home/claude/icons/globe_orange.png"/>
          <p:cNvPicPr>
            <a:picLocks noChangeAspect="1"/>
          </p:cNvPicPr>
          <p:nvPr/>
        </p:nvPicPr>
        <p:blipFill>
          <a:blip r:embed="rId6"/>
          <a:stretch>
            <a:fillRect/>
          </a:stretch>
        </p:blipFill>
        <p:spPr>
          <a:xfrm>
            <a:off x="649224" y="4818888"/>
            <a:ext cx="182880" cy="182880"/>
          </a:xfrm>
          <a:prstGeom prst="rect">
            <a:avLst/>
          </a:prstGeom>
        </p:spPr>
      </p:pic>
      <p:sp>
        <p:nvSpPr>
          <p:cNvPr id="17" name="Text 11"/>
          <p:cNvSpPr txBox="1"/>
          <p:nvPr/>
        </p:nvSpPr>
        <p:spPr>
          <a:xfrm>
            <a:off x="1051560" y="4690872"/>
            <a:ext cx="4709160" cy="457200"/>
          </a:xfrm>
          <a:prstGeom prst="rect">
            <a:avLst/>
          </a:prstGeom>
          <a:noFill/>
          <a:ln/>
        </p:spPr>
        <p:txBody>
          <a:bodyPr wrap="square" rtlCol="0" anchor="ctr"/>
          <a:lstStyle/>
          <a:p>
            <a:pPr marL="0" indent="0">
              <a:lnSpc>
                <a:spcPct val="115000"/>
              </a:lnSpc>
              <a:buNone/>
            </a:pPr>
            <a:r>
              <a:rPr lang="en-US" sz="1150" dirty="0">
                <a:solidFill>
                  <a:srgbClr val="16191F"/>
                </a:solidFill>
                <a:latin typeface="Calibri" pitchFamily="34" charset="0"/>
                <a:ea typeface="Calibri" pitchFamily="34" charset="-122"/>
                <a:cs typeface="Calibri" pitchFamily="34" charset="-120"/>
              </a:rPr>
              <a:t>Вибір домашнього регіону для роботи</a:t>
            </a:r>
            <a:endParaRPr lang="en-US" sz="1150" dirty="0"/>
          </a:p>
        </p:txBody>
      </p:sp>
      <p:sp>
        <p:nvSpPr>
          <p:cNvPr id="18" name="Shape 12"/>
          <p:cNvSpPr/>
          <p:nvPr/>
        </p:nvSpPr>
        <p:spPr>
          <a:xfrm>
            <a:off x="6172200" y="1600200"/>
            <a:ext cx="5468112" cy="4434840"/>
          </a:xfrm>
          <a:prstGeom prst="roundRect">
            <a:avLst>
              <a:gd name="adj" fmla="val 2062"/>
            </a:avLst>
          </a:prstGeom>
          <a:solidFill>
            <a:srgbClr val="FFFFFF"/>
          </a:solidFill>
          <a:ln w="12700">
            <a:solidFill>
              <a:srgbClr val="DDE1E6"/>
            </a:solidFill>
            <a:prstDash val="solid"/>
          </a:ln>
          <a:effectLst>
            <a:outerShdw blurRad="101600" dist="38100" dir="5400000" algn="bl" rotWithShape="0">
              <a:srgbClr val="000000">
                <a:alpha val="12000"/>
              </a:srgbClr>
            </a:outerShdw>
          </a:effectLst>
        </p:spPr>
        <p:txBody>
          <a:bodyPr/>
          <a:lstStyle/>
          <a:p>
            <a:endParaRPr lang="en-UA"/>
          </a:p>
        </p:txBody>
      </p:sp>
      <p:sp>
        <p:nvSpPr>
          <p:cNvPr id="19" name="Shape 13"/>
          <p:cNvSpPr/>
          <p:nvPr/>
        </p:nvSpPr>
        <p:spPr>
          <a:xfrm>
            <a:off x="6172200" y="1600200"/>
            <a:ext cx="5468112" cy="457200"/>
          </a:xfrm>
          <a:prstGeom prst="rect">
            <a:avLst/>
          </a:prstGeom>
          <a:solidFill>
            <a:srgbClr val="232F3E"/>
          </a:solidFill>
          <a:ln/>
        </p:spPr>
        <p:txBody>
          <a:bodyPr/>
          <a:lstStyle/>
          <a:p>
            <a:endParaRPr lang="en-UA"/>
          </a:p>
        </p:txBody>
      </p:sp>
      <p:sp>
        <p:nvSpPr>
          <p:cNvPr id="20" name="Shape 14"/>
          <p:cNvSpPr/>
          <p:nvPr/>
        </p:nvSpPr>
        <p:spPr>
          <a:xfrm>
            <a:off x="6373368" y="1764792"/>
            <a:ext cx="128016" cy="128016"/>
          </a:xfrm>
          <a:prstGeom prst="ellipse">
            <a:avLst/>
          </a:prstGeom>
          <a:solidFill>
            <a:srgbClr val="E0605A"/>
          </a:solidFill>
          <a:ln/>
        </p:spPr>
        <p:txBody>
          <a:bodyPr/>
          <a:lstStyle/>
          <a:p>
            <a:endParaRPr lang="en-UA"/>
          </a:p>
        </p:txBody>
      </p:sp>
      <p:sp>
        <p:nvSpPr>
          <p:cNvPr id="21" name="Shape 15"/>
          <p:cNvSpPr/>
          <p:nvPr/>
        </p:nvSpPr>
        <p:spPr>
          <a:xfrm>
            <a:off x="6592824" y="1764792"/>
            <a:ext cx="128016" cy="128016"/>
          </a:xfrm>
          <a:prstGeom prst="ellipse">
            <a:avLst/>
          </a:prstGeom>
          <a:solidFill>
            <a:srgbClr val="E8B84B"/>
          </a:solidFill>
          <a:ln/>
        </p:spPr>
        <p:txBody>
          <a:bodyPr/>
          <a:lstStyle/>
          <a:p>
            <a:endParaRPr lang="en-UA"/>
          </a:p>
        </p:txBody>
      </p:sp>
      <p:sp>
        <p:nvSpPr>
          <p:cNvPr id="22" name="Shape 16"/>
          <p:cNvSpPr/>
          <p:nvPr/>
        </p:nvSpPr>
        <p:spPr>
          <a:xfrm>
            <a:off x="6812280" y="1764792"/>
            <a:ext cx="128016" cy="128016"/>
          </a:xfrm>
          <a:prstGeom prst="ellipse">
            <a:avLst/>
          </a:prstGeom>
          <a:solidFill>
            <a:srgbClr val="5CB86B"/>
          </a:solidFill>
          <a:ln/>
        </p:spPr>
        <p:txBody>
          <a:bodyPr/>
          <a:lstStyle/>
          <a:p>
            <a:endParaRPr lang="en-UA"/>
          </a:p>
        </p:txBody>
      </p:sp>
      <p:sp>
        <p:nvSpPr>
          <p:cNvPr id="23" name="Shape 17"/>
          <p:cNvSpPr/>
          <p:nvPr/>
        </p:nvSpPr>
        <p:spPr>
          <a:xfrm>
            <a:off x="7178040" y="1700784"/>
            <a:ext cx="2176272" cy="256032"/>
          </a:xfrm>
          <a:prstGeom prst="roundRect">
            <a:avLst>
              <a:gd name="adj" fmla="val 50000"/>
            </a:avLst>
          </a:prstGeom>
          <a:solidFill>
            <a:srgbClr val="37475A"/>
          </a:solidFill>
          <a:ln/>
        </p:spPr>
        <p:txBody>
          <a:bodyPr/>
          <a:lstStyle/>
          <a:p>
            <a:endParaRPr lang="en-UA"/>
          </a:p>
        </p:txBody>
      </p:sp>
      <p:sp>
        <p:nvSpPr>
          <p:cNvPr id="24" name="Text 18"/>
          <p:cNvSpPr txBox="1"/>
          <p:nvPr/>
        </p:nvSpPr>
        <p:spPr>
          <a:xfrm>
            <a:off x="7269480" y="1700784"/>
            <a:ext cx="1993392" cy="256032"/>
          </a:xfrm>
          <a:prstGeom prst="rect">
            <a:avLst/>
          </a:prstGeom>
          <a:noFill/>
          <a:ln/>
        </p:spPr>
        <p:txBody>
          <a:bodyPr wrap="square" rtlCol="0" anchor="ctr"/>
          <a:lstStyle/>
          <a:p>
            <a:pPr marL="0" indent="0">
              <a:buNone/>
            </a:pPr>
            <a:r>
              <a:rPr lang="en-US" sz="950" dirty="0">
                <a:solidFill>
                  <a:srgbClr val="A9B7C6"/>
                </a:solidFill>
                <a:latin typeface="Calibri" pitchFamily="34" charset="0"/>
                <a:ea typeface="Calibri" pitchFamily="34" charset="-122"/>
                <a:cs typeface="Calibri" pitchFamily="34" charset="-120"/>
              </a:rPr>
              <a:t>🔍  Пошук сервісів (S3, EC2, IAM...)</a:t>
            </a:r>
            <a:endParaRPr lang="en-US" sz="950" dirty="0"/>
          </a:p>
        </p:txBody>
      </p:sp>
      <p:sp>
        <p:nvSpPr>
          <p:cNvPr id="25" name="Shape 19"/>
          <p:cNvSpPr/>
          <p:nvPr/>
        </p:nvSpPr>
        <p:spPr>
          <a:xfrm>
            <a:off x="9491472" y="1700784"/>
            <a:ext cx="914400" cy="256032"/>
          </a:xfrm>
          <a:prstGeom prst="roundRect">
            <a:avLst>
              <a:gd name="adj" fmla="val 50000"/>
            </a:avLst>
          </a:prstGeom>
          <a:solidFill>
            <a:srgbClr val="37475A"/>
          </a:solidFill>
          <a:ln/>
        </p:spPr>
        <p:txBody>
          <a:bodyPr/>
          <a:lstStyle/>
          <a:p>
            <a:endParaRPr lang="en-UA"/>
          </a:p>
        </p:txBody>
      </p:sp>
      <p:sp>
        <p:nvSpPr>
          <p:cNvPr id="26" name="Text 20"/>
          <p:cNvSpPr txBox="1"/>
          <p:nvPr/>
        </p:nvSpPr>
        <p:spPr>
          <a:xfrm>
            <a:off x="9491472" y="1700784"/>
            <a:ext cx="914400" cy="256032"/>
          </a:xfrm>
          <a:prstGeom prst="rect">
            <a:avLst/>
          </a:prstGeom>
          <a:noFill/>
          <a:ln/>
        </p:spPr>
        <p:txBody>
          <a:bodyPr wrap="square" rtlCol="0" anchor="ctr"/>
          <a:lstStyle/>
          <a:p>
            <a:pPr marL="0" indent="0" algn="ctr">
              <a:buNone/>
            </a:pPr>
            <a:r>
              <a:rPr lang="en-US" sz="850" dirty="0">
                <a:solidFill>
                  <a:srgbClr val="FF9900"/>
                </a:solidFill>
                <a:latin typeface="Calibri" pitchFamily="34" charset="0"/>
                <a:ea typeface="Calibri" pitchFamily="34" charset="-122"/>
                <a:cs typeface="Calibri" pitchFamily="34" charset="-120"/>
              </a:rPr>
              <a:t>eu-central-1</a:t>
            </a:r>
            <a:endParaRPr lang="en-US" sz="850" dirty="0"/>
          </a:p>
        </p:txBody>
      </p:sp>
      <p:sp>
        <p:nvSpPr>
          <p:cNvPr id="27" name="Shape 21"/>
          <p:cNvSpPr/>
          <p:nvPr/>
        </p:nvSpPr>
        <p:spPr>
          <a:xfrm>
            <a:off x="10497312" y="1700784"/>
            <a:ext cx="1005840" cy="256032"/>
          </a:xfrm>
          <a:prstGeom prst="roundRect">
            <a:avLst>
              <a:gd name="adj" fmla="val 50000"/>
            </a:avLst>
          </a:prstGeom>
          <a:solidFill>
            <a:srgbClr val="37475A"/>
          </a:solidFill>
          <a:ln/>
        </p:spPr>
        <p:txBody>
          <a:bodyPr/>
          <a:lstStyle/>
          <a:p>
            <a:endParaRPr lang="en-UA"/>
          </a:p>
        </p:txBody>
      </p:sp>
      <p:sp>
        <p:nvSpPr>
          <p:cNvPr id="28" name="Text 22"/>
          <p:cNvSpPr txBox="1"/>
          <p:nvPr/>
        </p:nvSpPr>
        <p:spPr>
          <a:xfrm>
            <a:off x="10497312" y="1700784"/>
            <a:ext cx="1005840" cy="256032"/>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 Admin</a:t>
            </a:r>
            <a:endParaRPr lang="en-US" sz="850" dirty="0"/>
          </a:p>
        </p:txBody>
      </p:sp>
      <p:sp>
        <p:nvSpPr>
          <p:cNvPr id="29" name="Shape 23"/>
          <p:cNvSpPr/>
          <p:nvPr/>
        </p:nvSpPr>
        <p:spPr>
          <a:xfrm>
            <a:off x="6492240" y="2286000"/>
            <a:ext cx="1069848" cy="1051560"/>
          </a:xfrm>
          <a:prstGeom prst="roundRect">
            <a:avLst>
              <a:gd name="adj" fmla="val 6957"/>
            </a:avLst>
          </a:prstGeom>
          <a:solidFill>
            <a:srgbClr val="F2F3F3"/>
          </a:solidFill>
          <a:ln w="12700">
            <a:solidFill>
              <a:srgbClr val="E3E6EA"/>
            </a:solidFill>
            <a:prstDash val="solid"/>
          </a:ln>
        </p:spPr>
        <p:txBody>
          <a:bodyPr/>
          <a:lstStyle/>
          <a:p>
            <a:endParaRPr lang="en-UA"/>
          </a:p>
        </p:txBody>
      </p:sp>
      <p:pic>
        <p:nvPicPr>
          <p:cNvPr id="30" name="Image 4" descr="/home/claude/icons/boxOpen_darkorange.png"/>
          <p:cNvPicPr>
            <a:picLocks noChangeAspect="1"/>
          </p:cNvPicPr>
          <p:nvPr/>
        </p:nvPicPr>
        <p:blipFill>
          <a:blip r:embed="rId7"/>
          <a:stretch>
            <a:fillRect/>
          </a:stretch>
        </p:blipFill>
        <p:spPr>
          <a:xfrm>
            <a:off x="6871716" y="2423160"/>
            <a:ext cx="310896" cy="310896"/>
          </a:xfrm>
          <a:prstGeom prst="rect">
            <a:avLst/>
          </a:prstGeom>
        </p:spPr>
      </p:pic>
      <p:sp>
        <p:nvSpPr>
          <p:cNvPr id="31" name="Text 24"/>
          <p:cNvSpPr txBox="1"/>
          <p:nvPr/>
        </p:nvSpPr>
        <p:spPr>
          <a:xfrm>
            <a:off x="6492240" y="2816352"/>
            <a:ext cx="1069848" cy="256032"/>
          </a:xfrm>
          <a:prstGeom prst="rect">
            <a:avLst/>
          </a:prstGeom>
          <a:noFill/>
          <a:ln/>
        </p:spPr>
        <p:txBody>
          <a:bodyPr wrap="square" rtlCol="0" anchor="ctr"/>
          <a:lstStyle/>
          <a:p>
            <a:pPr marL="0" indent="0" algn="ctr">
              <a:buNone/>
            </a:pPr>
            <a:r>
              <a:rPr lang="en-US" sz="1100" b="1" dirty="0">
                <a:solidFill>
                  <a:srgbClr val="16191F"/>
                </a:solidFill>
                <a:latin typeface="Calibri" pitchFamily="34" charset="0"/>
                <a:ea typeface="Calibri" pitchFamily="34" charset="-122"/>
                <a:cs typeface="Calibri" pitchFamily="34" charset="-120"/>
              </a:rPr>
              <a:t>S3</a:t>
            </a:r>
            <a:endParaRPr lang="en-US" sz="1100" dirty="0"/>
          </a:p>
        </p:txBody>
      </p:sp>
      <p:sp>
        <p:nvSpPr>
          <p:cNvPr id="32" name="Text 25"/>
          <p:cNvSpPr txBox="1"/>
          <p:nvPr/>
        </p:nvSpPr>
        <p:spPr>
          <a:xfrm>
            <a:off x="6492240" y="3063240"/>
            <a:ext cx="1069848" cy="228600"/>
          </a:xfrm>
          <a:prstGeom prst="rect">
            <a:avLst/>
          </a:prstGeom>
          <a:noFill/>
          <a:ln/>
        </p:spPr>
        <p:txBody>
          <a:bodyPr wrap="square" rtlCol="0" anchor="ctr"/>
          <a:lstStyle/>
          <a:p>
            <a:pPr marL="0" indent="0" algn="ctr">
              <a:buNone/>
            </a:pPr>
            <a:r>
              <a:rPr lang="en-US" sz="900" dirty="0">
                <a:solidFill>
                  <a:srgbClr val="5A6674"/>
                </a:solidFill>
                <a:latin typeface="Calibri" pitchFamily="34" charset="0"/>
                <a:ea typeface="Calibri" pitchFamily="34" charset="-122"/>
                <a:cs typeface="Calibri" pitchFamily="34" charset="-120"/>
              </a:rPr>
              <a:t>Сховище</a:t>
            </a:r>
            <a:endParaRPr lang="en-US" sz="900" dirty="0"/>
          </a:p>
        </p:txBody>
      </p:sp>
      <p:sp>
        <p:nvSpPr>
          <p:cNvPr id="33" name="Shape 26"/>
          <p:cNvSpPr/>
          <p:nvPr/>
        </p:nvSpPr>
        <p:spPr>
          <a:xfrm>
            <a:off x="7744968" y="2286000"/>
            <a:ext cx="1069848" cy="1051560"/>
          </a:xfrm>
          <a:prstGeom prst="roundRect">
            <a:avLst>
              <a:gd name="adj" fmla="val 6957"/>
            </a:avLst>
          </a:prstGeom>
          <a:solidFill>
            <a:srgbClr val="F2F3F3"/>
          </a:solidFill>
          <a:ln w="12700">
            <a:solidFill>
              <a:srgbClr val="E3E6EA"/>
            </a:solidFill>
            <a:prstDash val="solid"/>
          </a:ln>
        </p:spPr>
        <p:txBody>
          <a:bodyPr/>
          <a:lstStyle/>
          <a:p>
            <a:endParaRPr lang="en-UA"/>
          </a:p>
        </p:txBody>
      </p:sp>
      <p:pic>
        <p:nvPicPr>
          <p:cNvPr id="34" name="Image 5" descr="/home/claude/icons/server_darkorange.png"/>
          <p:cNvPicPr>
            <a:picLocks noChangeAspect="1"/>
          </p:cNvPicPr>
          <p:nvPr/>
        </p:nvPicPr>
        <p:blipFill>
          <a:blip r:embed="rId8"/>
          <a:stretch>
            <a:fillRect/>
          </a:stretch>
        </p:blipFill>
        <p:spPr>
          <a:xfrm>
            <a:off x="8124444" y="2423160"/>
            <a:ext cx="310896" cy="310896"/>
          </a:xfrm>
          <a:prstGeom prst="rect">
            <a:avLst/>
          </a:prstGeom>
        </p:spPr>
      </p:pic>
      <p:sp>
        <p:nvSpPr>
          <p:cNvPr id="35" name="Text 27"/>
          <p:cNvSpPr txBox="1"/>
          <p:nvPr/>
        </p:nvSpPr>
        <p:spPr>
          <a:xfrm>
            <a:off x="7744968" y="2816352"/>
            <a:ext cx="1069848" cy="256032"/>
          </a:xfrm>
          <a:prstGeom prst="rect">
            <a:avLst/>
          </a:prstGeom>
          <a:noFill/>
          <a:ln/>
        </p:spPr>
        <p:txBody>
          <a:bodyPr wrap="square" rtlCol="0" anchor="ctr"/>
          <a:lstStyle/>
          <a:p>
            <a:pPr marL="0" indent="0" algn="ctr">
              <a:buNone/>
            </a:pPr>
            <a:r>
              <a:rPr lang="en-US" sz="1100" b="1" dirty="0">
                <a:solidFill>
                  <a:srgbClr val="16191F"/>
                </a:solidFill>
                <a:latin typeface="Calibri" pitchFamily="34" charset="0"/>
                <a:ea typeface="Calibri" pitchFamily="34" charset="-122"/>
                <a:cs typeface="Calibri" pitchFamily="34" charset="-120"/>
              </a:rPr>
              <a:t>EC2</a:t>
            </a:r>
            <a:endParaRPr lang="en-US" sz="1100" dirty="0"/>
          </a:p>
        </p:txBody>
      </p:sp>
      <p:sp>
        <p:nvSpPr>
          <p:cNvPr id="36" name="Text 28"/>
          <p:cNvSpPr txBox="1"/>
          <p:nvPr/>
        </p:nvSpPr>
        <p:spPr>
          <a:xfrm>
            <a:off x="7744968" y="3063240"/>
            <a:ext cx="1069848" cy="228600"/>
          </a:xfrm>
          <a:prstGeom prst="rect">
            <a:avLst/>
          </a:prstGeom>
          <a:noFill/>
          <a:ln/>
        </p:spPr>
        <p:txBody>
          <a:bodyPr wrap="square" rtlCol="0" anchor="ctr"/>
          <a:lstStyle/>
          <a:p>
            <a:pPr marL="0" indent="0" algn="ctr">
              <a:buNone/>
            </a:pPr>
            <a:r>
              <a:rPr lang="en-US" sz="900" dirty="0">
                <a:solidFill>
                  <a:srgbClr val="5A6674"/>
                </a:solidFill>
                <a:latin typeface="Calibri" pitchFamily="34" charset="0"/>
                <a:ea typeface="Calibri" pitchFamily="34" charset="-122"/>
                <a:cs typeface="Calibri" pitchFamily="34" charset="-120"/>
              </a:rPr>
              <a:t>Сервери</a:t>
            </a:r>
            <a:endParaRPr lang="en-US" sz="900" dirty="0"/>
          </a:p>
        </p:txBody>
      </p:sp>
      <p:sp>
        <p:nvSpPr>
          <p:cNvPr id="37" name="Shape 29"/>
          <p:cNvSpPr/>
          <p:nvPr/>
        </p:nvSpPr>
        <p:spPr>
          <a:xfrm>
            <a:off x="8997696" y="2286000"/>
            <a:ext cx="1069848" cy="1051560"/>
          </a:xfrm>
          <a:prstGeom prst="roundRect">
            <a:avLst>
              <a:gd name="adj" fmla="val 6957"/>
            </a:avLst>
          </a:prstGeom>
          <a:solidFill>
            <a:srgbClr val="F2F3F3"/>
          </a:solidFill>
          <a:ln w="12700">
            <a:solidFill>
              <a:srgbClr val="E3E6EA"/>
            </a:solidFill>
            <a:prstDash val="solid"/>
          </a:ln>
        </p:spPr>
        <p:txBody>
          <a:bodyPr/>
          <a:lstStyle/>
          <a:p>
            <a:endParaRPr lang="en-UA"/>
          </a:p>
        </p:txBody>
      </p:sp>
      <p:pic>
        <p:nvPicPr>
          <p:cNvPr id="38" name="Image 6" descr="/home/claude/icons/users_darkorange.png"/>
          <p:cNvPicPr>
            <a:picLocks noChangeAspect="1"/>
          </p:cNvPicPr>
          <p:nvPr/>
        </p:nvPicPr>
        <p:blipFill>
          <a:blip r:embed="rId9"/>
          <a:stretch>
            <a:fillRect/>
          </a:stretch>
        </p:blipFill>
        <p:spPr>
          <a:xfrm>
            <a:off x="9377172" y="2423160"/>
            <a:ext cx="310896" cy="310896"/>
          </a:xfrm>
          <a:prstGeom prst="rect">
            <a:avLst/>
          </a:prstGeom>
        </p:spPr>
      </p:pic>
      <p:sp>
        <p:nvSpPr>
          <p:cNvPr id="39" name="Text 30"/>
          <p:cNvSpPr txBox="1"/>
          <p:nvPr/>
        </p:nvSpPr>
        <p:spPr>
          <a:xfrm>
            <a:off x="8997696" y="2816352"/>
            <a:ext cx="1069848" cy="256032"/>
          </a:xfrm>
          <a:prstGeom prst="rect">
            <a:avLst/>
          </a:prstGeom>
          <a:noFill/>
          <a:ln/>
        </p:spPr>
        <p:txBody>
          <a:bodyPr wrap="square" rtlCol="0" anchor="ctr"/>
          <a:lstStyle/>
          <a:p>
            <a:pPr marL="0" indent="0" algn="ctr">
              <a:buNone/>
            </a:pPr>
            <a:r>
              <a:rPr lang="en-US" sz="1100" b="1" dirty="0">
                <a:solidFill>
                  <a:srgbClr val="16191F"/>
                </a:solidFill>
                <a:latin typeface="Calibri" pitchFamily="34" charset="0"/>
                <a:ea typeface="Calibri" pitchFamily="34" charset="-122"/>
                <a:cs typeface="Calibri" pitchFamily="34" charset="-120"/>
              </a:rPr>
              <a:t>IAM</a:t>
            </a:r>
            <a:endParaRPr lang="en-US" sz="1100" dirty="0"/>
          </a:p>
        </p:txBody>
      </p:sp>
      <p:sp>
        <p:nvSpPr>
          <p:cNvPr id="40" name="Text 31"/>
          <p:cNvSpPr txBox="1"/>
          <p:nvPr/>
        </p:nvSpPr>
        <p:spPr>
          <a:xfrm>
            <a:off x="8997696" y="3063240"/>
            <a:ext cx="1069848" cy="228600"/>
          </a:xfrm>
          <a:prstGeom prst="rect">
            <a:avLst/>
          </a:prstGeom>
          <a:noFill/>
          <a:ln/>
        </p:spPr>
        <p:txBody>
          <a:bodyPr wrap="square" rtlCol="0" anchor="ctr"/>
          <a:lstStyle/>
          <a:p>
            <a:pPr marL="0" indent="0" algn="ctr">
              <a:buNone/>
            </a:pPr>
            <a:r>
              <a:rPr lang="en-US" sz="900" dirty="0">
                <a:solidFill>
                  <a:srgbClr val="5A6674"/>
                </a:solidFill>
                <a:latin typeface="Calibri" pitchFamily="34" charset="0"/>
                <a:ea typeface="Calibri" pitchFamily="34" charset="-122"/>
                <a:cs typeface="Calibri" pitchFamily="34" charset="-120"/>
              </a:rPr>
              <a:t>Доступи</a:t>
            </a:r>
            <a:endParaRPr lang="en-US" sz="900" dirty="0"/>
          </a:p>
        </p:txBody>
      </p:sp>
      <p:sp>
        <p:nvSpPr>
          <p:cNvPr id="41" name="Shape 32"/>
          <p:cNvSpPr/>
          <p:nvPr/>
        </p:nvSpPr>
        <p:spPr>
          <a:xfrm>
            <a:off x="10250424" y="2286000"/>
            <a:ext cx="1069848" cy="1051560"/>
          </a:xfrm>
          <a:prstGeom prst="roundRect">
            <a:avLst>
              <a:gd name="adj" fmla="val 6957"/>
            </a:avLst>
          </a:prstGeom>
          <a:solidFill>
            <a:srgbClr val="F2F3F3"/>
          </a:solidFill>
          <a:ln w="12700">
            <a:solidFill>
              <a:srgbClr val="E3E6EA"/>
            </a:solidFill>
            <a:prstDash val="solid"/>
          </a:ln>
        </p:spPr>
        <p:txBody>
          <a:bodyPr/>
          <a:lstStyle/>
          <a:p>
            <a:endParaRPr lang="en-UA"/>
          </a:p>
        </p:txBody>
      </p:sp>
      <p:pic>
        <p:nvPicPr>
          <p:cNvPr id="42" name="Image 7" descr="/home/claude/icons/database_darkorange.png"/>
          <p:cNvPicPr>
            <a:picLocks noChangeAspect="1"/>
          </p:cNvPicPr>
          <p:nvPr/>
        </p:nvPicPr>
        <p:blipFill>
          <a:blip r:embed="rId10"/>
          <a:stretch>
            <a:fillRect/>
          </a:stretch>
        </p:blipFill>
        <p:spPr>
          <a:xfrm>
            <a:off x="10629900" y="2423160"/>
            <a:ext cx="310896" cy="310896"/>
          </a:xfrm>
          <a:prstGeom prst="rect">
            <a:avLst/>
          </a:prstGeom>
        </p:spPr>
      </p:pic>
      <p:sp>
        <p:nvSpPr>
          <p:cNvPr id="43" name="Text 33"/>
          <p:cNvSpPr txBox="1"/>
          <p:nvPr/>
        </p:nvSpPr>
        <p:spPr>
          <a:xfrm>
            <a:off x="10250424" y="2816352"/>
            <a:ext cx="1069848" cy="256032"/>
          </a:xfrm>
          <a:prstGeom prst="rect">
            <a:avLst/>
          </a:prstGeom>
          <a:noFill/>
          <a:ln/>
        </p:spPr>
        <p:txBody>
          <a:bodyPr wrap="square" rtlCol="0" anchor="ctr"/>
          <a:lstStyle/>
          <a:p>
            <a:pPr marL="0" indent="0" algn="ctr">
              <a:buNone/>
            </a:pPr>
            <a:r>
              <a:rPr lang="en-US" sz="1100" b="1" dirty="0">
                <a:solidFill>
                  <a:srgbClr val="16191F"/>
                </a:solidFill>
                <a:latin typeface="Calibri" pitchFamily="34" charset="0"/>
                <a:ea typeface="Calibri" pitchFamily="34" charset="-122"/>
                <a:cs typeface="Calibri" pitchFamily="34" charset="-120"/>
              </a:rPr>
              <a:t>RDS</a:t>
            </a:r>
            <a:endParaRPr lang="en-US" sz="1100" dirty="0"/>
          </a:p>
        </p:txBody>
      </p:sp>
      <p:sp>
        <p:nvSpPr>
          <p:cNvPr id="44" name="Text 34"/>
          <p:cNvSpPr txBox="1"/>
          <p:nvPr/>
        </p:nvSpPr>
        <p:spPr>
          <a:xfrm>
            <a:off x="10250424" y="3063240"/>
            <a:ext cx="1069848" cy="228600"/>
          </a:xfrm>
          <a:prstGeom prst="rect">
            <a:avLst/>
          </a:prstGeom>
          <a:noFill/>
          <a:ln/>
        </p:spPr>
        <p:txBody>
          <a:bodyPr wrap="square" rtlCol="0" anchor="ctr"/>
          <a:lstStyle/>
          <a:p>
            <a:pPr marL="0" indent="0" algn="ctr">
              <a:buNone/>
            </a:pPr>
            <a:r>
              <a:rPr lang="en-US" sz="900" dirty="0">
                <a:solidFill>
                  <a:srgbClr val="5A6674"/>
                </a:solidFill>
                <a:latin typeface="Calibri" pitchFamily="34" charset="0"/>
                <a:ea typeface="Calibri" pitchFamily="34" charset="-122"/>
                <a:cs typeface="Calibri" pitchFamily="34" charset="-120"/>
              </a:rPr>
              <a:t>Бази даних</a:t>
            </a:r>
            <a:endParaRPr lang="en-US" sz="900" dirty="0"/>
          </a:p>
        </p:txBody>
      </p:sp>
      <p:sp>
        <p:nvSpPr>
          <p:cNvPr id="45" name="Text 35"/>
          <p:cNvSpPr txBox="1"/>
          <p:nvPr/>
        </p:nvSpPr>
        <p:spPr>
          <a:xfrm>
            <a:off x="6492240" y="3520440"/>
            <a:ext cx="4828032" cy="274320"/>
          </a:xfrm>
          <a:prstGeom prst="rect">
            <a:avLst/>
          </a:prstGeom>
          <a:noFill/>
          <a:ln/>
        </p:spPr>
        <p:txBody>
          <a:bodyPr wrap="square" rtlCol="0" anchor="ctr"/>
          <a:lstStyle/>
          <a:p>
            <a:pPr marL="0" indent="0">
              <a:buNone/>
            </a:pPr>
            <a:r>
              <a:rPr lang="en-US" sz="1150" b="1" dirty="0">
                <a:solidFill>
                  <a:srgbClr val="16191F"/>
                </a:solidFill>
                <a:latin typeface="Calibri" pitchFamily="34" charset="0"/>
                <a:ea typeface="Calibri" pitchFamily="34" charset="-122"/>
                <a:cs typeface="Calibri" pitchFamily="34" charset="-120"/>
              </a:rPr>
              <a:t>Останні відвідані сервіси</a:t>
            </a:r>
            <a:endParaRPr lang="en-US" sz="1150" dirty="0"/>
          </a:p>
        </p:txBody>
      </p:sp>
      <p:sp>
        <p:nvSpPr>
          <p:cNvPr id="46" name="Text 36"/>
          <p:cNvSpPr txBox="1"/>
          <p:nvPr/>
        </p:nvSpPr>
        <p:spPr>
          <a:xfrm>
            <a:off x="6492240" y="3822192"/>
            <a:ext cx="4828032" cy="1005840"/>
          </a:xfrm>
          <a:prstGeom prst="rect">
            <a:avLst/>
          </a:prstGeom>
          <a:noFill/>
          <a:ln/>
        </p:spPr>
        <p:txBody>
          <a:bodyPr wrap="square" rtlCol="0" anchor="ctr"/>
          <a:lstStyle/>
          <a:p>
            <a:pPr marL="0" indent="0">
              <a:lnSpc>
                <a:spcPct val="150000"/>
              </a:lnSpc>
              <a:buNone/>
            </a:pPr>
            <a:r>
              <a:rPr lang="en-US" sz="1050" dirty="0">
                <a:solidFill>
                  <a:srgbClr val="5A6674"/>
                </a:solidFill>
                <a:latin typeface="Calibri" pitchFamily="34" charset="0"/>
                <a:ea typeface="Calibri" pitchFamily="34" charset="-122"/>
                <a:cs typeface="Calibri" pitchFamily="34" charset="-120"/>
              </a:rPr>
              <a:t>CloudTrail — переглянуто 2 год тому</a:t>
            </a:r>
            <a:endParaRPr lang="en-US" sz="1050" dirty="0"/>
          </a:p>
          <a:p>
            <a:pPr marL="0" indent="0">
              <a:lnSpc>
                <a:spcPct val="150000"/>
              </a:lnSpc>
              <a:buNone/>
            </a:pPr>
            <a:r>
              <a:rPr lang="en-US" sz="1050" dirty="0">
                <a:solidFill>
                  <a:srgbClr val="5A6674"/>
                </a:solidFill>
                <a:latin typeface="Calibri" pitchFamily="34" charset="0"/>
                <a:ea typeface="Calibri" pitchFamily="34" charset="-122"/>
                <a:cs typeface="Calibri" pitchFamily="34" charset="-120"/>
              </a:rPr>
              <a:t>Lambda — переглянуто вчора</a:t>
            </a:r>
            <a:endParaRPr lang="en-US" sz="1050" dirty="0"/>
          </a:p>
          <a:p>
            <a:pPr marL="0" indent="0">
              <a:lnSpc>
                <a:spcPct val="150000"/>
              </a:lnSpc>
              <a:buNone/>
            </a:pPr>
            <a:r>
              <a:rPr lang="en-US" sz="1050" dirty="0">
                <a:solidFill>
                  <a:srgbClr val="5A6674"/>
                </a:solidFill>
                <a:latin typeface="Calibri" pitchFamily="34" charset="0"/>
                <a:ea typeface="Calibri" pitchFamily="34" charset="-122"/>
                <a:cs typeface="Calibri" pitchFamily="34" charset="-120"/>
              </a:rPr>
              <a:t>Billing and Cost Management</a:t>
            </a:r>
            <a:endParaRPr lang="en-US" sz="1050" dirty="0"/>
          </a:p>
        </p:txBody>
      </p:sp>
      <p:sp>
        <p:nvSpPr>
          <p:cNvPr id="47" name="Text 37"/>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674"/>
                </a:solidFill>
                <a:latin typeface="Calibri" pitchFamily="34" charset="0"/>
                <a:ea typeface="Calibri" pitchFamily="34" charset="-122"/>
                <a:cs typeface="Calibri" pitchFamily="34" charset="-120"/>
              </a:rPr>
              <a:t>AWS Console, CLI та SDK</a:t>
            </a:r>
            <a:endParaRPr lang="en-US" sz="1000" dirty="0"/>
          </a:p>
        </p:txBody>
      </p:sp>
      <p:sp>
        <p:nvSpPr>
          <p:cNvPr id="48" name="Text 38"/>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A667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3F3"/>
        </a:solidFill>
        <a:effectLst/>
      </p:bgPr>
    </p:bg>
    <p:spTree>
      <p:nvGrpSpPr>
        <p:cNvPr id="1" name=""/>
        <p:cNvGrpSpPr/>
        <p:nvPr/>
      </p:nvGrpSpPr>
      <p:grpSpPr>
        <a:xfrm>
          <a:off x="0" y="0"/>
          <a:ext cx="0" cy="0"/>
          <a:chOff x="0" y="0"/>
          <a:chExt cx="0" cy="0"/>
        </a:xfrm>
      </p:grpSpPr>
      <p:sp>
        <p:nvSpPr>
          <p:cNvPr id="3" name="Text 1"/>
          <p:cNvSpPr txBox="1"/>
          <p:nvPr/>
        </p:nvSpPr>
        <p:spPr>
          <a:xfrm>
            <a:off x="548640" y="384048"/>
            <a:ext cx="11064240" cy="822960"/>
          </a:xfrm>
          <a:prstGeom prst="rect">
            <a:avLst/>
          </a:prstGeom>
          <a:noFill/>
          <a:ln/>
        </p:spPr>
        <p:txBody>
          <a:bodyPr wrap="square" rtlCol="0" anchor="ctr"/>
          <a:lstStyle/>
          <a:p>
            <a:pPr marL="0" indent="0">
              <a:buNone/>
            </a:pPr>
            <a:r>
              <a:rPr lang="en-US" sz="3200" b="1" dirty="0">
                <a:solidFill>
                  <a:srgbClr val="16191F"/>
                </a:solidFill>
                <a:latin typeface="Cambria" pitchFamily="34" charset="0"/>
                <a:ea typeface="Cambria" pitchFamily="34" charset="-122"/>
                <a:cs typeface="Cambria" pitchFamily="34" charset="-120"/>
              </a:rPr>
              <a:t>Робочі області та навігація по сервісах</a:t>
            </a:r>
            <a:endParaRPr lang="en-US" sz="3200" dirty="0"/>
          </a:p>
        </p:txBody>
      </p:sp>
      <p:sp>
        <p:nvSpPr>
          <p:cNvPr id="4" name="Text 2"/>
          <p:cNvSpPr txBox="1"/>
          <p:nvPr/>
        </p:nvSpPr>
        <p:spPr>
          <a:xfrm>
            <a:off x="548640" y="1220724"/>
            <a:ext cx="10515600" cy="365760"/>
          </a:xfrm>
          <a:prstGeom prst="rect">
            <a:avLst/>
          </a:prstGeom>
          <a:noFill/>
          <a:ln/>
        </p:spPr>
        <p:txBody>
          <a:bodyPr wrap="square" rtlCol="0" anchor="ctr"/>
          <a:lstStyle/>
          <a:p>
            <a:pPr marL="0" indent="0">
              <a:buNone/>
            </a:pPr>
            <a:r>
              <a:rPr lang="en-US" sz="1300" i="1" dirty="0">
                <a:solidFill>
                  <a:srgbClr val="5A6674"/>
                </a:solidFill>
                <a:latin typeface="Calibri" pitchFamily="34" charset="0"/>
                <a:ea typeface="Calibri" pitchFamily="34" charset="-122"/>
                <a:cs typeface="Calibri" pitchFamily="34" charset="-120"/>
              </a:rPr>
              <a:t>Консоль AWS налічує 200+ сервісів — тому швидка навігація критично важлива для продуктивної роботи.</a:t>
            </a:r>
            <a:endParaRPr lang="en-US" sz="1300" dirty="0"/>
          </a:p>
        </p:txBody>
      </p:sp>
      <p:sp>
        <p:nvSpPr>
          <p:cNvPr id="5" name="Shape 3"/>
          <p:cNvSpPr/>
          <p:nvPr/>
        </p:nvSpPr>
        <p:spPr>
          <a:xfrm>
            <a:off x="548640" y="2011680"/>
            <a:ext cx="3520440" cy="3977640"/>
          </a:xfrm>
          <a:prstGeom prst="roundRect">
            <a:avLst>
              <a:gd name="adj" fmla="val 3117"/>
            </a:avLst>
          </a:prstGeom>
          <a:solidFill>
            <a:srgbClr val="FFFFFF"/>
          </a:solidFill>
          <a:ln w="12700">
            <a:solidFill>
              <a:srgbClr val="DDE1E6"/>
            </a:solidFill>
            <a:prstDash val="solid"/>
          </a:ln>
          <a:effectLst>
            <a:outerShdw blurRad="88900" dist="38100" dir="5400000" algn="bl" rotWithShape="0">
              <a:srgbClr val="000000">
                <a:alpha val="10000"/>
              </a:srgbClr>
            </a:outerShdw>
          </a:effectLst>
        </p:spPr>
        <p:txBody>
          <a:bodyPr/>
          <a:lstStyle/>
          <a:p>
            <a:endParaRPr lang="en-UA"/>
          </a:p>
        </p:txBody>
      </p:sp>
      <p:sp>
        <p:nvSpPr>
          <p:cNvPr id="6" name="Shape 4"/>
          <p:cNvSpPr/>
          <p:nvPr/>
        </p:nvSpPr>
        <p:spPr>
          <a:xfrm>
            <a:off x="868680" y="2331720"/>
            <a:ext cx="685800" cy="685800"/>
          </a:xfrm>
          <a:prstGeom prst="ellipse">
            <a:avLst/>
          </a:prstGeom>
          <a:solidFill>
            <a:srgbClr val="232F3E"/>
          </a:solidFill>
          <a:ln/>
        </p:spPr>
        <p:txBody>
          <a:bodyPr/>
          <a:lstStyle/>
          <a:p>
            <a:endParaRPr lang="en-UA"/>
          </a:p>
        </p:txBody>
      </p:sp>
      <p:pic>
        <p:nvPicPr>
          <p:cNvPr id="7" name="Image 0" descr="/home/claude/icons/signIn_orange.png"/>
          <p:cNvPicPr>
            <a:picLocks noChangeAspect="1"/>
          </p:cNvPicPr>
          <p:nvPr/>
        </p:nvPicPr>
        <p:blipFill>
          <a:blip r:embed="rId3"/>
          <a:stretch>
            <a:fillRect/>
          </a:stretch>
        </p:blipFill>
        <p:spPr>
          <a:xfrm>
            <a:off x="1051560" y="2514600"/>
            <a:ext cx="320040" cy="320040"/>
          </a:xfrm>
          <a:prstGeom prst="rect">
            <a:avLst/>
          </a:prstGeom>
        </p:spPr>
      </p:pic>
      <p:sp>
        <p:nvSpPr>
          <p:cNvPr id="8" name="Text 5"/>
          <p:cNvSpPr txBox="1"/>
          <p:nvPr/>
        </p:nvSpPr>
        <p:spPr>
          <a:xfrm>
            <a:off x="868680" y="3200400"/>
            <a:ext cx="2880360" cy="411480"/>
          </a:xfrm>
          <a:prstGeom prst="rect">
            <a:avLst/>
          </a:prstGeom>
          <a:noFill/>
          <a:ln/>
        </p:spPr>
        <p:txBody>
          <a:bodyPr wrap="square" rtlCol="0" anchor="ctr"/>
          <a:lstStyle/>
          <a:p>
            <a:pPr marL="0" indent="0">
              <a:buNone/>
            </a:pPr>
            <a:r>
              <a:rPr lang="en-US" sz="1600" b="1" dirty="0">
                <a:solidFill>
                  <a:srgbClr val="16191F"/>
                </a:solidFill>
                <a:latin typeface="Cambria" pitchFamily="34" charset="0"/>
                <a:ea typeface="Cambria" pitchFamily="34" charset="-122"/>
                <a:cs typeface="Cambria" pitchFamily="34" charset="-120"/>
              </a:rPr>
              <a:t>Пошук сервісів</a:t>
            </a:r>
            <a:endParaRPr lang="en-US" sz="1600" dirty="0"/>
          </a:p>
        </p:txBody>
      </p:sp>
      <p:sp>
        <p:nvSpPr>
          <p:cNvPr id="9" name="Text 6"/>
          <p:cNvSpPr txBox="1"/>
          <p:nvPr/>
        </p:nvSpPr>
        <p:spPr>
          <a:xfrm>
            <a:off x="868680" y="3657600"/>
            <a:ext cx="2880360" cy="1645920"/>
          </a:xfrm>
          <a:prstGeom prst="rect">
            <a:avLst/>
          </a:prstGeom>
          <a:noFill/>
          <a:ln/>
        </p:spPr>
        <p:txBody>
          <a:bodyPr wrap="square" rtlCol="0" anchor="ctr"/>
          <a:lstStyle/>
          <a:p>
            <a:pPr marL="0" indent="0">
              <a:lnSpc>
                <a:spcPct val="130000"/>
              </a:lnSpc>
              <a:buNone/>
            </a:pPr>
            <a:r>
              <a:rPr lang="en-US" sz="1200" dirty="0">
                <a:solidFill>
                  <a:srgbClr val="5A6674"/>
                </a:solidFill>
                <a:latin typeface="Calibri" pitchFamily="34" charset="0"/>
                <a:ea typeface="Calibri" pitchFamily="34" charset="-122"/>
                <a:cs typeface="Calibri" pitchFamily="34" charset="-120"/>
              </a:rPr>
              <a:t>Рядок пошуку зверху — почніть вводити назву сервісу чи навіть скорочення, наприклад "EC2" чи "лямбда".</a:t>
            </a:r>
            <a:endParaRPr lang="en-US" sz="1200" dirty="0"/>
          </a:p>
        </p:txBody>
      </p:sp>
      <p:sp>
        <p:nvSpPr>
          <p:cNvPr id="10" name="Shape 7"/>
          <p:cNvSpPr/>
          <p:nvPr/>
        </p:nvSpPr>
        <p:spPr>
          <a:xfrm>
            <a:off x="868680" y="5440680"/>
            <a:ext cx="2880360" cy="365760"/>
          </a:xfrm>
          <a:prstGeom prst="roundRect">
            <a:avLst>
              <a:gd name="adj" fmla="val 50000"/>
            </a:avLst>
          </a:prstGeom>
          <a:solidFill>
            <a:srgbClr val="F2F3F3"/>
          </a:solidFill>
          <a:ln/>
        </p:spPr>
        <p:txBody>
          <a:bodyPr/>
          <a:lstStyle/>
          <a:p>
            <a:endParaRPr lang="en-UA"/>
          </a:p>
        </p:txBody>
      </p:sp>
      <p:sp>
        <p:nvSpPr>
          <p:cNvPr id="11" name="Text 8"/>
          <p:cNvSpPr txBox="1"/>
          <p:nvPr/>
        </p:nvSpPr>
        <p:spPr>
          <a:xfrm>
            <a:off x="868680" y="5440680"/>
            <a:ext cx="2880360" cy="365760"/>
          </a:xfrm>
          <a:prstGeom prst="rect">
            <a:avLst/>
          </a:prstGeom>
          <a:noFill/>
          <a:ln/>
        </p:spPr>
        <p:txBody>
          <a:bodyPr wrap="square" rtlCol="0" anchor="ctr"/>
          <a:lstStyle/>
          <a:p>
            <a:pPr marL="0" indent="0" algn="ctr">
              <a:buNone/>
            </a:pPr>
            <a:r>
              <a:rPr lang="en-US" sz="1100" b="1" dirty="0">
                <a:solidFill>
                  <a:srgbClr val="CC7A00"/>
                </a:solidFill>
                <a:latin typeface="Calibri" pitchFamily="34" charset="0"/>
                <a:ea typeface="Calibri" pitchFamily="34" charset="-122"/>
                <a:cs typeface="Calibri" pitchFamily="34" charset="-120"/>
              </a:rPr>
              <a:t>Найшвидший спосіб</a:t>
            </a:r>
            <a:endParaRPr lang="en-US" sz="1100" dirty="0"/>
          </a:p>
        </p:txBody>
      </p:sp>
      <p:sp>
        <p:nvSpPr>
          <p:cNvPr id="12" name="Shape 9"/>
          <p:cNvSpPr/>
          <p:nvPr/>
        </p:nvSpPr>
        <p:spPr>
          <a:xfrm>
            <a:off x="4389120" y="2011680"/>
            <a:ext cx="3520440" cy="3977640"/>
          </a:xfrm>
          <a:prstGeom prst="roundRect">
            <a:avLst>
              <a:gd name="adj" fmla="val 3117"/>
            </a:avLst>
          </a:prstGeom>
          <a:solidFill>
            <a:srgbClr val="FFFFFF"/>
          </a:solidFill>
          <a:ln w="12700">
            <a:solidFill>
              <a:srgbClr val="DDE1E6"/>
            </a:solidFill>
            <a:prstDash val="solid"/>
          </a:ln>
          <a:effectLst>
            <a:outerShdw blurRad="88900" dist="38100" dir="5400000" algn="bl" rotWithShape="0">
              <a:srgbClr val="000000">
                <a:alpha val="10000"/>
              </a:srgbClr>
            </a:outerShdw>
          </a:effectLst>
        </p:spPr>
        <p:txBody>
          <a:bodyPr/>
          <a:lstStyle/>
          <a:p>
            <a:endParaRPr lang="en-UA"/>
          </a:p>
        </p:txBody>
      </p:sp>
      <p:sp>
        <p:nvSpPr>
          <p:cNvPr id="13" name="Shape 10"/>
          <p:cNvSpPr/>
          <p:nvPr/>
        </p:nvSpPr>
        <p:spPr>
          <a:xfrm>
            <a:off x="4709160" y="2331720"/>
            <a:ext cx="685800" cy="685800"/>
          </a:xfrm>
          <a:prstGeom prst="ellipse">
            <a:avLst/>
          </a:prstGeom>
          <a:solidFill>
            <a:srgbClr val="232F3E"/>
          </a:solidFill>
          <a:ln/>
        </p:spPr>
        <p:txBody>
          <a:bodyPr/>
          <a:lstStyle/>
          <a:p>
            <a:endParaRPr lang="en-UA"/>
          </a:p>
        </p:txBody>
      </p:sp>
      <p:pic>
        <p:nvPicPr>
          <p:cNvPr id="14" name="Image 1" descr="/home/claude/icons/listAlt_orange.png"/>
          <p:cNvPicPr>
            <a:picLocks noChangeAspect="1"/>
          </p:cNvPicPr>
          <p:nvPr/>
        </p:nvPicPr>
        <p:blipFill>
          <a:blip r:embed="rId4"/>
          <a:stretch>
            <a:fillRect/>
          </a:stretch>
        </p:blipFill>
        <p:spPr>
          <a:xfrm>
            <a:off x="4892040" y="2514600"/>
            <a:ext cx="320040" cy="320040"/>
          </a:xfrm>
          <a:prstGeom prst="rect">
            <a:avLst/>
          </a:prstGeom>
        </p:spPr>
      </p:pic>
      <p:sp>
        <p:nvSpPr>
          <p:cNvPr id="15" name="Text 11"/>
          <p:cNvSpPr txBox="1"/>
          <p:nvPr/>
        </p:nvSpPr>
        <p:spPr>
          <a:xfrm>
            <a:off x="4709160" y="3200400"/>
            <a:ext cx="2880360" cy="411480"/>
          </a:xfrm>
          <a:prstGeom prst="rect">
            <a:avLst/>
          </a:prstGeom>
          <a:noFill/>
          <a:ln/>
        </p:spPr>
        <p:txBody>
          <a:bodyPr wrap="square" rtlCol="0" anchor="ctr"/>
          <a:lstStyle/>
          <a:p>
            <a:pPr marL="0" indent="0">
              <a:buNone/>
            </a:pPr>
            <a:r>
              <a:rPr lang="en-US" sz="1600" b="1" dirty="0">
                <a:solidFill>
                  <a:srgbClr val="16191F"/>
                </a:solidFill>
                <a:latin typeface="Cambria" pitchFamily="34" charset="0"/>
                <a:ea typeface="Cambria" pitchFamily="34" charset="-122"/>
                <a:cs typeface="Cambria" pitchFamily="34" charset="-120"/>
              </a:rPr>
              <a:t>Обрані (Favorites)</a:t>
            </a:r>
            <a:endParaRPr lang="en-US" sz="1600" dirty="0"/>
          </a:p>
        </p:txBody>
      </p:sp>
      <p:sp>
        <p:nvSpPr>
          <p:cNvPr id="16" name="Text 12"/>
          <p:cNvSpPr txBox="1"/>
          <p:nvPr/>
        </p:nvSpPr>
        <p:spPr>
          <a:xfrm>
            <a:off x="4709160" y="3657600"/>
            <a:ext cx="2880360" cy="1645920"/>
          </a:xfrm>
          <a:prstGeom prst="rect">
            <a:avLst/>
          </a:prstGeom>
          <a:noFill/>
          <a:ln/>
        </p:spPr>
        <p:txBody>
          <a:bodyPr wrap="square" rtlCol="0" anchor="ctr"/>
          <a:lstStyle/>
          <a:p>
            <a:pPr marL="0" indent="0">
              <a:lnSpc>
                <a:spcPct val="130000"/>
              </a:lnSpc>
              <a:buNone/>
            </a:pPr>
            <a:r>
              <a:rPr lang="en-US" sz="1200" dirty="0">
                <a:solidFill>
                  <a:srgbClr val="5A6674"/>
                </a:solidFill>
                <a:latin typeface="Calibri" pitchFamily="34" charset="0"/>
                <a:ea typeface="Calibri" pitchFamily="34" charset="-122"/>
                <a:cs typeface="Calibri" pitchFamily="34" charset="-120"/>
              </a:rPr>
              <a:t>Закріплюйте сервіси, якими користуєтесь щодня, — вони з'являться в верхній панелі навігації для доступу в один клік.</a:t>
            </a:r>
            <a:endParaRPr lang="en-US" sz="1200" dirty="0"/>
          </a:p>
        </p:txBody>
      </p:sp>
      <p:sp>
        <p:nvSpPr>
          <p:cNvPr id="17" name="Shape 13"/>
          <p:cNvSpPr/>
          <p:nvPr/>
        </p:nvSpPr>
        <p:spPr>
          <a:xfrm>
            <a:off x="4709160" y="5440680"/>
            <a:ext cx="2880360" cy="365760"/>
          </a:xfrm>
          <a:prstGeom prst="roundRect">
            <a:avLst>
              <a:gd name="adj" fmla="val 50000"/>
            </a:avLst>
          </a:prstGeom>
          <a:solidFill>
            <a:srgbClr val="F2F3F3"/>
          </a:solidFill>
          <a:ln/>
        </p:spPr>
        <p:txBody>
          <a:bodyPr/>
          <a:lstStyle/>
          <a:p>
            <a:endParaRPr lang="en-UA"/>
          </a:p>
        </p:txBody>
      </p:sp>
      <p:sp>
        <p:nvSpPr>
          <p:cNvPr id="18" name="Text 14"/>
          <p:cNvSpPr txBox="1"/>
          <p:nvPr/>
        </p:nvSpPr>
        <p:spPr>
          <a:xfrm>
            <a:off x="4709160" y="5440680"/>
            <a:ext cx="2880360" cy="365760"/>
          </a:xfrm>
          <a:prstGeom prst="rect">
            <a:avLst/>
          </a:prstGeom>
          <a:noFill/>
          <a:ln/>
        </p:spPr>
        <p:txBody>
          <a:bodyPr wrap="square" rtlCol="0" anchor="ctr"/>
          <a:lstStyle/>
          <a:p>
            <a:pPr marL="0" indent="0" algn="ctr">
              <a:buNone/>
            </a:pPr>
            <a:r>
              <a:rPr lang="en-US" sz="1100" b="1" dirty="0">
                <a:solidFill>
                  <a:srgbClr val="CC7A00"/>
                </a:solidFill>
                <a:latin typeface="Calibri" pitchFamily="34" charset="0"/>
                <a:ea typeface="Calibri" pitchFamily="34" charset="-122"/>
                <a:cs typeface="Calibri" pitchFamily="34" charset="-120"/>
              </a:rPr>
              <a:t>Персональне налаштування</a:t>
            </a:r>
            <a:endParaRPr lang="en-US" sz="1100" dirty="0"/>
          </a:p>
        </p:txBody>
      </p:sp>
      <p:sp>
        <p:nvSpPr>
          <p:cNvPr id="19" name="Shape 15"/>
          <p:cNvSpPr/>
          <p:nvPr/>
        </p:nvSpPr>
        <p:spPr>
          <a:xfrm>
            <a:off x="8229600" y="2011680"/>
            <a:ext cx="3520440" cy="3977640"/>
          </a:xfrm>
          <a:prstGeom prst="roundRect">
            <a:avLst>
              <a:gd name="adj" fmla="val 3117"/>
            </a:avLst>
          </a:prstGeom>
          <a:solidFill>
            <a:srgbClr val="FFFFFF"/>
          </a:solidFill>
          <a:ln w="12700">
            <a:solidFill>
              <a:srgbClr val="DDE1E6"/>
            </a:solidFill>
            <a:prstDash val="solid"/>
          </a:ln>
          <a:effectLst>
            <a:outerShdw blurRad="88900" dist="38100" dir="5400000" algn="bl" rotWithShape="0">
              <a:srgbClr val="000000">
                <a:alpha val="10000"/>
              </a:srgbClr>
            </a:outerShdw>
          </a:effectLst>
        </p:spPr>
        <p:txBody>
          <a:bodyPr/>
          <a:lstStyle/>
          <a:p>
            <a:endParaRPr lang="en-UA"/>
          </a:p>
        </p:txBody>
      </p:sp>
      <p:sp>
        <p:nvSpPr>
          <p:cNvPr id="20" name="Shape 16"/>
          <p:cNvSpPr/>
          <p:nvPr/>
        </p:nvSpPr>
        <p:spPr>
          <a:xfrm>
            <a:off x="8549640" y="2331720"/>
            <a:ext cx="685800" cy="685800"/>
          </a:xfrm>
          <a:prstGeom prst="ellipse">
            <a:avLst/>
          </a:prstGeom>
          <a:solidFill>
            <a:srgbClr val="232F3E"/>
          </a:solidFill>
          <a:ln/>
        </p:spPr>
        <p:txBody>
          <a:bodyPr/>
          <a:lstStyle/>
          <a:p>
            <a:endParaRPr lang="en-UA"/>
          </a:p>
        </p:txBody>
      </p:sp>
      <p:pic>
        <p:nvPicPr>
          <p:cNvPr id="21" name="Image 2" descr="/home/claude/icons/folderOpen_orange.png"/>
          <p:cNvPicPr>
            <a:picLocks noChangeAspect="1"/>
          </p:cNvPicPr>
          <p:nvPr/>
        </p:nvPicPr>
        <p:blipFill>
          <a:blip r:embed="rId5"/>
          <a:stretch>
            <a:fillRect/>
          </a:stretch>
        </p:blipFill>
        <p:spPr>
          <a:xfrm>
            <a:off x="8732520" y="2514600"/>
            <a:ext cx="320040" cy="320040"/>
          </a:xfrm>
          <a:prstGeom prst="rect">
            <a:avLst/>
          </a:prstGeom>
        </p:spPr>
      </p:pic>
      <p:sp>
        <p:nvSpPr>
          <p:cNvPr id="22" name="Text 17"/>
          <p:cNvSpPr txBox="1"/>
          <p:nvPr/>
        </p:nvSpPr>
        <p:spPr>
          <a:xfrm>
            <a:off x="8549640" y="3200400"/>
            <a:ext cx="2880360" cy="411480"/>
          </a:xfrm>
          <a:prstGeom prst="rect">
            <a:avLst/>
          </a:prstGeom>
          <a:noFill/>
          <a:ln/>
        </p:spPr>
        <p:txBody>
          <a:bodyPr wrap="square" rtlCol="0" anchor="ctr"/>
          <a:lstStyle/>
          <a:p>
            <a:pPr marL="0" indent="0">
              <a:buNone/>
            </a:pPr>
            <a:r>
              <a:rPr lang="en-US" sz="1600" b="1" dirty="0">
                <a:solidFill>
                  <a:srgbClr val="16191F"/>
                </a:solidFill>
                <a:latin typeface="Cambria" pitchFamily="34" charset="0"/>
                <a:ea typeface="Cambria" pitchFamily="34" charset="-122"/>
                <a:cs typeface="Cambria" pitchFamily="34" charset="-120"/>
              </a:rPr>
              <a:t>Групи ресурсів і теги</a:t>
            </a:r>
            <a:endParaRPr lang="en-US" sz="1600" dirty="0"/>
          </a:p>
        </p:txBody>
      </p:sp>
      <p:sp>
        <p:nvSpPr>
          <p:cNvPr id="23" name="Text 18"/>
          <p:cNvSpPr txBox="1"/>
          <p:nvPr/>
        </p:nvSpPr>
        <p:spPr>
          <a:xfrm>
            <a:off x="8549640" y="3657600"/>
            <a:ext cx="2880360" cy="1645920"/>
          </a:xfrm>
          <a:prstGeom prst="rect">
            <a:avLst/>
          </a:prstGeom>
          <a:noFill/>
          <a:ln/>
        </p:spPr>
        <p:txBody>
          <a:bodyPr wrap="square" rtlCol="0" anchor="ctr"/>
          <a:lstStyle/>
          <a:p>
            <a:pPr marL="0" indent="0">
              <a:lnSpc>
                <a:spcPct val="130000"/>
              </a:lnSpc>
              <a:buNone/>
            </a:pPr>
            <a:r>
              <a:rPr lang="en-US" sz="1200" dirty="0">
                <a:solidFill>
                  <a:srgbClr val="5A6674"/>
                </a:solidFill>
                <a:latin typeface="Calibri" pitchFamily="34" charset="0"/>
                <a:ea typeface="Calibri" pitchFamily="34" charset="-122"/>
                <a:cs typeface="Calibri" pitchFamily="34" charset="-120"/>
              </a:rPr>
              <a:t>Tag Editor і Resource Groups дозволяють знаходити й керувати ресурсами різних сервісів за спільними мітками (тегами).</a:t>
            </a:r>
            <a:endParaRPr lang="en-US" sz="1200" dirty="0"/>
          </a:p>
        </p:txBody>
      </p:sp>
      <p:sp>
        <p:nvSpPr>
          <p:cNvPr id="24" name="Shape 19"/>
          <p:cNvSpPr/>
          <p:nvPr/>
        </p:nvSpPr>
        <p:spPr>
          <a:xfrm>
            <a:off x="8549640" y="5440680"/>
            <a:ext cx="2880360" cy="365760"/>
          </a:xfrm>
          <a:prstGeom prst="roundRect">
            <a:avLst>
              <a:gd name="adj" fmla="val 50000"/>
            </a:avLst>
          </a:prstGeom>
          <a:solidFill>
            <a:srgbClr val="F2F3F3"/>
          </a:solidFill>
          <a:ln/>
        </p:spPr>
        <p:txBody>
          <a:bodyPr/>
          <a:lstStyle/>
          <a:p>
            <a:endParaRPr lang="en-UA"/>
          </a:p>
        </p:txBody>
      </p:sp>
      <p:sp>
        <p:nvSpPr>
          <p:cNvPr id="25" name="Text 20"/>
          <p:cNvSpPr txBox="1"/>
          <p:nvPr/>
        </p:nvSpPr>
        <p:spPr>
          <a:xfrm>
            <a:off x="8549640" y="5440680"/>
            <a:ext cx="2880360" cy="365760"/>
          </a:xfrm>
          <a:prstGeom prst="rect">
            <a:avLst/>
          </a:prstGeom>
          <a:noFill/>
          <a:ln/>
        </p:spPr>
        <p:txBody>
          <a:bodyPr wrap="square" rtlCol="0" anchor="ctr"/>
          <a:lstStyle/>
          <a:p>
            <a:pPr marL="0" indent="0" algn="ctr">
              <a:buNone/>
            </a:pPr>
            <a:r>
              <a:rPr lang="en-US" sz="1100" b="1" dirty="0">
                <a:solidFill>
                  <a:srgbClr val="CC7A00"/>
                </a:solidFill>
                <a:latin typeface="Calibri" pitchFamily="34" charset="0"/>
                <a:ea typeface="Calibri" pitchFamily="34" charset="-122"/>
                <a:cs typeface="Calibri" pitchFamily="34" charset="-120"/>
              </a:rPr>
              <a:t>Керування на масштабі</a:t>
            </a:r>
            <a:endParaRPr lang="en-US" sz="1100" dirty="0"/>
          </a:p>
        </p:txBody>
      </p:sp>
      <p:sp>
        <p:nvSpPr>
          <p:cNvPr id="26" name="Text 21"/>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674"/>
                </a:solidFill>
                <a:latin typeface="Calibri" pitchFamily="34" charset="0"/>
                <a:ea typeface="Calibri" pitchFamily="34" charset="-122"/>
                <a:cs typeface="Calibri" pitchFamily="34" charset="-120"/>
              </a:rPr>
              <a:t>AWS Console, CLI та SDK</a:t>
            </a:r>
            <a:endParaRPr lang="en-US" sz="1000" dirty="0"/>
          </a:p>
        </p:txBody>
      </p:sp>
      <p:sp>
        <p:nvSpPr>
          <p:cNvPr id="27" name="Text 22"/>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A667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32F3E"/>
        </a:solidFill>
        <a:effectLst/>
      </p:bgPr>
    </p:bg>
    <p:spTree>
      <p:nvGrpSpPr>
        <p:cNvPr id="1" name=""/>
        <p:cNvGrpSpPr/>
        <p:nvPr/>
      </p:nvGrpSpPr>
      <p:grpSpPr>
        <a:xfrm>
          <a:off x="0" y="0"/>
          <a:ext cx="0" cy="0"/>
          <a:chOff x="0" y="0"/>
          <a:chExt cx="0" cy="0"/>
        </a:xfrm>
      </p:grpSpPr>
      <p:sp>
        <p:nvSpPr>
          <p:cNvPr id="3" name="Text 1"/>
          <p:cNvSpPr txBox="1"/>
          <p:nvPr/>
        </p:nvSpPr>
        <p:spPr>
          <a:xfrm>
            <a:off x="548640" y="420624"/>
            <a:ext cx="1106424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AWS CLI: командний рядок для AWS</a:t>
            </a:r>
            <a:endParaRPr lang="en-US" sz="3200" dirty="0"/>
          </a:p>
        </p:txBody>
      </p:sp>
      <p:sp>
        <p:nvSpPr>
          <p:cNvPr id="4" name="Text 2"/>
          <p:cNvSpPr txBox="1"/>
          <p:nvPr/>
        </p:nvSpPr>
        <p:spPr>
          <a:xfrm>
            <a:off x="548640" y="1389888"/>
            <a:ext cx="5120640" cy="1371600"/>
          </a:xfrm>
          <a:prstGeom prst="rect">
            <a:avLst/>
          </a:prstGeom>
          <a:noFill/>
          <a:ln/>
        </p:spPr>
        <p:txBody>
          <a:bodyPr wrap="square" rtlCol="0" anchor="ctr"/>
          <a:lstStyle/>
          <a:p>
            <a:pPr marL="0" indent="0">
              <a:lnSpc>
                <a:spcPct val="130000"/>
              </a:lnSpc>
              <a:buNone/>
            </a:pPr>
            <a:r>
              <a:rPr lang="en-US" sz="1400" b="1" dirty="0">
                <a:solidFill>
                  <a:schemeClr val="bg1"/>
                </a:solidFill>
                <a:latin typeface="Calibri" pitchFamily="34" charset="0"/>
                <a:ea typeface="Calibri" pitchFamily="34" charset="-122"/>
                <a:cs typeface="Calibri" pitchFamily="34" charset="-120"/>
              </a:rPr>
              <a:t>AWS CLI </a:t>
            </a:r>
            <a:r>
              <a:rPr lang="en-US" sz="1400" dirty="0">
                <a:solidFill>
                  <a:schemeClr val="bg1"/>
                </a:solidFill>
                <a:latin typeface="Calibri" pitchFamily="34" charset="0"/>
                <a:ea typeface="Calibri" pitchFamily="34" charset="-122"/>
                <a:cs typeface="Calibri" pitchFamily="34" charset="-120"/>
              </a:rPr>
              <a:t>(Command Line Interface) — офіційний інструмент, що дозволяє керувати AWS-ресурсами текстовими командами замість кліків у браузері.</a:t>
            </a:r>
            <a:endParaRPr lang="en-US" sz="1400" dirty="0">
              <a:solidFill>
                <a:schemeClr val="bg1"/>
              </a:solidFill>
            </a:endParaRPr>
          </a:p>
        </p:txBody>
      </p:sp>
      <p:sp>
        <p:nvSpPr>
          <p:cNvPr id="5" name="Shape 3"/>
          <p:cNvSpPr/>
          <p:nvPr/>
        </p:nvSpPr>
        <p:spPr>
          <a:xfrm>
            <a:off x="548640" y="3200400"/>
            <a:ext cx="384048" cy="384048"/>
          </a:xfrm>
          <a:prstGeom prst="ellipse">
            <a:avLst/>
          </a:prstGeom>
          <a:solidFill>
            <a:srgbClr val="37475A"/>
          </a:solidFill>
          <a:ln/>
        </p:spPr>
        <p:txBody>
          <a:bodyPr/>
          <a:lstStyle/>
          <a:p>
            <a:endParaRPr lang="en-UA"/>
          </a:p>
        </p:txBody>
      </p:sp>
      <p:pic>
        <p:nvPicPr>
          <p:cNvPr id="6" name="Image 0" descr="/home/claude/icons/bolt_orange.png"/>
          <p:cNvPicPr>
            <a:picLocks noChangeAspect="1"/>
          </p:cNvPicPr>
          <p:nvPr/>
        </p:nvPicPr>
        <p:blipFill>
          <a:blip r:embed="rId3"/>
          <a:stretch>
            <a:fillRect/>
          </a:stretch>
        </p:blipFill>
        <p:spPr>
          <a:xfrm>
            <a:off x="649224" y="3300984"/>
            <a:ext cx="182880" cy="182880"/>
          </a:xfrm>
          <a:prstGeom prst="rect">
            <a:avLst/>
          </a:prstGeom>
        </p:spPr>
      </p:pic>
      <p:sp>
        <p:nvSpPr>
          <p:cNvPr id="7" name="Text 4"/>
          <p:cNvSpPr txBox="1"/>
          <p:nvPr/>
        </p:nvSpPr>
        <p:spPr>
          <a:xfrm>
            <a:off x="1051560" y="3154680"/>
            <a:ext cx="4572000" cy="502920"/>
          </a:xfrm>
          <a:prstGeom prst="rect">
            <a:avLst/>
          </a:prstGeom>
          <a:noFill/>
          <a:ln/>
        </p:spPr>
        <p:txBody>
          <a:bodyPr wrap="square" rtlCol="0" anchor="ctr"/>
          <a:lstStyle/>
          <a:p>
            <a:pPr marL="0" indent="0">
              <a:lnSpc>
                <a:spcPct val="120000"/>
              </a:lnSpc>
              <a:buNone/>
            </a:pPr>
            <a:r>
              <a:rPr lang="en-US" sz="1200" dirty="0">
                <a:solidFill>
                  <a:srgbClr val="E6EAF0"/>
                </a:solidFill>
                <a:latin typeface="Calibri" pitchFamily="34" charset="0"/>
                <a:ea typeface="Calibri" pitchFamily="34" charset="-122"/>
                <a:cs typeface="Calibri" pitchFamily="34" charset="-120"/>
              </a:rPr>
              <a:t>Швидше для повторюваних дій — одна команда замість десятка кліків</a:t>
            </a:r>
            <a:endParaRPr lang="en-US" sz="1200" dirty="0"/>
          </a:p>
        </p:txBody>
      </p:sp>
      <p:sp>
        <p:nvSpPr>
          <p:cNvPr id="8" name="Shape 5"/>
          <p:cNvSpPr/>
          <p:nvPr/>
        </p:nvSpPr>
        <p:spPr>
          <a:xfrm>
            <a:off x="548640" y="3886200"/>
            <a:ext cx="384048" cy="384048"/>
          </a:xfrm>
          <a:prstGeom prst="ellipse">
            <a:avLst/>
          </a:prstGeom>
          <a:solidFill>
            <a:srgbClr val="37475A"/>
          </a:solidFill>
          <a:ln/>
        </p:spPr>
        <p:txBody>
          <a:bodyPr/>
          <a:lstStyle/>
          <a:p>
            <a:endParaRPr lang="en-UA"/>
          </a:p>
        </p:txBody>
      </p:sp>
      <p:pic>
        <p:nvPicPr>
          <p:cNvPr id="9" name="Image 1" descr="/home/claude/icons/code_orange.png"/>
          <p:cNvPicPr>
            <a:picLocks noChangeAspect="1"/>
          </p:cNvPicPr>
          <p:nvPr/>
        </p:nvPicPr>
        <p:blipFill>
          <a:blip r:embed="rId4"/>
          <a:stretch>
            <a:fillRect/>
          </a:stretch>
        </p:blipFill>
        <p:spPr>
          <a:xfrm>
            <a:off x="649224" y="3986784"/>
            <a:ext cx="182880" cy="182880"/>
          </a:xfrm>
          <a:prstGeom prst="rect">
            <a:avLst/>
          </a:prstGeom>
        </p:spPr>
      </p:pic>
      <p:sp>
        <p:nvSpPr>
          <p:cNvPr id="10" name="Text 6"/>
          <p:cNvSpPr txBox="1"/>
          <p:nvPr/>
        </p:nvSpPr>
        <p:spPr>
          <a:xfrm>
            <a:off x="1051560" y="3840480"/>
            <a:ext cx="4572000" cy="502920"/>
          </a:xfrm>
          <a:prstGeom prst="rect">
            <a:avLst/>
          </a:prstGeom>
          <a:noFill/>
          <a:ln/>
        </p:spPr>
        <p:txBody>
          <a:bodyPr wrap="square" rtlCol="0" anchor="ctr"/>
          <a:lstStyle/>
          <a:p>
            <a:pPr marL="0" indent="0">
              <a:lnSpc>
                <a:spcPct val="120000"/>
              </a:lnSpc>
              <a:buNone/>
            </a:pPr>
            <a:r>
              <a:rPr lang="en-US" sz="1200" dirty="0">
                <a:solidFill>
                  <a:srgbClr val="E6EAF0"/>
                </a:solidFill>
                <a:latin typeface="Calibri" pitchFamily="34" charset="0"/>
                <a:ea typeface="Calibri" pitchFamily="34" charset="-122"/>
                <a:cs typeface="Calibri" pitchFamily="34" charset="-120"/>
              </a:rPr>
              <a:t>Легко автоматизувати через bash/Python-скрипти</a:t>
            </a:r>
            <a:endParaRPr lang="en-US" sz="1200" dirty="0"/>
          </a:p>
        </p:txBody>
      </p:sp>
      <p:sp>
        <p:nvSpPr>
          <p:cNvPr id="11" name="Shape 7"/>
          <p:cNvSpPr/>
          <p:nvPr/>
        </p:nvSpPr>
        <p:spPr>
          <a:xfrm>
            <a:off x="548640" y="4572000"/>
            <a:ext cx="384048" cy="384048"/>
          </a:xfrm>
          <a:prstGeom prst="ellipse">
            <a:avLst/>
          </a:prstGeom>
          <a:solidFill>
            <a:srgbClr val="37475A"/>
          </a:solidFill>
          <a:ln/>
        </p:spPr>
        <p:txBody>
          <a:bodyPr/>
          <a:lstStyle/>
          <a:p>
            <a:endParaRPr lang="en-UA"/>
          </a:p>
        </p:txBody>
      </p:sp>
      <p:pic>
        <p:nvPicPr>
          <p:cNvPr id="12" name="Image 2" descr="/home/claude/icons/history_orange.png"/>
          <p:cNvPicPr>
            <a:picLocks noChangeAspect="1"/>
          </p:cNvPicPr>
          <p:nvPr/>
        </p:nvPicPr>
        <p:blipFill>
          <a:blip r:embed="rId5"/>
          <a:stretch>
            <a:fillRect/>
          </a:stretch>
        </p:blipFill>
        <p:spPr>
          <a:xfrm>
            <a:off x="649224" y="4672584"/>
            <a:ext cx="182880" cy="182880"/>
          </a:xfrm>
          <a:prstGeom prst="rect">
            <a:avLst/>
          </a:prstGeom>
        </p:spPr>
      </p:pic>
      <p:sp>
        <p:nvSpPr>
          <p:cNvPr id="13" name="Text 8"/>
          <p:cNvSpPr txBox="1"/>
          <p:nvPr/>
        </p:nvSpPr>
        <p:spPr>
          <a:xfrm>
            <a:off x="1051560" y="4526280"/>
            <a:ext cx="4572000" cy="502920"/>
          </a:xfrm>
          <a:prstGeom prst="rect">
            <a:avLst/>
          </a:prstGeom>
          <a:noFill/>
          <a:ln/>
        </p:spPr>
        <p:txBody>
          <a:bodyPr wrap="square" rtlCol="0" anchor="ctr"/>
          <a:lstStyle/>
          <a:p>
            <a:pPr marL="0" indent="0">
              <a:lnSpc>
                <a:spcPct val="120000"/>
              </a:lnSpc>
              <a:buNone/>
            </a:pPr>
            <a:r>
              <a:rPr lang="en-US" sz="1200" dirty="0">
                <a:solidFill>
                  <a:srgbClr val="E6EAF0"/>
                </a:solidFill>
                <a:latin typeface="Calibri" pitchFamily="34" charset="0"/>
                <a:ea typeface="Calibri" pitchFamily="34" charset="-122"/>
                <a:cs typeface="Calibri" pitchFamily="34" charset="-120"/>
              </a:rPr>
              <a:t>Дії легко відтворити та задокументувати як код</a:t>
            </a:r>
            <a:endParaRPr lang="en-US" sz="1200" dirty="0"/>
          </a:p>
        </p:txBody>
      </p:sp>
      <p:sp>
        <p:nvSpPr>
          <p:cNvPr id="14" name="Shape 9"/>
          <p:cNvSpPr/>
          <p:nvPr/>
        </p:nvSpPr>
        <p:spPr>
          <a:xfrm>
            <a:off x="6172200" y="1600200"/>
            <a:ext cx="5468112" cy="4434840"/>
          </a:xfrm>
          <a:prstGeom prst="roundRect">
            <a:avLst>
              <a:gd name="adj" fmla="val 2062"/>
            </a:avLst>
          </a:prstGeom>
          <a:solidFill>
            <a:srgbClr val="1A2431"/>
          </a:solidFill>
          <a:ln w="12700">
            <a:solidFill>
              <a:srgbClr val="37475A"/>
            </a:solidFill>
            <a:prstDash val="solid"/>
          </a:ln>
        </p:spPr>
        <p:txBody>
          <a:bodyPr/>
          <a:lstStyle/>
          <a:p>
            <a:endParaRPr lang="en-UA"/>
          </a:p>
        </p:txBody>
      </p:sp>
      <p:sp>
        <p:nvSpPr>
          <p:cNvPr id="15" name="Shape 10"/>
          <p:cNvSpPr/>
          <p:nvPr/>
        </p:nvSpPr>
        <p:spPr>
          <a:xfrm>
            <a:off x="6400800" y="1801368"/>
            <a:ext cx="128016" cy="128016"/>
          </a:xfrm>
          <a:prstGeom prst="ellipse">
            <a:avLst/>
          </a:prstGeom>
          <a:solidFill>
            <a:srgbClr val="E0605A"/>
          </a:solidFill>
          <a:ln/>
        </p:spPr>
        <p:txBody>
          <a:bodyPr/>
          <a:lstStyle/>
          <a:p>
            <a:endParaRPr lang="en-UA"/>
          </a:p>
        </p:txBody>
      </p:sp>
      <p:sp>
        <p:nvSpPr>
          <p:cNvPr id="16" name="Shape 11"/>
          <p:cNvSpPr/>
          <p:nvPr/>
        </p:nvSpPr>
        <p:spPr>
          <a:xfrm>
            <a:off x="6611112" y="1801368"/>
            <a:ext cx="128016" cy="128016"/>
          </a:xfrm>
          <a:prstGeom prst="ellipse">
            <a:avLst/>
          </a:prstGeom>
          <a:solidFill>
            <a:srgbClr val="E8B84B"/>
          </a:solidFill>
          <a:ln/>
        </p:spPr>
        <p:txBody>
          <a:bodyPr/>
          <a:lstStyle/>
          <a:p>
            <a:endParaRPr lang="en-UA"/>
          </a:p>
        </p:txBody>
      </p:sp>
      <p:sp>
        <p:nvSpPr>
          <p:cNvPr id="17" name="Shape 12"/>
          <p:cNvSpPr/>
          <p:nvPr/>
        </p:nvSpPr>
        <p:spPr>
          <a:xfrm>
            <a:off x="6821424" y="1801368"/>
            <a:ext cx="128016" cy="128016"/>
          </a:xfrm>
          <a:prstGeom prst="ellipse">
            <a:avLst/>
          </a:prstGeom>
          <a:solidFill>
            <a:srgbClr val="5CB86B"/>
          </a:solidFill>
          <a:ln/>
        </p:spPr>
        <p:txBody>
          <a:bodyPr/>
          <a:lstStyle/>
          <a:p>
            <a:endParaRPr lang="en-UA"/>
          </a:p>
        </p:txBody>
      </p:sp>
      <p:sp>
        <p:nvSpPr>
          <p:cNvPr id="18" name="Text 13"/>
          <p:cNvSpPr txBox="1"/>
          <p:nvPr/>
        </p:nvSpPr>
        <p:spPr>
          <a:xfrm>
            <a:off x="6172200" y="1728216"/>
            <a:ext cx="5468112" cy="274320"/>
          </a:xfrm>
          <a:prstGeom prst="rect">
            <a:avLst/>
          </a:prstGeom>
          <a:noFill/>
          <a:ln/>
        </p:spPr>
        <p:txBody>
          <a:bodyPr wrap="square" rtlCol="0" anchor="ctr"/>
          <a:lstStyle/>
          <a:p>
            <a:pPr marL="0" indent="0" algn="ctr">
              <a:buNone/>
            </a:pPr>
            <a:r>
              <a:rPr lang="en-US" sz="1050" dirty="0">
                <a:solidFill>
                  <a:srgbClr val="8A97A8"/>
                </a:solidFill>
                <a:latin typeface="Consolas" pitchFamily="34" charset="0"/>
                <a:ea typeface="Consolas" pitchFamily="34" charset="-122"/>
                <a:cs typeface="Consolas" pitchFamily="34" charset="-120"/>
              </a:rPr>
              <a:t>bash — Terminal</a:t>
            </a:r>
            <a:endParaRPr lang="en-US" sz="1050" dirty="0"/>
          </a:p>
        </p:txBody>
      </p:sp>
      <p:sp>
        <p:nvSpPr>
          <p:cNvPr id="19" name="Text 14"/>
          <p:cNvSpPr txBox="1"/>
          <p:nvPr/>
        </p:nvSpPr>
        <p:spPr>
          <a:xfrm>
            <a:off x="6492240" y="2103120"/>
            <a:ext cx="4828032" cy="3703320"/>
          </a:xfrm>
          <a:prstGeom prst="rect">
            <a:avLst/>
          </a:prstGeom>
          <a:noFill/>
          <a:ln/>
        </p:spPr>
        <p:txBody>
          <a:bodyPr wrap="square" rtlCol="0" anchor="ctr"/>
          <a:lstStyle/>
          <a:p>
            <a:pPr marL="0" indent="0">
              <a:lnSpc>
                <a:spcPct val="140000"/>
              </a:lnSpc>
              <a:buNone/>
            </a:pPr>
            <a:r>
              <a:rPr lang="en-US" sz="1350" dirty="0">
                <a:solidFill>
                  <a:srgbClr val="B8E986"/>
                </a:solidFill>
                <a:latin typeface="Consolas" pitchFamily="34" charset="0"/>
                <a:ea typeface="Consolas" pitchFamily="34" charset="-122"/>
                <a:cs typeface="Consolas" pitchFamily="34" charset="-120"/>
              </a:rPr>
              <a:t>$ aws s3 ls</a:t>
            </a:r>
            <a:endParaRPr lang="en-US" sz="1350" dirty="0"/>
          </a:p>
          <a:p>
            <a:pPr marL="0" indent="0">
              <a:lnSpc>
                <a:spcPct val="140000"/>
              </a:lnSpc>
              <a:buNone/>
            </a:pPr>
            <a:r>
              <a:rPr lang="en-US" sz="1350" dirty="0">
                <a:solidFill>
                  <a:srgbClr val="E6EAF0"/>
                </a:solidFill>
                <a:latin typeface="Consolas" pitchFamily="34" charset="0"/>
                <a:ea typeface="Consolas" pitchFamily="34" charset="-122"/>
                <a:cs typeface="Consolas" pitchFamily="34" charset="-120"/>
              </a:rPr>
              <a:t>2026-08-01  my-project-bucket</a:t>
            </a:r>
            <a:endParaRPr lang="en-US" sz="1350" dirty="0"/>
          </a:p>
          <a:p>
            <a:pPr marL="0" indent="0">
              <a:lnSpc>
                <a:spcPct val="140000"/>
              </a:lnSpc>
              <a:buNone/>
            </a:pPr>
            <a:r>
              <a:rPr lang="en-US" sz="1350" dirty="0">
                <a:solidFill>
                  <a:srgbClr val="E6EAF0"/>
                </a:solidFill>
                <a:latin typeface="Consolas" pitchFamily="34" charset="0"/>
                <a:ea typeface="Consolas" pitchFamily="34" charset="-122"/>
                <a:cs typeface="Consolas" pitchFamily="34" charset="-120"/>
              </a:rPr>
              <a:t>2026-09-10  backups-eu</a:t>
            </a:r>
            <a:endParaRPr lang="en-US" sz="1350" dirty="0"/>
          </a:p>
          <a:p>
            <a:pPr marL="0" indent="0">
              <a:lnSpc>
                <a:spcPct val="140000"/>
              </a:lnSpc>
              <a:buNone/>
            </a:pPr>
            <a:endParaRPr lang="en-US" sz="1350" dirty="0"/>
          </a:p>
          <a:p>
            <a:pPr marL="0" indent="0">
              <a:lnSpc>
                <a:spcPct val="140000"/>
              </a:lnSpc>
              <a:buNone/>
            </a:pPr>
            <a:r>
              <a:rPr lang="en-US" sz="1350" dirty="0">
                <a:solidFill>
                  <a:srgbClr val="B8E986"/>
                </a:solidFill>
                <a:latin typeface="Consolas" pitchFamily="34" charset="0"/>
                <a:ea typeface="Consolas" pitchFamily="34" charset="-122"/>
                <a:cs typeface="Consolas" pitchFamily="34" charset="-120"/>
              </a:rPr>
              <a:t>$ aws ec2 describe-instances \</a:t>
            </a:r>
            <a:endParaRPr lang="en-US" sz="1350" dirty="0"/>
          </a:p>
          <a:p>
            <a:pPr marL="0" indent="0">
              <a:lnSpc>
                <a:spcPct val="140000"/>
              </a:lnSpc>
              <a:buNone/>
            </a:pPr>
            <a:r>
              <a:rPr lang="en-US" sz="1350" dirty="0">
                <a:solidFill>
                  <a:srgbClr val="B8E986"/>
                </a:solidFill>
                <a:latin typeface="Consolas" pitchFamily="34" charset="0"/>
                <a:ea typeface="Consolas" pitchFamily="34" charset="-122"/>
                <a:cs typeface="Consolas" pitchFamily="34" charset="-120"/>
              </a:rPr>
              <a:t>    --query "Reservations[].Instances[].State"</a:t>
            </a:r>
            <a:endParaRPr lang="en-US" sz="1350" dirty="0"/>
          </a:p>
          <a:p>
            <a:pPr marL="0" indent="0">
              <a:lnSpc>
                <a:spcPct val="140000"/>
              </a:lnSpc>
              <a:buNone/>
            </a:pPr>
            <a:r>
              <a:rPr lang="en-US" sz="1350" dirty="0">
                <a:solidFill>
                  <a:srgbClr val="E6EAF0"/>
                </a:solidFill>
                <a:latin typeface="Consolas" pitchFamily="34" charset="0"/>
                <a:ea typeface="Consolas" pitchFamily="34" charset="-122"/>
                <a:cs typeface="Consolas" pitchFamily="34" charset="-120"/>
              </a:rPr>
              <a:t>[{ "Name": "running" }]</a:t>
            </a:r>
            <a:endParaRPr lang="en-US" sz="1350" dirty="0"/>
          </a:p>
          <a:p>
            <a:pPr marL="0" indent="0">
              <a:lnSpc>
                <a:spcPct val="140000"/>
              </a:lnSpc>
              <a:buNone/>
            </a:pPr>
            <a:endParaRPr lang="en-US" sz="1350" dirty="0"/>
          </a:p>
          <a:p>
            <a:pPr marL="0" indent="0">
              <a:lnSpc>
                <a:spcPct val="140000"/>
              </a:lnSpc>
              <a:buNone/>
            </a:pPr>
            <a:r>
              <a:rPr lang="en-US" sz="1350" dirty="0">
                <a:solidFill>
                  <a:srgbClr val="B8E986"/>
                </a:solidFill>
                <a:latin typeface="Consolas" pitchFamily="34" charset="0"/>
                <a:ea typeface="Consolas" pitchFamily="34" charset="-122"/>
                <a:cs typeface="Consolas" pitchFamily="34" charset="-120"/>
              </a:rPr>
              <a:t>$ █</a:t>
            </a:r>
            <a:endParaRPr lang="en-US" sz="1350" dirty="0"/>
          </a:p>
        </p:txBody>
      </p:sp>
      <p:sp>
        <p:nvSpPr>
          <p:cNvPr id="20" name="Text 15"/>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A9B7C6"/>
                </a:solidFill>
                <a:latin typeface="Calibri" pitchFamily="34" charset="0"/>
                <a:ea typeface="Calibri" pitchFamily="34" charset="-122"/>
                <a:cs typeface="Calibri" pitchFamily="34" charset="-120"/>
              </a:rPr>
              <a:t>AWS Console, CLI та SDK</a:t>
            </a:r>
            <a:endParaRPr lang="en-US" sz="1000" dirty="0"/>
          </a:p>
        </p:txBody>
      </p:sp>
      <p:sp>
        <p:nvSpPr>
          <p:cNvPr id="21"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A9B7C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3F3"/>
        </a:solidFill>
        <a:effectLst/>
      </p:bgPr>
    </p:bg>
    <p:spTree>
      <p:nvGrpSpPr>
        <p:cNvPr id="1" name=""/>
        <p:cNvGrpSpPr/>
        <p:nvPr/>
      </p:nvGrpSpPr>
      <p:grpSpPr>
        <a:xfrm>
          <a:off x="0" y="0"/>
          <a:ext cx="0" cy="0"/>
          <a:chOff x="0" y="0"/>
          <a:chExt cx="0" cy="0"/>
        </a:xfrm>
      </p:grpSpPr>
      <p:sp>
        <p:nvSpPr>
          <p:cNvPr id="3" name="Text 1"/>
          <p:cNvSpPr txBox="1"/>
          <p:nvPr/>
        </p:nvSpPr>
        <p:spPr>
          <a:xfrm>
            <a:off x="548640" y="341597"/>
            <a:ext cx="11064240" cy="822960"/>
          </a:xfrm>
          <a:prstGeom prst="rect">
            <a:avLst/>
          </a:prstGeom>
          <a:noFill/>
          <a:ln/>
        </p:spPr>
        <p:txBody>
          <a:bodyPr wrap="square" rtlCol="0" anchor="ctr"/>
          <a:lstStyle/>
          <a:p>
            <a:pPr marL="0" indent="0">
              <a:buNone/>
            </a:pPr>
            <a:r>
              <a:rPr lang="en-US" sz="3200" b="1" dirty="0">
                <a:solidFill>
                  <a:srgbClr val="16191F"/>
                </a:solidFill>
                <a:latin typeface="Cambria" pitchFamily="34" charset="0"/>
                <a:ea typeface="Cambria" pitchFamily="34" charset="-122"/>
                <a:cs typeface="Cambria" pitchFamily="34" charset="-120"/>
              </a:rPr>
              <a:t>Встановлення та конфігурація CLI</a:t>
            </a:r>
            <a:endParaRPr lang="en-US" sz="3200" dirty="0"/>
          </a:p>
        </p:txBody>
      </p:sp>
      <p:sp>
        <p:nvSpPr>
          <p:cNvPr id="4" name="Text 2"/>
          <p:cNvSpPr txBox="1"/>
          <p:nvPr/>
        </p:nvSpPr>
        <p:spPr>
          <a:xfrm>
            <a:off x="548640" y="1260892"/>
            <a:ext cx="10789920" cy="365760"/>
          </a:xfrm>
          <a:prstGeom prst="rect">
            <a:avLst/>
          </a:prstGeom>
          <a:noFill/>
          <a:ln/>
        </p:spPr>
        <p:txBody>
          <a:bodyPr wrap="square" rtlCol="0" anchor="ctr"/>
          <a:lstStyle/>
          <a:p>
            <a:pPr marL="0" indent="0">
              <a:buNone/>
            </a:pPr>
            <a:r>
              <a:rPr lang="en-US" sz="1300" i="1" dirty="0">
                <a:solidFill>
                  <a:srgbClr val="5A6674"/>
                </a:solidFill>
                <a:latin typeface="Calibri" pitchFamily="34" charset="0"/>
                <a:ea typeface="Calibri" pitchFamily="34" charset="-122"/>
                <a:cs typeface="Calibri" pitchFamily="34" charset="-120"/>
              </a:rPr>
              <a:t>Встановлення залежить від ОС, а конфігурація — однакова для всіх: одна команда `aws configure`.</a:t>
            </a:r>
            <a:endParaRPr lang="en-US" sz="1300" dirty="0"/>
          </a:p>
        </p:txBody>
      </p:sp>
      <p:sp>
        <p:nvSpPr>
          <p:cNvPr id="5" name="Shape 3"/>
          <p:cNvSpPr/>
          <p:nvPr/>
        </p:nvSpPr>
        <p:spPr>
          <a:xfrm>
            <a:off x="548640" y="1881056"/>
            <a:ext cx="3520440" cy="1234440"/>
          </a:xfrm>
          <a:prstGeom prst="roundRect">
            <a:avLst>
              <a:gd name="adj" fmla="val 7407"/>
            </a:avLst>
          </a:prstGeom>
          <a:solidFill>
            <a:srgbClr val="FFFFFF"/>
          </a:solidFill>
          <a:ln w="12700">
            <a:solidFill>
              <a:srgbClr val="DDE1E6"/>
            </a:solidFill>
            <a:prstDash val="solid"/>
          </a:ln>
        </p:spPr>
        <p:txBody>
          <a:bodyPr/>
          <a:lstStyle/>
          <a:p>
            <a:endParaRPr lang="en-UA"/>
          </a:p>
        </p:txBody>
      </p:sp>
      <p:sp>
        <p:nvSpPr>
          <p:cNvPr id="6" name="Shape 4"/>
          <p:cNvSpPr/>
          <p:nvPr/>
        </p:nvSpPr>
        <p:spPr>
          <a:xfrm>
            <a:off x="777240" y="2109656"/>
            <a:ext cx="502920" cy="502920"/>
          </a:xfrm>
          <a:prstGeom prst="ellipse">
            <a:avLst/>
          </a:prstGeom>
          <a:solidFill>
            <a:srgbClr val="232F3E"/>
          </a:solidFill>
          <a:ln/>
        </p:spPr>
        <p:txBody>
          <a:bodyPr/>
          <a:lstStyle/>
          <a:p>
            <a:endParaRPr lang="en-UA"/>
          </a:p>
        </p:txBody>
      </p:sp>
      <p:pic>
        <p:nvPicPr>
          <p:cNvPr id="7" name="Image 0" descr="/home/claude/icons/windows_orange.png"/>
          <p:cNvPicPr>
            <a:picLocks noChangeAspect="1"/>
          </p:cNvPicPr>
          <p:nvPr/>
        </p:nvPicPr>
        <p:blipFill>
          <a:blip r:embed="rId3"/>
          <a:stretch>
            <a:fillRect/>
          </a:stretch>
        </p:blipFill>
        <p:spPr>
          <a:xfrm>
            <a:off x="896112" y="2228528"/>
            <a:ext cx="265176" cy="265176"/>
          </a:xfrm>
          <a:prstGeom prst="rect">
            <a:avLst/>
          </a:prstGeom>
        </p:spPr>
      </p:pic>
      <p:sp>
        <p:nvSpPr>
          <p:cNvPr id="8" name="Text 5"/>
          <p:cNvSpPr txBox="1"/>
          <p:nvPr/>
        </p:nvSpPr>
        <p:spPr>
          <a:xfrm>
            <a:off x="1417320" y="2082224"/>
            <a:ext cx="2423160" cy="320040"/>
          </a:xfrm>
          <a:prstGeom prst="rect">
            <a:avLst/>
          </a:prstGeom>
          <a:noFill/>
          <a:ln/>
        </p:spPr>
        <p:txBody>
          <a:bodyPr wrap="square" rtlCol="0" anchor="ctr"/>
          <a:lstStyle/>
          <a:p>
            <a:pPr marL="0" indent="0">
              <a:buNone/>
            </a:pPr>
            <a:r>
              <a:rPr lang="en-US" sz="1350" b="1" dirty="0">
                <a:solidFill>
                  <a:srgbClr val="16191F"/>
                </a:solidFill>
                <a:latin typeface="Calibri" pitchFamily="34" charset="0"/>
                <a:ea typeface="Calibri" pitchFamily="34" charset="-122"/>
                <a:cs typeface="Calibri" pitchFamily="34" charset="-120"/>
              </a:rPr>
              <a:t>Windows</a:t>
            </a:r>
            <a:endParaRPr lang="en-US" sz="1350" dirty="0"/>
          </a:p>
        </p:txBody>
      </p:sp>
      <p:sp>
        <p:nvSpPr>
          <p:cNvPr id="9" name="Text 6"/>
          <p:cNvSpPr txBox="1"/>
          <p:nvPr/>
        </p:nvSpPr>
        <p:spPr>
          <a:xfrm>
            <a:off x="1417320" y="2411408"/>
            <a:ext cx="2423160" cy="640080"/>
          </a:xfrm>
          <a:prstGeom prst="rect">
            <a:avLst/>
          </a:prstGeom>
          <a:noFill/>
          <a:ln/>
        </p:spPr>
        <p:txBody>
          <a:bodyPr wrap="square" rtlCol="0" anchor="ctr"/>
          <a:lstStyle/>
          <a:p>
            <a:pPr marL="0" indent="0">
              <a:lnSpc>
                <a:spcPct val="120000"/>
              </a:lnSpc>
              <a:buNone/>
            </a:pPr>
            <a:r>
              <a:rPr lang="en-US" sz="1050" dirty="0">
                <a:solidFill>
                  <a:srgbClr val="5A6674"/>
                </a:solidFill>
                <a:latin typeface="Calibri" pitchFamily="34" charset="0"/>
                <a:ea typeface="Calibri" pitchFamily="34" charset="-122"/>
                <a:cs typeface="Calibri" pitchFamily="34" charset="-120"/>
              </a:rPr>
              <a:t>Інсталятор MSI з офіційного сайту AWS</a:t>
            </a:r>
            <a:endParaRPr lang="en-US" sz="1050" dirty="0"/>
          </a:p>
        </p:txBody>
      </p:sp>
      <p:sp>
        <p:nvSpPr>
          <p:cNvPr id="10" name="Shape 7"/>
          <p:cNvSpPr/>
          <p:nvPr/>
        </p:nvSpPr>
        <p:spPr>
          <a:xfrm>
            <a:off x="4389120" y="1881056"/>
            <a:ext cx="3520440" cy="1234440"/>
          </a:xfrm>
          <a:prstGeom prst="roundRect">
            <a:avLst>
              <a:gd name="adj" fmla="val 7407"/>
            </a:avLst>
          </a:prstGeom>
          <a:solidFill>
            <a:srgbClr val="FFFFFF"/>
          </a:solidFill>
          <a:ln w="12700">
            <a:solidFill>
              <a:srgbClr val="DDE1E6"/>
            </a:solidFill>
            <a:prstDash val="solid"/>
          </a:ln>
        </p:spPr>
        <p:txBody>
          <a:bodyPr/>
          <a:lstStyle/>
          <a:p>
            <a:endParaRPr lang="en-UA"/>
          </a:p>
        </p:txBody>
      </p:sp>
      <p:sp>
        <p:nvSpPr>
          <p:cNvPr id="11" name="Shape 8"/>
          <p:cNvSpPr/>
          <p:nvPr/>
        </p:nvSpPr>
        <p:spPr>
          <a:xfrm>
            <a:off x="4617720" y="2109656"/>
            <a:ext cx="502920" cy="502920"/>
          </a:xfrm>
          <a:prstGeom prst="ellipse">
            <a:avLst/>
          </a:prstGeom>
          <a:solidFill>
            <a:srgbClr val="232F3E"/>
          </a:solidFill>
          <a:ln/>
        </p:spPr>
        <p:txBody>
          <a:bodyPr/>
          <a:lstStyle/>
          <a:p>
            <a:endParaRPr lang="en-UA"/>
          </a:p>
        </p:txBody>
      </p:sp>
      <p:pic>
        <p:nvPicPr>
          <p:cNvPr id="12" name="Image 1" descr="/home/claude/icons/apple_orange.png"/>
          <p:cNvPicPr>
            <a:picLocks noChangeAspect="1"/>
          </p:cNvPicPr>
          <p:nvPr/>
        </p:nvPicPr>
        <p:blipFill>
          <a:blip r:embed="rId4"/>
          <a:stretch>
            <a:fillRect/>
          </a:stretch>
        </p:blipFill>
        <p:spPr>
          <a:xfrm>
            <a:off x="4736592" y="2228528"/>
            <a:ext cx="265176" cy="265176"/>
          </a:xfrm>
          <a:prstGeom prst="rect">
            <a:avLst/>
          </a:prstGeom>
        </p:spPr>
      </p:pic>
      <p:sp>
        <p:nvSpPr>
          <p:cNvPr id="13" name="Text 9"/>
          <p:cNvSpPr txBox="1"/>
          <p:nvPr/>
        </p:nvSpPr>
        <p:spPr>
          <a:xfrm>
            <a:off x="5257800" y="2082224"/>
            <a:ext cx="2423160" cy="320040"/>
          </a:xfrm>
          <a:prstGeom prst="rect">
            <a:avLst/>
          </a:prstGeom>
          <a:noFill/>
          <a:ln/>
        </p:spPr>
        <p:txBody>
          <a:bodyPr wrap="square" rtlCol="0" anchor="ctr"/>
          <a:lstStyle/>
          <a:p>
            <a:pPr marL="0" indent="0">
              <a:buNone/>
            </a:pPr>
            <a:r>
              <a:rPr lang="en-US" sz="1350" b="1" dirty="0">
                <a:solidFill>
                  <a:srgbClr val="16191F"/>
                </a:solidFill>
                <a:latin typeface="Calibri" pitchFamily="34" charset="0"/>
                <a:ea typeface="Calibri" pitchFamily="34" charset="-122"/>
                <a:cs typeface="Calibri" pitchFamily="34" charset="-120"/>
              </a:rPr>
              <a:t>macOS</a:t>
            </a:r>
            <a:endParaRPr lang="en-US" sz="1350" dirty="0"/>
          </a:p>
        </p:txBody>
      </p:sp>
      <p:sp>
        <p:nvSpPr>
          <p:cNvPr id="14" name="Text 10"/>
          <p:cNvSpPr txBox="1"/>
          <p:nvPr/>
        </p:nvSpPr>
        <p:spPr>
          <a:xfrm>
            <a:off x="5257800" y="2411408"/>
            <a:ext cx="2423160" cy="640080"/>
          </a:xfrm>
          <a:prstGeom prst="rect">
            <a:avLst/>
          </a:prstGeom>
          <a:noFill/>
          <a:ln/>
        </p:spPr>
        <p:txBody>
          <a:bodyPr wrap="square" rtlCol="0" anchor="ctr"/>
          <a:lstStyle/>
          <a:p>
            <a:pPr marL="0" indent="0">
              <a:lnSpc>
                <a:spcPct val="120000"/>
              </a:lnSpc>
              <a:buNone/>
            </a:pPr>
            <a:r>
              <a:rPr lang="en-US" sz="1050" dirty="0">
                <a:solidFill>
                  <a:srgbClr val="5A6674"/>
                </a:solidFill>
                <a:latin typeface="Calibri" pitchFamily="34" charset="0"/>
                <a:ea typeface="Calibri" pitchFamily="34" charset="-122"/>
                <a:cs typeface="Calibri" pitchFamily="34" charset="-120"/>
              </a:rPr>
              <a:t>Пакет .pkg або через Homebrew: brew install awscli</a:t>
            </a:r>
            <a:endParaRPr lang="en-US" sz="1050" dirty="0"/>
          </a:p>
        </p:txBody>
      </p:sp>
      <p:sp>
        <p:nvSpPr>
          <p:cNvPr id="15" name="Shape 11"/>
          <p:cNvSpPr/>
          <p:nvPr/>
        </p:nvSpPr>
        <p:spPr>
          <a:xfrm>
            <a:off x="8229600" y="1881056"/>
            <a:ext cx="3520440" cy="1234440"/>
          </a:xfrm>
          <a:prstGeom prst="roundRect">
            <a:avLst>
              <a:gd name="adj" fmla="val 7407"/>
            </a:avLst>
          </a:prstGeom>
          <a:solidFill>
            <a:srgbClr val="FFFFFF"/>
          </a:solidFill>
          <a:ln w="12700">
            <a:solidFill>
              <a:srgbClr val="DDE1E6"/>
            </a:solidFill>
            <a:prstDash val="solid"/>
          </a:ln>
        </p:spPr>
        <p:txBody>
          <a:bodyPr/>
          <a:lstStyle/>
          <a:p>
            <a:endParaRPr lang="en-UA"/>
          </a:p>
        </p:txBody>
      </p:sp>
      <p:sp>
        <p:nvSpPr>
          <p:cNvPr id="16" name="Shape 12"/>
          <p:cNvSpPr/>
          <p:nvPr/>
        </p:nvSpPr>
        <p:spPr>
          <a:xfrm>
            <a:off x="8458200" y="2109656"/>
            <a:ext cx="502920" cy="502920"/>
          </a:xfrm>
          <a:prstGeom prst="ellipse">
            <a:avLst/>
          </a:prstGeom>
          <a:solidFill>
            <a:srgbClr val="232F3E"/>
          </a:solidFill>
          <a:ln/>
        </p:spPr>
        <p:txBody>
          <a:bodyPr/>
          <a:lstStyle/>
          <a:p>
            <a:endParaRPr lang="en-UA"/>
          </a:p>
        </p:txBody>
      </p:sp>
      <p:pic>
        <p:nvPicPr>
          <p:cNvPr id="17" name="Image 2" descr="/home/claude/icons/linux_orange.png"/>
          <p:cNvPicPr>
            <a:picLocks noChangeAspect="1"/>
          </p:cNvPicPr>
          <p:nvPr/>
        </p:nvPicPr>
        <p:blipFill>
          <a:blip r:embed="rId5"/>
          <a:stretch>
            <a:fillRect/>
          </a:stretch>
        </p:blipFill>
        <p:spPr>
          <a:xfrm>
            <a:off x="8577072" y="2228528"/>
            <a:ext cx="265176" cy="265176"/>
          </a:xfrm>
          <a:prstGeom prst="rect">
            <a:avLst/>
          </a:prstGeom>
        </p:spPr>
      </p:pic>
      <p:sp>
        <p:nvSpPr>
          <p:cNvPr id="18" name="Text 13"/>
          <p:cNvSpPr txBox="1"/>
          <p:nvPr/>
        </p:nvSpPr>
        <p:spPr>
          <a:xfrm>
            <a:off x="9098280" y="2082224"/>
            <a:ext cx="2423160" cy="320040"/>
          </a:xfrm>
          <a:prstGeom prst="rect">
            <a:avLst/>
          </a:prstGeom>
          <a:noFill/>
          <a:ln/>
        </p:spPr>
        <p:txBody>
          <a:bodyPr wrap="square" rtlCol="0" anchor="ctr"/>
          <a:lstStyle/>
          <a:p>
            <a:pPr marL="0" indent="0">
              <a:buNone/>
            </a:pPr>
            <a:r>
              <a:rPr lang="en-US" sz="1350" b="1" dirty="0">
                <a:solidFill>
                  <a:srgbClr val="16191F"/>
                </a:solidFill>
                <a:latin typeface="Calibri" pitchFamily="34" charset="0"/>
                <a:ea typeface="Calibri" pitchFamily="34" charset="-122"/>
                <a:cs typeface="Calibri" pitchFamily="34" charset="-120"/>
              </a:rPr>
              <a:t>Linux</a:t>
            </a:r>
            <a:endParaRPr lang="en-US" sz="1350" dirty="0"/>
          </a:p>
        </p:txBody>
      </p:sp>
      <p:sp>
        <p:nvSpPr>
          <p:cNvPr id="19" name="Text 14"/>
          <p:cNvSpPr txBox="1"/>
          <p:nvPr/>
        </p:nvSpPr>
        <p:spPr>
          <a:xfrm>
            <a:off x="9098280" y="2411408"/>
            <a:ext cx="2423160" cy="640080"/>
          </a:xfrm>
          <a:prstGeom prst="rect">
            <a:avLst/>
          </a:prstGeom>
          <a:noFill/>
          <a:ln/>
        </p:spPr>
        <p:txBody>
          <a:bodyPr wrap="square" rtlCol="0" anchor="ctr"/>
          <a:lstStyle/>
          <a:p>
            <a:pPr marL="0" indent="0">
              <a:lnSpc>
                <a:spcPct val="120000"/>
              </a:lnSpc>
              <a:buNone/>
            </a:pPr>
            <a:r>
              <a:rPr lang="en-US" sz="1050" dirty="0">
                <a:solidFill>
                  <a:srgbClr val="5A6674"/>
                </a:solidFill>
                <a:latin typeface="Calibri" pitchFamily="34" charset="0"/>
                <a:ea typeface="Calibri" pitchFamily="34" charset="-122"/>
                <a:cs typeface="Calibri" pitchFamily="34" charset="-120"/>
              </a:rPr>
              <a:t>curl-скрипт офіційного інсталятора з awscli.amazonaws.com</a:t>
            </a:r>
            <a:endParaRPr lang="en-US" sz="1050" dirty="0"/>
          </a:p>
        </p:txBody>
      </p:sp>
      <p:sp>
        <p:nvSpPr>
          <p:cNvPr id="20" name="Text 15"/>
          <p:cNvSpPr txBox="1"/>
          <p:nvPr/>
        </p:nvSpPr>
        <p:spPr>
          <a:xfrm>
            <a:off x="548640" y="3290212"/>
            <a:ext cx="3657600" cy="274320"/>
          </a:xfrm>
          <a:prstGeom prst="rect">
            <a:avLst/>
          </a:prstGeom>
          <a:noFill/>
          <a:ln/>
        </p:spPr>
        <p:txBody>
          <a:bodyPr wrap="square" rtlCol="0" anchor="ctr"/>
          <a:lstStyle/>
          <a:p>
            <a:pPr marL="0" indent="0">
              <a:buNone/>
            </a:pPr>
            <a:r>
              <a:rPr lang="en-US" sz="1200" b="1" dirty="0">
                <a:solidFill>
                  <a:srgbClr val="16191F"/>
                </a:solidFill>
                <a:latin typeface="Calibri" pitchFamily="34" charset="0"/>
                <a:ea typeface="Calibri" pitchFamily="34" charset="-122"/>
                <a:cs typeface="Calibri" pitchFamily="34" charset="-120"/>
              </a:rPr>
              <a:t>Перевірка встановлення:</a:t>
            </a:r>
            <a:endParaRPr lang="en-US" sz="1200" dirty="0"/>
          </a:p>
        </p:txBody>
      </p:sp>
      <p:sp>
        <p:nvSpPr>
          <p:cNvPr id="21" name="Shape 16"/>
          <p:cNvSpPr/>
          <p:nvPr/>
        </p:nvSpPr>
        <p:spPr>
          <a:xfrm>
            <a:off x="548640" y="3610252"/>
            <a:ext cx="11064240" cy="2651760"/>
          </a:xfrm>
          <a:prstGeom prst="roundRect">
            <a:avLst>
              <a:gd name="adj" fmla="val 3448"/>
            </a:avLst>
          </a:prstGeom>
          <a:solidFill>
            <a:srgbClr val="1A2431"/>
          </a:solidFill>
          <a:ln w="12700">
            <a:solidFill>
              <a:srgbClr val="37475A"/>
            </a:solidFill>
            <a:prstDash val="solid"/>
          </a:ln>
        </p:spPr>
        <p:txBody>
          <a:bodyPr/>
          <a:lstStyle/>
          <a:p>
            <a:endParaRPr lang="en-UA"/>
          </a:p>
        </p:txBody>
      </p:sp>
      <p:sp>
        <p:nvSpPr>
          <p:cNvPr id="22" name="Shape 17"/>
          <p:cNvSpPr/>
          <p:nvPr/>
        </p:nvSpPr>
        <p:spPr>
          <a:xfrm>
            <a:off x="777240" y="3811420"/>
            <a:ext cx="128016" cy="128016"/>
          </a:xfrm>
          <a:prstGeom prst="ellipse">
            <a:avLst/>
          </a:prstGeom>
          <a:solidFill>
            <a:srgbClr val="E0605A"/>
          </a:solidFill>
          <a:ln/>
        </p:spPr>
        <p:txBody>
          <a:bodyPr/>
          <a:lstStyle/>
          <a:p>
            <a:endParaRPr lang="en-UA"/>
          </a:p>
        </p:txBody>
      </p:sp>
      <p:sp>
        <p:nvSpPr>
          <p:cNvPr id="23" name="Shape 18"/>
          <p:cNvSpPr/>
          <p:nvPr/>
        </p:nvSpPr>
        <p:spPr>
          <a:xfrm>
            <a:off x="987552" y="3811420"/>
            <a:ext cx="128016" cy="128016"/>
          </a:xfrm>
          <a:prstGeom prst="ellipse">
            <a:avLst/>
          </a:prstGeom>
          <a:solidFill>
            <a:srgbClr val="E8B84B"/>
          </a:solidFill>
          <a:ln/>
        </p:spPr>
        <p:txBody>
          <a:bodyPr/>
          <a:lstStyle/>
          <a:p>
            <a:endParaRPr lang="en-UA"/>
          </a:p>
        </p:txBody>
      </p:sp>
      <p:sp>
        <p:nvSpPr>
          <p:cNvPr id="24" name="Shape 19"/>
          <p:cNvSpPr/>
          <p:nvPr/>
        </p:nvSpPr>
        <p:spPr>
          <a:xfrm>
            <a:off x="1197864" y="3811420"/>
            <a:ext cx="128016" cy="128016"/>
          </a:xfrm>
          <a:prstGeom prst="ellipse">
            <a:avLst/>
          </a:prstGeom>
          <a:solidFill>
            <a:srgbClr val="5CB86B"/>
          </a:solidFill>
          <a:ln/>
        </p:spPr>
        <p:txBody>
          <a:bodyPr/>
          <a:lstStyle/>
          <a:p>
            <a:endParaRPr lang="en-UA"/>
          </a:p>
        </p:txBody>
      </p:sp>
      <p:sp>
        <p:nvSpPr>
          <p:cNvPr id="25" name="Text 20"/>
          <p:cNvSpPr txBox="1"/>
          <p:nvPr/>
        </p:nvSpPr>
        <p:spPr>
          <a:xfrm>
            <a:off x="548640" y="3738268"/>
            <a:ext cx="11064240" cy="274320"/>
          </a:xfrm>
          <a:prstGeom prst="rect">
            <a:avLst/>
          </a:prstGeom>
          <a:noFill/>
          <a:ln/>
        </p:spPr>
        <p:txBody>
          <a:bodyPr wrap="square" rtlCol="0" anchor="ctr"/>
          <a:lstStyle/>
          <a:p>
            <a:pPr marL="0" indent="0" algn="ctr">
              <a:buNone/>
            </a:pPr>
            <a:r>
              <a:rPr lang="en-US" sz="1050" dirty="0">
                <a:solidFill>
                  <a:srgbClr val="8A97A8"/>
                </a:solidFill>
                <a:latin typeface="Consolas" pitchFamily="34" charset="0"/>
                <a:ea typeface="Consolas" pitchFamily="34" charset="-122"/>
                <a:cs typeface="Consolas" pitchFamily="34" charset="-120"/>
              </a:rPr>
              <a:t>bash — Terminal</a:t>
            </a:r>
            <a:endParaRPr lang="en-US" sz="1050" dirty="0"/>
          </a:p>
        </p:txBody>
      </p:sp>
      <p:sp>
        <p:nvSpPr>
          <p:cNvPr id="26" name="Text 21"/>
          <p:cNvSpPr txBox="1"/>
          <p:nvPr/>
        </p:nvSpPr>
        <p:spPr>
          <a:xfrm>
            <a:off x="868680" y="4113172"/>
            <a:ext cx="10424160" cy="1920240"/>
          </a:xfrm>
          <a:prstGeom prst="rect">
            <a:avLst/>
          </a:prstGeom>
          <a:noFill/>
          <a:ln/>
        </p:spPr>
        <p:txBody>
          <a:bodyPr wrap="square" rtlCol="0" anchor="ctr"/>
          <a:lstStyle/>
          <a:p>
            <a:pPr marL="0" indent="0">
              <a:lnSpc>
                <a:spcPct val="140000"/>
              </a:lnSpc>
              <a:buNone/>
            </a:pPr>
            <a:r>
              <a:rPr lang="en-US" sz="1250" dirty="0">
                <a:solidFill>
                  <a:srgbClr val="B8E986"/>
                </a:solidFill>
                <a:latin typeface="Consolas" pitchFamily="34" charset="0"/>
                <a:ea typeface="Consolas" pitchFamily="34" charset="-122"/>
                <a:cs typeface="Consolas" pitchFamily="34" charset="-120"/>
              </a:rPr>
              <a:t>$ aws --version</a:t>
            </a:r>
            <a:endParaRPr lang="en-US" sz="1250" dirty="0"/>
          </a:p>
          <a:p>
            <a:pPr marL="0" indent="0">
              <a:lnSpc>
                <a:spcPct val="140000"/>
              </a:lnSpc>
              <a:buNone/>
            </a:pPr>
            <a:r>
              <a:rPr lang="en-US" sz="1250" dirty="0">
                <a:solidFill>
                  <a:srgbClr val="E6EAF0"/>
                </a:solidFill>
                <a:latin typeface="Consolas" pitchFamily="34" charset="0"/>
                <a:ea typeface="Consolas" pitchFamily="34" charset="-122"/>
                <a:cs typeface="Consolas" pitchFamily="34" charset="-120"/>
              </a:rPr>
              <a:t>aws-cli/2.17.0 Python/3.12.0</a:t>
            </a:r>
            <a:endParaRPr lang="en-US" sz="1250" dirty="0"/>
          </a:p>
          <a:p>
            <a:pPr marL="0" indent="0">
              <a:lnSpc>
                <a:spcPct val="140000"/>
              </a:lnSpc>
              <a:buNone/>
            </a:pPr>
            <a:endParaRPr lang="en-US" sz="1250" dirty="0"/>
          </a:p>
          <a:p>
            <a:pPr marL="0" indent="0">
              <a:lnSpc>
                <a:spcPct val="140000"/>
              </a:lnSpc>
              <a:buNone/>
            </a:pPr>
            <a:r>
              <a:rPr lang="en-US" sz="1250" dirty="0">
                <a:solidFill>
                  <a:srgbClr val="B8E986"/>
                </a:solidFill>
                <a:latin typeface="Consolas" pitchFamily="34" charset="0"/>
                <a:ea typeface="Consolas" pitchFamily="34" charset="-122"/>
                <a:cs typeface="Consolas" pitchFamily="34" charset="-120"/>
              </a:rPr>
              <a:t>$ aws configure</a:t>
            </a:r>
            <a:endParaRPr lang="en-US" sz="1250" dirty="0"/>
          </a:p>
          <a:p>
            <a:pPr marL="0" indent="0">
              <a:lnSpc>
                <a:spcPct val="140000"/>
              </a:lnSpc>
              <a:buNone/>
            </a:pPr>
            <a:r>
              <a:rPr lang="en-US" sz="1250" dirty="0">
                <a:solidFill>
                  <a:srgbClr val="9FB4CC"/>
                </a:solidFill>
                <a:latin typeface="Consolas" pitchFamily="34" charset="0"/>
                <a:ea typeface="Consolas" pitchFamily="34" charset="-122"/>
                <a:cs typeface="Consolas" pitchFamily="34" charset="-120"/>
              </a:rPr>
              <a:t>AWS Access Key ID [None]: AKIAIOSFODNN7EXAMPLE</a:t>
            </a:r>
            <a:endParaRPr lang="en-US" sz="1250" dirty="0"/>
          </a:p>
          <a:p>
            <a:pPr marL="0" indent="0">
              <a:lnSpc>
                <a:spcPct val="140000"/>
              </a:lnSpc>
              <a:buNone/>
            </a:pPr>
            <a:r>
              <a:rPr lang="en-US" sz="1250" dirty="0">
                <a:solidFill>
                  <a:srgbClr val="9FB4CC"/>
                </a:solidFill>
                <a:latin typeface="Consolas" pitchFamily="34" charset="0"/>
                <a:ea typeface="Consolas" pitchFamily="34" charset="-122"/>
                <a:cs typeface="Consolas" pitchFamily="34" charset="-120"/>
              </a:rPr>
              <a:t>AWS Secret Access Key [None]: ****************</a:t>
            </a:r>
            <a:endParaRPr lang="en-US" sz="1250" dirty="0"/>
          </a:p>
          <a:p>
            <a:pPr marL="0" indent="0">
              <a:lnSpc>
                <a:spcPct val="140000"/>
              </a:lnSpc>
              <a:buNone/>
            </a:pPr>
            <a:r>
              <a:rPr lang="en-US" sz="1250" dirty="0">
                <a:solidFill>
                  <a:srgbClr val="9FB4CC"/>
                </a:solidFill>
                <a:latin typeface="Consolas" pitchFamily="34" charset="0"/>
                <a:ea typeface="Consolas" pitchFamily="34" charset="-122"/>
                <a:cs typeface="Consolas" pitchFamily="34" charset="-120"/>
              </a:rPr>
              <a:t>Default region name [None]: eu-central-1</a:t>
            </a:r>
            <a:endParaRPr lang="en-US" sz="1250" dirty="0"/>
          </a:p>
          <a:p>
            <a:pPr marL="0" indent="0">
              <a:lnSpc>
                <a:spcPct val="140000"/>
              </a:lnSpc>
              <a:buNone/>
            </a:pPr>
            <a:r>
              <a:rPr lang="en-US" sz="1250" dirty="0">
                <a:solidFill>
                  <a:srgbClr val="9FB4CC"/>
                </a:solidFill>
                <a:latin typeface="Consolas" pitchFamily="34" charset="0"/>
                <a:ea typeface="Consolas" pitchFamily="34" charset="-122"/>
                <a:cs typeface="Consolas" pitchFamily="34" charset="-120"/>
              </a:rPr>
              <a:t>Default output format [None]: json</a:t>
            </a:r>
            <a:endParaRPr lang="en-US" sz="1250" dirty="0"/>
          </a:p>
        </p:txBody>
      </p:sp>
      <p:sp>
        <p:nvSpPr>
          <p:cNvPr id="27" name="Text 22"/>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674"/>
                </a:solidFill>
                <a:latin typeface="Calibri" pitchFamily="34" charset="0"/>
                <a:ea typeface="Calibri" pitchFamily="34" charset="-122"/>
                <a:cs typeface="Calibri" pitchFamily="34" charset="-120"/>
              </a:rPr>
              <a:t>AWS Console, CLI та SDK</a:t>
            </a:r>
            <a:endParaRPr lang="en-US" sz="1000" dirty="0"/>
          </a:p>
        </p:txBody>
      </p:sp>
      <p:sp>
        <p:nvSpPr>
          <p:cNvPr id="28" name="Text 23"/>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A667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32F3E"/>
        </a:solidFill>
        <a:effectLst/>
      </p:bgPr>
    </p:bg>
    <p:spTree>
      <p:nvGrpSpPr>
        <p:cNvPr id="1" name=""/>
        <p:cNvGrpSpPr/>
        <p:nvPr/>
      </p:nvGrpSpPr>
      <p:grpSpPr>
        <a:xfrm>
          <a:off x="0" y="0"/>
          <a:ext cx="0" cy="0"/>
          <a:chOff x="0" y="0"/>
          <a:chExt cx="0" cy="0"/>
        </a:xfrm>
      </p:grpSpPr>
      <p:sp>
        <p:nvSpPr>
          <p:cNvPr id="3" name="Text 1"/>
          <p:cNvSpPr txBox="1"/>
          <p:nvPr/>
        </p:nvSpPr>
        <p:spPr>
          <a:xfrm>
            <a:off x="556804" y="341594"/>
            <a:ext cx="1106424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Створення профілів користувачів</a:t>
            </a:r>
            <a:endParaRPr lang="en-US" sz="3200" dirty="0"/>
          </a:p>
        </p:txBody>
      </p:sp>
      <p:sp>
        <p:nvSpPr>
          <p:cNvPr id="4" name="Text 2"/>
          <p:cNvSpPr txBox="1"/>
          <p:nvPr/>
        </p:nvSpPr>
        <p:spPr>
          <a:xfrm>
            <a:off x="556804" y="1146266"/>
            <a:ext cx="10789920" cy="411480"/>
          </a:xfrm>
          <a:prstGeom prst="rect">
            <a:avLst/>
          </a:prstGeom>
          <a:noFill/>
          <a:ln/>
        </p:spPr>
        <p:txBody>
          <a:bodyPr wrap="square"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Профілі дозволяють зберігати кілька наборів облікових даних і перемикатись між ними без повторної конфігурації.</a:t>
            </a:r>
            <a:endParaRPr lang="en-US" sz="1300" dirty="0"/>
          </a:p>
        </p:txBody>
      </p:sp>
      <p:sp>
        <p:nvSpPr>
          <p:cNvPr id="5" name="Shape 3"/>
          <p:cNvSpPr/>
          <p:nvPr/>
        </p:nvSpPr>
        <p:spPr>
          <a:xfrm>
            <a:off x="556804" y="1694906"/>
            <a:ext cx="5468112" cy="2534194"/>
          </a:xfrm>
          <a:prstGeom prst="roundRect">
            <a:avLst>
              <a:gd name="adj" fmla="val 3922"/>
            </a:avLst>
          </a:prstGeom>
          <a:solidFill>
            <a:srgbClr val="1A2431"/>
          </a:solidFill>
          <a:ln w="12700">
            <a:solidFill>
              <a:srgbClr val="37475A"/>
            </a:solidFill>
            <a:prstDash val="solid"/>
          </a:ln>
        </p:spPr>
        <p:txBody>
          <a:bodyPr/>
          <a:lstStyle/>
          <a:p>
            <a:endParaRPr lang="en-UA"/>
          </a:p>
        </p:txBody>
      </p:sp>
      <p:sp>
        <p:nvSpPr>
          <p:cNvPr id="6" name="Shape 4"/>
          <p:cNvSpPr/>
          <p:nvPr/>
        </p:nvSpPr>
        <p:spPr>
          <a:xfrm>
            <a:off x="785404" y="1896074"/>
            <a:ext cx="128016" cy="128016"/>
          </a:xfrm>
          <a:prstGeom prst="ellipse">
            <a:avLst/>
          </a:prstGeom>
          <a:solidFill>
            <a:srgbClr val="E0605A"/>
          </a:solidFill>
          <a:ln/>
        </p:spPr>
        <p:txBody>
          <a:bodyPr/>
          <a:lstStyle/>
          <a:p>
            <a:endParaRPr lang="en-UA"/>
          </a:p>
        </p:txBody>
      </p:sp>
      <p:sp>
        <p:nvSpPr>
          <p:cNvPr id="7" name="Shape 5"/>
          <p:cNvSpPr/>
          <p:nvPr/>
        </p:nvSpPr>
        <p:spPr>
          <a:xfrm>
            <a:off x="995716" y="1896074"/>
            <a:ext cx="128016" cy="128016"/>
          </a:xfrm>
          <a:prstGeom prst="ellipse">
            <a:avLst/>
          </a:prstGeom>
          <a:solidFill>
            <a:srgbClr val="E8B84B"/>
          </a:solidFill>
          <a:ln/>
        </p:spPr>
        <p:txBody>
          <a:bodyPr/>
          <a:lstStyle/>
          <a:p>
            <a:endParaRPr lang="en-UA"/>
          </a:p>
        </p:txBody>
      </p:sp>
      <p:sp>
        <p:nvSpPr>
          <p:cNvPr id="8" name="Shape 6"/>
          <p:cNvSpPr/>
          <p:nvPr/>
        </p:nvSpPr>
        <p:spPr>
          <a:xfrm>
            <a:off x="1206028" y="1896074"/>
            <a:ext cx="128016" cy="128016"/>
          </a:xfrm>
          <a:prstGeom prst="ellipse">
            <a:avLst/>
          </a:prstGeom>
          <a:solidFill>
            <a:srgbClr val="5CB86B"/>
          </a:solidFill>
          <a:ln/>
        </p:spPr>
        <p:txBody>
          <a:bodyPr/>
          <a:lstStyle/>
          <a:p>
            <a:endParaRPr lang="en-UA"/>
          </a:p>
        </p:txBody>
      </p:sp>
      <p:sp>
        <p:nvSpPr>
          <p:cNvPr id="9" name="Text 7"/>
          <p:cNvSpPr txBox="1"/>
          <p:nvPr/>
        </p:nvSpPr>
        <p:spPr>
          <a:xfrm>
            <a:off x="556804" y="1822922"/>
            <a:ext cx="5468112" cy="274320"/>
          </a:xfrm>
          <a:prstGeom prst="rect">
            <a:avLst/>
          </a:prstGeom>
          <a:noFill/>
          <a:ln/>
        </p:spPr>
        <p:txBody>
          <a:bodyPr wrap="square" rtlCol="0" anchor="ctr"/>
          <a:lstStyle/>
          <a:p>
            <a:pPr marL="0" indent="0" algn="ctr">
              <a:buNone/>
            </a:pPr>
            <a:r>
              <a:rPr lang="en-US" sz="1050" dirty="0">
                <a:solidFill>
                  <a:srgbClr val="8A97A8"/>
                </a:solidFill>
                <a:latin typeface="Consolas" pitchFamily="34" charset="0"/>
                <a:ea typeface="Consolas" pitchFamily="34" charset="-122"/>
                <a:cs typeface="Consolas" pitchFamily="34" charset="-120"/>
              </a:rPr>
              <a:t>credentials</a:t>
            </a:r>
            <a:endParaRPr lang="en-US" sz="1050" dirty="0"/>
          </a:p>
        </p:txBody>
      </p:sp>
      <p:sp>
        <p:nvSpPr>
          <p:cNvPr id="10" name="Text 8"/>
          <p:cNvSpPr txBox="1"/>
          <p:nvPr/>
        </p:nvSpPr>
        <p:spPr>
          <a:xfrm>
            <a:off x="876844" y="2197826"/>
            <a:ext cx="4828032" cy="1706662"/>
          </a:xfrm>
          <a:prstGeom prst="rect">
            <a:avLst/>
          </a:prstGeom>
          <a:noFill/>
          <a:ln/>
        </p:spPr>
        <p:txBody>
          <a:bodyPr wrap="square" rtlCol="0" anchor="ctr"/>
          <a:lstStyle/>
          <a:p>
            <a:pPr marL="0" indent="0">
              <a:lnSpc>
                <a:spcPct val="140000"/>
              </a:lnSpc>
              <a:buNone/>
            </a:pPr>
            <a:r>
              <a:rPr lang="en-US" sz="1200" dirty="0">
                <a:solidFill>
                  <a:srgbClr val="8A97A8"/>
                </a:solidFill>
                <a:latin typeface="Consolas" pitchFamily="34" charset="0"/>
                <a:ea typeface="Consolas" pitchFamily="34" charset="-122"/>
                <a:cs typeface="Consolas" pitchFamily="34" charset="-120"/>
              </a:rPr>
              <a:t># ~/.aws/credentials</a:t>
            </a:r>
            <a:endParaRPr lang="en-US" sz="1200" dirty="0"/>
          </a:p>
          <a:p>
            <a:pPr marL="0" indent="0">
              <a:lnSpc>
                <a:spcPct val="140000"/>
              </a:lnSpc>
              <a:buNone/>
            </a:pPr>
            <a:r>
              <a:rPr lang="en-US" sz="1200" dirty="0">
                <a:solidFill>
                  <a:srgbClr val="FF9900"/>
                </a:solidFill>
                <a:latin typeface="Consolas" pitchFamily="34" charset="0"/>
                <a:ea typeface="Consolas" pitchFamily="34" charset="-122"/>
                <a:cs typeface="Consolas" pitchFamily="34" charset="-120"/>
              </a:rPr>
              <a:t>[default]</a:t>
            </a:r>
            <a:endParaRPr lang="en-US" sz="1200" dirty="0"/>
          </a:p>
          <a:p>
            <a:pPr marL="0" indent="0">
              <a:lnSpc>
                <a:spcPct val="140000"/>
              </a:lnSpc>
              <a:buNone/>
            </a:pPr>
            <a:r>
              <a:rPr lang="en-US" sz="1200" dirty="0">
                <a:solidFill>
                  <a:srgbClr val="E6EAF0"/>
                </a:solidFill>
                <a:latin typeface="Consolas" pitchFamily="34" charset="0"/>
                <a:ea typeface="Consolas" pitchFamily="34" charset="-122"/>
                <a:cs typeface="Consolas" pitchFamily="34" charset="-120"/>
              </a:rPr>
              <a:t>aws_access_key_id = AKIA...DEV</a:t>
            </a:r>
            <a:endParaRPr lang="en-US" sz="1200" dirty="0"/>
          </a:p>
          <a:p>
            <a:pPr marL="0" indent="0">
              <a:lnSpc>
                <a:spcPct val="140000"/>
              </a:lnSpc>
              <a:buNone/>
            </a:pPr>
            <a:r>
              <a:rPr lang="en-US" sz="1200" dirty="0">
                <a:solidFill>
                  <a:srgbClr val="E6EAF0"/>
                </a:solidFill>
                <a:latin typeface="Consolas" pitchFamily="34" charset="0"/>
                <a:ea typeface="Consolas" pitchFamily="34" charset="-122"/>
                <a:cs typeface="Consolas" pitchFamily="34" charset="-120"/>
              </a:rPr>
              <a:t>aws_secret_access_key = ****</a:t>
            </a:r>
            <a:endParaRPr lang="en-US" sz="1200" dirty="0"/>
          </a:p>
          <a:p>
            <a:pPr marL="0" indent="0">
              <a:lnSpc>
                <a:spcPct val="140000"/>
              </a:lnSpc>
              <a:buNone/>
            </a:pPr>
            <a:endParaRPr lang="en-US" sz="1200" dirty="0"/>
          </a:p>
          <a:p>
            <a:pPr marL="0" indent="0">
              <a:lnSpc>
                <a:spcPct val="140000"/>
              </a:lnSpc>
              <a:buNone/>
            </a:pPr>
            <a:r>
              <a:rPr lang="en-US" sz="1200" dirty="0">
                <a:solidFill>
                  <a:srgbClr val="FF9900"/>
                </a:solidFill>
                <a:latin typeface="Consolas" pitchFamily="34" charset="0"/>
                <a:ea typeface="Consolas" pitchFamily="34" charset="-122"/>
                <a:cs typeface="Consolas" pitchFamily="34" charset="-120"/>
              </a:rPr>
              <a:t>[production]</a:t>
            </a:r>
            <a:endParaRPr lang="en-US" sz="1200" dirty="0"/>
          </a:p>
          <a:p>
            <a:pPr marL="0" indent="0">
              <a:lnSpc>
                <a:spcPct val="140000"/>
              </a:lnSpc>
              <a:buNone/>
            </a:pPr>
            <a:r>
              <a:rPr lang="en-US" sz="1200" dirty="0">
                <a:solidFill>
                  <a:srgbClr val="E6EAF0"/>
                </a:solidFill>
                <a:latin typeface="Consolas" pitchFamily="34" charset="0"/>
                <a:ea typeface="Consolas" pitchFamily="34" charset="-122"/>
                <a:cs typeface="Consolas" pitchFamily="34" charset="-120"/>
              </a:rPr>
              <a:t>aws_access_key_id = AKIA...PROD</a:t>
            </a:r>
            <a:endParaRPr lang="en-US" sz="1200" dirty="0"/>
          </a:p>
          <a:p>
            <a:pPr marL="0" indent="0">
              <a:lnSpc>
                <a:spcPct val="140000"/>
              </a:lnSpc>
              <a:buNone/>
            </a:pPr>
            <a:r>
              <a:rPr lang="en-US" sz="1200" dirty="0">
                <a:solidFill>
                  <a:srgbClr val="E6EAF0"/>
                </a:solidFill>
                <a:latin typeface="Consolas" pitchFamily="34" charset="0"/>
                <a:ea typeface="Consolas" pitchFamily="34" charset="-122"/>
                <a:cs typeface="Consolas" pitchFamily="34" charset="-120"/>
              </a:rPr>
              <a:t>aws_secret_access_key = ****</a:t>
            </a:r>
            <a:endParaRPr lang="en-US" sz="1200" dirty="0"/>
          </a:p>
        </p:txBody>
      </p:sp>
      <p:sp>
        <p:nvSpPr>
          <p:cNvPr id="11" name="Shape 9"/>
          <p:cNvSpPr/>
          <p:nvPr/>
        </p:nvSpPr>
        <p:spPr>
          <a:xfrm>
            <a:off x="6180364" y="1694906"/>
            <a:ext cx="5468112" cy="2534194"/>
          </a:xfrm>
          <a:prstGeom prst="roundRect">
            <a:avLst>
              <a:gd name="adj" fmla="val 3922"/>
            </a:avLst>
          </a:prstGeom>
          <a:solidFill>
            <a:srgbClr val="1A2431"/>
          </a:solidFill>
          <a:ln w="12700">
            <a:solidFill>
              <a:srgbClr val="37475A"/>
            </a:solidFill>
            <a:prstDash val="solid"/>
          </a:ln>
        </p:spPr>
        <p:txBody>
          <a:bodyPr/>
          <a:lstStyle/>
          <a:p>
            <a:endParaRPr lang="en-UA"/>
          </a:p>
        </p:txBody>
      </p:sp>
      <p:sp>
        <p:nvSpPr>
          <p:cNvPr id="12" name="Shape 10"/>
          <p:cNvSpPr/>
          <p:nvPr/>
        </p:nvSpPr>
        <p:spPr>
          <a:xfrm>
            <a:off x="6408964" y="1896074"/>
            <a:ext cx="128016" cy="128016"/>
          </a:xfrm>
          <a:prstGeom prst="ellipse">
            <a:avLst/>
          </a:prstGeom>
          <a:solidFill>
            <a:srgbClr val="E0605A"/>
          </a:solidFill>
          <a:ln/>
        </p:spPr>
        <p:txBody>
          <a:bodyPr/>
          <a:lstStyle/>
          <a:p>
            <a:endParaRPr lang="en-UA"/>
          </a:p>
        </p:txBody>
      </p:sp>
      <p:sp>
        <p:nvSpPr>
          <p:cNvPr id="13" name="Shape 11"/>
          <p:cNvSpPr/>
          <p:nvPr/>
        </p:nvSpPr>
        <p:spPr>
          <a:xfrm>
            <a:off x="6619276" y="1896074"/>
            <a:ext cx="128016" cy="128016"/>
          </a:xfrm>
          <a:prstGeom prst="ellipse">
            <a:avLst/>
          </a:prstGeom>
          <a:solidFill>
            <a:srgbClr val="E8B84B"/>
          </a:solidFill>
          <a:ln/>
        </p:spPr>
        <p:txBody>
          <a:bodyPr/>
          <a:lstStyle/>
          <a:p>
            <a:endParaRPr lang="en-UA"/>
          </a:p>
        </p:txBody>
      </p:sp>
      <p:sp>
        <p:nvSpPr>
          <p:cNvPr id="14" name="Shape 12"/>
          <p:cNvSpPr/>
          <p:nvPr/>
        </p:nvSpPr>
        <p:spPr>
          <a:xfrm>
            <a:off x="6829588" y="1896074"/>
            <a:ext cx="128016" cy="128016"/>
          </a:xfrm>
          <a:prstGeom prst="ellipse">
            <a:avLst/>
          </a:prstGeom>
          <a:solidFill>
            <a:srgbClr val="5CB86B"/>
          </a:solidFill>
          <a:ln/>
        </p:spPr>
        <p:txBody>
          <a:bodyPr/>
          <a:lstStyle/>
          <a:p>
            <a:endParaRPr lang="en-UA"/>
          </a:p>
        </p:txBody>
      </p:sp>
      <p:sp>
        <p:nvSpPr>
          <p:cNvPr id="15" name="Text 13"/>
          <p:cNvSpPr txBox="1"/>
          <p:nvPr/>
        </p:nvSpPr>
        <p:spPr>
          <a:xfrm>
            <a:off x="6180364" y="1822922"/>
            <a:ext cx="5468112" cy="274320"/>
          </a:xfrm>
          <a:prstGeom prst="rect">
            <a:avLst/>
          </a:prstGeom>
          <a:noFill/>
          <a:ln/>
        </p:spPr>
        <p:txBody>
          <a:bodyPr wrap="square" rtlCol="0" anchor="ctr"/>
          <a:lstStyle/>
          <a:p>
            <a:pPr marL="0" indent="0" algn="ctr">
              <a:buNone/>
            </a:pPr>
            <a:r>
              <a:rPr lang="en-US" sz="1050" dirty="0">
                <a:solidFill>
                  <a:srgbClr val="8A97A8"/>
                </a:solidFill>
                <a:latin typeface="Consolas" pitchFamily="34" charset="0"/>
                <a:ea typeface="Consolas" pitchFamily="34" charset="-122"/>
                <a:cs typeface="Consolas" pitchFamily="34" charset="-120"/>
              </a:rPr>
              <a:t>config</a:t>
            </a:r>
            <a:endParaRPr lang="en-US" sz="1050" dirty="0"/>
          </a:p>
        </p:txBody>
      </p:sp>
      <p:sp>
        <p:nvSpPr>
          <p:cNvPr id="16" name="Text 14"/>
          <p:cNvSpPr txBox="1"/>
          <p:nvPr/>
        </p:nvSpPr>
        <p:spPr>
          <a:xfrm>
            <a:off x="6500404" y="2197826"/>
            <a:ext cx="4828032" cy="1706662"/>
          </a:xfrm>
          <a:prstGeom prst="rect">
            <a:avLst/>
          </a:prstGeom>
          <a:noFill/>
          <a:ln/>
        </p:spPr>
        <p:txBody>
          <a:bodyPr wrap="square" rtlCol="0" anchor="ctr"/>
          <a:lstStyle/>
          <a:p>
            <a:pPr marL="0" indent="0">
              <a:lnSpc>
                <a:spcPct val="140000"/>
              </a:lnSpc>
              <a:buNone/>
            </a:pPr>
            <a:r>
              <a:rPr lang="en-US" sz="1200" dirty="0">
                <a:solidFill>
                  <a:srgbClr val="8A97A8"/>
                </a:solidFill>
                <a:latin typeface="Consolas" pitchFamily="34" charset="0"/>
                <a:ea typeface="Consolas" pitchFamily="34" charset="-122"/>
                <a:cs typeface="Consolas" pitchFamily="34" charset="-120"/>
              </a:rPr>
              <a:t># ~/.aws/config</a:t>
            </a:r>
            <a:endParaRPr lang="en-US" sz="1200" dirty="0"/>
          </a:p>
          <a:p>
            <a:pPr marL="0" indent="0">
              <a:lnSpc>
                <a:spcPct val="140000"/>
              </a:lnSpc>
              <a:buNone/>
            </a:pPr>
            <a:r>
              <a:rPr lang="en-US" sz="1200" dirty="0">
                <a:solidFill>
                  <a:srgbClr val="FF9900"/>
                </a:solidFill>
                <a:latin typeface="Consolas" pitchFamily="34" charset="0"/>
                <a:ea typeface="Consolas" pitchFamily="34" charset="-122"/>
                <a:cs typeface="Consolas" pitchFamily="34" charset="-120"/>
              </a:rPr>
              <a:t>[default]</a:t>
            </a:r>
            <a:endParaRPr lang="en-US" sz="1200" dirty="0"/>
          </a:p>
          <a:p>
            <a:pPr marL="0" indent="0">
              <a:lnSpc>
                <a:spcPct val="140000"/>
              </a:lnSpc>
              <a:buNone/>
            </a:pPr>
            <a:r>
              <a:rPr lang="en-US" sz="1200" dirty="0">
                <a:solidFill>
                  <a:srgbClr val="E6EAF0"/>
                </a:solidFill>
                <a:latin typeface="Consolas" pitchFamily="34" charset="0"/>
                <a:ea typeface="Consolas" pitchFamily="34" charset="-122"/>
                <a:cs typeface="Consolas" pitchFamily="34" charset="-120"/>
              </a:rPr>
              <a:t>region = eu-central-1</a:t>
            </a:r>
            <a:endParaRPr lang="en-US" sz="1200" dirty="0"/>
          </a:p>
          <a:p>
            <a:pPr marL="0" indent="0">
              <a:lnSpc>
                <a:spcPct val="140000"/>
              </a:lnSpc>
              <a:buNone/>
            </a:pPr>
            <a:r>
              <a:rPr lang="en-US" sz="1200" dirty="0">
                <a:solidFill>
                  <a:srgbClr val="E6EAF0"/>
                </a:solidFill>
                <a:latin typeface="Consolas" pitchFamily="34" charset="0"/>
                <a:ea typeface="Consolas" pitchFamily="34" charset="-122"/>
                <a:cs typeface="Consolas" pitchFamily="34" charset="-120"/>
              </a:rPr>
              <a:t>output = json</a:t>
            </a:r>
            <a:endParaRPr lang="en-US" sz="1200" dirty="0"/>
          </a:p>
          <a:p>
            <a:pPr marL="0" indent="0">
              <a:lnSpc>
                <a:spcPct val="140000"/>
              </a:lnSpc>
              <a:buNone/>
            </a:pPr>
            <a:endParaRPr lang="en-US" sz="1200" dirty="0"/>
          </a:p>
          <a:p>
            <a:pPr marL="0" indent="0">
              <a:lnSpc>
                <a:spcPct val="140000"/>
              </a:lnSpc>
              <a:buNone/>
            </a:pPr>
            <a:r>
              <a:rPr lang="en-US" sz="1200" dirty="0">
                <a:solidFill>
                  <a:srgbClr val="FF9900"/>
                </a:solidFill>
                <a:latin typeface="Consolas" pitchFamily="34" charset="0"/>
                <a:ea typeface="Consolas" pitchFamily="34" charset="-122"/>
                <a:cs typeface="Consolas" pitchFamily="34" charset="-120"/>
              </a:rPr>
              <a:t>[profile production]</a:t>
            </a:r>
            <a:endParaRPr lang="en-US" sz="1200" dirty="0"/>
          </a:p>
          <a:p>
            <a:pPr marL="0" indent="0">
              <a:lnSpc>
                <a:spcPct val="140000"/>
              </a:lnSpc>
              <a:buNone/>
            </a:pPr>
            <a:r>
              <a:rPr lang="en-US" sz="1200" dirty="0">
                <a:solidFill>
                  <a:srgbClr val="E6EAF0"/>
                </a:solidFill>
                <a:latin typeface="Consolas" pitchFamily="34" charset="0"/>
                <a:ea typeface="Consolas" pitchFamily="34" charset="-122"/>
                <a:cs typeface="Consolas" pitchFamily="34" charset="-120"/>
              </a:rPr>
              <a:t>region = us-east-1</a:t>
            </a:r>
            <a:endParaRPr lang="en-US" sz="1200" dirty="0"/>
          </a:p>
          <a:p>
            <a:pPr marL="0" indent="0">
              <a:lnSpc>
                <a:spcPct val="140000"/>
              </a:lnSpc>
              <a:buNone/>
            </a:pPr>
            <a:r>
              <a:rPr lang="en-US" sz="1200" dirty="0">
                <a:solidFill>
                  <a:srgbClr val="E6EAF0"/>
                </a:solidFill>
                <a:latin typeface="Consolas" pitchFamily="34" charset="0"/>
                <a:ea typeface="Consolas" pitchFamily="34" charset="-122"/>
                <a:cs typeface="Consolas" pitchFamily="34" charset="-120"/>
              </a:rPr>
              <a:t>output = table</a:t>
            </a:r>
            <a:endParaRPr lang="en-US" sz="1200" dirty="0"/>
          </a:p>
        </p:txBody>
      </p:sp>
      <p:sp>
        <p:nvSpPr>
          <p:cNvPr id="17" name="Shape 15"/>
          <p:cNvSpPr/>
          <p:nvPr/>
        </p:nvSpPr>
        <p:spPr>
          <a:xfrm>
            <a:off x="556804" y="4300946"/>
            <a:ext cx="11064240" cy="1843822"/>
          </a:xfrm>
          <a:prstGeom prst="roundRect">
            <a:avLst>
              <a:gd name="adj" fmla="val 5714"/>
            </a:avLst>
          </a:prstGeom>
          <a:solidFill>
            <a:srgbClr val="1A2431"/>
          </a:solidFill>
          <a:ln w="12700">
            <a:solidFill>
              <a:srgbClr val="37475A"/>
            </a:solidFill>
            <a:prstDash val="solid"/>
          </a:ln>
        </p:spPr>
        <p:txBody>
          <a:bodyPr/>
          <a:lstStyle/>
          <a:p>
            <a:endParaRPr lang="en-UA"/>
          </a:p>
        </p:txBody>
      </p:sp>
      <p:sp>
        <p:nvSpPr>
          <p:cNvPr id="18" name="Shape 16"/>
          <p:cNvSpPr/>
          <p:nvPr/>
        </p:nvSpPr>
        <p:spPr>
          <a:xfrm>
            <a:off x="785404" y="4502114"/>
            <a:ext cx="128016" cy="128016"/>
          </a:xfrm>
          <a:prstGeom prst="ellipse">
            <a:avLst/>
          </a:prstGeom>
          <a:solidFill>
            <a:srgbClr val="E0605A"/>
          </a:solidFill>
          <a:ln/>
        </p:spPr>
        <p:txBody>
          <a:bodyPr/>
          <a:lstStyle/>
          <a:p>
            <a:endParaRPr lang="en-UA"/>
          </a:p>
        </p:txBody>
      </p:sp>
      <p:sp>
        <p:nvSpPr>
          <p:cNvPr id="19" name="Shape 17"/>
          <p:cNvSpPr/>
          <p:nvPr/>
        </p:nvSpPr>
        <p:spPr>
          <a:xfrm>
            <a:off x="995716" y="4502114"/>
            <a:ext cx="128016" cy="128016"/>
          </a:xfrm>
          <a:prstGeom prst="ellipse">
            <a:avLst/>
          </a:prstGeom>
          <a:solidFill>
            <a:srgbClr val="E8B84B"/>
          </a:solidFill>
          <a:ln/>
        </p:spPr>
        <p:txBody>
          <a:bodyPr/>
          <a:lstStyle/>
          <a:p>
            <a:endParaRPr lang="en-UA"/>
          </a:p>
        </p:txBody>
      </p:sp>
      <p:sp>
        <p:nvSpPr>
          <p:cNvPr id="20" name="Shape 18"/>
          <p:cNvSpPr/>
          <p:nvPr/>
        </p:nvSpPr>
        <p:spPr>
          <a:xfrm>
            <a:off x="1206028" y="4502114"/>
            <a:ext cx="128016" cy="128016"/>
          </a:xfrm>
          <a:prstGeom prst="ellipse">
            <a:avLst/>
          </a:prstGeom>
          <a:solidFill>
            <a:srgbClr val="5CB86B"/>
          </a:solidFill>
          <a:ln/>
        </p:spPr>
        <p:txBody>
          <a:bodyPr/>
          <a:lstStyle/>
          <a:p>
            <a:endParaRPr lang="en-UA"/>
          </a:p>
        </p:txBody>
      </p:sp>
      <p:sp>
        <p:nvSpPr>
          <p:cNvPr id="21" name="Text 19"/>
          <p:cNvSpPr txBox="1"/>
          <p:nvPr/>
        </p:nvSpPr>
        <p:spPr>
          <a:xfrm>
            <a:off x="876844" y="4803865"/>
            <a:ext cx="10424160" cy="992777"/>
          </a:xfrm>
          <a:prstGeom prst="rect">
            <a:avLst/>
          </a:prstGeom>
          <a:noFill/>
          <a:ln/>
        </p:spPr>
        <p:txBody>
          <a:bodyPr wrap="square" rtlCol="0" anchor="ctr"/>
          <a:lstStyle/>
          <a:p>
            <a:pPr marL="0" indent="0">
              <a:lnSpc>
                <a:spcPct val="140000"/>
              </a:lnSpc>
              <a:buNone/>
            </a:pPr>
            <a:r>
              <a:rPr lang="en-US" sz="1250" dirty="0">
                <a:solidFill>
                  <a:srgbClr val="8A97A8"/>
                </a:solidFill>
                <a:latin typeface="Consolas" pitchFamily="34" charset="0"/>
                <a:ea typeface="Consolas" pitchFamily="34" charset="-122"/>
                <a:cs typeface="Consolas" pitchFamily="34" charset="-120"/>
              </a:rPr>
              <a:t># Створення нового профілю</a:t>
            </a:r>
            <a:endParaRPr lang="en-US" sz="1250" dirty="0"/>
          </a:p>
          <a:p>
            <a:pPr marL="0" indent="0">
              <a:lnSpc>
                <a:spcPct val="140000"/>
              </a:lnSpc>
              <a:buNone/>
            </a:pPr>
            <a:r>
              <a:rPr lang="en-US" sz="1250" dirty="0">
                <a:solidFill>
                  <a:srgbClr val="B8E986"/>
                </a:solidFill>
                <a:latin typeface="Consolas" pitchFamily="34" charset="0"/>
                <a:ea typeface="Consolas" pitchFamily="34" charset="-122"/>
                <a:cs typeface="Consolas" pitchFamily="34" charset="-120"/>
              </a:rPr>
              <a:t>$ aws configure --profile production</a:t>
            </a:r>
            <a:endParaRPr lang="en-US" sz="1250" dirty="0"/>
          </a:p>
          <a:p>
            <a:pPr marL="0" indent="0">
              <a:lnSpc>
                <a:spcPct val="140000"/>
              </a:lnSpc>
              <a:buNone/>
            </a:pPr>
            <a:endParaRPr lang="en-US" sz="1250" dirty="0"/>
          </a:p>
          <a:p>
            <a:pPr marL="0" indent="0">
              <a:lnSpc>
                <a:spcPct val="140000"/>
              </a:lnSpc>
              <a:buNone/>
            </a:pPr>
            <a:r>
              <a:rPr lang="en-US" sz="1250" dirty="0">
                <a:solidFill>
                  <a:srgbClr val="8A97A8"/>
                </a:solidFill>
                <a:latin typeface="Consolas" pitchFamily="34" charset="0"/>
                <a:ea typeface="Consolas" pitchFamily="34" charset="-122"/>
                <a:cs typeface="Consolas" pitchFamily="34" charset="-120"/>
              </a:rPr>
              <a:t># Використання конкретного профілю в команді</a:t>
            </a:r>
            <a:endParaRPr lang="en-US" sz="1250" dirty="0"/>
          </a:p>
          <a:p>
            <a:pPr marL="0" indent="0">
              <a:lnSpc>
                <a:spcPct val="140000"/>
              </a:lnSpc>
              <a:buNone/>
            </a:pPr>
            <a:r>
              <a:rPr lang="en-US" sz="1250" dirty="0">
                <a:solidFill>
                  <a:srgbClr val="B8E986"/>
                </a:solidFill>
                <a:latin typeface="Consolas" pitchFamily="34" charset="0"/>
                <a:ea typeface="Consolas" pitchFamily="34" charset="-122"/>
                <a:cs typeface="Consolas" pitchFamily="34" charset="-120"/>
              </a:rPr>
              <a:t>$ aws s3 ls --profile production</a:t>
            </a:r>
            <a:endParaRPr lang="en-US" sz="1250" dirty="0"/>
          </a:p>
        </p:txBody>
      </p:sp>
      <p:sp>
        <p:nvSpPr>
          <p:cNvPr id="22" name="Text 20"/>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A9B7C6"/>
                </a:solidFill>
                <a:latin typeface="Calibri" pitchFamily="34" charset="0"/>
                <a:ea typeface="Calibri" pitchFamily="34" charset="-122"/>
                <a:cs typeface="Calibri" pitchFamily="34" charset="-120"/>
              </a:rPr>
              <a:t>AWS Console, CLI та SDK</a:t>
            </a:r>
            <a:endParaRPr lang="en-US" sz="1000" dirty="0"/>
          </a:p>
        </p:txBody>
      </p:sp>
      <p:sp>
        <p:nvSpPr>
          <p:cNvPr id="23" name="Text 2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A9B7C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3F3"/>
        </a:solidFill>
        <a:effectLst/>
      </p:bgPr>
    </p:bg>
    <p:spTree>
      <p:nvGrpSpPr>
        <p:cNvPr id="1" name=""/>
        <p:cNvGrpSpPr/>
        <p:nvPr/>
      </p:nvGrpSpPr>
      <p:grpSpPr>
        <a:xfrm>
          <a:off x="0" y="0"/>
          <a:ext cx="0" cy="0"/>
          <a:chOff x="0" y="0"/>
          <a:chExt cx="0" cy="0"/>
        </a:xfrm>
      </p:grpSpPr>
      <p:sp>
        <p:nvSpPr>
          <p:cNvPr id="3" name="Text 1"/>
          <p:cNvSpPr txBox="1"/>
          <p:nvPr/>
        </p:nvSpPr>
        <p:spPr>
          <a:xfrm>
            <a:off x="573133" y="390580"/>
            <a:ext cx="11064240" cy="822960"/>
          </a:xfrm>
          <a:prstGeom prst="rect">
            <a:avLst/>
          </a:prstGeom>
          <a:noFill/>
          <a:ln/>
        </p:spPr>
        <p:txBody>
          <a:bodyPr wrap="square" rtlCol="0" anchor="ctr"/>
          <a:lstStyle/>
          <a:p>
            <a:pPr marL="0" indent="0">
              <a:buNone/>
            </a:pPr>
            <a:r>
              <a:rPr lang="en-US" sz="3200" b="1" dirty="0">
                <a:solidFill>
                  <a:srgbClr val="16191F"/>
                </a:solidFill>
                <a:latin typeface="Cambria" pitchFamily="34" charset="0"/>
                <a:ea typeface="Cambria" pitchFamily="34" charset="-122"/>
                <a:cs typeface="Cambria" pitchFamily="34" charset="-120"/>
              </a:rPr>
              <a:t>Огляд основних команд CLI</a:t>
            </a:r>
            <a:endParaRPr lang="en-US" sz="3200" dirty="0"/>
          </a:p>
        </p:txBody>
      </p:sp>
      <p:sp>
        <p:nvSpPr>
          <p:cNvPr id="4" name="Text 2"/>
          <p:cNvSpPr txBox="1"/>
          <p:nvPr/>
        </p:nvSpPr>
        <p:spPr>
          <a:xfrm>
            <a:off x="573133" y="1195252"/>
            <a:ext cx="10789920" cy="457200"/>
          </a:xfrm>
          <a:prstGeom prst="rect">
            <a:avLst/>
          </a:prstGeom>
          <a:noFill/>
          <a:ln/>
        </p:spPr>
        <p:txBody>
          <a:bodyPr wrap="square" rtlCol="0" anchor="ctr"/>
          <a:lstStyle/>
          <a:p>
            <a:pPr marL="0" indent="0">
              <a:buNone/>
            </a:pPr>
            <a:r>
              <a:rPr lang="en-US" sz="1500" b="1" dirty="0">
                <a:solidFill>
                  <a:srgbClr val="16191F"/>
                </a:solidFill>
                <a:latin typeface="Calibri" pitchFamily="34" charset="0"/>
                <a:ea typeface="Calibri" pitchFamily="34" charset="-122"/>
                <a:cs typeface="Calibri" pitchFamily="34" charset="-120"/>
              </a:rPr>
              <a:t>Структура команди: </a:t>
            </a:r>
            <a:r>
              <a:rPr lang="en-US" sz="1500" b="1" dirty="0">
                <a:solidFill>
                  <a:srgbClr val="CC7A00"/>
                </a:solidFill>
                <a:latin typeface="Consolas" pitchFamily="34" charset="0"/>
                <a:ea typeface="Consolas" pitchFamily="34" charset="-122"/>
                <a:cs typeface="Consolas" pitchFamily="34" charset="-120"/>
              </a:rPr>
              <a:t>aws  &lt;сервіс&gt;  &lt;дія&gt;  [--параметри]</a:t>
            </a:r>
            <a:endParaRPr lang="en-US" sz="1500" dirty="0"/>
          </a:p>
        </p:txBody>
      </p:sp>
      <p:sp>
        <p:nvSpPr>
          <p:cNvPr id="5" name="Shape 3"/>
          <p:cNvSpPr/>
          <p:nvPr/>
        </p:nvSpPr>
        <p:spPr>
          <a:xfrm>
            <a:off x="573133" y="1981636"/>
            <a:ext cx="384048" cy="384048"/>
          </a:xfrm>
          <a:prstGeom prst="ellipse">
            <a:avLst/>
          </a:prstGeom>
          <a:solidFill>
            <a:srgbClr val="232F3E"/>
          </a:solidFill>
          <a:ln/>
        </p:spPr>
        <p:txBody>
          <a:bodyPr/>
          <a:lstStyle/>
          <a:p>
            <a:endParaRPr lang="en-UA"/>
          </a:p>
        </p:txBody>
      </p:sp>
      <p:pic>
        <p:nvPicPr>
          <p:cNvPr id="6" name="Image 0" descr="/home/claude/icons/boxOpen_orange.png"/>
          <p:cNvPicPr>
            <a:picLocks noChangeAspect="1"/>
          </p:cNvPicPr>
          <p:nvPr/>
        </p:nvPicPr>
        <p:blipFill>
          <a:blip r:embed="rId3"/>
          <a:stretch>
            <a:fillRect/>
          </a:stretch>
        </p:blipFill>
        <p:spPr>
          <a:xfrm>
            <a:off x="664573" y="2073076"/>
            <a:ext cx="201168" cy="201168"/>
          </a:xfrm>
          <a:prstGeom prst="rect">
            <a:avLst/>
          </a:prstGeom>
        </p:spPr>
      </p:pic>
      <p:sp>
        <p:nvSpPr>
          <p:cNvPr id="7" name="Shape 4"/>
          <p:cNvSpPr/>
          <p:nvPr/>
        </p:nvSpPr>
        <p:spPr>
          <a:xfrm>
            <a:off x="1121773" y="1926772"/>
            <a:ext cx="4297680" cy="502920"/>
          </a:xfrm>
          <a:prstGeom prst="roundRect">
            <a:avLst>
              <a:gd name="adj" fmla="val 12727"/>
            </a:avLst>
          </a:prstGeom>
          <a:solidFill>
            <a:srgbClr val="232F3E"/>
          </a:solidFill>
          <a:ln/>
        </p:spPr>
        <p:txBody>
          <a:bodyPr/>
          <a:lstStyle/>
          <a:p>
            <a:endParaRPr lang="en-UA"/>
          </a:p>
        </p:txBody>
      </p:sp>
      <p:sp>
        <p:nvSpPr>
          <p:cNvPr id="8" name="Text 5"/>
          <p:cNvSpPr txBox="1"/>
          <p:nvPr/>
        </p:nvSpPr>
        <p:spPr>
          <a:xfrm>
            <a:off x="1258933" y="1926772"/>
            <a:ext cx="4023360" cy="502920"/>
          </a:xfrm>
          <a:prstGeom prst="rect">
            <a:avLst/>
          </a:prstGeom>
          <a:noFill/>
          <a:ln/>
        </p:spPr>
        <p:txBody>
          <a:bodyPr wrap="square" rtlCol="0" anchor="ctr"/>
          <a:lstStyle/>
          <a:p>
            <a:pPr marL="0" indent="0">
              <a:buNone/>
            </a:pPr>
            <a:r>
              <a:rPr lang="en-US" sz="1150" dirty="0">
                <a:solidFill>
                  <a:srgbClr val="FF9900"/>
                </a:solidFill>
                <a:latin typeface="Consolas" pitchFamily="34" charset="0"/>
                <a:ea typeface="Consolas" pitchFamily="34" charset="-122"/>
                <a:cs typeface="Consolas" pitchFamily="34" charset="-120"/>
              </a:rPr>
              <a:t>aws s3 ls</a:t>
            </a:r>
            <a:endParaRPr lang="en-US" sz="1150" dirty="0"/>
          </a:p>
        </p:txBody>
      </p:sp>
      <p:sp>
        <p:nvSpPr>
          <p:cNvPr id="9" name="Text 6"/>
          <p:cNvSpPr txBox="1"/>
          <p:nvPr/>
        </p:nvSpPr>
        <p:spPr>
          <a:xfrm>
            <a:off x="5648053" y="1926772"/>
            <a:ext cx="5669280" cy="502920"/>
          </a:xfrm>
          <a:prstGeom prst="rect">
            <a:avLst/>
          </a:prstGeom>
          <a:noFill/>
          <a:ln/>
        </p:spPr>
        <p:txBody>
          <a:bodyPr wrap="square" rtlCol="0" anchor="ctr"/>
          <a:lstStyle/>
          <a:p>
            <a:pPr marL="0" indent="0">
              <a:buNone/>
            </a:pPr>
            <a:r>
              <a:rPr lang="en-US" sz="1200" dirty="0">
                <a:solidFill>
                  <a:srgbClr val="5A6674"/>
                </a:solidFill>
                <a:latin typeface="Calibri" pitchFamily="34" charset="0"/>
                <a:ea typeface="Calibri" pitchFamily="34" charset="-122"/>
                <a:cs typeface="Calibri" pitchFamily="34" charset="-120"/>
              </a:rPr>
              <a:t>Список усіх S3-бакетів у акаунті</a:t>
            </a:r>
            <a:endParaRPr lang="en-US" sz="1200" dirty="0"/>
          </a:p>
        </p:txBody>
      </p:sp>
      <p:sp>
        <p:nvSpPr>
          <p:cNvPr id="10" name="Shape 7"/>
          <p:cNvSpPr/>
          <p:nvPr/>
        </p:nvSpPr>
        <p:spPr>
          <a:xfrm>
            <a:off x="573133" y="2640004"/>
            <a:ext cx="384048" cy="384048"/>
          </a:xfrm>
          <a:prstGeom prst="ellipse">
            <a:avLst/>
          </a:prstGeom>
          <a:solidFill>
            <a:srgbClr val="232F3E"/>
          </a:solidFill>
          <a:ln/>
        </p:spPr>
        <p:txBody>
          <a:bodyPr/>
          <a:lstStyle/>
          <a:p>
            <a:endParaRPr lang="en-UA"/>
          </a:p>
        </p:txBody>
      </p:sp>
      <p:pic>
        <p:nvPicPr>
          <p:cNvPr id="11" name="Image 1" descr="/home/claude/icons/boxOpen_orange.png"/>
          <p:cNvPicPr>
            <a:picLocks noChangeAspect="1"/>
          </p:cNvPicPr>
          <p:nvPr/>
        </p:nvPicPr>
        <p:blipFill>
          <a:blip r:embed="rId3"/>
          <a:stretch>
            <a:fillRect/>
          </a:stretch>
        </p:blipFill>
        <p:spPr>
          <a:xfrm>
            <a:off x="664573" y="2731444"/>
            <a:ext cx="201168" cy="201168"/>
          </a:xfrm>
          <a:prstGeom prst="rect">
            <a:avLst/>
          </a:prstGeom>
        </p:spPr>
      </p:pic>
      <p:sp>
        <p:nvSpPr>
          <p:cNvPr id="12" name="Shape 8"/>
          <p:cNvSpPr/>
          <p:nvPr/>
        </p:nvSpPr>
        <p:spPr>
          <a:xfrm>
            <a:off x="1121773" y="2585140"/>
            <a:ext cx="4297680" cy="502920"/>
          </a:xfrm>
          <a:prstGeom prst="roundRect">
            <a:avLst>
              <a:gd name="adj" fmla="val 12727"/>
            </a:avLst>
          </a:prstGeom>
          <a:solidFill>
            <a:srgbClr val="232F3E"/>
          </a:solidFill>
          <a:ln/>
        </p:spPr>
        <p:txBody>
          <a:bodyPr/>
          <a:lstStyle/>
          <a:p>
            <a:endParaRPr lang="en-UA"/>
          </a:p>
        </p:txBody>
      </p:sp>
      <p:sp>
        <p:nvSpPr>
          <p:cNvPr id="13" name="Text 9"/>
          <p:cNvSpPr txBox="1"/>
          <p:nvPr/>
        </p:nvSpPr>
        <p:spPr>
          <a:xfrm>
            <a:off x="1258933" y="2585140"/>
            <a:ext cx="4023360" cy="502920"/>
          </a:xfrm>
          <a:prstGeom prst="rect">
            <a:avLst/>
          </a:prstGeom>
          <a:noFill/>
          <a:ln/>
        </p:spPr>
        <p:txBody>
          <a:bodyPr wrap="square" rtlCol="0" anchor="ctr"/>
          <a:lstStyle/>
          <a:p>
            <a:pPr marL="0" indent="0">
              <a:buNone/>
            </a:pPr>
            <a:r>
              <a:rPr lang="en-US" sz="1150" dirty="0">
                <a:solidFill>
                  <a:srgbClr val="FF9900"/>
                </a:solidFill>
                <a:latin typeface="Consolas" pitchFamily="34" charset="0"/>
                <a:ea typeface="Consolas" pitchFamily="34" charset="-122"/>
                <a:cs typeface="Consolas" pitchFamily="34" charset="-120"/>
              </a:rPr>
              <a:t>aws s3 cp file.txt s3://bucket/</a:t>
            </a:r>
            <a:endParaRPr lang="en-US" sz="1150" dirty="0"/>
          </a:p>
        </p:txBody>
      </p:sp>
      <p:sp>
        <p:nvSpPr>
          <p:cNvPr id="14" name="Text 10"/>
          <p:cNvSpPr txBox="1"/>
          <p:nvPr/>
        </p:nvSpPr>
        <p:spPr>
          <a:xfrm>
            <a:off x="5648053" y="2585140"/>
            <a:ext cx="5669280" cy="502920"/>
          </a:xfrm>
          <a:prstGeom prst="rect">
            <a:avLst/>
          </a:prstGeom>
          <a:noFill/>
          <a:ln/>
        </p:spPr>
        <p:txBody>
          <a:bodyPr wrap="square" rtlCol="0" anchor="ctr"/>
          <a:lstStyle/>
          <a:p>
            <a:pPr marL="0" indent="0">
              <a:buNone/>
            </a:pPr>
            <a:r>
              <a:rPr lang="en-US" sz="1200" dirty="0">
                <a:solidFill>
                  <a:srgbClr val="5A6674"/>
                </a:solidFill>
                <a:latin typeface="Calibri" pitchFamily="34" charset="0"/>
                <a:ea typeface="Calibri" pitchFamily="34" charset="-122"/>
                <a:cs typeface="Calibri" pitchFamily="34" charset="-120"/>
              </a:rPr>
              <a:t>Завантажити файл у S3-бакет</a:t>
            </a:r>
            <a:endParaRPr lang="en-US" sz="1200" dirty="0"/>
          </a:p>
        </p:txBody>
      </p:sp>
      <p:sp>
        <p:nvSpPr>
          <p:cNvPr id="15" name="Shape 11"/>
          <p:cNvSpPr/>
          <p:nvPr/>
        </p:nvSpPr>
        <p:spPr>
          <a:xfrm>
            <a:off x="573133" y="3298372"/>
            <a:ext cx="384048" cy="384048"/>
          </a:xfrm>
          <a:prstGeom prst="ellipse">
            <a:avLst/>
          </a:prstGeom>
          <a:solidFill>
            <a:srgbClr val="232F3E"/>
          </a:solidFill>
          <a:ln/>
        </p:spPr>
        <p:txBody>
          <a:bodyPr/>
          <a:lstStyle/>
          <a:p>
            <a:endParaRPr lang="en-UA"/>
          </a:p>
        </p:txBody>
      </p:sp>
      <p:pic>
        <p:nvPicPr>
          <p:cNvPr id="16" name="Image 2" descr="/home/claude/icons/server_orange.png"/>
          <p:cNvPicPr>
            <a:picLocks noChangeAspect="1"/>
          </p:cNvPicPr>
          <p:nvPr/>
        </p:nvPicPr>
        <p:blipFill>
          <a:blip r:embed="rId4"/>
          <a:stretch>
            <a:fillRect/>
          </a:stretch>
        </p:blipFill>
        <p:spPr>
          <a:xfrm>
            <a:off x="664573" y="3389812"/>
            <a:ext cx="201168" cy="201168"/>
          </a:xfrm>
          <a:prstGeom prst="rect">
            <a:avLst/>
          </a:prstGeom>
        </p:spPr>
      </p:pic>
      <p:sp>
        <p:nvSpPr>
          <p:cNvPr id="17" name="Shape 12"/>
          <p:cNvSpPr/>
          <p:nvPr/>
        </p:nvSpPr>
        <p:spPr>
          <a:xfrm>
            <a:off x="1121773" y="3243508"/>
            <a:ext cx="4297680" cy="502920"/>
          </a:xfrm>
          <a:prstGeom prst="roundRect">
            <a:avLst>
              <a:gd name="adj" fmla="val 12727"/>
            </a:avLst>
          </a:prstGeom>
          <a:solidFill>
            <a:srgbClr val="232F3E"/>
          </a:solidFill>
          <a:ln/>
        </p:spPr>
        <p:txBody>
          <a:bodyPr/>
          <a:lstStyle/>
          <a:p>
            <a:endParaRPr lang="en-UA"/>
          </a:p>
        </p:txBody>
      </p:sp>
      <p:sp>
        <p:nvSpPr>
          <p:cNvPr id="18" name="Text 13"/>
          <p:cNvSpPr txBox="1"/>
          <p:nvPr/>
        </p:nvSpPr>
        <p:spPr>
          <a:xfrm>
            <a:off x="1258933" y="3243508"/>
            <a:ext cx="4023360" cy="502920"/>
          </a:xfrm>
          <a:prstGeom prst="rect">
            <a:avLst/>
          </a:prstGeom>
          <a:noFill/>
          <a:ln/>
        </p:spPr>
        <p:txBody>
          <a:bodyPr wrap="square" rtlCol="0" anchor="ctr"/>
          <a:lstStyle/>
          <a:p>
            <a:pPr marL="0" indent="0">
              <a:buNone/>
            </a:pPr>
            <a:r>
              <a:rPr lang="en-US" sz="1150" dirty="0">
                <a:solidFill>
                  <a:srgbClr val="FF9900"/>
                </a:solidFill>
                <a:latin typeface="Consolas" pitchFamily="34" charset="0"/>
                <a:ea typeface="Consolas" pitchFamily="34" charset="-122"/>
                <a:cs typeface="Consolas" pitchFamily="34" charset="-120"/>
              </a:rPr>
              <a:t>aws ec2 describe-instances</a:t>
            </a:r>
            <a:endParaRPr lang="en-US" sz="1150" dirty="0"/>
          </a:p>
        </p:txBody>
      </p:sp>
      <p:sp>
        <p:nvSpPr>
          <p:cNvPr id="19" name="Text 14"/>
          <p:cNvSpPr txBox="1"/>
          <p:nvPr/>
        </p:nvSpPr>
        <p:spPr>
          <a:xfrm>
            <a:off x="5648053" y="3243508"/>
            <a:ext cx="5669280" cy="502920"/>
          </a:xfrm>
          <a:prstGeom prst="rect">
            <a:avLst/>
          </a:prstGeom>
          <a:noFill/>
          <a:ln/>
        </p:spPr>
        <p:txBody>
          <a:bodyPr wrap="square" rtlCol="0" anchor="ctr"/>
          <a:lstStyle/>
          <a:p>
            <a:pPr marL="0" indent="0">
              <a:buNone/>
            </a:pPr>
            <a:r>
              <a:rPr lang="en-US" sz="1200" dirty="0">
                <a:solidFill>
                  <a:srgbClr val="5A6674"/>
                </a:solidFill>
                <a:latin typeface="Calibri" pitchFamily="34" charset="0"/>
                <a:ea typeface="Calibri" pitchFamily="34" charset="-122"/>
                <a:cs typeface="Calibri" pitchFamily="34" charset="-120"/>
              </a:rPr>
              <a:t>Отримати список EC2-інстансів та їхній статус</a:t>
            </a:r>
            <a:endParaRPr lang="en-US" sz="1200" dirty="0"/>
          </a:p>
        </p:txBody>
      </p:sp>
      <p:sp>
        <p:nvSpPr>
          <p:cNvPr id="20" name="Shape 15"/>
          <p:cNvSpPr/>
          <p:nvPr/>
        </p:nvSpPr>
        <p:spPr>
          <a:xfrm>
            <a:off x="573133" y="3956740"/>
            <a:ext cx="384048" cy="384048"/>
          </a:xfrm>
          <a:prstGeom prst="ellipse">
            <a:avLst/>
          </a:prstGeom>
          <a:solidFill>
            <a:srgbClr val="232F3E"/>
          </a:solidFill>
          <a:ln/>
        </p:spPr>
        <p:txBody>
          <a:bodyPr/>
          <a:lstStyle/>
          <a:p>
            <a:endParaRPr lang="en-UA"/>
          </a:p>
        </p:txBody>
      </p:sp>
      <p:pic>
        <p:nvPicPr>
          <p:cNvPr id="21" name="Image 3" descr="/home/claude/icons/users_orange.png"/>
          <p:cNvPicPr>
            <a:picLocks noChangeAspect="1"/>
          </p:cNvPicPr>
          <p:nvPr/>
        </p:nvPicPr>
        <p:blipFill>
          <a:blip r:embed="rId5"/>
          <a:stretch>
            <a:fillRect/>
          </a:stretch>
        </p:blipFill>
        <p:spPr>
          <a:xfrm>
            <a:off x="664573" y="4048180"/>
            <a:ext cx="201168" cy="201168"/>
          </a:xfrm>
          <a:prstGeom prst="rect">
            <a:avLst/>
          </a:prstGeom>
        </p:spPr>
      </p:pic>
      <p:sp>
        <p:nvSpPr>
          <p:cNvPr id="22" name="Shape 16"/>
          <p:cNvSpPr/>
          <p:nvPr/>
        </p:nvSpPr>
        <p:spPr>
          <a:xfrm>
            <a:off x="1121773" y="3901876"/>
            <a:ext cx="4297680" cy="502920"/>
          </a:xfrm>
          <a:prstGeom prst="roundRect">
            <a:avLst>
              <a:gd name="adj" fmla="val 12727"/>
            </a:avLst>
          </a:prstGeom>
          <a:solidFill>
            <a:srgbClr val="232F3E"/>
          </a:solidFill>
          <a:ln/>
        </p:spPr>
        <p:txBody>
          <a:bodyPr/>
          <a:lstStyle/>
          <a:p>
            <a:endParaRPr lang="en-UA"/>
          </a:p>
        </p:txBody>
      </p:sp>
      <p:sp>
        <p:nvSpPr>
          <p:cNvPr id="23" name="Text 17"/>
          <p:cNvSpPr txBox="1"/>
          <p:nvPr/>
        </p:nvSpPr>
        <p:spPr>
          <a:xfrm>
            <a:off x="1258933" y="3901876"/>
            <a:ext cx="4023360" cy="502920"/>
          </a:xfrm>
          <a:prstGeom prst="rect">
            <a:avLst/>
          </a:prstGeom>
          <a:noFill/>
          <a:ln/>
        </p:spPr>
        <p:txBody>
          <a:bodyPr wrap="square" rtlCol="0" anchor="ctr"/>
          <a:lstStyle/>
          <a:p>
            <a:pPr marL="0" indent="0">
              <a:buNone/>
            </a:pPr>
            <a:r>
              <a:rPr lang="en-US" sz="1150" dirty="0">
                <a:solidFill>
                  <a:srgbClr val="FF9900"/>
                </a:solidFill>
                <a:latin typeface="Consolas" pitchFamily="34" charset="0"/>
                <a:ea typeface="Consolas" pitchFamily="34" charset="-122"/>
                <a:cs typeface="Consolas" pitchFamily="34" charset="-120"/>
              </a:rPr>
              <a:t>aws iam list-users</a:t>
            </a:r>
            <a:endParaRPr lang="en-US" sz="1150" dirty="0"/>
          </a:p>
        </p:txBody>
      </p:sp>
      <p:sp>
        <p:nvSpPr>
          <p:cNvPr id="24" name="Text 18"/>
          <p:cNvSpPr txBox="1"/>
          <p:nvPr/>
        </p:nvSpPr>
        <p:spPr>
          <a:xfrm>
            <a:off x="5648053" y="3901876"/>
            <a:ext cx="5669280" cy="502920"/>
          </a:xfrm>
          <a:prstGeom prst="rect">
            <a:avLst/>
          </a:prstGeom>
          <a:noFill/>
          <a:ln/>
        </p:spPr>
        <p:txBody>
          <a:bodyPr wrap="square" rtlCol="0" anchor="ctr"/>
          <a:lstStyle/>
          <a:p>
            <a:pPr marL="0" indent="0">
              <a:buNone/>
            </a:pPr>
            <a:r>
              <a:rPr lang="en-US" sz="1200" dirty="0">
                <a:solidFill>
                  <a:srgbClr val="5A6674"/>
                </a:solidFill>
                <a:latin typeface="Calibri" pitchFamily="34" charset="0"/>
                <a:ea typeface="Calibri" pitchFamily="34" charset="-122"/>
                <a:cs typeface="Calibri" pitchFamily="34" charset="-120"/>
              </a:rPr>
              <a:t>Показати всіх IAM-користувачів акаунту</a:t>
            </a:r>
            <a:endParaRPr lang="en-US" sz="1200" dirty="0"/>
          </a:p>
        </p:txBody>
      </p:sp>
      <p:sp>
        <p:nvSpPr>
          <p:cNvPr id="25" name="Shape 19"/>
          <p:cNvSpPr/>
          <p:nvPr/>
        </p:nvSpPr>
        <p:spPr>
          <a:xfrm>
            <a:off x="573133" y="4615108"/>
            <a:ext cx="384048" cy="384048"/>
          </a:xfrm>
          <a:prstGeom prst="ellipse">
            <a:avLst/>
          </a:prstGeom>
          <a:solidFill>
            <a:srgbClr val="232F3E"/>
          </a:solidFill>
          <a:ln/>
        </p:spPr>
        <p:txBody>
          <a:bodyPr/>
          <a:lstStyle/>
          <a:p>
            <a:endParaRPr lang="en-UA"/>
          </a:p>
        </p:txBody>
      </p:sp>
      <p:pic>
        <p:nvPicPr>
          <p:cNvPr id="26" name="Image 4" descr="/home/claude/icons/cogs_orange.png"/>
          <p:cNvPicPr>
            <a:picLocks noChangeAspect="1"/>
          </p:cNvPicPr>
          <p:nvPr/>
        </p:nvPicPr>
        <p:blipFill>
          <a:blip r:embed="rId6"/>
          <a:stretch>
            <a:fillRect/>
          </a:stretch>
        </p:blipFill>
        <p:spPr>
          <a:xfrm>
            <a:off x="664573" y="4706548"/>
            <a:ext cx="201168" cy="201168"/>
          </a:xfrm>
          <a:prstGeom prst="rect">
            <a:avLst/>
          </a:prstGeom>
        </p:spPr>
      </p:pic>
      <p:sp>
        <p:nvSpPr>
          <p:cNvPr id="27" name="Shape 20"/>
          <p:cNvSpPr/>
          <p:nvPr/>
        </p:nvSpPr>
        <p:spPr>
          <a:xfrm>
            <a:off x="1121773" y="4560244"/>
            <a:ext cx="4297680" cy="502920"/>
          </a:xfrm>
          <a:prstGeom prst="roundRect">
            <a:avLst>
              <a:gd name="adj" fmla="val 12727"/>
            </a:avLst>
          </a:prstGeom>
          <a:solidFill>
            <a:srgbClr val="232F3E"/>
          </a:solidFill>
          <a:ln/>
        </p:spPr>
        <p:txBody>
          <a:bodyPr/>
          <a:lstStyle/>
          <a:p>
            <a:endParaRPr lang="en-UA"/>
          </a:p>
        </p:txBody>
      </p:sp>
      <p:sp>
        <p:nvSpPr>
          <p:cNvPr id="28" name="Text 21"/>
          <p:cNvSpPr txBox="1"/>
          <p:nvPr/>
        </p:nvSpPr>
        <p:spPr>
          <a:xfrm>
            <a:off x="1258933" y="4560244"/>
            <a:ext cx="4023360" cy="502920"/>
          </a:xfrm>
          <a:prstGeom prst="rect">
            <a:avLst/>
          </a:prstGeom>
          <a:noFill/>
          <a:ln/>
        </p:spPr>
        <p:txBody>
          <a:bodyPr wrap="square" rtlCol="0" anchor="ctr"/>
          <a:lstStyle/>
          <a:p>
            <a:pPr marL="0" indent="0">
              <a:buNone/>
            </a:pPr>
            <a:r>
              <a:rPr lang="en-US" sz="1150" dirty="0">
                <a:solidFill>
                  <a:srgbClr val="FF9900"/>
                </a:solidFill>
                <a:latin typeface="Consolas" pitchFamily="34" charset="0"/>
                <a:ea typeface="Consolas" pitchFamily="34" charset="-122"/>
                <a:cs typeface="Consolas" pitchFamily="34" charset="-120"/>
              </a:rPr>
              <a:t>aws lambda list-functions</a:t>
            </a:r>
            <a:endParaRPr lang="en-US" sz="1150" dirty="0"/>
          </a:p>
        </p:txBody>
      </p:sp>
      <p:sp>
        <p:nvSpPr>
          <p:cNvPr id="29" name="Text 22"/>
          <p:cNvSpPr txBox="1"/>
          <p:nvPr/>
        </p:nvSpPr>
        <p:spPr>
          <a:xfrm>
            <a:off x="5648053" y="4560244"/>
            <a:ext cx="5669280" cy="502920"/>
          </a:xfrm>
          <a:prstGeom prst="rect">
            <a:avLst/>
          </a:prstGeom>
          <a:noFill/>
          <a:ln/>
        </p:spPr>
        <p:txBody>
          <a:bodyPr wrap="square" rtlCol="0" anchor="ctr"/>
          <a:lstStyle/>
          <a:p>
            <a:pPr marL="0" indent="0">
              <a:buNone/>
            </a:pPr>
            <a:r>
              <a:rPr lang="en-US" sz="1200" dirty="0">
                <a:solidFill>
                  <a:srgbClr val="5A6674"/>
                </a:solidFill>
                <a:latin typeface="Calibri" pitchFamily="34" charset="0"/>
                <a:ea typeface="Calibri" pitchFamily="34" charset="-122"/>
                <a:cs typeface="Calibri" pitchFamily="34" charset="-120"/>
              </a:rPr>
              <a:t>Список усіх Lambda-функцій у регіоні</a:t>
            </a:r>
            <a:endParaRPr lang="en-US" sz="1200" dirty="0"/>
          </a:p>
        </p:txBody>
      </p:sp>
      <p:sp>
        <p:nvSpPr>
          <p:cNvPr id="30" name="Shape 23"/>
          <p:cNvSpPr/>
          <p:nvPr/>
        </p:nvSpPr>
        <p:spPr>
          <a:xfrm>
            <a:off x="573133" y="5273476"/>
            <a:ext cx="384048" cy="384048"/>
          </a:xfrm>
          <a:prstGeom prst="ellipse">
            <a:avLst/>
          </a:prstGeom>
          <a:solidFill>
            <a:srgbClr val="232F3E"/>
          </a:solidFill>
          <a:ln/>
        </p:spPr>
        <p:txBody>
          <a:bodyPr/>
          <a:lstStyle/>
          <a:p>
            <a:endParaRPr lang="en-UA"/>
          </a:p>
        </p:txBody>
      </p:sp>
      <p:pic>
        <p:nvPicPr>
          <p:cNvPr id="31" name="Image 5" descr="/home/claude/icons/database_orange.png"/>
          <p:cNvPicPr>
            <a:picLocks noChangeAspect="1"/>
          </p:cNvPicPr>
          <p:nvPr/>
        </p:nvPicPr>
        <p:blipFill>
          <a:blip r:embed="rId7"/>
          <a:stretch>
            <a:fillRect/>
          </a:stretch>
        </p:blipFill>
        <p:spPr>
          <a:xfrm>
            <a:off x="664573" y="5364916"/>
            <a:ext cx="201168" cy="201168"/>
          </a:xfrm>
          <a:prstGeom prst="rect">
            <a:avLst/>
          </a:prstGeom>
        </p:spPr>
      </p:pic>
      <p:sp>
        <p:nvSpPr>
          <p:cNvPr id="32" name="Shape 24"/>
          <p:cNvSpPr/>
          <p:nvPr/>
        </p:nvSpPr>
        <p:spPr>
          <a:xfrm>
            <a:off x="1121773" y="5218612"/>
            <a:ext cx="4297680" cy="502920"/>
          </a:xfrm>
          <a:prstGeom prst="roundRect">
            <a:avLst>
              <a:gd name="adj" fmla="val 12727"/>
            </a:avLst>
          </a:prstGeom>
          <a:solidFill>
            <a:srgbClr val="232F3E"/>
          </a:solidFill>
          <a:ln/>
        </p:spPr>
        <p:txBody>
          <a:bodyPr/>
          <a:lstStyle/>
          <a:p>
            <a:endParaRPr lang="en-UA"/>
          </a:p>
        </p:txBody>
      </p:sp>
      <p:sp>
        <p:nvSpPr>
          <p:cNvPr id="33" name="Text 25"/>
          <p:cNvSpPr txBox="1"/>
          <p:nvPr/>
        </p:nvSpPr>
        <p:spPr>
          <a:xfrm>
            <a:off x="1258933" y="5218612"/>
            <a:ext cx="4023360" cy="502920"/>
          </a:xfrm>
          <a:prstGeom prst="rect">
            <a:avLst/>
          </a:prstGeom>
          <a:noFill/>
          <a:ln/>
        </p:spPr>
        <p:txBody>
          <a:bodyPr wrap="square" rtlCol="0" anchor="ctr"/>
          <a:lstStyle/>
          <a:p>
            <a:pPr marL="0" indent="0">
              <a:buNone/>
            </a:pPr>
            <a:r>
              <a:rPr lang="en-US" sz="1150" dirty="0">
                <a:solidFill>
                  <a:srgbClr val="FF9900"/>
                </a:solidFill>
                <a:latin typeface="Consolas" pitchFamily="34" charset="0"/>
                <a:ea typeface="Consolas" pitchFamily="34" charset="-122"/>
                <a:cs typeface="Consolas" pitchFamily="34" charset="-120"/>
              </a:rPr>
              <a:t>aws dynamodb list-tables</a:t>
            </a:r>
            <a:endParaRPr lang="en-US" sz="1150" dirty="0"/>
          </a:p>
        </p:txBody>
      </p:sp>
      <p:sp>
        <p:nvSpPr>
          <p:cNvPr id="34" name="Text 26"/>
          <p:cNvSpPr txBox="1"/>
          <p:nvPr/>
        </p:nvSpPr>
        <p:spPr>
          <a:xfrm>
            <a:off x="5648053" y="5218612"/>
            <a:ext cx="5669280" cy="502920"/>
          </a:xfrm>
          <a:prstGeom prst="rect">
            <a:avLst/>
          </a:prstGeom>
          <a:noFill/>
          <a:ln/>
        </p:spPr>
        <p:txBody>
          <a:bodyPr wrap="square" rtlCol="0" anchor="ctr"/>
          <a:lstStyle/>
          <a:p>
            <a:pPr marL="0" indent="0">
              <a:buNone/>
            </a:pPr>
            <a:r>
              <a:rPr lang="en-US" sz="1200" dirty="0">
                <a:solidFill>
                  <a:srgbClr val="5A6674"/>
                </a:solidFill>
                <a:latin typeface="Calibri" pitchFamily="34" charset="0"/>
                <a:ea typeface="Calibri" pitchFamily="34" charset="-122"/>
                <a:cs typeface="Calibri" pitchFamily="34" charset="-120"/>
              </a:rPr>
              <a:t>Список таблиць DynamoDB</a:t>
            </a:r>
            <a:endParaRPr lang="en-US" sz="1200" dirty="0"/>
          </a:p>
        </p:txBody>
      </p:sp>
      <p:sp>
        <p:nvSpPr>
          <p:cNvPr id="35" name="Text 27"/>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674"/>
                </a:solidFill>
                <a:latin typeface="Calibri" pitchFamily="34" charset="0"/>
                <a:ea typeface="Calibri" pitchFamily="34" charset="-122"/>
                <a:cs typeface="Calibri" pitchFamily="34" charset="-120"/>
              </a:rPr>
              <a:t>AWS Console, CLI та SDK</a:t>
            </a:r>
            <a:endParaRPr lang="en-US" sz="1000" dirty="0"/>
          </a:p>
        </p:txBody>
      </p:sp>
      <p:sp>
        <p:nvSpPr>
          <p:cNvPr id="36" name="Text 28"/>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A667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3F3"/>
        </a:solidFill>
        <a:effectLst/>
      </p:bgPr>
    </p:bg>
    <p:spTree>
      <p:nvGrpSpPr>
        <p:cNvPr id="1" name=""/>
        <p:cNvGrpSpPr/>
        <p:nvPr/>
      </p:nvGrpSpPr>
      <p:grpSpPr>
        <a:xfrm>
          <a:off x="0" y="0"/>
          <a:ext cx="0" cy="0"/>
          <a:chOff x="0" y="0"/>
          <a:chExt cx="0" cy="0"/>
        </a:xfrm>
      </p:grpSpPr>
      <p:sp>
        <p:nvSpPr>
          <p:cNvPr id="3" name="Text 1"/>
          <p:cNvSpPr txBox="1"/>
          <p:nvPr/>
        </p:nvSpPr>
        <p:spPr>
          <a:xfrm>
            <a:off x="548640" y="496715"/>
            <a:ext cx="11064240" cy="822960"/>
          </a:xfrm>
          <a:prstGeom prst="rect">
            <a:avLst/>
          </a:prstGeom>
          <a:noFill/>
          <a:ln/>
        </p:spPr>
        <p:txBody>
          <a:bodyPr wrap="square" rtlCol="0" anchor="ctr"/>
          <a:lstStyle/>
          <a:p>
            <a:pPr marL="0" indent="0">
              <a:buNone/>
            </a:pPr>
            <a:r>
              <a:rPr lang="en-US" sz="3200" b="1" dirty="0">
                <a:solidFill>
                  <a:srgbClr val="16191F"/>
                </a:solidFill>
                <a:latin typeface="Cambria" pitchFamily="34" charset="0"/>
                <a:ea typeface="Cambria" pitchFamily="34" charset="-122"/>
                <a:cs typeface="Cambria" pitchFamily="34" charset="-120"/>
              </a:rPr>
              <a:t>AWS SDK для розробників: огляд мов</a:t>
            </a:r>
            <a:endParaRPr lang="en-US" sz="3200" dirty="0"/>
          </a:p>
        </p:txBody>
      </p:sp>
      <p:sp>
        <p:nvSpPr>
          <p:cNvPr id="4" name="Text 2"/>
          <p:cNvSpPr txBox="1"/>
          <p:nvPr/>
        </p:nvSpPr>
        <p:spPr>
          <a:xfrm>
            <a:off x="548640" y="1301387"/>
            <a:ext cx="10789920" cy="457200"/>
          </a:xfrm>
          <a:prstGeom prst="rect">
            <a:avLst/>
          </a:prstGeom>
          <a:noFill/>
          <a:ln/>
        </p:spPr>
        <p:txBody>
          <a:bodyPr wrap="square" rtlCol="0" anchor="ctr"/>
          <a:lstStyle/>
          <a:p>
            <a:pPr marL="0" indent="0">
              <a:lnSpc>
                <a:spcPct val="130000"/>
              </a:lnSpc>
              <a:buNone/>
            </a:pPr>
            <a:r>
              <a:rPr lang="en-US" sz="1400" b="1" dirty="0">
                <a:solidFill>
                  <a:srgbClr val="16191F"/>
                </a:solidFill>
                <a:latin typeface="Calibri" pitchFamily="34" charset="0"/>
                <a:ea typeface="Calibri" pitchFamily="34" charset="-122"/>
                <a:cs typeface="Calibri" pitchFamily="34" charset="-120"/>
              </a:rPr>
              <a:t>AWS SDK </a:t>
            </a:r>
            <a:r>
              <a:rPr lang="en-US" sz="1400" dirty="0">
                <a:solidFill>
                  <a:srgbClr val="16191F"/>
                </a:solidFill>
                <a:latin typeface="Calibri" pitchFamily="34" charset="0"/>
                <a:ea typeface="Calibri" pitchFamily="34" charset="-122"/>
                <a:cs typeface="Calibri" pitchFamily="34" charset="-120"/>
              </a:rPr>
              <a:t>— офіційні бібліотеки, які дозволяють викликати AWS API прямо з коду застосунку, без окремого встановлення CLI.</a:t>
            </a:r>
            <a:endParaRPr lang="en-US" sz="1400" dirty="0"/>
          </a:p>
        </p:txBody>
      </p:sp>
      <p:sp>
        <p:nvSpPr>
          <p:cNvPr id="5" name="Shape 3"/>
          <p:cNvSpPr/>
          <p:nvPr/>
        </p:nvSpPr>
        <p:spPr>
          <a:xfrm>
            <a:off x="548640" y="1987187"/>
            <a:ext cx="3520440" cy="3749040"/>
          </a:xfrm>
          <a:prstGeom prst="roundRect">
            <a:avLst>
              <a:gd name="adj" fmla="val 3117"/>
            </a:avLst>
          </a:prstGeom>
          <a:solidFill>
            <a:srgbClr val="FFFFFF"/>
          </a:solidFill>
          <a:ln w="12700">
            <a:solidFill>
              <a:srgbClr val="DDE1E6"/>
            </a:solidFill>
            <a:prstDash val="solid"/>
          </a:ln>
          <a:effectLst>
            <a:outerShdw blurRad="88900" dist="38100" dir="5400000" algn="bl" rotWithShape="0">
              <a:srgbClr val="000000">
                <a:alpha val="10000"/>
              </a:srgbClr>
            </a:outerShdw>
          </a:effectLst>
        </p:spPr>
        <p:txBody>
          <a:bodyPr/>
          <a:lstStyle/>
          <a:p>
            <a:endParaRPr lang="en-UA"/>
          </a:p>
        </p:txBody>
      </p:sp>
      <p:sp>
        <p:nvSpPr>
          <p:cNvPr id="6" name="Shape 4"/>
          <p:cNvSpPr/>
          <p:nvPr/>
        </p:nvSpPr>
        <p:spPr>
          <a:xfrm>
            <a:off x="868680" y="2307227"/>
            <a:ext cx="685800" cy="685800"/>
          </a:xfrm>
          <a:prstGeom prst="ellipse">
            <a:avLst/>
          </a:prstGeom>
          <a:solidFill>
            <a:srgbClr val="232F3E"/>
          </a:solidFill>
          <a:ln/>
        </p:spPr>
        <p:txBody>
          <a:bodyPr/>
          <a:lstStyle/>
          <a:p>
            <a:endParaRPr lang="en-UA"/>
          </a:p>
        </p:txBody>
      </p:sp>
      <p:pic>
        <p:nvPicPr>
          <p:cNvPr id="7" name="Image 0" descr="/home/claude/icons/python_orange.png"/>
          <p:cNvPicPr>
            <a:picLocks noChangeAspect="1"/>
          </p:cNvPicPr>
          <p:nvPr/>
        </p:nvPicPr>
        <p:blipFill>
          <a:blip r:embed="rId3"/>
          <a:stretch>
            <a:fillRect/>
          </a:stretch>
        </p:blipFill>
        <p:spPr>
          <a:xfrm>
            <a:off x="1051560" y="2490107"/>
            <a:ext cx="320040" cy="320040"/>
          </a:xfrm>
          <a:prstGeom prst="rect">
            <a:avLst/>
          </a:prstGeom>
        </p:spPr>
      </p:pic>
      <p:sp>
        <p:nvSpPr>
          <p:cNvPr id="8" name="Text 5"/>
          <p:cNvSpPr txBox="1"/>
          <p:nvPr/>
        </p:nvSpPr>
        <p:spPr>
          <a:xfrm>
            <a:off x="868680" y="3175907"/>
            <a:ext cx="2880360" cy="457200"/>
          </a:xfrm>
          <a:prstGeom prst="rect">
            <a:avLst/>
          </a:prstGeom>
          <a:noFill/>
          <a:ln/>
        </p:spPr>
        <p:txBody>
          <a:bodyPr wrap="square" rtlCol="0" anchor="ctr"/>
          <a:lstStyle/>
          <a:p>
            <a:pPr marL="0" indent="0">
              <a:buNone/>
            </a:pPr>
            <a:r>
              <a:rPr lang="en-US" sz="1500" b="1" dirty="0">
                <a:solidFill>
                  <a:srgbClr val="16191F"/>
                </a:solidFill>
                <a:latin typeface="Cambria" pitchFamily="34" charset="0"/>
                <a:ea typeface="Cambria" pitchFamily="34" charset="-122"/>
                <a:cs typeface="Cambria" pitchFamily="34" charset="-120"/>
              </a:rPr>
              <a:t>Python — boto3</a:t>
            </a:r>
            <a:endParaRPr lang="en-US" sz="1500" dirty="0"/>
          </a:p>
        </p:txBody>
      </p:sp>
      <p:sp>
        <p:nvSpPr>
          <p:cNvPr id="9" name="Text 6"/>
          <p:cNvSpPr txBox="1"/>
          <p:nvPr/>
        </p:nvSpPr>
        <p:spPr>
          <a:xfrm>
            <a:off x="868680" y="3678827"/>
            <a:ext cx="2880360" cy="1463040"/>
          </a:xfrm>
          <a:prstGeom prst="rect">
            <a:avLst/>
          </a:prstGeom>
          <a:noFill/>
          <a:ln/>
        </p:spPr>
        <p:txBody>
          <a:bodyPr wrap="square" rtlCol="0" anchor="ctr"/>
          <a:lstStyle/>
          <a:p>
            <a:pPr marL="0" indent="0">
              <a:lnSpc>
                <a:spcPct val="130000"/>
              </a:lnSpc>
              <a:buNone/>
            </a:pPr>
            <a:r>
              <a:rPr lang="en-US" sz="1150" dirty="0">
                <a:solidFill>
                  <a:srgbClr val="5A6674"/>
                </a:solidFill>
                <a:latin typeface="Calibri" pitchFamily="34" charset="0"/>
                <a:ea typeface="Calibri" pitchFamily="34" charset="-122"/>
                <a:cs typeface="Calibri" pitchFamily="34" charset="-120"/>
              </a:rPr>
              <a:t>Найпопулярніший SDK для дата-інженерії, ML та backend-розробки. Простий, детально задокументований API.</a:t>
            </a:r>
            <a:endParaRPr lang="en-US" sz="1150" dirty="0"/>
          </a:p>
        </p:txBody>
      </p:sp>
      <p:sp>
        <p:nvSpPr>
          <p:cNvPr id="10" name="Shape 7"/>
          <p:cNvSpPr/>
          <p:nvPr/>
        </p:nvSpPr>
        <p:spPr>
          <a:xfrm>
            <a:off x="868680" y="5187587"/>
            <a:ext cx="2880360" cy="384048"/>
          </a:xfrm>
          <a:prstGeom prst="roundRect">
            <a:avLst>
              <a:gd name="adj" fmla="val 19048"/>
            </a:avLst>
          </a:prstGeom>
          <a:solidFill>
            <a:srgbClr val="F2F3F3"/>
          </a:solidFill>
          <a:ln/>
        </p:spPr>
        <p:txBody>
          <a:bodyPr/>
          <a:lstStyle/>
          <a:p>
            <a:endParaRPr lang="en-UA"/>
          </a:p>
        </p:txBody>
      </p:sp>
      <p:sp>
        <p:nvSpPr>
          <p:cNvPr id="11" name="Text 8"/>
          <p:cNvSpPr txBox="1"/>
          <p:nvPr/>
        </p:nvSpPr>
        <p:spPr>
          <a:xfrm>
            <a:off x="868680" y="5187587"/>
            <a:ext cx="2880360" cy="384048"/>
          </a:xfrm>
          <a:prstGeom prst="rect">
            <a:avLst/>
          </a:prstGeom>
          <a:noFill/>
          <a:ln/>
        </p:spPr>
        <p:txBody>
          <a:bodyPr wrap="square" rtlCol="0" anchor="ctr"/>
          <a:lstStyle/>
          <a:p>
            <a:pPr marL="0" indent="0" algn="ctr">
              <a:buNone/>
            </a:pPr>
            <a:r>
              <a:rPr lang="en-US" sz="950" b="1" dirty="0">
                <a:solidFill>
                  <a:srgbClr val="CC7A00"/>
                </a:solidFill>
                <a:latin typeface="Consolas" pitchFamily="34" charset="0"/>
                <a:ea typeface="Consolas" pitchFamily="34" charset="-122"/>
                <a:cs typeface="Consolas" pitchFamily="34" charset="-120"/>
              </a:rPr>
              <a:t>pip install boto3</a:t>
            </a:r>
            <a:endParaRPr lang="en-US" sz="950" dirty="0"/>
          </a:p>
        </p:txBody>
      </p:sp>
      <p:sp>
        <p:nvSpPr>
          <p:cNvPr id="12" name="Shape 9"/>
          <p:cNvSpPr/>
          <p:nvPr/>
        </p:nvSpPr>
        <p:spPr>
          <a:xfrm>
            <a:off x="4389120" y="1987187"/>
            <a:ext cx="3520440" cy="3749040"/>
          </a:xfrm>
          <a:prstGeom prst="roundRect">
            <a:avLst>
              <a:gd name="adj" fmla="val 3117"/>
            </a:avLst>
          </a:prstGeom>
          <a:solidFill>
            <a:srgbClr val="FFFFFF"/>
          </a:solidFill>
          <a:ln w="12700">
            <a:solidFill>
              <a:srgbClr val="DDE1E6"/>
            </a:solidFill>
            <a:prstDash val="solid"/>
          </a:ln>
          <a:effectLst>
            <a:outerShdw blurRad="88900" dist="38100" dir="5400000" algn="bl" rotWithShape="0">
              <a:srgbClr val="000000">
                <a:alpha val="10000"/>
              </a:srgbClr>
            </a:outerShdw>
          </a:effectLst>
        </p:spPr>
        <p:txBody>
          <a:bodyPr/>
          <a:lstStyle/>
          <a:p>
            <a:endParaRPr lang="en-UA"/>
          </a:p>
        </p:txBody>
      </p:sp>
      <p:sp>
        <p:nvSpPr>
          <p:cNvPr id="13" name="Shape 10"/>
          <p:cNvSpPr/>
          <p:nvPr/>
        </p:nvSpPr>
        <p:spPr>
          <a:xfrm>
            <a:off x="4709160" y="2307227"/>
            <a:ext cx="685800" cy="685800"/>
          </a:xfrm>
          <a:prstGeom prst="ellipse">
            <a:avLst/>
          </a:prstGeom>
          <a:solidFill>
            <a:srgbClr val="232F3E"/>
          </a:solidFill>
          <a:ln/>
        </p:spPr>
        <p:txBody>
          <a:bodyPr/>
          <a:lstStyle/>
          <a:p>
            <a:endParaRPr lang="en-UA"/>
          </a:p>
        </p:txBody>
      </p:sp>
      <p:pic>
        <p:nvPicPr>
          <p:cNvPr id="14" name="Image 1" descr="/home/claude/icons/js_orange.png"/>
          <p:cNvPicPr>
            <a:picLocks noChangeAspect="1"/>
          </p:cNvPicPr>
          <p:nvPr/>
        </p:nvPicPr>
        <p:blipFill>
          <a:blip r:embed="rId4"/>
          <a:stretch>
            <a:fillRect/>
          </a:stretch>
        </p:blipFill>
        <p:spPr>
          <a:xfrm>
            <a:off x="4892040" y="2490107"/>
            <a:ext cx="320040" cy="320040"/>
          </a:xfrm>
          <a:prstGeom prst="rect">
            <a:avLst/>
          </a:prstGeom>
        </p:spPr>
      </p:pic>
      <p:sp>
        <p:nvSpPr>
          <p:cNvPr id="15" name="Text 11"/>
          <p:cNvSpPr txBox="1"/>
          <p:nvPr/>
        </p:nvSpPr>
        <p:spPr>
          <a:xfrm>
            <a:off x="4709160" y="3175907"/>
            <a:ext cx="2880360" cy="457200"/>
          </a:xfrm>
          <a:prstGeom prst="rect">
            <a:avLst/>
          </a:prstGeom>
          <a:noFill/>
          <a:ln/>
        </p:spPr>
        <p:txBody>
          <a:bodyPr wrap="square" rtlCol="0" anchor="ctr"/>
          <a:lstStyle/>
          <a:p>
            <a:pPr marL="0" indent="0">
              <a:buNone/>
            </a:pPr>
            <a:r>
              <a:rPr lang="en-US" sz="1500" b="1" dirty="0">
                <a:solidFill>
                  <a:srgbClr val="16191F"/>
                </a:solidFill>
                <a:latin typeface="Cambria" pitchFamily="34" charset="0"/>
                <a:ea typeface="Cambria" pitchFamily="34" charset="-122"/>
                <a:cs typeface="Cambria" pitchFamily="34" charset="-120"/>
              </a:rPr>
              <a:t>JavaScript — AWS SDK v3</a:t>
            </a:r>
            <a:endParaRPr lang="en-US" sz="1500" dirty="0"/>
          </a:p>
        </p:txBody>
      </p:sp>
      <p:sp>
        <p:nvSpPr>
          <p:cNvPr id="16" name="Text 12"/>
          <p:cNvSpPr txBox="1"/>
          <p:nvPr/>
        </p:nvSpPr>
        <p:spPr>
          <a:xfrm>
            <a:off x="4709160" y="3678827"/>
            <a:ext cx="2880360" cy="1463040"/>
          </a:xfrm>
          <a:prstGeom prst="rect">
            <a:avLst/>
          </a:prstGeom>
          <a:noFill/>
          <a:ln/>
        </p:spPr>
        <p:txBody>
          <a:bodyPr wrap="square" rtlCol="0" anchor="ctr"/>
          <a:lstStyle/>
          <a:p>
            <a:pPr marL="0" indent="0">
              <a:lnSpc>
                <a:spcPct val="130000"/>
              </a:lnSpc>
              <a:buNone/>
            </a:pPr>
            <a:r>
              <a:rPr lang="en-US" sz="1150" dirty="0">
                <a:solidFill>
                  <a:srgbClr val="5A6674"/>
                </a:solidFill>
                <a:latin typeface="Calibri" pitchFamily="34" charset="0"/>
                <a:ea typeface="Calibri" pitchFamily="34" charset="-122"/>
                <a:cs typeface="Calibri" pitchFamily="34" charset="-120"/>
              </a:rPr>
              <a:t>Для Node.js та браузерних застосунків. Модульна архітектура — підключаєте лише потрібні сервіси.</a:t>
            </a:r>
            <a:endParaRPr lang="en-US" sz="1150" dirty="0"/>
          </a:p>
        </p:txBody>
      </p:sp>
      <p:sp>
        <p:nvSpPr>
          <p:cNvPr id="17" name="Shape 13"/>
          <p:cNvSpPr/>
          <p:nvPr/>
        </p:nvSpPr>
        <p:spPr>
          <a:xfrm>
            <a:off x="4709160" y="5187587"/>
            <a:ext cx="2880360" cy="384048"/>
          </a:xfrm>
          <a:prstGeom prst="roundRect">
            <a:avLst>
              <a:gd name="adj" fmla="val 19048"/>
            </a:avLst>
          </a:prstGeom>
          <a:solidFill>
            <a:srgbClr val="F2F3F3"/>
          </a:solidFill>
          <a:ln/>
        </p:spPr>
        <p:txBody>
          <a:bodyPr/>
          <a:lstStyle/>
          <a:p>
            <a:endParaRPr lang="en-UA"/>
          </a:p>
        </p:txBody>
      </p:sp>
      <p:sp>
        <p:nvSpPr>
          <p:cNvPr id="18" name="Text 14"/>
          <p:cNvSpPr txBox="1"/>
          <p:nvPr/>
        </p:nvSpPr>
        <p:spPr>
          <a:xfrm>
            <a:off x="4709160" y="5187587"/>
            <a:ext cx="2880360" cy="384048"/>
          </a:xfrm>
          <a:prstGeom prst="rect">
            <a:avLst/>
          </a:prstGeom>
          <a:noFill/>
          <a:ln/>
        </p:spPr>
        <p:txBody>
          <a:bodyPr wrap="square" rtlCol="0" anchor="ctr"/>
          <a:lstStyle/>
          <a:p>
            <a:pPr marL="0" indent="0" algn="ctr">
              <a:buNone/>
            </a:pPr>
            <a:r>
              <a:rPr lang="en-US" sz="950" b="1" dirty="0">
                <a:solidFill>
                  <a:srgbClr val="CC7A00"/>
                </a:solidFill>
                <a:latin typeface="Consolas" pitchFamily="34" charset="0"/>
                <a:ea typeface="Consolas" pitchFamily="34" charset="-122"/>
                <a:cs typeface="Consolas" pitchFamily="34" charset="-120"/>
              </a:rPr>
              <a:t>npm install @aws-sdk/client-s3</a:t>
            </a:r>
            <a:endParaRPr lang="en-US" sz="950" dirty="0"/>
          </a:p>
        </p:txBody>
      </p:sp>
      <p:sp>
        <p:nvSpPr>
          <p:cNvPr id="19" name="Shape 15"/>
          <p:cNvSpPr/>
          <p:nvPr/>
        </p:nvSpPr>
        <p:spPr>
          <a:xfrm>
            <a:off x="8229600" y="1987187"/>
            <a:ext cx="3520440" cy="3749040"/>
          </a:xfrm>
          <a:prstGeom prst="roundRect">
            <a:avLst>
              <a:gd name="adj" fmla="val 3117"/>
            </a:avLst>
          </a:prstGeom>
          <a:solidFill>
            <a:srgbClr val="FFFFFF"/>
          </a:solidFill>
          <a:ln w="12700">
            <a:solidFill>
              <a:srgbClr val="DDE1E6"/>
            </a:solidFill>
            <a:prstDash val="solid"/>
          </a:ln>
          <a:effectLst>
            <a:outerShdw blurRad="88900" dist="38100" dir="5400000" algn="bl" rotWithShape="0">
              <a:srgbClr val="000000">
                <a:alpha val="10000"/>
              </a:srgbClr>
            </a:outerShdw>
          </a:effectLst>
        </p:spPr>
        <p:txBody>
          <a:bodyPr/>
          <a:lstStyle/>
          <a:p>
            <a:endParaRPr lang="en-UA"/>
          </a:p>
        </p:txBody>
      </p:sp>
      <p:sp>
        <p:nvSpPr>
          <p:cNvPr id="20" name="Shape 16"/>
          <p:cNvSpPr/>
          <p:nvPr/>
        </p:nvSpPr>
        <p:spPr>
          <a:xfrm>
            <a:off x="8549640" y="2307227"/>
            <a:ext cx="685800" cy="685800"/>
          </a:xfrm>
          <a:prstGeom prst="ellipse">
            <a:avLst/>
          </a:prstGeom>
          <a:solidFill>
            <a:srgbClr val="232F3E"/>
          </a:solidFill>
          <a:ln/>
        </p:spPr>
        <p:txBody>
          <a:bodyPr/>
          <a:lstStyle/>
          <a:p>
            <a:endParaRPr lang="en-UA"/>
          </a:p>
        </p:txBody>
      </p:sp>
      <p:pic>
        <p:nvPicPr>
          <p:cNvPr id="21" name="Image 2" descr="/home/claude/icons/hashtag_orange.png"/>
          <p:cNvPicPr>
            <a:picLocks noChangeAspect="1"/>
          </p:cNvPicPr>
          <p:nvPr/>
        </p:nvPicPr>
        <p:blipFill>
          <a:blip r:embed="rId5"/>
          <a:stretch>
            <a:fillRect/>
          </a:stretch>
        </p:blipFill>
        <p:spPr>
          <a:xfrm>
            <a:off x="8732520" y="2490107"/>
            <a:ext cx="320040" cy="320040"/>
          </a:xfrm>
          <a:prstGeom prst="rect">
            <a:avLst/>
          </a:prstGeom>
        </p:spPr>
      </p:pic>
      <p:sp>
        <p:nvSpPr>
          <p:cNvPr id="22" name="Text 17"/>
          <p:cNvSpPr txBox="1"/>
          <p:nvPr/>
        </p:nvSpPr>
        <p:spPr>
          <a:xfrm>
            <a:off x="8549640" y="3175907"/>
            <a:ext cx="2880360" cy="457200"/>
          </a:xfrm>
          <a:prstGeom prst="rect">
            <a:avLst/>
          </a:prstGeom>
          <a:noFill/>
          <a:ln/>
        </p:spPr>
        <p:txBody>
          <a:bodyPr wrap="square" rtlCol="0" anchor="ctr"/>
          <a:lstStyle/>
          <a:p>
            <a:pPr marL="0" indent="0">
              <a:buNone/>
            </a:pPr>
            <a:r>
              <a:rPr lang="en-US" sz="1500" b="1" dirty="0">
                <a:solidFill>
                  <a:srgbClr val="16191F"/>
                </a:solidFill>
                <a:latin typeface="Cambria" pitchFamily="34" charset="0"/>
                <a:ea typeface="Cambria" pitchFamily="34" charset="-122"/>
                <a:cs typeface="Cambria" pitchFamily="34" charset="-120"/>
              </a:rPr>
              <a:t>C# — AWS SDK for .NET</a:t>
            </a:r>
            <a:endParaRPr lang="en-US" sz="1500" dirty="0"/>
          </a:p>
        </p:txBody>
      </p:sp>
      <p:sp>
        <p:nvSpPr>
          <p:cNvPr id="23" name="Text 18"/>
          <p:cNvSpPr txBox="1"/>
          <p:nvPr/>
        </p:nvSpPr>
        <p:spPr>
          <a:xfrm>
            <a:off x="8549640" y="3678827"/>
            <a:ext cx="2880360" cy="1463040"/>
          </a:xfrm>
          <a:prstGeom prst="rect">
            <a:avLst/>
          </a:prstGeom>
          <a:noFill/>
          <a:ln/>
        </p:spPr>
        <p:txBody>
          <a:bodyPr wrap="square" rtlCol="0" anchor="ctr"/>
          <a:lstStyle/>
          <a:p>
            <a:pPr marL="0" indent="0">
              <a:lnSpc>
                <a:spcPct val="130000"/>
              </a:lnSpc>
              <a:buNone/>
            </a:pPr>
            <a:r>
              <a:rPr lang="en-US" sz="1150" dirty="0">
                <a:solidFill>
                  <a:srgbClr val="5A6674"/>
                </a:solidFill>
                <a:latin typeface="Calibri" pitchFamily="34" charset="0"/>
                <a:ea typeface="Calibri" pitchFamily="34" charset="-122"/>
                <a:cs typeface="Calibri" pitchFamily="34" charset="-120"/>
              </a:rPr>
              <a:t>Глибока інтеграція з екосистемою .NET, підтримка async/await та dependency injection.</a:t>
            </a:r>
            <a:endParaRPr lang="en-US" sz="1150" dirty="0"/>
          </a:p>
        </p:txBody>
      </p:sp>
      <p:sp>
        <p:nvSpPr>
          <p:cNvPr id="24" name="Shape 19"/>
          <p:cNvSpPr/>
          <p:nvPr/>
        </p:nvSpPr>
        <p:spPr>
          <a:xfrm>
            <a:off x="8549640" y="5187587"/>
            <a:ext cx="2880360" cy="384048"/>
          </a:xfrm>
          <a:prstGeom prst="roundRect">
            <a:avLst>
              <a:gd name="adj" fmla="val 19048"/>
            </a:avLst>
          </a:prstGeom>
          <a:solidFill>
            <a:srgbClr val="F2F3F3"/>
          </a:solidFill>
          <a:ln/>
        </p:spPr>
        <p:txBody>
          <a:bodyPr/>
          <a:lstStyle/>
          <a:p>
            <a:endParaRPr lang="en-UA"/>
          </a:p>
        </p:txBody>
      </p:sp>
      <p:sp>
        <p:nvSpPr>
          <p:cNvPr id="25" name="Text 20"/>
          <p:cNvSpPr txBox="1"/>
          <p:nvPr/>
        </p:nvSpPr>
        <p:spPr>
          <a:xfrm>
            <a:off x="8549640" y="5187587"/>
            <a:ext cx="2880360" cy="384048"/>
          </a:xfrm>
          <a:prstGeom prst="rect">
            <a:avLst/>
          </a:prstGeom>
          <a:noFill/>
          <a:ln/>
        </p:spPr>
        <p:txBody>
          <a:bodyPr wrap="square" rtlCol="0" anchor="ctr"/>
          <a:lstStyle/>
          <a:p>
            <a:pPr marL="0" indent="0" algn="ctr">
              <a:buNone/>
            </a:pPr>
            <a:r>
              <a:rPr lang="en-US" sz="950" b="1" dirty="0">
                <a:solidFill>
                  <a:srgbClr val="CC7A00"/>
                </a:solidFill>
                <a:latin typeface="Consolas" pitchFamily="34" charset="0"/>
                <a:ea typeface="Consolas" pitchFamily="34" charset="-122"/>
                <a:cs typeface="Consolas" pitchFamily="34" charset="-120"/>
              </a:rPr>
              <a:t>dotnet add package AWSSDK.S3</a:t>
            </a:r>
            <a:endParaRPr lang="en-US" sz="950" dirty="0"/>
          </a:p>
        </p:txBody>
      </p:sp>
      <p:sp>
        <p:nvSpPr>
          <p:cNvPr id="26" name="Text 21"/>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674"/>
                </a:solidFill>
                <a:latin typeface="Calibri" pitchFamily="34" charset="0"/>
                <a:ea typeface="Calibri" pitchFamily="34" charset="-122"/>
                <a:cs typeface="Calibri" pitchFamily="34" charset="-120"/>
              </a:rPr>
              <a:t>AWS Console, CLI та SDK</a:t>
            </a:r>
            <a:endParaRPr lang="en-US" sz="1000" dirty="0"/>
          </a:p>
        </p:txBody>
      </p:sp>
      <p:sp>
        <p:nvSpPr>
          <p:cNvPr id="27" name="Text 22"/>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A667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32F3E"/>
        </a:solidFill>
        <a:effectLst/>
      </p:bgPr>
    </p:bg>
    <p:spTree>
      <p:nvGrpSpPr>
        <p:cNvPr id="1" name=""/>
        <p:cNvGrpSpPr/>
        <p:nvPr/>
      </p:nvGrpSpPr>
      <p:grpSpPr>
        <a:xfrm>
          <a:off x="0" y="0"/>
          <a:ext cx="0" cy="0"/>
          <a:chOff x="0" y="0"/>
          <a:chExt cx="0" cy="0"/>
        </a:xfrm>
      </p:grpSpPr>
      <p:sp>
        <p:nvSpPr>
          <p:cNvPr id="3" name="Text 1"/>
          <p:cNvSpPr txBox="1"/>
          <p:nvPr/>
        </p:nvSpPr>
        <p:spPr>
          <a:xfrm>
            <a:off x="548640" y="513043"/>
            <a:ext cx="11064240" cy="822960"/>
          </a:xfrm>
          <a:prstGeom prst="rect">
            <a:avLst/>
          </a:prstGeom>
          <a:noFill/>
          <a:ln/>
        </p:spPr>
        <p:txBody>
          <a:bodyPr wrap="square"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Підключення через boto3: приклад запиту до IAM</a:t>
            </a:r>
            <a:endParaRPr lang="en-US" sz="2700" dirty="0"/>
          </a:p>
        </p:txBody>
      </p:sp>
      <p:sp>
        <p:nvSpPr>
          <p:cNvPr id="4" name="Shape 2"/>
          <p:cNvSpPr/>
          <p:nvPr/>
        </p:nvSpPr>
        <p:spPr>
          <a:xfrm>
            <a:off x="548640" y="1363435"/>
            <a:ext cx="6035040" cy="4480560"/>
          </a:xfrm>
          <a:prstGeom prst="roundRect">
            <a:avLst>
              <a:gd name="adj" fmla="val 2041"/>
            </a:avLst>
          </a:prstGeom>
          <a:solidFill>
            <a:srgbClr val="1A2431"/>
          </a:solidFill>
          <a:ln w="12700">
            <a:solidFill>
              <a:srgbClr val="37475A"/>
            </a:solidFill>
            <a:prstDash val="solid"/>
          </a:ln>
        </p:spPr>
        <p:txBody>
          <a:bodyPr/>
          <a:lstStyle/>
          <a:p>
            <a:endParaRPr lang="en-UA"/>
          </a:p>
        </p:txBody>
      </p:sp>
      <p:sp>
        <p:nvSpPr>
          <p:cNvPr id="5" name="Shape 3"/>
          <p:cNvSpPr/>
          <p:nvPr/>
        </p:nvSpPr>
        <p:spPr>
          <a:xfrm>
            <a:off x="777240" y="1564603"/>
            <a:ext cx="128016" cy="128016"/>
          </a:xfrm>
          <a:prstGeom prst="ellipse">
            <a:avLst/>
          </a:prstGeom>
          <a:solidFill>
            <a:srgbClr val="E0605A"/>
          </a:solidFill>
          <a:ln/>
        </p:spPr>
        <p:txBody>
          <a:bodyPr/>
          <a:lstStyle/>
          <a:p>
            <a:endParaRPr lang="en-UA"/>
          </a:p>
        </p:txBody>
      </p:sp>
      <p:sp>
        <p:nvSpPr>
          <p:cNvPr id="6" name="Shape 4"/>
          <p:cNvSpPr/>
          <p:nvPr/>
        </p:nvSpPr>
        <p:spPr>
          <a:xfrm>
            <a:off x="987552" y="1564603"/>
            <a:ext cx="128016" cy="128016"/>
          </a:xfrm>
          <a:prstGeom prst="ellipse">
            <a:avLst/>
          </a:prstGeom>
          <a:solidFill>
            <a:srgbClr val="E8B84B"/>
          </a:solidFill>
          <a:ln/>
        </p:spPr>
        <p:txBody>
          <a:bodyPr/>
          <a:lstStyle/>
          <a:p>
            <a:endParaRPr lang="en-UA"/>
          </a:p>
        </p:txBody>
      </p:sp>
      <p:sp>
        <p:nvSpPr>
          <p:cNvPr id="7" name="Shape 5"/>
          <p:cNvSpPr/>
          <p:nvPr/>
        </p:nvSpPr>
        <p:spPr>
          <a:xfrm>
            <a:off x="1197864" y="1564603"/>
            <a:ext cx="128016" cy="128016"/>
          </a:xfrm>
          <a:prstGeom prst="ellipse">
            <a:avLst/>
          </a:prstGeom>
          <a:solidFill>
            <a:srgbClr val="5CB86B"/>
          </a:solidFill>
          <a:ln/>
        </p:spPr>
        <p:txBody>
          <a:bodyPr/>
          <a:lstStyle/>
          <a:p>
            <a:endParaRPr lang="en-UA"/>
          </a:p>
        </p:txBody>
      </p:sp>
      <p:sp>
        <p:nvSpPr>
          <p:cNvPr id="8" name="Text 6"/>
          <p:cNvSpPr txBox="1"/>
          <p:nvPr/>
        </p:nvSpPr>
        <p:spPr>
          <a:xfrm>
            <a:off x="548640" y="1491451"/>
            <a:ext cx="6035040" cy="274320"/>
          </a:xfrm>
          <a:prstGeom prst="rect">
            <a:avLst/>
          </a:prstGeom>
          <a:noFill/>
          <a:ln/>
        </p:spPr>
        <p:txBody>
          <a:bodyPr wrap="square" rtlCol="0" anchor="ctr"/>
          <a:lstStyle/>
          <a:p>
            <a:pPr marL="0" indent="0" algn="ctr">
              <a:buNone/>
            </a:pPr>
            <a:r>
              <a:rPr lang="en-US" sz="1050" dirty="0">
                <a:solidFill>
                  <a:srgbClr val="8A97A8"/>
                </a:solidFill>
                <a:latin typeface="Consolas" pitchFamily="34" charset="0"/>
                <a:ea typeface="Consolas" pitchFamily="34" charset="-122"/>
                <a:cs typeface="Consolas" pitchFamily="34" charset="-120"/>
              </a:rPr>
              <a:t>python — iam_example.py</a:t>
            </a:r>
            <a:endParaRPr lang="en-US" sz="1050" dirty="0"/>
          </a:p>
        </p:txBody>
      </p:sp>
      <p:sp>
        <p:nvSpPr>
          <p:cNvPr id="9" name="Text 7"/>
          <p:cNvSpPr txBox="1"/>
          <p:nvPr/>
        </p:nvSpPr>
        <p:spPr>
          <a:xfrm>
            <a:off x="868680" y="1866355"/>
            <a:ext cx="5394960" cy="3749040"/>
          </a:xfrm>
          <a:prstGeom prst="rect">
            <a:avLst/>
          </a:prstGeom>
          <a:noFill/>
          <a:ln/>
        </p:spPr>
        <p:txBody>
          <a:bodyPr wrap="square" rtlCol="0" anchor="ctr"/>
          <a:lstStyle/>
          <a:p>
            <a:pPr marL="0" indent="0">
              <a:lnSpc>
                <a:spcPct val="140000"/>
              </a:lnSpc>
              <a:buNone/>
            </a:pPr>
            <a:r>
              <a:rPr lang="en-US" sz="1300" dirty="0">
                <a:solidFill>
                  <a:srgbClr val="9FB4CC"/>
                </a:solidFill>
                <a:latin typeface="Consolas" pitchFamily="34" charset="0"/>
                <a:ea typeface="Consolas" pitchFamily="34" charset="-122"/>
                <a:cs typeface="Consolas" pitchFamily="34" charset="-120"/>
              </a:rPr>
              <a:t>import boto3</a:t>
            </a:r>
            <a:endParaRPr lang="en-US" sz="1300" dirty="0"/>
          </a:p>
          <a:p>
            <a:pPr marL="0" indent="0">
              <a:lnSpc>
                <a:spcPct val="140000"/>
              </a:lnSpc>
              <a:buNone/>
            </a:pPr>
            <a:endParaRPr lang="en-US" sz="1300" dirty="0"/>
          </a:p>
          <a:p>
            <a:pPr marL="0" indent="0">
              <a:lnSpc>
                <a:spcPct val="140000"/>
              </a:lnSpc>
              <a:buNone/>
            </a:pPr>
            <a:r>
              <a:rPr lang="en-US" sz="1300" dirty="0">
                <a:solidFill>
                  <a:srgbClr val="8A97A8"/>
                </a:solidFill>
                <a:latin typeface="Consolas" pitchFamily="34" charset="0"/>
                <a:ea typeface="Consolas" pitchFamily="34" charset="-122"/>
                <a:cs typeface="Consolas" pitchFamily="34" charset="-120"/>
              </a:rPr>
              <a:t># Клієнт створюється з профілем з ~/.aws</a:t>
            </a:r>
            <a:endParaRPr lang="en-US" sz="1300" dirty="0"/>
          </a:p>
          <a:p>
            <a:pPr marL="0" indent="0">
              <a:lnSpc>
                <a:spcPct val="140000"/>
              </a:lnSpc>
              <a:buNone/>
            </a:pPr>
            <a:r>
              <a:rPr lang="en-US" sz="1300" dirty="0">
                <a:solidFill>
                  <a:srgbClr val="C586C0"/>
                </a:solidFill>
                <a:latin typeface="Consolas" pitchFamily="34" charset="0"/>
                <a:ea typeface="Consolas" pitchFamily="34" charset="-122"/>
                <a:cs typeface="Consolas" pitchFamily="34" charset="-120"/>
              </a:rPr>
              <a:t>session = boto3.Session(</a:t>
            </a:r>
            <a:endParaRPr lang="en-US" sz="1300" dirty="0"/>
          </a:p>
          <a:p>
            <a:pPr marL="0" indent="0">
              <a:lnSpc>
                <a:spcPct val="140000"/>
              </a:lnSpc>
              <a:buNone/>
            </a:pPr>
            <a:r>
              <a:rPr lang="en-US" sz="1300" dirty="0">
                <a:solidFill>
                  <a:srgbClr val="E6EAF0"/>
                </a:solidFill>
                <a:latin typeface="Consolas" pitchFamily="34" charset="0"/>
                <a:ea typeface="Consolas" pitchFamily="34" charset="-122"/>
                <a:cs typeface="Consolas" pitchFamily="34" charset="-120"/>
              </a:rPr>
              <a:t>    profile_name="production"</a:t>
            </a:r>
            <a:endParaRPr lang="en-US" sz="1300" dirty="0"/>
          </a:p>
          <a:p>
            <a:pPr marL="0" indent="0">
              <a:lnSpc>
                <a:spcPct val="140000"/>
              </a:lnSpc>
              <a:buNone/>
            </a:pPr>
            <a:r>
              <a:rPr lang="en-US" sz="1300" dirty="0">
                <a:solidFill>
                  <a:srgbClr val="C586C0"/>
                </a:solidFill>
                <a:latin typeface="Consolas" pitchFamily="34" charset="0"/>
                <a:ea typeface="Consolas" pitchFamily="34" charset="-122"/>
                <a:cs typeface="Consolas" pitchFamily="34" charset="-120"/>
              </a:rPr>
              <a:t>)</a:t>
            </a:r>
            <a:endParaRPr lang="en-US" sz="1300" dirty="0"/>
          </a:p>
          <a:p>
            <a:pPr marL="0" indent="0">
              <a:lnSpc>
                <a:spcPct val="140000"/>
              </a:lnSpc>
              <a:buNone/>
            </a:pPr>
            <a:r>
              <a:rPr lang="en-US" sz="1300" dirty="0">
                <a:solidFill>
                  <a:srgbClr val="E6EAF0"/>
                </a:solidFill>
                <a:latin typeface="Consolas" pitchFamily="34" charset="0"/>
                <a:ea typeface="Consolas" pitchFamily="34" charset="-122"/>
                <a:cs typeface="Consolas" pitchFamily="34" charset="-120"/>
              </a:rPr>
              <a:t>iam = session.client("iam")</a:t>
            </a:r>
            <a:endParaRPr lang="en-US" sz="1300" dirty="0"/>
          </a:p>
          <a:p>
            <a:pPr marL="0" indent="0">
              <a:lnSpc>
                <a:spcPct val="140000"/>
              </a:lnSpc>
              <a:buNone/>
            </a:pPr>
            <a:endParaRPr lang="en-US" sz="1300" dirty="0"/>
          </a:p>
          <a:p>
            <a:pPr marL="0" indent="0">
              <a:lnSpc>
                <a:spcPct val="140000"/>
              </a:lnSpc>
              <a:buNone/>
            </a:pPr>
            <a:r>
              <a:rPr lang="en-US" sz="1300" dirty="0">
                <a:solidFill>
                  <a:srgbClr val="8A97A8"/>
                </a:solidFill>
                <a:latin typeface="Consolas" pitchFamily="34" charset="0"/>
                <a:ea typeface="Consolas" pitchFamily="34" charset="-122"/>
                <a:cs typeface="Consolas" pitchFamily="34" charset="-120"/>
              </a:rPr>
              <a:t># Запит списку користувачів IAM</a:t>
            </a:r>
            <a:endParaRPr lang="en-US" sz="1300" dirty="0"/>
          </a:p>
          <a:p>
            <a:pPr marL="0" indent="0">
              <a:lnSpc>
                <a:spcPct val="140000"/>
              </a:lnSpc>
              <a:buNone/>
            </a:pPr>
            <a:r>
              <a:rPr lang="en-US" sz="1300" dirty="0">
                <a:solidFill>
                  <a:srgbClr val="E6EAF0"/>
                </a:solidFill>
                <a:latin typeface="Consolas" pitchFamily="34" charset="0"/>
                <a:ea typeface="Consolas" pitchFamily="34" charset="-122"/>
                <a:cs typeface="Consolas" pitchFamily="34" charset="-120"/>
              </a:rPr>
              <a:t>response = iam.list_users()</a:t>
            </a:r>
            <a:endParaRPr lang="en-US" sz="1300" dirty="0"/>
          </a:p>
          <a:p>
            <a:pPr marL="0" indent="0">
              <a:lnSpc>
                <a:spcPct val="140000"/>
              </a:lnSpc>
              <a:buNone/>
            </a:pPr>
            <a:endParaRPr lang="en-US" sz="1300" dirty="0"/>
          </a:p>
          <a:p>
            <a:pPr marL="0" indent="0">
              <a:lnSpc>
                <a:spcPct val="140000"/>
              </a:lnSpc>
              <a:buNone/>
            </a:pPr>
            <a:r>
              <a:rPr lang="en-US" sz="1300" dirty="0">
                <a:solidFill>
                  <a:srgbClr val="C586C0"/>
                </a:solidFill>
                <a:latin typeface="Consolas" pitchFamily="34" charset="0"/>
                <a:ea typeface="Consolas" pitchFamily="34" charset="-122"/>
                <a:cs typeface="Consolas" pitchFamily="34" charset="-120"/>
              </a:rPr>
              <a:t>for user in response["Users"]:</a:t>
            </a:r>
            <a:endParaRPr lang="en-US" sz="1300" dirty="0"/>
          </a:p>
          <a:p>
            <a:pPr marL="0" indent="0">
              <a:lnSpc>
                <a:spcPct val="140000"/>
              </a:lnSpc>
              <a:buNone/>
            </a:pPr>
            <a:r>
              <a:rPr lang="en-US" sz="1300" dirty="0">
                <a:solidFill>
                  <a:srgbClr val="E6EAF0"/>
                </a:solidFill>
                <a:latin typeface="Consolas" pitchFamily="34" charset="0"/>
                <a:ea typeface="Consolas" pitchFamily="34" charset="-122"/>
                <a:cs typeface="Consolas" pitchFamily="34" charset="-120"/>
              </a:rPr>
              <a:t>    print(user["UserName"])</a:t>
            </a:r>
            <a:endParaRPr lang="en-US" sz="1300" dirty="0"/>
          </a:p>
        </p:txBody>
      </p:sp>
      <p:sp>
        <p:nvSpPr>
          <p:cNvPr id="10" name="Shape 8"/>
          <p:cNvSpPr/>
          <p:nvPr/>
        </p:nvSpPr>
        <p:spPr>
          <a:xfrm>
            <a:off x="6903720" y="1500595"/>
            <a:ext cx="457200" cy="457200"/>
          </a:xfrm>
          <a:prstGeom prst="ellipse">
            <a:avLst/>
          </a:prstGeom>
          <a:solidFill>
            <a:srgbClr val="37475A"/>
          </a:solidFill>
          <a:ln/>
        </p:spPr>
        <p:txBody>
          <a:bodyPr/>
          <a:lstStyle/>
          <a:p>
            <a:endParaRPr lang="en-UA"/>
          </a:p>
        </p:txBody>
      </p:sp>
      <p:pic>
        <p:nvPicPr>
          <p:cNvPr id="11" name="Image 0" descr="/home/claude/icons/plug_orange.png"/>
          <p:cNvPicPr>
            <a:picLocks noChangeAspect="1"/>
          </p:cNvPicPr>
          <p:nvPr/>
        </p:nvPicPr>
        <p:blipFill>
          <a:blip r:embed="rId3"/>
          <a:stretch>
            <a:fillRect/>
          </a:stretch>
        </p:blipFill>
        <p:spPr>
          <a:xfrm>
            <a:off x="7022592" y="1619467"/>
            <a:ext cx="219456" cy="219456"/>
          </a:xfrm>
          <a:prstGeom prst="rect">
            <a:avLst/>
          </a:prstGeom>
        </p:spPr>
      </p:pic>
      <p:sp>
        <p:nvSpPr>
          <p:cNvPr id="12" name="Text 9"/>
          <p:cNvSpPr txBox="1"/>
          <p:nvPr/>
        </p:nvSpPr>
        <p:spPr>
          <a:xfrm>
            <a:off x="7498080" y="1473163"/>
            <a:ext cx="4114800" cy="320040"/>
          </a:xfrm>
          <a:prstGeom prst="rect">
            <a:avLst/>
          </a:prstGeom>
          <a:noFill/>
          <a:ln/>
        </p:spPr>
        <p:txBody>
          <a:bodyPr wrap="square" rtlCol="0" anchor="ctr"/>
          <a:lstStyle/>
          <a:p>
            <a:pPr marL="0" indent="0">
              <a:buNone/>
            </a:pPr>
            <a:r>
              <a:rPr lang="en-US" sz="1250" b="1" dirty="0">
                <a:solidFill>
                  <a:srgbClr val="FF9900"/>
                </a:solidFill>
                <a:latin typeface="Consolas" pitchFamily="34" charset="0"/>
                <a:ea typeface="Consolas" pitchFamily="34" charset="-122"/>
                <a:cs typeface="Consolas" pitchFamily="34" charset="-120"/>
              </a:rPr>
              <a:t>Session</a:t>
            </a:r>
            <a:endParaRPr lang="en-US" sz="1250" dirty="0"/>
          </a:p>
        </p:txBody>
      </p:sp>
      <p:sp>
        <p:nvSpPr>
          <p:cNvPr id="13" name="Text 10"/>
          <p:cNvSpPr txBox="1"/>
          <p:nvPr/>
        </p:nvSpPr>
        <p:spPr>
          <a:xfrm>
            <a:off x="7498080" y="1793203"/>
            <a:ext cx="4114800" cy="685800"/>
          </a:xfrm>
          <a:prstGeom prst="rect">
            <a:avLst/>
          </a:prstGeom>
          <a:noFill/>
          <a:ln/>
        </p:spPr>
        <p:txBody>
          <a:bodyPr wrap="square" rtlCol="0" anchor="ctr"/>
          <a:lstStyle/>
          <a:p>
            <a:pPr marL="0" indent="0">
              <a:lnSpc>
                <a:spcPct val="120000"/>
              </a:lnSpc>
              <a:buNone/>
            </a:pPr>
            <a:r>
              <a:rPr lang="en-US" sz="1100" dirty="0">
                <a:solidFill>
                  <a:srgbClr val="E6EAF0"/>
                </a:solidFill>
                <a:latin typeface="Calibri" pitchFamily="34" charset="0"/>
                <a:ea typeface="Calibri" pitchFamily="34" charset="-122"/>
                <a:cs typeface="Calibri" pitchFamily="34" charset="-120"/>
              </a:rPr>
              <a:t>Створює сесію з обраним профілем і регіоном — звідси беруться облікові дані.</a:t>
            </a:r>
            <a:endParaRPr lang="en-US" sz="1100" dirty="0"/>
          </a:p>
        </p:txBody>
      </p:sp>
      <p:sp>
        <p:nvSpPr>
          <p:cNvPr id="14" name="Shape 11"/>
          <p:cNvSpPr/>
          <p:nvPr/>
        </p:nvSpPr>
        <p:spPr>
          <a:xfrm>
            <a:off x="6903720" y="2524723"/>
            <a:ext cx="457200" cy="457200"/>
          </a:xfrm>
          <a:prstGeom prst="ellipse">
            <a:avLst/>
          </a:prstGeom>
          <a:solidFill>
            <a:srgbClr val="37475A"/>
          </a:solidFill>
          <a:ln/>
        </p:spPr>
        <p:txBody>
          <a:bodyPr/>
          <a:lstStyle/>
          <a:p>
            <a:endParaRPr lang="en-UA"/>
          </a:p>
        </p:txBody>
      </p:sp>
      <p:pic>
        <p:nvPicPr>
          <p:cNvPr id="15" name="Image 1" descr="/home/claude/icons/key_orange.png"/>
          <p:cNvPicPr>
            <a:picLocks noChangeAspect="1"/>
          </p:cNvPicPr>
          <p:nvPr/>
        </p:nvPicPr>
        <p:blipFill>
          <a:blip r:embed="rId4"/>
          <a:stretch>
            <a:fillRect/>
          </a:stretch>
        </p:blipFill>
        <p:spPr>
          <a:xfrm>
            <a:off x="7022592" y="2643595"/>
            <a:ext cx="219456" cy="219456"/>
          </a:xfrm>
          <a:prstGeom prst="rect">
            <a:avLst/>
          </a:prstGeom>
        </p:spPr>
      </p:pic>
      <p:sp>
        <p:nvSpPr>
          <p:cNvPr id="16" name="Text 12"/>
          <p:cNvSpPr txBox="1"/>
          <p:nvPr/>
        </p:nvSpPr>
        <p:spPr>
          <a:xfrm>
            <a:off x="7498080" y="2497291"/>
            <a:ext cx="4114800" cy="320040"/>
          </a:xfrm>
          <a:prstGeom prst="rect">
            <a:avLst/>
          </a:prstGeom>
          <a:noFill/>
          <a:ln/>
        </p:spPr>
        <p:txBody>
          <a:bodyPr wrap="square" rtlCol="0" anchor="ctr"/>
          <a:lstStyle/>
          <a:p>
            <a:pPr marL="0" indent="0">
              <a:buNone/>
            </a:pPr>
            <a:r>
              <a:rPr lang="en-US" sz="1250" b="1" dirty="0">
                <a:solidFill>
                  <a:srgbClr val="FF9900"/>
                </a:solidFill>
                <a:latin typeface="Consolas" pitchFamily="34" charset="0"/>
                <a:ea typeface="Consolas" pitchFamily="34" charset="-122"/>
                <a:cs typeface="Consolas" pitchFamily="34" charset="-120"/>
              </a:rPr>
              <a:t>client("iam")</a:t>
            </a:r>
            <a:endParaRPr lang="en-US" sz="1250" dirty="0"/>
          </a:p>
        </p:txBody>
      </p:sp>
      <p:sp>
        <p:nvSpPr>
          <p:cNvPr id="17" name="Text 13"/>
          <p:cNvSpPr txBox="1"/>
          <p:nvPr/>
        </p:nvSpPr>
        <p:spPr>
          <a:xfrm>
            <a:off x="7498080" y="2817331"/>
            <a:ext cx="4114800" cy="685800"/>
          </a:xfrm>
          <a:prstGeom prst="rect">
            <a:avLst/>
          </a:prstGeom>
          <a:noFill/>
          <a:ln/>
        </p:spPr>
        <p:txBody>
          <a:bodyPr wrap="square" rtlCol="0" anchor="ctr"/>
          <a:lstStyle/>
          <a:p>
            <a:pPr marL="0" indent="0">
              <a:lnSpc>
                <a:spcPct val="120000"/>
              </a:lnSpc>
              <a:buNone/>
            </a:pPr>
            <a:r>
              <a:rPr lang="en-US" sz="1100" dirty="0">
                <a:solidFill>
                  <a:srgbClr val="E6EAF0"/>
                </a:solidFill>
                <a:latin typeface="Calibri" pitchFamily="34" charset="0"/>
                <a:ea typeface="Calibri" pitchFamily="34" charset="-122"/>
                <a:cs typeface="Calibri" pitchFamily="34" charset="-120"/>
              </a:rPr>
              <a:t>Створює клієнта для конкретного сервісу AWS — тут це IAM.</a:t>
            </a:r>
            <a:endParaRPr lang="en-US" sz="1100" dirty="0"/>
          </a:p>
        </p:txBody>
      </p:sp>
      <p:sp>
        <p:nvSpPr>
          <p:cNvPr id="18" name="Shape 14"/>
          <p:cNvSpPr/>
          <p:nvPr/>
        </p:nvSpPr>
        <p:spPr>
          <a:xfrm>
            <a:off x="6903720" y="3548851"/>
            <a:ext cx="457200" cy="457200"/>
          </a:xfrm>
          <a:prstGeom prst="ellipse">
            <a:avLst/>
          </a:prstGeom>
          <a:solidFill>
            <a:srgbClr val="37475A"/>
          </a:solidFill>
          <a:ln/>
        </p:spPr>
        <p:txBody>
          <a:bodyPr/>
          <a:lstStyle/>
          <a:p>
            <a:endParaRPr lang="en-UA"/>
          </a:p>
        </p:txBody>
      </p:sp>
      <p:pic>
        <p:nvPicPr>
          <p:cNvPr id="19" name="Image 2" descr="/home/claude/icons/signIn_orange.png"/>
          <p:cNvPicPr>
            <a:picLocks noChangeAspect="1"/>
          </p:cNvPicPr>
          <p:nvPr/>
        </p:nvPicPr>
        <p:blipFill>
          <a:blip r:embed="rId5"/>
          <a:stretch>
            <a:fillRect/>
          </a:stretch>
        </p:blipFill>
        <p:spPr>
          <a:xfrm>
            <a:off x="7022592" y="3667723"/>
            <a:ext cx="219456" cy="219456"/>
          </a:xfrm>
          <a:prstGeom prst="rect">
            <a:avLst/>
          </a:prstGeom>
        </p:spPr>
      </p:pic>
      <p:sp>
        <p:nvSpPr>
          <p:cNvPr id="20" name="Text 15"/>
          <p:cNvSpPr txBox="1"/>
          <p:nvPr/>
        </p:nvSpPr>
        <p:spPr>
          <a:xfrm>
            <a:off x="7498080" y="3521419"/>
            <a:ext cx="4114800" cy="320040"/>
          </a:xfrm>
          <a:prstGeom prst="rect">
            <a:avLst/>
          </a:prstGeom>
          <a:noFill/>
          <a:ln/>
        </p:spPr>
        <p:txBody>
          <a:bodyPr wrap="square" rtlCol="0" anchor="ctr"/>
          <a:lstStyle/>
          <a:p>
            <a:pPr marL="0" indent="0">
              <a:buNone/>
            </a:pPr>
            <a:r>
              <a:rPr lang="en-US" sz="1250" b="1" dirty="0">
                <a:solidFill>
                  <a:srgbClr val="FF9900"/>
                </a:solidFill>
                <a:latin typeface="Consolas" pitchFamily="34" charset="0"/>
                <a:ea typeface="Consolas" pitchFamily="34" charset="-122"/>
                <a:cs typeface="Consolas" pitchFamily="34" charset="-120"/>
              </a:rPr>
              <a:t>list_users()</a:t>
            </a:r>
            <a:endParaRPr lang="en-US" sz="1250" dirty="0"/>
          </a:p>
        </p:txBody>
      </p:sp>
      <p:sp>
        <p:nvSpPr>
          <p:cNvPr id="21" name="Text 16"/>
          <p:cNvSpPr txBox="1"/>
          <p:nvPr/>
        </p:nvSpPr>
        <p:spPr>
          <a:xfrm>
            <a:off x="7498080" y="3841459"/>
            <a:ext cx="4114800" cy="685800"/>
          </a:xfrm>
          <a:prstGeom prst="rect">
            <a:avLst/>
          </a:prstGeom>
          <a:noFill/>
          <a:ln/>
        </p:spPr>
        <p:txBody>
          <a:bodyPr wrap="square" rtlCol="0" anchor="ctr"/>
          <a:lstStyle/>
          <a:p>
            <a:pPr marL="0" indent="0">
              <a:lnSpc>
                <a:spcPct val="120000"/>
              </a:lnSpc>
              <a:buNone/>
            </a:pPr>
            <a:r>
              <a:rPr lang="en-US" sz="1100" dirty="0">
                <a:solidFill>
                  <a:srgbClr val="E6EAF0"/>
                </a:solidFill>
                <a:latin typeface="Calibri" pitchFamily="34" charset="0"/>
                <a:ea typeface="Calibri" pitchFamily="34" charset="-122"/>
                <a:cs typeface="Calibri" pitchFamily="34" charset="-120"/>
              </a:rPr>
              <a:t>Викликає відповідний метод API — точний аналог команди aws iam list-users.</a:t>
            </a:r>
            <a:endParaRPr lang="en-US" sz="1100" dirty="0"/>
          </a:p>
        </p:txBody>
      </p:sp>
      <p:sp>
        <p:nvSpPr>
          <p:cNvPr id="22" name="Shape 17"/>
          <p:cNvSpPr/>
          <p:nvPr/>
        </p:nvSpPr>
        <p:spPr>
          <a:xfrm>
            <a:off x="6903720" y="4572979"/>
            <a:ext cx="457200" cy="457200"/>
          </a:xfrm>
          <a:prstGeom prst="ellipse">
            <a:avLst/>
          </a:prstGeom>
          <a:solidFill>
            <a:srgbClr val="37475A"/>
          </a:solidFill>
          <a:ln/>
        </p:spPr>
        <p:txBody>
          <a:bodyPr/>
          <a:lstStyle/>
          <a:p>
            <a:endParaRPr lang="en-UA"/>
          </a:p>
        </p:txBody>
      </p:sp>
      <p:pic>
        <p:nvPicPr>
          <p:cNvPr id="23" name="Image 3" descr="/home/claude/icons/listAlt_orange.png"/>
          <p:cNvPicPr>
            <a:picLocks noChangeAspect="1"/>
          </p:cNvPicPr>
          <p:nvPr/>
        </p:nvPicPr>
        <p:blipFill>
          <a:blip r:embed="rId6"/>
          <a:stretch>
            <a:fillRect/>
          </a:stretch>
        </p:blipFill>
        <p:spPr>
          <a:xfrm>
            <a:off x="7022592" y="4691851"/>
            <a:ext cx="219456" cy="219456"/>
          </a:xfrm>
          <a:prstGeom prst="rect">
            <a:avLst/>
          </a:prstGeom>
        </p:spPr>
      </p:pic>
      <p:sp>
        <p:nvSpPr>
          <p:cNvPr id="24" name="Text 18"/>
          <p:cNvSpPr txBox="1"/>
          <p:nvPr/>
        </p:nvSpPr>
        <p:spPr>
          <a:xfrm>
            <a:off x="7498080" y="4545547"/>
            <a:ext cx="4114800" cy="320040"/>
          </a:xfrm>
          <a:prstGeom prst="rect">
            <a:avLst/>
          </a:prstGeom>
          <a:noFill/>
          <a:ln/>
        </p:spPr>
        <p:txBody>
          <a:bodyPr wrap="square" rtlCol="0" anchor="ctr"/>
          <a:lstStyle/>
          <a:p>
            <a:pPr marL="0" indent="0">
              <a:buNone/>
            </a:pPr>
            <a:r>
              <a:rPr lang="en-US" sz="1250" b="1" dirty="0">
                <a:solidFill>
                  <a:srgbClr val="FF9900"/>
                </a:solidFill>
                <a:latin typeface="Consolas" pitchFamily="34" charset="0"/>
                <a:ea typeface="Consolas" pitchFamily="34" charset="-122"/>
                <a:cs typeface="Consolas" pitchFamily="34" charset="-120"/>
              </a:rPr>
              <a:t>response["Users"]</a:t>
            </a:r>
            <a:endParaRPr lang="en-US" sz="1250" dirty="0"/>
          </a:p>
        </p:txBody>
      </p:sp>
      <p:sp>
        <p:nvSpPr>
          <p:cNvPr id="25" name="Text 19"/>
          <p:cNvSpPr txBox="1"/>
          <p:nvPr/>
        </p:nvSpPr>
        <p:spPr>
          <a:xfrm>
            <a:off x="7498080" y="4865587"/>
            <a:ext cx="4114800" cy="685800"/>
          </a:xfrm>
          <a:prstGeom prst="rect">
            <a:avLst/>
          </a:prstGeom>
          <a:noFill/>
          <a:ln/>
        </p:spPr>
        <p:txBody>
          <a:bodyPr wrap="square" rtlCol="0" anchor="ctr"/>
          <a:lstStyle/>
          <a:p>
            <a:pPr marL="0" indent="0">
              <a:lnSpc>
                <a:spcPct val="120000"/>
              </a:lnSpc>
              <a:buNone/>
            </a:pPr>
            <a:r>
              <a:rPr lang="en-US" sz="1100" dirty="0">
                <a:solidFill>
                  <a:srgbClr val="E6EAF0"/>
                </a:solidFill>
                <a:latin typeface="Calibri" pitchFamily="34" charset="0"/>
                <a:ea typeface="Calibri" pitchFamily="34" charset="-122"/>
                <a:cs typeface="Calibri" pitchFamily="34" charset="-120"/>
              </a:rPr>
              <a:t>Відповідь приходить як звичайний Python-словник, готовий для обробки.</a:t>
            </a:r>
            <a:endParaRPr lang="en-US" sz="1100" dirty="0"/>
          </a:p>
        </p:txBody>
      </p:sp>
      <p:sp>
        <p:nvSpPr>
          <p:cNvPr id="26" name="Text 20"/>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A9B7C6"/>
                </a:solidFill>
                <a:latin typeface="Calibri" pitchFamily="34" charset="0"/>
                <a:ea typeface="Calibri" pitchFamily="34" charset="-122"/>
                <a:cs typeface="Calibri" pitchFamily="34" charset="-120"/>
              </a:rPr>
              <a:t>AWS Console, CLI та SDK</a:t>
            </a:r>
            <a:endParaRPr lang="en-US" sz="1000" dirty="0"/>
          </a:p>
        </p:txBody>
      </p:sp>
      <p:sp>
        <p:nvSpPr>
          <p:cNvPr id="27" name="Text 2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A9B7C6"/>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3F3"/>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rtlCol="0" anchor="ctr"/>
          <a:lstStyle/>
          <a:p>
            <a:pPr marL="0" indent="0">
              <a:buNone/>
            </a:pPr>
            <a:r>
              <a:rPr lang="en-US" sz="1300" b="1" kern="0" spc="200" dirty="0">
                <a:solidFill>
                  <a:srgbClr val="FF9900"/>
                </a:solidFill>
                <a:latin typeface="Calibri" pitchFamily="34" charset="0"/>
                <a:ea typeface="Calibri" pitchFamily="34" charset="-122"/>
                <a:cs typeface="Calibri" pitchFamily="34" charset="-120"/>
              </a:rPr>
              <a:t>ПІДСУМОК</a:t>
            </a:r>
            <a:endParaRPr lang="en-US" sz="1300" dirty="0"/>
          </a:p>
        </p:txBody>
      </p:sp>
      <p:sp>
        <p:nvSpPr>
          <p:cNvPr id="3" name="Text 1"/>
          <p:cNvSpPr txBox="1"/>
          <p:nvPr/>
        </p:nvSpPr>
        <p:spPr>
          <a:xfrm>
            <a:off x="548640" y="749808"/>
            <a:ext cx="11064240" cy="822960"/>
          </a:xfrm>
          <a:prstGeom prst="rect">
            <a:avLst/>
          </a:prstGeom>
          <a:noFill/>
          <a:ln/>
        </p:spPr>
        <p:txBody>
          <a:bodyPr wrap="square" rtlCol="0" anchor="ctr"/>
          <a:lstStyle/>
          <a:p>
            <a:pPr marL="0" indent="0">
              <a:buNone/>
            </a:pPr>
            <a:r>
              <a:rPr lang="en-US" sz="3200" b="1" dirty="0">
                <a:solidFill>
                  <a:srgbClr val="16191F"/>
                </a:solidFill>
                <a:latin typeface="Cambria" pitchFamily="34" charset="0"/>
                <a:ea typeface="Cambria" pitchFamily="34" charset="-122"/>
                <a:cs typeface="Cambria" pitchFamily="34" charset="-120"/>
              </a:rPr>
              <a:t>Помилки авторизації та способи їх усунення</a:t>
            </a:r>
            <a:endParaRPr lang="en-US" sz="3200" dirty="0"/>
          </a:p>
        </p:txBody>
      </p:sp>
      <p:sp>
        <p:nvSpPr>
          <p:cNvPr id="4" name="Text 2"/>
          <p:cNvSpPr txBox="1"/>
          <p:nvPr/>
        </p:nvSpPr>
        <p:spPr>
          <a:xfrm>
            <a:off x="548640" y="1481328"/>
            <a:ext cx="10789920" cy="365760"/>
          </a:xfrm>
          <a:prstGeom prst="rect">
            <a:avLst/>
          </a:prstGeom>
          <a:noFill/>
          <a:ln/>
        </p:spPr>
        <p:txBody>
          <a:bodyPr wrap="square" rtlCol="0" anchor="ctr"/>
          <a:lstStyle/>
          <a:p>
            <a:pPr marL="0" indent="0">
              <a:buNone/>
            </a:pPr>
            <a:r>
              <a:rPr lang="en-US" sz="1300" i="1" dirty="0">
                <a:solidFill>
                  <a:srgbClr val="5A6674"/>
                </a:solidFill>
                <a:latin typeface="Calibri" pitchFamily="34" charset="0"/>
                <a:ea typeface="Calibri" pitchFamily="34" charset="-122"/>
                <a:cs typeface="Calibri" pitchFamily="34" charset="-120"/>
              </a:rPr>
              <a:t>Найпоширеніші помилки, з якими стикається кожен розробник на старті роботи з CLI чи SDK.</a:t>
            </a:r>
            <a:endParaRPr lang="en-US" sz="1300" dirty="0"/>
          </a:p>
        </p:txBody>
      </p:sp>
      <p:sp>
        <p:nvSpPr>
          <p:cNvPr id="5" name="Shape 3"/>
          <p:cNvSpPr/>
          <p:nvPr/>
        </p:nvSpPr>
        <p:spPr>
          <a:xfrm>
            <a:off x="548640" y="1965960"/>
            <a:ext cx="2651760" cy="457200"/>
          </a:xfrm>
          <a:prstGeom prst="rect">
            <a:avLst/>
          </a:prstGeom>
          <a:solidFill>
            <a:srgbClr val="232F3E"/>
          </a:solidFill>
          <a:ln w="6350">
            <a:solidFill>
              <a:srgbClr val="FFFFFF"/>
            </a:solidFill>
            <a:prstDash val="solid"/>
          </a:ln>
        </p:spPr>
        <p:txBody>
          <a:bodyPr/>
          <a:lstStyle/>
          <a:p>
            <a:endParaRPr lang="en-UA"/>
          </a:p>
        </p:txBody>
      </p:sp>
      <p:sp>
        <p:nvSpPr>
          <p:cNvPr id="6" name="Text 4"/>
          <p:cNvSpPr txBox="1"/>
          <p:nvPr/>
        </p:nvSpPr>
        <p:spPr>
          <a:xfrm>
            <a:off x="548640" y="1965960"/>
            <a:ext cx="2651760" cy="457200"/>
          </a:xfrm>
          <a:prstGeom prst="rect">
            <a:avLst/>
          </a:prstGeom>
          <a:noFill/>
          <a:ln/>
        </p:spPr>
        <p:txBody>
          <a:bodyPr wrap="square" lIns="137160" tIns="137160" rIns="137160" bIns="137160" rtlCol="0" anchor="ctr"/>
          <a:lstStyle/>
          <a:p>
            <a:pPr marL="0" indent="0" algn="l">
              <a:buNone/>
            </a:pPr>
            <a:r>
              <a:rPr lang="en-US" sz="1250" b="1" dirty="0">
                <a:solidFill>
                  <a:srgbClr val="FF9900"/>
                </a:solidFill>
                <a:latin typeface="Calibri" pitchFamily="34" charset="0"/>
                <a:ea typeface="Calibri" pitchFamily="34" charset="-122"/>
                <a:cs typeface="Calibri" pitchFamily="34" charset="-120"/>
              </a:rPr>
              <a:t>Помилка</a:t>
            </a:r>
            <a:endParaRPr lang="en-US" sz="1250" dirty="0"/>
          </a:p>
        </p:txBody>
      </p:sp>
      <p:sp>
        <p:nvSpPr>
          <p:cNvPr id="7" name="Shape 5"/>
          <p:cNvSpPr/>
          <p:nvPr/>
        </p:nvSpPr>
        <p:spPr>
          <a:xfrm>
            <a:off x="3200400" y="1965960"/>
            <a:ext cx="4114800" cy="457200"/>
          </a:xfrm>
          <a:prstGeom prst="rect">
            <a:avLst/>
          </a:prstGeom>
          <a:solidFill>
            <a:srgbClr val="232F3E"/>
          </a:solidFill>
          <a:ln w="6350">
            <a:solidFill>
              <a:srgbClr val="FFFFFF"/>
            </a:solidFill>
            <a:prstDash val="solid"/>
          </a:ln>
        </p:spPr>
        <p:txBody>
          <a:bodyPr/>
          <a:lstStyle/>
          <a:p>
            <a:endParaRPr lang="en-UA"/>
          </a:p>
        </p:txBody>
      </p:sp>
      <p:sp>
        <p:nvSpPr>
          <p:cNvPr id="8" name="Text 6"/>
          <p:cNvSpPr txBox="1"/>
          <p:nvPr/>
        </p:nvSpPr>
        <p:spPr>
          <a:xfrm>
            <a:off x="3200400" y="1965960"/>
            <a:ext cx="4114800" cy="457200"/>
          </a:xfrm>
          <a:prstGeom prst="rect">
            <a:avLst/>
          </a:prstGeom>
          <a:noFill/>
          <a:ln/>
        </p:spPr>
        <p:txBody>
          <a:bodyPr wrap="square" lIns="137160" tIns="137160" rIns="137160" bIns="13716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Причина</a:t>
            </a:r>
            <a:endParaRPr lang="en-US" sz="1250" dirty="0"/>
          </a:p>
        </p:txBody>
      </p:sp>
      <p:sp>
        <p:nvSpPr>
          <p:cNvPr id="9" name="Shape 7"/>
          <p:cNvSpPr/>
          <p:nvPr/>
        </p:nvSpPr>
        <p:spPr>
          <a:xfrm>
            <a:off x="7315200" y="1965960"/>
            <a:ext cx="4297680" cy="457200"/>
          </a:xfrm>
          <a:prstGeom prst="rect">
            <a:avLst/>
          </a:prstGeom>
          <a:solidFill>
            <a:srgbClr val="232F3E"/>
          </a:solidFill>
          <a:ln w="6350">
            <a:solidFill>
              <a:srgbClr val="FFFFFF"/>
            </a:solidFill>
            <a:prstDash val="solid"/>
          </a:ln>
        </p:spPr>
        <p:txBody>
          <a:bodyPr/>
          <a:lstStyle/>
          <a:p>
            <a:endParaRPr lang="en-UA"/>
          </a:p>
        </p:txBody>
      </p:sp>
      <p:sp>
        <p:nvSpPr>
          <p:cNvPr id="10" name="Text 8"/>
          <p:cNvSpPr txBox="1"/>
          <p:nvPr/>
        </p:nvSpPr>
        <p:spPr>
          <a:xfrm>
            <a:off x="7315200" y="1965960"/>
            <a:ext cx="4297680" cy="457200"/>
          </a:xfrm>
          <a:prstGeom prst="rect">
            <a:avLst/>
          </a:prstGeom>
          <a:noFill/>
          <a:ln/>
        </p:spPr>
        <p:txBody>
          <a:bodyPr wrap="square" lIns="137160" tIns="137160" rIns="137160" bIns="13716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Як усунути</a:t>
            </a:r>
            <a:endParaRPr lang="en-US" sz="1250" dirty="0"/>
          </a:p>
        </p:txBody>
      </p:sp>
      <p:sp>
        <p:nvSpPr>
          <p:cNvPr id="11" name="Shape 9"/>
          <p:cNvSpPr/>
          <p:nvPr/>
        </p:nvSpPr>
        <p:spPr>
          <a:xfrm>
            <a:off x="548640" y="2423160"/>
            <a:ext cx="2651760" cy="777240"/>
          </a:xfrm>
          <a:prstGeom prst="rect">
            <a:avLst/>
          </a:prstGeom>
          <a:solidFill>
            <a:srgbClr val="FFFFFF"/>
          </a:solidFill>
          <a:ln w="6350">
            <a:solidFill>
              <a:srgbClr val="E3E6EA"/>
            </a:solidFill>
            <a:prstDash val="solid"/>
          </a:ln>
        </p:spPr>
        <p:txBody>
          <a:bodyPr/>
          <a:lstStyle/>
          <a:p>
            <a:endParaRPr lang="en-UA"/>
          </a:p>
        </p:txBody>
      </p:sp>
      <p:sp>
        <p:nvSpPr>
          <p:cNvPr id="12" name="Text 10"/>
          <p:cNvSpPr txBox="1"/>
          <p:nvPr/>
        </p:nvSpPr>
        <p:spPr>
          <a:xfrm>
            <a:off x="548640" y="2423160"/>
            <a:ext cx="2651760" cy="777240"/>
          </a:xfrm>
          <a:prstGeom prst="rect">
            <a:avLst/>
          </a:prstGeom>
          <a:noFill/>
          <a:ln/>
        </p:spPr>
        <p:txBody>
          <a:bodyPr wrap="square" lIns="137160" tIns="137160" rIns="137160" bIns="137160" rtlCol="0" anchor="ctr"/>
          <a:lstStyle/>
          <a:p>
            <a:pPr marL="0" indent="0" algn="l">
              <a:lnSpc>
                <a:spcPct val="115000"/>
              </a:lnSpc>
              <a:buNone/>
            </a:pPr>
            <a:r>
              <a:rPr lang="en-US" sz="1100" b="1" dirty="0">
                <a:solidFill>
                  <a:srgbClr val="C0392B"/>
                </a:solidFill>
                <a:latin typeface="Consolas" pitchFamily="34" charset="0"/>
                <a:ea typeface="Consolas" pitchFamily="34" charset="-122"/>
                <a:cs typeface="Consolas" pitchFamily="34" charset="-120"/>
              </a:rPr>
              <a:t>AccessDenied</a:t>
            </a:r>
            <a:endParaRPr lang="en-US" sz="1100" dirty="0"/>
          </a:p>
        </p:txBody>
      </p:sp>
      <p:sp>
        <p:nvSpPr>
          <p:cNvPr id="13" name="Shape 11"/>
          <p:cNvSpPr/>
          <p:nvPr/>
        </p:nvSpPr>
        <p:spPr>
          <a:xfrm>
            <a:off x="3200400" y="2423160"/>
            <a:ext cx="4114800" cy="777240"/>
          </a:xfrm>
          <a:prstGeom prst="rect">
            <a:avLst/>
          </a:prstGeom>
          <a:solidFill>
            <a:srgbClr val="FFFFFF"/>
          </a:solidFill>
          <a:ln w="6350">
            <a:solidFill>
              <a:srgbClr val="E3E6EA"/>
            </a:solidFill>
            <a:prstDash val="solid"/>
          </a:ln>
        </p:spPr>
        <p:txBody>
          <a:bodyPr/>
          <a:lstStyle/>
          <a:p>
            <a:endParaRPr lang="en-UA"/>
          </a:p>
        </p:txBody>
      </p:sp>
      <p:sp>
        <p:nvSpPr>
          <p:cNvPr id="14" name="Text 12"/>
          <p:cNvSpPr txBox="1"/>
          <p:nvPr/>
        </p:nvSpPr>
        <p:spPr>
          <a:xfrm>
            <a:off x="3200400" y="2423160"/>
            <a:ext cx="4114800" cy="777240"/>
          </a:xfrm>
          <a:prstGeom prst="rect">
            <a:avLst/>
          </a:prstGeom>
          <a:noFill/>
          <a:ln/>
        </p:spPr>
        <p:txBody>
          <a:bodyPr wrap="square" lIns="137160" tIns="137160" rIns="137160" bIns="137160" rtlCol="0" anchor="ctr"/>
          <a:lstStyle/>
          <a:p>
            <a:pPr marL="0" indent="0" algn="l">
              <a:lnSpc>
                <a:spcPct val="115000"/>
              </a:lnSpc>
              <a:buNone/>
            </a:pPr>
            <a:r>
              <a:rPr lang="en-US" sz="1080" dirty="0">
                <a:solidFill>
                  <a:srgbClr val="16191F"/>
                </a:solidFill>
                <a:latin typeface="Calibri" pitchFamily="34" charset="0"/>
                <a:ea typeface="Calibri" pitchFamily="34" charset="-122"/>
                <a:cs typeface="Calibri" pitchFamily="34" charset="-120"/>
              </a:rPr>
              <a:t>У IAM-політики користувача немає дозволу на цю дію</a:t>
            </a:r>
            <a:endParaRPr lang="en-US" sz="1080" dirty="0"/>
          </a:p>
        </p:txBody>
      </p:sp>
      <p:sp>
        <p:nvSpPr>
          <p:cNvPr id="15" name="Shape 13"/>
          <p:cNvSpPr/>
          <p:nvPr/>
        </p:nvSpPr>
        <p:spPr>
          <a:xfrm>
            <a:off x="7315200" y="2423160"/>
            <a:ext cx="4297680" cy="777240"/>
          </a:xfrm>
          <a:prstGeom prst="rect">
            <a:avLst/>
          </a:prstGeom>
          <a:solidFill>
            <a:srgbClr val="FFFFFF"/>
          </a:solidFill>
          <a:ln w="6350">
            <a:solidFill>
              <a:srgbClr val="E3E6EA"/>
            </a:solidFill>
            <a:prstDash val="solid"/>
          </a:ln>
        </p:spPr>
        <p:txBody>
          <a:bodyPr/>
          <a:lstStyle/>
          <a:p>
            <a:endParaRPr lang="en-UA"/>
          </a:p>
        </p:txBody>
      </p:sp>
      <p:sp>
        <p:nvSpPr>
          <p:cNvPr id="16" name="Text 14"/>
          <p:cNvSpPr txBox="1"/>
          <p:nvPr/>
        </p:nvSpPr>
        <p:spPr>
          <a:xfrm>
            <a:off x="7315200" y="2423160"/>
            <a:ext cx="4297680" cy="777240"/>
          </a:xfrm>
          <a:prstGeom prst="rect">
            <a:avLst/>
          </a:prstGeom>
          <a:noFill/>
          <a:ln/>
        </p:spPr>
        <p:txBody>
          <a:bodyPr wrap="square" lIns="137160" tIns="137160" rIns="137160" bIns="137160" rtlCol="0" anchor="ctr"/>
          <a:lstStyle/>
          <a:p>
            <a:pPr marL="0" indent="0" algn="l">
              <a:lnSpc>
                <a:spcPct val="115000"/>
              </a:lnSpc>
              <a:buNone/>
            </a:pPr>
            <a:r>
              <a:rPr lang="en-US" sz="1080" dirty="0">
                <a:solidFill>
                  <a:srgbClr val="16191F"/>
                </a:solidFill>
                <a:latin typeface="Calibri" pitchFamily="34" charset="0"/>
                <a:ea typeface="Calibri" pitchFamily="34" charset="-122"/>
                <a:cs typeface="Calibri" pitchFamily="34" charset="-120"/>
              </a:rPr>
              <a:t>Перевірити й розширити політику; звернутись до принципу найменших привілеїв</a:t>
            </a:r>
            <a:endParaRPr lang="en-US" sz="1080" dirty="0"/>
          </a:p>
        </p:txBody>
      </p:sp>
      <p:sp>
        <p:nvSpPr>
          <p:cNvPr id="17" name="Shape 15"/>
          <p:cNvSpPr/>
          <p:nvPr/>
        </p:nvSpPr>
        <p:spPr>
          <a:xfrm>
            <a:off x="548640" y="3200400"/>
            <a:ext cx="2651760" cy="777240"/>
          </a:xfrm>
          <a:prstGeom prst="rect">
            <a:avLst/>
          </a:prstGeom>
          <a:solidFill>
            <a:srgbClr val="F2F3F3"/>
          </a:solidFill>
          <a:ln w="6350">
            <a:solidFill>
              <a:srgbClr val="E3E6EA"/>
            </a:solidFill>
            <a:prstDash val="solid"/>
          </a:ln>
        </p:spPr>
        <p:txBody>
          <a:bodyPr/>
          <a:lstStyle/>
          <a:p>
            <a:endParaRPr lang="en-UA"/>
          </a:p>
        </p:txBody>
      </p:sp>
      <p:sp>
        <p:nvSpPr>
          <p:cNvPr id="18" name="Text 16"/>
          <p:cNvSpPr txBox="1"/>
          <p:nvPr/>
        </p:nvSpPr>
        <p:spPr>
          <a:xfrm>
            <a:off x="548640" y="3200400"/>
            <a:ext cx="2651760" cy="777240"/>
          </a:xfrm>
          <a:prstGeom prst="rect">
            <a:avLst/>
          </a:prstGeom>
          <a:noFill/>
          <a:ln/>
        </p:spPr>
        <p:txBody>
          <a:bodyPr wrap="square" lIns="137160" tIns="137160" rIns="137160" bIns="137160" rtlCol="0" anchor="ctr"/>
          <a:lstStyle/>
          <a:p>
            <a:pPr marL="0" indent="0" algn="l">
              <a:lnSpc>
                <a:spcPct val="115000"/>
              </a:lnSpc>
              <a:buNone/>
            </a:pPr>
            <a:r>
              <a:rPr lang="en-US" sz="1100" b="1" dirty="0">
                <a:solidFill>
                  <a:srgbClr val="C0392B"/>
                </a:solidFill>
                <a:latin typeface="Consolas" pitchFamily="34" charset="0"/>
                <a:ea typeface="Consolas" pitchFamily="34" charset="-122"/>
                <a:cs typeface="Consolas" pitchFamily="34" charset="-120"/>
              </a:rPr>
              <a:t>InvalidClientTokenId</a:t>
            </a:r>
            <a:endParaRPr lang="en-US" sz="1100" dirty="0"/>
          </a:p>
        </p:txBody>
      </p:sp>
      <p:sp>
        <p:nvSpPr>
          <p:cNvPr id="19" name="Shape 17"/>
          <p:cNvSpPr/>
          <p:nvPr/>
        </p:nvSpPr>
        <p:spPr>
          <a:xfrm>
            <a:off x="3200400" y="3200400"/>
            <a:ext cx="4114800" cy="777240"/>
          </a:xfrm>
          <a:prstGeom prst="rect">
            <a:avLst/>
          </a:prstGeom>
          <a:solidFill>
            <a:srgbClr val="F2F3F3"/>
          </a:solidFill>
          <a:ln w="6350">
            <a:solidFill>
              <a:srgbClr val="E3E6EA"/>
            </a:solidFill>
            <a:prstDash val="solid"/>
          </a:ln>
        </p:spPr>
        <p:txBody>
          <a:bodyPr/>
          <a:lstStyle/>
          <a:p>
            <a:endParaRPr lang="en-UA"/>
          </a:p>
        </p:txBody>
      </p:sp>
      <p:sp>
        <p:nvSpPr>
          <p:cNvPr id="20" name="Text 18"/>
          <p:cNvSpPr txBox="1"/>
          <p:nvPr/>
        </p:nvSpPr>
        <p:spPr>
          <a:xfrm>
            <a:off x="3200400" y="3200400"/>
            <a:ext cx="4114800" cy="777240"/>
          </a:xfrm>
          <a:prstGeom prst="rect">
            <a:avLst/>
          </a:prstGeom>
          <a:noFill/>
          <a:ln/>
        </p:spPr>
        <p:txBody>
          <a:bodyPr wrap="square" lIns="137160" tIns="137160" rIns="137160" bIns="137160" rtlCol="0" anchor="ctr"/>
          <a:lstStyle/>
          <a:p>
            <a:pPr marL="0" indent="0" algn="l">
              <a:lnSpc>
                <a:spcPct val="115000"/>
              </a:lnSpc>
              <a:buNone/>
            </a:pPr>
            <a:r>
              <a:rPr lang="en-US" sz="1080" dirty="0">
                <a:solidFill>
                  <a:srgbClr val="16191F"/>
                </a:solidFill>
                <a:latin typeface="Calibri" pitchFamily="34" charset="0"/>
                <a:ea typeface="Calibri" pitchFamily="34" charset="-122"/>
                <a:cs typeface="Calibri" pitchFamily="34" charset="-120"/>
              </a:rPr>
              <a:t>Access Key ID не існує або введений з помилкою</a:t>
            </a:r>
            <a:endParaRPr lang="en-US" sz="1080" dirty="0"/>
          </a:p>
        </p:txBody>
      </p:sp>
      <p:sp>
        <p:nvSpPr>
          <p:cNvPr id="21" name="Shape 19"/>
          <p:cNvSpPr/>
          <p:nvPr/>
        </p:nvSpPr>
        <p:spPr>
          <a:xfrm>
            <a:off x="7315200" y="3200400"/>
            <a:ext cx="4297680" cy="777240"/>
          </a:xfrm>
          <a:prstGeom prst="rect">
            <a:avLst/>
          </a:prstGeom>
          <a:solidFill>
            <a:srgbClr val="F2F3F3"/>
          </a:solidFill>
          <a:ln w="6350">
            <a:solidFill>
              <a:srgbClr val="E3E6EA"/>
            </a:solidFill>
            <a:prstDash val="solid"/>
          </a:ln>
        </p:spPr>
        <p:txBody>
          <a:bodyPr/>
          <a:lstStyle/>
          <a:p>
            <a:endParaRPr lang="en-UA"/>
          </a:p>
        </p:txBody>
      </p:sp>
      <p:sp>
        <p:nvSpPr>
          <p:cNvPr id="22" name="Text 20"/>
          <p:cNvSpPr txBox="1"/>
          <p:nvPr/>
        </p:nvSpPr>
        <p:spPr>
          <a:xfrm>
            <a:off x="7315200" y="3200400"/>
            <a:ext cx="4297680" cy="777240"/>
          </a:xfrm>
          <a:prstGeom prst="rect">
            <a:avLst/>
          </a:prstGeom>
          <a:noFill/>
          <a:ln/>
        </p:spPr>
        <p:txBody>
          <a:bodyPr wrap="square" lIns="137160" tIns="137160" rIns="137160" bIns="137160" rtlCol="0" anchor="ctr"/>
          <a:lstStyle/>
          <a:p>
            <a:pPr marL="0" indent="0" algn="l">
              <a:lnSpc>
                <a:spcPct val="115000"/>
              </a:lnSpc>
              <a:buNone/>
            </a:pPr>
            <a:r>
              <a:rPr lang="en-US" sz="1080" dirty="0">
                <a:solidFill>
                  <a:srgbClr val="16191F"/>
                </a:solidFill>
                <a:latin typeface="Calibri" pitchFamily="34" charset="0"/>
                <a:ea typeface="Calibri" pitchFamily="34" charset="-122"/>
                <a:cs typeface="Calibri" pitchFamily="34" charset="-120"/>
              </a:rPr>
              <a:t>Перевірити ключ у ~/.aws/credentials; за потреби створити новий у консолі IAM</a:t>
            </a:r>
            <a:endParaRPr lang="en-US" sz="1080" dirty="0"/>
          </a:p>
        </p:txBody>
      </p:sp>
      <p:sp>
        <p:nvSpPr>
          <p:cNvPr id="23" name="Shape 21"/>
          <p:cNvSpPr/>
          <p:nvPr/>
        </p:nvSpPr>
        <p:spPr>
          <a:xfrm>
            <a:off x="548640" y="3977640"/>
            <a:ext cx="2651760" cy="777240"/>
          </a:xfrm>
          <a:prstGeom prst="rect">
            <a:avLst/>
          </a:prstGeom>
          <a:solidFill>
            <a:srgbClr val="FFFFFF"/>
          </a:solidFill>
          <a:ln w="6350">
            <a:solidFill>
              <a:srgbClr val="E3E6EA"/>
            </a:solidFill>
            <a:prstDash val="solid"/>
          </a:ln>
        </p:spPr>
        <p:txBody>
          <a:bodyPr/>
          <a:lstStyle/>
          <a:p>
            <a:endParaRPr lang="en-UA"/>
          </a:p>
        </p:txBody>
      </p:sp>
      <p:sp>
        <p:nvSpPr>
          <p:cNvPr id="24" name="Text 22"/>
          <p:cNvSpPr txBox="1"/>
          <p:nvPr/>
        </p:nvSpPr>
        <p:spPr>
          <a:xfrm>
            <a:off x="548640" y="3977640"/>
            <a:ext cx="2651760" cy="777240"/>
          </a:xfrm>
          <a:prstGeom prst="rect">
            <a:avLst/>
          </a:prstGeom>
          <a:noFill/>
          <a:ln/>
        </p:spPr>
        <p:txBody>
          <a:bodyPr wrap="square" lIns="137160" tIns="137160" rIns="137160" bIns="137160" rtlCol="0" anchor="ctr"/>
          <a:lstStyle/>
          <a:p>
            <a:pPr marL="0" indent="0" algn="l">
              <a:lnSpc>
                <a:spcPct val="115000"/>
              </a:lnSpc>
              <a:buNone/>
            </a:pPr>
            <a:r>
              <a:rPr lang="en-US" sz="1100" b="1" dirty="0">
                <a:solidFill>
                  <a:srgbClr val="C0392B"/>
                </a:solidFill>
                <a:latin typeface="Consolas" pitchFamily="34" charset="0"/>
                <a:ea typeface="Consolas" pitchFamily="34" charset="-122"/>
                <a:cs typeface="Consolas" pitchFamily="34" charset="-120"/>
              </a:rPr>
              <a:t>ExpiredToken</a:t>
            </a:r>
            <a:endParaRPr lang="en-US" sz="1100" dirty="0"/>
          </a:p>
        </p:txBody>
      </p:sp>
      <p:sp>
        <p:nvSpPr>
          <p:cNvPr id="25" name="Shape 23"/>
          <p:cNvSpPr/>
          <p:nvPr/>
        </p:nvSpPr>
        <p:spPr>
          <a:xfrm>
            <a:off x="3200400" y="3977640"/>
            <a:ext cx="4114800" cy="777240"/>
          </a:xfrm>
          <a:prstGeom prst="rect">
            <a:avLst/>
          </a:prstGeom>
          <a:solidFill>
            <a:srgbClr val="FFFFFF"/>
          </a:solidFill>
          <a:ln w="6350">
            <a:solidFill>
              <a:srgbClr val="E3E6EA"/>
            </a:solidFill>
            <a:prstDash val="solid"/>
          </a:ln>
        </p:spPr>
        <p:txBody>
          <a:bodyPr/>
          <a:lstStyle/>
          <a:p>
            <a:endParaRPr lang="en-UA"/>
          </a:p>
        </p:txBody>
      </p:sp>
      <p:sp>
        <p:nvSpPr>
          <p:cNvPr id="26" name="Text 24"/>
          <p:cNvSpPr txBox="1"/>
          <p:nvPr/>
        </p:nvSpPr>
        <p:spPr>
          <a:xfrm>
            <a:off x="3200400" y="3977640"/>
            <a:ext cx="4114800" cy="777240"/>
          </a:xfrm>
          <a:prstGeom prst="rect">
            <a:avLst/>
          </a:prstGeom>
          <a:noFill/>
          <a:ln/>
        </p:spPr>
        <p:txBody>
          <a:bodyPr wrap="square" lIns="137160" tIns="137160" rIns="137160" bIns="137160" rtlCol="0" anchor="ctr"/>
          <a:lstStyle/>
          <a:p>
            <a:pPr marL="0" indent="0" algn="l">
              <a:lnSpc>
                <a:spcPct val="115000"/>
              </a:lnSpc>
              <a:buNone/>
            </a:pPr>
            <a:r>
              <a:rPr lang="en-US" sz="1080" dirty="0">
                <a:solidFill>
                  <a:srgbClr val="16191F"/>
                </a:solidFill>
                <a:latin typeface="Calibri" pitchFamily="34" charset="0"/>
                <a:ea typeface="Calibri" pitchFamily="34" charset="-122"/>
                <a:cs typeface="Calibri" pitchFamily="34" charset="-120"/>
              </a:rPr>
              <a:t>Тимчасові облікові дані (сесійний токен) втратили чинність</a:t>
            </a:r>
            <a:endParaRPr lang="en-US" sz="1080" dirty="0"/>
          </a:p>
        </p:txBody>
      </p:sp>
      <p:sp>
        <p:nvSpPr>
          <p:cNvPr id="27" name="Shape 25"/>
          <p:cNvSpPr/>
          <p:nvPr/>
        </p:nvSpPr>
        <p:spPr>
          <a:xfrm>
            <a:off x="7315200" y="3977640"/>
            <a:ext cx="4297680" cy="777240"/>
          </a:xfrm>
          <a:prstGeom prst="rect">
            <a:avLst/>
          </a:prstGeom>
          <a:solidFill>
            <a:srgbClr val="FFFFFF"/>
          </a:solidFill>
          <a:ln w="6350">
            <a:solidFill>
              <a:srgbClr val="E3E6EA"/>
            </a:solidFill>
            <a:prstDash val="solid"/>
          </a:ln>
        </p:spPr>
        <p:txBody>
          <a:bodyPr/>
          <a:lstStyle/>
          <a:p>
            <a:endParaRPr lang="en-UA"/>
          </a:p>
        </p:txBody>
      </p:sp>
      <p:sp>
        <p:nvSpPr>
          <p:cNvPr id="28" name="Text 26"/>
          <p:cNvSpPr txBox="1"/>
          <p:nvPr/>
        </p:nvSpPr>
        <p:spPr>
          <a:xfrm>
            <a:off x="7315200" y="3977640"/>
            <a:ext cx="4297680" cy="777240"/>
          </a:xfrm>
          <a:prstGeom prst="rect">
            <a:avLst/>
          </a:prstGeom>
          <a:noFill/>
          <a:ln/>
        </p:spPr>
        <p:txBody>
          <a:bodyPr wrap="square" lIns="137160" tIns="137160" rIns="137160" bIns="137160" rtlCol="0" anchor="ctr"/>
          <a:lstStyle/>
          <a:p>
            <a:pPr marL="0" indent="0" algn="l">
              <a:lnSpc>
                <a:spcPct val="115000"/>
              </a:lnSpc>
              <a:buNone/>
            </a:pPr>
            <a:r>
              <a:rPr lang="en-US" sz="1080" dirty="0">
                <a:solidFill>
                  <a:srgbClr val="16191F"/>
                </a:solidFill>
                <a:latin typeface="Calibri" pitchFamily="34" charset="0"/>
                <a:ea typeface="Calibri" pitchFamily="34" charset="-122"/>
                <a:cs typeface="Calibri" pitchFamily="34" charset="-120"/>
              </a:rPr>
              <a:t>Отримати нові тимчасові дані повторним логіном або запитом до STS</a:t>
            </a:r>
            <a:endParaRPr lang="en-US" sz="1080" dirty="0"/>
          </a:p>
        </p:txBody>
      </p:sp>
      <p:sp>
        <p:nvSpPr>
          <p:cNvPr id="29" name="Shape 27"/>
          <p:cNvSpPr/>
          <p:nvPr/>
        </p:nvSpPr>
        <p:spPr>
          <a:xfrm>
            <a:off x="548640" y="4754880"/>
            <a:ext cx="2651760" cy="777240"/>
          </a:xfrm>
          <a:prstGeom prst="rect">
            <a:avLst/>
          </a:prstGeom>
          <a:solidFill>
            <a:srgbClr val="F2F3F3"/>
          </a:solidFill>
          <a:ln w="6350">
            <a:solidFill>
              <a:srgbClr val="E3E6EA"/>
            </a:solidFill>
            <a:prstDash val="solid"/>
          </a:ln>
        </p:spPr>
        <p:txBody>
          <a:bodyPr/>
          <a:lstStyle/>
          <a:p>
            <a:endParaRPr lang="en-UA"/>
          </a:p>
        </p:txBody>
      </p:sp>
      <p:sp>
        <p:nvSpPr>
          <p:cNvPr id="30" name="Text 28"/>
          <p:cNvSpPr txBox="1"/>
          <p:nvPr/>
        </p:nvSpPr>
        <p:spPr>
          <a:xfrm>
            <a:off x="548640" y="4754880"/>
            <a:ext cx="2651760" cy="777240"/>
          </a:xfrm>
          <a:prstGeom prst="rect">
            <a:avLst/>
          </a:prstGeom>
          <a:noFill/>
          <a:ln/>
        </p:spPr>
        <p:txBody>
          <a:bodyPr wrap="square" lIns="137160" tIns="137160" rIns="137160" bIns="137160" rtlCol="0" anchor="ctr"/>
          <a:lstStyle/>
          <a:p>
            <a:pPr marL="0" indent="0" algn="l">
              <a:lnSpc>
                <a:spcPct val="115000"/>
              </a:lnSpc>
              <a:buNone/>
            </a:pPr>
            <a:r>
              <a:rPr lang="en-US" sz="1100" b="1" dirty="0">
                <a:solidFill>
                  <a:srgbClr val="C0392B"/>
                </a:solidFill>
                <a:latin typeface="Consolas" pitchFamily="34" charset="0"/>
                <a:ea typeface="Consolas" pitchFamily="34" charset="-122"/>
                <a:cs typeface="Consolas" pitchFamily="34" charset="-120"/>
              </a:rPr>
              <a:t>SignatureDoesNotMatch</a:t>
            </a:r>
            <a:endParaRPr lang="en-US" sz="1100" dirty="0"/>
          </a:p>
        </p:txBody>
      </p:sp>
      <p:sp>
        <p:nvSpPr>
          <p:cNvPr id="31" name="Shape 29"/>
          <p:cNvSpPr/>
          <p:nvPr/>
        </p:nvSpPr>
        <p:spPr>
          <a:xfrm>
            <a:off x="3200400" y="4754880"/>
            <a:ext cx="4114800" cy="777240"/>
          </a:xfrm>
          <a:prstGeom prst="rect">
            <a:avLst/>
          </a:prstGeom>
          <a:solidFill>
            <a:srgbClr val="F2F3F3"/>
          </a:solidFill>
          <a:ln w="6350">
            <a:solidFill>
              <a:srgbClr val="E3E6EA"/>
            </a:solidFill>
            <a:prstDash val="solid"/>
          </a:ln>
        </p:spPr>
        <p:txBody>
          <a:bodyPr/>
          <a:lstStyle/>
          <a:p>
            <a:endParaRPr lang="en-UA"/>
          </a:p>
        </p:txBody>
      </p:sp>
      <p:sp>
        <p:nvSpPr>
          <p:cNvPr id="32" name="Text 30"/>
          <p:cNvSpPr txBox="1"/>
          <p:nvPr/>
        </p:nvSpPr>
        <p:spPr>
          <a:xfrm>
            <a:off x="3200400" y="4754880"/>
            <a:ext cx="4114800" cy="777240"/>
          </a:xfrm>
          <a:prstGeom prst="rect">
            <a:avLst/>
          </a:prstGeom>
          <a:noFill/>
          <a:ln/>
        </p:spPr>
        <p:txBody>
          <a:bodyPr wrap="square" lIns="137160" tIns="137160" rIns="137160" bIns="137160" rtlCol="0" anchor="ctr"/>
          <a:lstStyle/>
          <a:p>
            <a:pPr marL="0" indent="0" algn="l">
              <a:lnSpc>
                <a:spcPct val="115000"/>
              </a:lnSpc>
              <a:buNone/>
            </a:pPr>
            <a:r>
              <a:rPr lang="en-US" sz="1080" dirty="0">
                <a:solidFill>
                  <a:srgbClr val="16191F"/>
                </a:solidFill>
                <a:latin typeface="Calibri" pitchFamily="34" charset="0"/>
                <a:ea typeface="Calibri" pitchFamily="34" charset="-122"/>
                <a:cs typeface="Calibri" pitchFamily="34" charset="-120"/>
              </a:rPr>
              <a:t>Secret Access Key некоректний або має зайві пробіли</a:t>
            </a:r>
            <a:endParaRPr lang="en-US" sz="1080" dirty="0"/>
          </a:p>
        </p:txBody>
      </p:sp>
      <p:sp>
        <p:nvSpPr>
          <p:cNvPr id="33" name="Shape 31"/>
          <p:cNvSpPr/>
          <p:nvPr/>
        </p:nvSpPr>
        <p:spPr>
          <a:xfrm>
            <a:off x="7315200" y="4754880"/>
            <a:ext cx="4297680" cy="777240"/>
          </a:xfrm>
          <a:prstGeom prst="rect">
            <a:avLst/>
          </a:prstGeom>
          <a:solidFill>
            <a:srgbClr val="F2F3F3"/>
          </a:solidFill>
          <a:ln w="6350">
            <a:solidFill>
              <a:srgbClr val="E3E6EA"/>
            </a:solidFill>
            <a:prstDash val="solid"/>
          </a:ln>
        </p:spPr>
        <p:txBody>
          <a:bodyPr/>
          <a:lstStyle/>
          <a:p>
            <a:endParaRPr lang="en-UA"/>
          </a:p>
        </p:txBody>
      </p:sp>
      <p:sp>
        <p:nvSpPr>
          <p:cNvPr id="34" name="Text 32"/>
          <p:cNvSpPr txBox="1"/>
          <p:nvPr/>
        </p:nvSpPr>
        <p:spPr>
          <a:xfrm>
            <a:off x="7315200" y="4754880"/>
            <a:ext cx="4297680" cy="777240"/>
          </a:xfrm>
          <a:prstGeom prst="rect">
            <a:avLst/>
          </a:prstGeom>
          <a:noFill/>
          <a:ln/>
        </p:spPr>
        <p:txBody>
          <a:bodyPr wrap="square" lIns="137160" tIns="137160" rIns="137160" bIns="137160" rtlCol="0" anchor="ctr"/>
          <a:lstStyle/>
          <a:p>
            <a:pPr marL="0" indent="0" algn="l">
              <a:lnSpc>
                <a:spcPct val="115000"/>
              </a:lnSpc>
              <a:buNone/>
            </a:pPr>
            <a:r>
              <a:rPr lang="en-US" sz="1080" dirty="0">
                <a:solidFill>
                  <a:srgbClr val="16191F"/>
                </a:solidFill>
                <a:latin typeface="Calibri" pitchFamily="34" charset="0"/>
                <a:ea typeface="Calibri" pitchFamily="34" charset="-122"/>
                <a:cs typeface="Calibri" pitchFamily="34" charset="-120"/>
              </a:rPr>
              <a:t>Перестворити профіль через aws configure, уважно скопіювавши ключ</a:t>
            </a:r>
            <a:endParaRPr lang="en-US" sz="1080" dirty="0"/>
          </a:p>
        </p:txBody>
      </p:sp>
      <p:sp>
        <p:nvSpPr>
          <p:cNvPr id="35" name="Shape 33"/>
          <p:cNvSpPr/>
          <p:nvPr/>
        </p:nvSpPr>
        <p:spPr>
          <a:xfrm>
            <a:off x="548640" y="5760720"/>
            <a:ext cx="11064240" cy="594360"/>
          </a:xfrm>
          <a:prstGeom prst="roundRect">
            <a:avLst>
              <a:gd name="adj" fmla="val 15385"/>
            </a:avLst>
          </a:prstGeom>
          <a:solidFill>
            <a:srgbClr val="232F3E"/>
          </a:solidFill>
          <a:ln/>
        </p:spPr>
        <p:txBody>
          <a:bodyPr/>
          <a:lstStyle/>
          <a:p>
            <a:endParaRPr lang="en-UA"/>
          </a:p>
        </p:txBody>
      </p:sp>
      <p:pic>
        <p:nvPicPr>
          <p:cNvPr id="36" name="Image 0" descr="/home/claude/icons/bug_orange.png"/>
          <p:cNvPicPr>
            <a:picLocks noChangeAspect="1"/>
          </p:cNvPicPr>
          <p:nvPr/>
        </p:nvPicPr>
        <p:blipFill>
          <a:blip r:embed="rId3"/>
          <a:stretch>
            <a:fillRect/>
          </a:stretch>
        </p:blipFill>
        <p:spPr>
          <a:xfrm>
            <a:off x="822960" y="5897880"/>
            <a:ext cx="320040" cy="320040"/>
          </a:xfrm>
          <a:prstGeom prst="rect">
            <a:avLst/>
          </a:prstGeom>
        </p:spPr>
      </p:pic>
      <p:sp>
        <p:nvSpPr>
          <p:cNvPr id="37" name="Text 34"/>
          <p:cNvSpPr txBox="1"/>
          <p:nvPr/>
        </p:nvSpPr>
        <p:spPr>
          <a:xfrm>
            <a:off x="1325880" y="5760720"/>
            <a:ext cx="10058400" cy="594360"/>
          </a:xfrm>
          <a:prstGeom prst="rect">
            <a:avLst/>
          </a:prstGeom>
          <a:noFill/>
          <a:ln/>
        </p:spPr>
        <p:txBody>
          <a:bodyPr wrap="square"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Порада: додайте прапорець --debug до будь-якої CLI-команди, щоб побачити повний запит і відповідь AWS для діагностики.</a:t>
            </a:r>
            <a:endParaRPr lang="en-US" sz="1150" dirty="0"/>
          </a:p>
        </p:txBody>
      </p:sp>
      <p:sp>
        <p:nvSpPr>
          <p:cNvPr id="38" name="Text 35"/>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674"/>
                </a:solidFill>
                <a:latin typeface="Calibri" pitchFamily="34" charset="0"/>
                <a:ea typeface="Calibri" pitchFamily="34" charset="-122"/>
                <a:cs typeface="Calibri" pitchFamily="34" charset="-120"/>
              </a:rPr>
              <a:t>AWS Console, CLI та SDK</a:t>
            </a:r>
            <a:endParaRPr lang="en-US" sz="1000" dirty="0"/>
          </a:p>
        </p:txBody>
      </p:sp>
      <p:sp>
        <p:nvSpPr>
          <p:cNvPr id="39" name="Text 3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A667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2706</Words>
  <Application>Microsoft Macintosh PowerPoint</Application>
  <PresentationFormat>Widescreen</PresentationFormat>
  <Paragraphs>202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Дмитро Штефан</cp:lastModifiedBy>
  <cp:revision>2</cp:revision>
  <dcterms:created xsi:type="dcterms:W3CDTF">2026-09-19T11:53:25Z</dcterms:created>
  <dcterms:modified xsi:type="dcterms:W3CDTF">2026-09-19T15:55:54Z</dcterms:modified>
</cp:coreProperties>
</file>