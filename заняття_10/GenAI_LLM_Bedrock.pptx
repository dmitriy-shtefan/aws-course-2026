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и Generative AI та LLM" id="{AD64AC77-45FF-105C-84F1-C3BC63C62AF8}">
          <p14:sldIdLst>
            <p14:sldId id="256"/>
            <p14:sldId id="257"/>
            <p14:sldId id="258"/>
            <p14:sldId id="259"/>
            <p14:sldId id="260"/>
          </p14:sldIdLst>
        </p14:section>
        <p14:section name="Prompt та inference parameters" id="{89F5417F-F25B-374D-C1B9-A724523EF3FD}">
          <p14:sldIdLst>
            <p14:sldId id="261"/>
            <p14:sldId id="262"/>
          </p14:sldIdLst>
        </p14:section>
        <p14:section name="Amazon Bedrock на практиці" id="{CB0DCD07-4AD0-4F3A-E291-63625FE819C9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44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4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Вітаю! Сьогодні ми розберемося, як працюють великі мовні моделі, і навчимося викликати їх із власного Python-коду. Подивіться на схему справа: ваш застосунок надсилає запит до Amazon Bedrock, Bedrock передає його foundation model, а назад ми отримуємо текст і кількість витрачених tokens. Саме цей шлях ми пройдемо на практиці наприкінці заняття.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Спочатку про цілі. До кінця заняття ви вмієте три речі: пояснити, як працює LLM; написати структурований prompt і підібрати параметри генерації; викликати модель в Amazon Bedrock через boto3. А тепер питання до групи: де ви вже зустрічали генеративний ШІ? Чат-боти підтримки, підсумки листів, помічники в IDE, переклад. Усе це побудовано на тих самих принципах, які ми сьогодні розбираємо.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Почнемо з карти понять. Штучний інтелект — найширше поняття. Усередині нього машинне навчання, всередині нього глибоке навчання, а Generative AI — це та частина, яка не просто розпізнає, а створює новий контент. LLM — найвідоміший приклад: це модель, яка працює з текстом. Foundation model — це велика універсальна модель, навчена наперед; саме такі моделі нам надає Amazon Bedrock.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про те, як модель відповідає. Prompt розрізається на tokens — це частини слів. Далі модель для кожного наступного token оцінює ймовірності: на слайді приклад для фрази «Столиця України —». Найімовірніше слово — «Київ». Вибраний token додається до тексту, і весь цикл повторюється. Тобто модель не відкриває базу фактів, а дописує найправдоподібніше продовження. Запам'ятайте цю думку: вона пояснює наступний слайд про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Hallucination — це коли модель видає правдоподібну, але неправдиву відповідь. Подивіться на приклад: ми просимо статтю з посиланням, і модель із повною впевненістю вигадує і назву, і автора, і адресу. Це не «баг»: так працює дописування найправдоподібнішого тексту. Тому правило просте: факти, цифри та джерела перевіряємо. Найкращий захист — дати моделі власні перевірені дані в prompt і залишити остаточне рішення людині.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prompt — це не магічна фраза, а структура. П'ять елементів: задача, контекст, обмеження, формат відповіді і, за потреби, приклад. Праворуч бачите, як вони складаються в один prompt. Приклад додаємо лише тоді, коли він справді допомагає: наприклад, коли треба показати точний стиль. Інакше він може зайво «прив'язати» модель. Вправа для групи: візьміть будь-який свій старий запит і розкладіть його на ці п'ять частин.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Inference parameters — це «ручки», якими ми керуємо генерацією. Найвідоміша — temperature. Низьке значення робить відповіді стабільними й точними, високе — різноманітнішими та творчішими. top_p обмежує пул кандидатів для вибору. maxTokens задає межу довжини відповіді, а stopSequences — коли зупинитися. Практична порада: змінюйте один параметр за раз, інакше ви не зрозумієте, що саме вплинуло на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Bedrock — це керований сервіс: ви не піднімаєте GPU й не розгортаєте модель, а звертаєтеся до неї через API. Крізь один сервіс доступні моделі різних провайдерів, наприклад Anthropic, Amazon, Meta, Mistral. Як обрати? П'ять критеріїв: задача, якість, швидкість, розмір context і вартість. Не існує «найкращої» моделі взагалі: для простої класифікації часто достатньо меншої й дешевшої, а для складних міркувань потрібна потужніша.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Переходимо до практики. Крок 1: створюємо клієнт bedrock-runtime — це клієнт саме для викликів моделей. Крок 2: викликаємо метод converse і передаємо model ID, повідомлення з нашим prompt та inferenceConfig із трьома параметрами, які ми щойно вивчили. Крок 3: текст лежить у response → output → message → content. Крок 4: окремо виводимо usage — там кількість tokens, вона знадобиться на наступному слайді. Важливо: model ID беріть із каталогу моделей у консолі Bedrock; для деяких моделей потрібен ID inference profile з префіксом регіону. І перевірте, що модель доступна у вашому регіоні й акаунті.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Остання тема — гроші. Bedrock рахує вартість за кількістю tokens: окремо на вході (ваш prompt) і окремо на виході (відповідь моделі). Output tokens зазвичай дорожчі за input, тому довга відповідь коштує більше. На слайді розрахунок на умовних цінах: один запит коштує менше цента, але на десять тисяч запитів набігає майже сто доларів. Звідси практичні висновки: скорочуйте prompt, обмежуйте maxTokens, для простих задач беріть меншу модель і стежте за полем usage. Домашнє завдання: запустіть скрипт із temperature 0.0 і 1.0 та порівняйте відповіді і кількість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9164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4340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916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Generative AI, LLM та Amazon Bedrock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43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Від prompt до виклику foundation model через Python SDK</a:t>
            </a:r>
            <a:endParaRPr lang="en-US" sz="2000" dirty="0"/>
          </a:p>
        </p:txBody>
      </p:sp>
      <p:sp>
        <p:nvSpPr>
          <p:cNvPr id="4" name="text-1"/>
          <p:cNvSpPr txBox="1"/>
          <p:nvPr/>
        </p:nvSpPr>
        <p:spPr>
          <a:xfrm>
            <a:off x="7315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" name="panel-2"/>
          <p:cNvSpPr/>
          <p:nvPr/>
        </p:nvSpPr>
        <p:spPr>
          <a:xfrm>
            <a:off x="7772400" y="86868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icon-circle-3"/>
          <p:cNvSpPr/>
          <p:nvPr/>
        </p:nvSpPr>
        <p:spPr>
          <a:xfrm>
            <a:off x="7955280" y="10287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con-4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188720"/>
            <a:ext cx="320040" cy="320040"/>
          </a:xfrm>
          <a:prstGeom prst="rect">
            <a:avLst/>
          </a:prstGeom>
        </p:spPr>
      </p:pic>
      <p:sp>
        <p:nvSpPr>
          <p:cNvPr id="8" name="text-5"/>
          <p:cNvSpPr txBox="1"/>
          <p:nvPr/>
        </p:nvSpPr>
        <p:spPr>
          <a:xfrm>
            <a:off x="8778240" y="1024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Ваш застосунок</a:t>
            </a:r>
            <a:endParaRPr lang="en-US" sz="1800" dirty="0"/>
          </a:p>
        </p:txBody>
      </p:sp>
      <p:sp>
        <p:nvSpPr>
          <p:cNvPr id="9" name="text-6"/>
          <p:cNvSpPr txBox="1"/>
          <p:nvPr/>
        </p:nvSpPr>
        <p:spPr>
          <a:xfrm>
            <a:off x="877824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Python + boto3</a:t>
            </a:r>
            <a:endParaRPr lang="en-US" sz="1400" dirty="0"/>
          </a:p>
        </p:txBody>
      </p:sp>
      <p:sp>
        <p:nvSpPr>
          <p:cNvPr id="10" name="arrow-7"/>
          <p:cNvSpPr/>
          <p:nvPr/>
        </p:nvSpPr>
        <p:spPr>
          <a:xfrm>
            <a:off x="8275320" y="187452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1" name="panel-8"/>
          <p:cNvSpPr/>
          <p:nvPr/>
        </p:nvSpPr>
        <p:spPr>
          <a:xfrm>
            <a:off x="7772400" y="228600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icon-circle-9"/>
          <p:cNvSpPr/>
          <p:nvPr/>
        </p:nvSpPr>
        <p:spPr>
          <a:xfrm>
            <a:off x="7955280" y="24460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con-10" descr="Clou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606040"/>
            <a:ext cx="320040" cy="320040"/>
          </a:xfrm>
          <a:prstGeom prst="rect">
            <a:avLst/>
          </a:prstGeom>
        </p:spPr>
      </p:pic>
      <p:sp>
        <p:nvSpPr>
          <p:cNvPr id="14" name="text-11"/>
          <p:cNvSpPr txBox="1"/>
          <p:nvPr/>
        </p:nvSpPr>
        <p:spPr>
          <a:xfrm>
            <a:off x="8778240" y="2441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Amazon Bedrock</a:t>
            </a:r>
            <a:endParaRPr lang="en-US" sz="1800" dirty="0"/>
          </a:p>
        </p:txBody>
      </p:sp>
      <p:sp>
        <p:nvSpPr>
          <p:cNvPr id="15" name="text-12"/>
          <p:cNvSpPr txBox="1"/>
          <p:nvPr/>
        </p:nvSpPr>
        <p:spPr>
          <a:xfrm>
            <a:off x="877824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Керований доступ до моделей</a:t>
            </a:r>
            <a:endParaRPr lang="en-US" sz="1400" dirty="0"/>
          </a:p>
        </p:txBody>
      </p:sp>
      <p:sp>
        <p:nvSpPr>
          <p:cNvPr id="16" name="arrow-13"/>
          <p:cNvSpPr/>
          <p:nvPr/>
        </p:nvSpPr>
        <p:spPr>
          <a:xfrm>
            <a:off x="8275320" y="329184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7" name="panel-14"/>
          <p:cNvSpPr/>
          <p:nvPr/>
        </p:nvSpPr>
        <p:spPr>
          <a:xfrm>
            <a:off x="7772400" y="370332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icon-circle-15"/>
          <p:cNvSpPr/>
          <p:nvPr/>
        </p:nvSpPr>
        <p:spPr>
          <a:xfrm>
            <a:off x="7955280" y="38633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9" name="icon-16" descr="Brai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4023360"/>
            <a:ext cx="320040" cy="320040"/>
          </a:xfrm>
          <a:prstGeom prst="rect">
            <a:avLst/>
          </a:prstGeom>
        </p:spPr>
      </p:pic>
      <p:sp>
        <p:nvSpPr>
          <p:cNvPr id="20" name="text-17"/>
          <p:cNvSpPr txBox="1"/>
          <p:nvPr/>
        </p:nvSpPr>
        <p:spPr>
          <a:xfrm>
            <a:off x="8778240" y="3858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Foundation model</a:t>
            </a:r>
            <a:endParaRPr lang="en-US" sz="1800" dirty="0"/>
          </a:p>
        </p:txBody>
      </p:sp>
      <p:sp>
        <p:nvSpPr>
          <p:cNvPr id="21" name="text-18"/>
          <p:cNvSpPr txBox="1"/>
          <p:nvPr/>
        </p:nvSpPr>
        <p:spPr>
          <a:xfrm>
            <a:off x="8778240" y="4206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LLM генерує текст</a:t>
            </a:r>
            <a:endParaRPr lang="en-US" sz="1400" dirty="0"/>
          </a:p>
        </p:txBody>
      </p:sp>
      <p:sp>
        <p:nvSpPr>
          <p:cNvPr id="22" name="arrow-19"/>
          <p:cNvSpPr/>
          <p:nvPr/>
        </p:nvSpPr>
        <p:spPr>
          <a:xfrm>
            <a:off x="8275320" y="470916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3" name="panel-20"/>
          <p:cNvSpPr/>
          <p:nvPr/>
        </p:nvSpPr>
        <p:spPr>
          <a:xfrm>
            <a:off x="7772400" y="51206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icon-circle-21"/>
          <p:cNvSpPr/>
          <p:nvPr/>
        </p:nvSpPr>
        <p:spPr>
          <a:xfrm>
            <a:off x="7955280" y="52806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con-22" descr="Comment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5440680"/>
            <a:ext cx="320040" cy="320040"/>
          </a:xfrm>
          <a:prstGeom prst="rect">
            <a:avLst/>
          </a:prstGeom>
        </p:spPr>
      </p:pic>
      <p:sp>
        <p:nvSpPr>
          <p:cNvPr id="26" name="text-23"/>
          <p:cNvSpPr txBox="1"/>
          <p:nvPr/>
        </p:nvSpPr>
        <p:spPr>
          <a:xfrm>
            <a:off x="8778240" y="5276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Відповідь</a:t>
            </a:r>
            <a:endParaRPr lang="en-US" sz="1800" dirty="0"/>
          </a:p>
        </p:txBody>
      </p:sp>
      <p:sp>
        <p:nvSpPr>
          <p:cNvPr id="27" name="text-24"/>
          <p:cNvSpPr txBox="1"/>
          <p:nvPr/>
        </p:nvSpPr>
        <p:spPr>
          <a:xfrm>
            <a:off x="8778240" y="5623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Текст і кількість tokens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Задачі заняття та зв'язок із життям</a:t>
            </a:r>
            <a:endParaRPr lang="en-US" sz="3400" dirty="0"/>
          </a:p>
        </p:txBody>
      </p:sp>
      <p:sp>
        <p:nvSpPr>
          <p:cNvPr id="3" name="panel-25"/>
          <p:cNvSpPr/>
          <p:nvPr/>
        </p:nvSpPr>
        <p:spPr>
          <a:xfrm>
            <a:off x="548640" y="141732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num-26"/>
          <p:cNvSpPr txBox="1"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-27"/>
          <p:cNvSpPr txBox="1"/>
          <p:nvPr/>
        </p:nvSpPr>
        <p:spPr>
          <a:xfrm>
            <a:off x="777240" y="233172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Розібрати основні поняття Generative AI та принцип роботи LLM</a:t>
            </a:r>
            <a:endParaRPr lang="en-US" sz="1600" dirty="0"/>
          </a:p>
        </p:txBody>
      </p:sp>
      <p:sp>
        <p:nvSpPr>
          <p:cNvPr id="6" name="panel-28"/>
          <p:cNvSpPr/>
          <p:nvPr/>
        </p:nvSpPr>
        <p:spPr>
          <a:xfrm>
            <a:off x="4307738" y="141732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num-29"/>
          <p:cNvSpPr txBox="1"/>
          <p:nvPr/>
        </p:nvSpPr>
        <p:spPr>
          <a:xfrm>
            <a:off x="4536338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-30"/>
          <p:cNvSpPr txBox="1"/>
          <p:nvPr/>
        </p:nvSpPr>
        <p:spPr>
          <a:xfrm>
            <a:off x="4536338" y="233172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Навчитися структурувати prompt і змінювати inference parameters</a:t>
            </a:r>
            <a:endParaRPr lang="en-US" sz="1600" dirty="0"/>
          </a:p>
        </p:txBody>
      </p:sp>
      <p:sp>
        <p:nvSpPr>
          <p:cNvPr id="9" name="panel-31"/>
          <p:cNvSpPr/>
          <p:nvPr/>
        </p:nvSpPr>
        <p:spPr>
          <a:xfrm>
            <a:off x="8066837" y="141732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num-32"/>
          <p:cNvSpPr txBox="1"/>
          <p:nvPr/>
        </p:nvSpPr>
        <p:spPr>
          <a:xfrm>
            <a:off x="8295437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-33"/>
          <p:cNvSpPr txBox="1"/>
          <p:nvPr/>
        </p:nvSpPr>
        <p:spPr>
          <a:xfrm>
            <a:off x="8295437" y="233172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Викликати foundation model в Amazon Bedrock через Python SDK</a:t>
            </a:r>
            <a:endParaRPr lang="en-US" sz="1600" dirty="0"/>
          </a:p>
        </p:txBody>
      </p:sp>
      <p:sp>
        <p:nvSpPr>
          <p:cNvPr id="12" name="text-34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Зв'язок з реальним життям</a:t>
            </a:r>
            <a:endParaRPr lang="en-US" sz="1600" dirty="0"/>
          </a:p>
        </p:txBody>
      </p:sp>
      <p:sp>
        <p:nvSpPr>
          <p:cNvPr id="13" name="panel-35"/>
          <p:cNvSpPr/>
          <p:nvPr/>
        </p:nvSpPr>
        <p:spPr>
          <a:xfrm>
            <a:off x="548640" y="3977640"/>
            <a:ext cx="263644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icon-circle-36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con-37" descr="Heads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274320" cy="274320"/>
          </a:xfrm>
          <a:prstGeom prst="rect">
            <a:avLst/>
          </a:prstGeom>
        </p:spPr>
      </p:pic>
      <p:sp>
        <p:nvSpPr>
          <p:cNvPr id="16" name="text-38"/>
          <p:cNvSpPr txBox="1"/>
          <p:nvPr/>
        </p:nvSpPr>
        <p:spPr>
          <a:xfrm>
            <a:off x="777240" y="48920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Підтримка клієнтів</a:t>
            </a:r>
            <a:endParaRPr lang="en-US" sz="1600" dirty="0"/>
          </a:p>
        </p:txBody>
      </p:sp>
      <p:sp>
        <p:nvSpPr>
          <p:cNvPr id="17" name="text-39"/>
          <p:cNvSpPr txBox="1"/>
          <p:nvPr/>
        </p:nvSpPr>
        <p:spPr>
          <a:xfrm>
            <a:off x="777240" y="52578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Чат-боти відповідають на типові питання 24/7</a:t>
            </a:r>
            <a:endParaRPr lang="en-US" sz="1400" dirty="0"/>
          </a:p>
        </p:txBody>
      </p:sp>
      <p:sp>
        <p:nvSpPr>
          <p:cNvPr id="18" name="panel-40"/>
          <p:cNvSpPr/>
          <p:nvPr/>
        </p:nvSpPr>
        <p:spPr>
          <a:xfrm>
            <a:off x="3367964" y="3977640"/>
            <a:ext cx="263644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icon-circle-41"/>
          <p:cNvSpPr/>
          <p:nvPr/>
        </p:nvSpPr>
        <p:spPr>
          <a:xfrm>
            <a:off x="3596564" y="4206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con-42" descr="File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724" y="4343400"/>
            <a:ext cx="274320" cy="274320"/>
          </a:xfrm>
          <a:prstGeom prst="rect">
            <a:avLst/>
          </a:prstGeom>
        </p:spPr>
      </p:pic>
      <p:sp>
        <p:nvSpPr>
          <p:cNvPr id="21" name="text-43"/>
          <p:cNvSpPr txBox="1"/>
          <p:nvPr/>
        </p:nvSpPr>
        <p:spPr>
          <a:xfrm>
            <a:off x="3596564" y="48920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Підсумки документів</a:t>
            </a:r>
            <a:endParaRPr lang="en-US" sz="1600" dirty="0"/>
          </a:p>
        </p:txBody>
      </p:sp>
      <p:sp>
        <p:nvSpPr>
          <p:cNvPr id="22" name="text-44"/>
          <p:cNvSpPr txBox="1"/>
          <p:nvPr/>
        </p:nvSpPr>
        <p:spPr>
          <a:xfrm>
            <a:off x="3596564" y="52578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Стислий виклад листів, звітів і нарад</a:t>
            </a:r>
            <a:endParaRPr lang="en-US" sz="1400" dirty="0"/>
          </a:p>
        </p:txBody>
      </p:sp>
      <p:sp>
        <p:nvSpPr>
          <p:cNvPr id="23" name="panel-45"/>
          <p:cNvSpPr/>
          <p:nvPr/>
        </p:nvSpPr>
        <p:spPr>
          <a:xfrm>
            <a:off x="6187288" y="3977640"/>
            <a:ext cx="263644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icon-circle-46"/>
          <p:cNvSpPr/>
          <p:nvPr/>
        </p:nvSpPr>
        <p:spPr>
          <a:xfrm>
            <a:off x="6415888" y="4206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con-47" descr="Cod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4343400"/>
            <a:ext cx="274320" cy="274320"/>
          </a:xfrm>
          <a:prstGeom prst="rect">
            <a:avLst/>
          </a:prstGeom>
        </p:spPr>
      </p:pic>
      <p:sp>
        <p:nvSpPr>
          <p:cNvPr id="26" name="text-48"/>
          <p:cNvSpPr txBox="1"/>
          <p:nvPr/>
        </p:nvSpPr>
        <p:spPr>
          <a:xfrm>
            <a:off x="6415888" y="48920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Code Assistant</a:t>
            </a:r>
            <a:endParaRPr lang="en-US" sz="1600" dirty="0"/>
          </a:p>
        </p:txBody>
      </p:sp>
      <p:sp>
        <p:nvSpPr>
          <p:cNvPr id="27" name="text-49"/>
          <p:cNvSpPr txBox="1"/>
          <p:nvPr/>
        </p:nvSpPr>
        <p:spPr>
          <a:xfrm>
            <a:off x="6415888" y="52578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Підказки коду, тести, пояснення помилок</a:t>
            </a:r>
            <a:endParaRPr lang="en-US" sz="1400" dirty="0"/>
          </a:p>
        </p:txBody>
      </p:sp>
      <p:sp>
        <p:nvSpPr>
          <p:cNvPr id="28" name="panel-50"/>
          <p:cNvSpPr/>
          <p:nvPr/>
        </p:nvSpPr>
        <p:spPr>
          <a:xfrm>
            <a:off x="9006611" y="3977640"/>
            <a:ext cx="263644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icon-circle-51"/>
          <p:cNvSpPr/>
          <p:nvPr/>
        </p:nvSpPr>
        <p:spPr>
          <a:xfrm>
            <a:off x="9235211" y="4206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con-52" descr="Languag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371" y="4343400"/>
            <a:ext cx="274320" cy="274320"/>
          </a:xfrm>
          <a:prstGeom prst="rect">
            <a:avLst/>
          </a:prstGeom>
        </p:spPr>
      </p:pic>
      <p:sp>
        <p:nvSpPr>
          <p:cNvPr id="31" name="text-53"/>
          <p:cNvSpPr txBox="1"/>
          <p:nvPr/>
        </p:nvSpPr>
        <p:spPr>
          <a:xfrm>
            <a:off x="9235211" y="489204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Контент і переклад</a:t>
            </a:r>
            <a:endParaRPr lang="en-US" sz="1600" dirty="0"/>
          </a:p>
        </p:txBody>
      </p:sp>
      <p:sp>
        <p:nvSpPr>
          <p:cNvPr id="32" name="text-54"/>
          <p:cNvSpPr txBox="1"/>
          <p:nvPr/>
        </p:nvSpPr>
        <p:spPr>
          <a:xfrm>
            <a:off x="9235211" y="52578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Чернетки текстів, переклад, зміна тону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Generative AI та LLM: основні поняття</a:t>
            </a:r>
            <a:endParaRPr lang="en-US" sz="3400" dirty="0"/>
          </a:p>
        </p:txBody>
      </p:sp>
      <p:sp>
        <p:nvSpPr>
          <p:cNvPr id="3" name="panel-55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226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-56"/>
          <p:cNvSpPr txBox="1"/>
          <p:nvPr/>
        </p:nvSpPr>
        <p:spPr>
          <a:xfrm>
            <a:off x="777240" y="1527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Штучний інтелект (AI)</a:t>
            </a:r>
            <a:endParaRPr lang="en-US" sz="1400" dirty="0"/>
          </a:p>
        </p:txBody>
      </p:sp>
      <p:sp>
        <p:nvSpPr>
          <p:cNvPr id="5" name="panel-57"/>
          <p:cNvSpPr/>
          <p:nvPr/>
        </p:nvSpPr>
        <p:spPr>
          <a:xfrm>
            <a:off x="914400" y="2011680"/>
            <a:ext cx="4754880" cy="4023360"/>
          </a:xfrm>
          <a:prstGeom prst="roundRect">
            <a:avLst>
              <a:gd name="adj" fmla="val 272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-58"/>
          <p:cNvSpPr txBox="1"/>
          <p:nvPr/>
        </p:nvSpPr>
        <p:spPr>
          <a:xfrm>
            <a:off x="114300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Машинне навчання (ML)</a:t>
            </a:r>
            <a:endParaRPr lang="en-US" sz="1400" dirty="0"/>
          </a:p>
        </p:txBody>
      </p:sp>
      <p:sp>
        <p:nvSpPr>
          <p:cNvPr id="7" name="panel-59"/>
          <p:cNvSpPr/>
          <p:nvPr/>
        </p:nvSpPr>
        <p:spPr>
          <a:xfrm>
            <a:off x="1280160" y="260604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-60"/>
          <p:cNvSpPr txBox="1"/>
          <p:nvPr/>
        </p:nvSpPr>
        <p:spPr>
          <a:xfrm>
            <a:off x="150876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Глибоке навчання (DL)</a:t>
            </a:r>
            <a:endParaRPr lang="en-US" sz="1400" dirty="0"/>
          </a:p>
        </p:txBody>
      </p:sp>
      <p:sp>
        <p:nvSpPr>
          <p:cNvPr id="9" name="panel-61"/>
          <p:cNvSpPr/>
          <p:nvPr/>
        </p:nvSpPr>
        <p:spPr>
          <a:xfrm>
            <a:off x="1645920" y="3200400"/>
            <a:ext cx="329184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-62"/>
          <p:cNvSpPr txBox="1"/>
          <p:nvPr/>
        </p:nvSpPr>
        <p:spPr>
          <a:xfrm>
            <a:off x="187452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Generative AI</a:t>
            </a:r>
            <a:endParaRPr lang="en-US" sz="1400" dirty="0"/>
          </a:p>
        </p:txBody>
      </p:sp>
      <p:sp>
        <p:nvSpPr>
          <p:cNvPr id="11" name="panel-63"/>
          <p:cNvSpPr/>
          <p:nvPr/>
        </p:nvSpPr>
        <p:spPr>
          <a:xfrm>
            <a:off x="2011680" y="37947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-64"/>
          <p:cNvSpPr txBox="1"/>
          <p:nvPr/>
        </p:nvSpPr>
        <p:spPr>
          <a:xfrm>
            <a:off x="201168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LLM</a:t>
            </a:r>
            <a:endParaRPr lang="en-US" sz="2400" dirty="0"/>
          </a:p>
        </p:txBody>
      </p:sp>
      <p:sp>
        <p:nvSpPr>
          <p:cNvPr id="13" name="text-65"/>
          <p:cNvSpPr txBox="1"/>
          <p:nvPr/>
        </p:nvSpPr>
        <p:spPr>
          <a:xfrm>
            <a:off x="201168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Large Language Model</a:t>
            </a:r>
            <a:endParaRPr lang="en-US" sz="1400" dirty="0"/>
          </a:p>
        </p:txBody>
      </p:sp>
      <p:sp>
        <p:nvSpPr>
          <p:cNvPr id="14" name="panel-66"/>
          <p:cNvSpPr/>
          <p:nvPr/>
        </p:nvSpPr>
        <p:spPr>
          <a:xfrm>
            <a:off x="6355080" y="1417320"/>
            <a:ext cx="5287975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icon-circle-67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con-68" descr="Magic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274320" cy="274320"/>
          </a:xfrm>
          <a:prstGeom prst="rect">
            <a:avLst/>
          </a:prstGeom>
        </p:spPr>
      </p:pic>
      <p:sp>
        <p:nvSpPr>
          <p:cNvPr id="17" name="text-69"/>
          <p:cNvSpPr txBox="1"/>
          <p:nvPr/>
        </p:nvSpPr>
        <p:spPr>
          <a:xfrm>
            <a:off x="7360920" y="1600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Generative AI</a:t>
            </a:r>
            <a:endParaRPr lang="en-US" sz="1800" dirty="0"/>
          </a:p>
        </p:txBody>
      </p:sp>
      <p:sp>
        <p:nvSpPr>
          <p:cNvPr id="18" name="text-70"/>
          <p:cNvSpPr txBox="1"/>
          <p:nvPr/>
        </p:nvSpPr>
        <p:spPr>
          <a:xfrm>
            <a:off x="7360920" y="198424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Створює новий контент: текст, код, зображення, а не лише класифікує наявні дані.</a:t>
            </a:r>
            <a:endParaRPr lang="en-US" sz="1400" dirty="0"/>
          </a:p>
        </p:txBody>
      </p:sp>
      <p:sp>
        <p:nvSpPr>
          <p:cNvPr id="19" name="panel-71"/>
          <p:cNvSpPr/>
          <p:nvPr/>
        </p:nvSpPr>
        <p:spPr>
          <a:xfrm>
            <a:off x="6355080" y="3086100"/>
            <a:ext cx="5287975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icon-circle-72"/>
          <p:cNvSpPr/>
          <p:nvPr/>
        </p:nvSpPr>
        <p:spPr>
          <a:xfrm>
            <a:off x="6583680" y="33147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con-73" descr="Brai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451860"/>
            <a:ext cx="274320" cy="274320"/>
          </a:xfrm>
          <a:prstGeom prst="rect">
            <a:avLst/>
          </a:prstGeom>
        </p:spPr>
      </p:pic>
      <p:sp>
        <p:nvSpPr>
          <p:cNvPr id="22" name="text-74"/>
          <p:cNvSpPr txBox="1"/>
          <p:nvPr/>
        </p:nvSpPr>
        <p:spPr>
          <a:xfrm>
            <a:off x="7360920" y="32689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LLM</a:t>
            </a:r>
            <a:endParaRPr lang="en-US" sz="1800" dirty="0"/>
          </a:p>
        </p:txBody>
      </p:sp>
      <p:sp>
        <p:nvSpPr>
          <p:cNvPr id="23" name="text-75"/>
          <p:cNvSpPr txBox="1"/>
          <p:nvPr/>
        </p:nvSpPr>
        <p:spPr>
          <a:xfrm>
            <a:off x="7360920" y="365302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Велика мовна модель, навчена на величезних обсягах тексту передбачати наступну частину тексту.</a:t>
            </a:r>
            <a:endParaRPr lang="en-US" sz="1400" dirty="0"/>
          </a:p>
        </p:txBody>
      </p:sp>
      <p:sp>
        <p:nvSpPr>
          <p:cNvPr id="24" name="panel-76"/>
          <p:cNvSpPr/>
          <p:nvPr/>
        </p:nvSpPr>
        <p:spPr>
          <a:xfrm>
            <a:off x="6355080" y="4754880"/>
            <a:ext cx="5287975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icon-circle-77"/>
          <p:cNvSpPr/>
          <p:nvPr/>
        </p:nvSpPr>
        <p:spPr>
          <a:xfrm>
            <a:off x="6583680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con-78" descr="Cub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5120640"/>
            <a:ext cx="274320" cy="274320"/>
          </a:xfrm>
          <a:prstGeom prst="rect">
            <a:avLst/>
          </a:prstGeom>
        </p:spPr>
      </p:pic>
      <p:sp>
        <p:nvSpPr>
          <p:cNvPr id="27" name="text-79"/>
          <p:cNvSpPr txBox="1"/>
          <p:nvPr/>
        </p:nvSpPr>
        <p:spPr>
          <a:xfrm>
            <a:off x="7360920" y="4937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Foundation model</a:t>
            </a:r>
            <a:endParaRPr lang="en-US" sz="1800" dirty="0"/>
          </a:p>
        </p:txBody>
      </p:sp>
      <p:sp>
        <p:nvSpPr>
          <p:cNvPr id="28" name="text-80"/>
          <p:cNvSpPr txBox="1"/>
          <p:nvPr/>
        </p:nvSpPr>
        <p:spPr>
          <a:xfrm>
            <a:off x="7360920" y="532180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Універсальна попередньо навчена модель, яку можна застосувати до багатьох задач без навчання з нуля.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Як LLM генерує відповідь</a:t>
            </a:r>
            <a:endParaRPr lang="en-US" sz="3400" dirty="0"/>
          </a:p>
        </p:txBody>
      </p:sp>
      <p:sp>
        <p:nvSpPr>
          <p:cNvPr id="3" name="text-81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 розбивається на tokens, і модель дописує наступний</a:t>
            </a:r>
            <a:endParaRPr lang="en-US" sz="1600" dirty="0"/>
          </a:p>
        </p:txBody>
      </p:sp>
      <p:sp>
        <p:nvSpPr>
          <p:cNvPr id="4" name="chip-82"/>
          <p:cNvSpPr txBox="1"/>
          <p:nvPr/>
        </p:nvSpPr>
        <p:spPr>
          <a:xfrm>
            <a:off x="548640" y="178308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Столиця</a:t>
            </a:r>
            <a:endParaRPr lang="en-US" sz="1500" dirty="0"/>
          </a:p>
        </p:txBody>
      </p:sp>
      <p:sp>
        <p:nvSpPr>
          <p:cNvPr id="5" name="chip-83"/>
          <p:cNvSpPr txBox="1"/>
          <p:nvPr/>
        </p:nvSpPr>
        <p:spPr>
          <a:xfrm>
            <a:off x="2057400" y="178308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України</a:t>
            </a:r>
            <a:endParaRPr lang="en-US" sz="1500" dirty="0"/>
          </a:p>
        </p:txBody>
      </p:sp>
      <p:sp>
        <p:nvSpPr>
          <p:cNvPr id="6" name="chip-84"/>
          <p:cNvSpPr txBox="1"/>
          <p:nvPr/>
        </p:nvSpPr>
        <p:spPr>
          <a:xfrm>
            <a:off x="3566160" y="1783080"/>
            <a:ext cx="6400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—</a:t>
            </a:r>
            <a:endParaRPr lang="en-US" sz="1500" dirty="0"/>
          </a:p>
        </p:txBody>
      </p:sp>
      <p:sp>
        <p:nvSpPr>
          <p:cNvPr id="7" name="arrow-85"/>
          <p:cNvSpPr/>
          <p:nvPr/>
        </p:nvSpPr>
        <p:spPr>
          <a:xfrm>
            <a:off x="4297680" y="205740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8" name="chip-86"/>
          <p:cNvSpPr txBox="1"/>
          <p:nvPr/>
        </p:nvSpPr>
        <p:spPr>
          <a:xfrm>
            <a:off x="4937760" y="1783080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Київ</a:t>
            </a:r>
            <a:endParaRPr lang="en-US" sz="1500" dirty="0"/>
          </a:p>
        </p:txBody>
      </p:sp>
      <p:sp>
        <p:nvSpPr>
          <p:cNvPr id="9" name="text-87"/>
          <p:cNvSpPr txBox="1"/>
          <p:nvPr/>
        </p:nvSpPr>
        <p:spPr>
          <a:xfrm>
            <a:off x="6766560" y="1737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Модель дописує один token за раз, а не «думає» всю відповідь одразу.</a:t>
            </a:r>
            <a:endParaRPr lang="en-US" sz="1400" dirty="0"/>
          </a:p>
        </p:txBody>
      </p:sp>
      <p:sp>
        <p:nvSpPr>
          <p:cNvPr id="10" name="panel-88"/>
          <p:cNvSpPr/>
          <p:nvPr/>
        </p:nvSpPr>
        <p:spPr>
          <a:xfrm>
            <a:off x="548640" y="2651760"/>
            <a:ext cx="585216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-89"/>
          <p:cNvSpPr txBox="1"/>
          <p:nvPr/>
        </p:nvSpPr>
        <p:spPr>
          <a:xfrm>
            <a:off x="8229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Ймовірність наступного token</a:t>
            </a:r>
            <a:endParaRPr lang="en-US" sz="1600" dirty="0"/>
          </a:p>
        </p:txBody>
      </p:sp>
      <p:sp>
        <p:nvSpPr>
          <p:cNvPr id="12" name="text-90"/>
          <p:cNvSpPr txBox="1"/>
          <p:nvPr/>
        </p:nvSpPr>
        <p:spPr>
          <a:xfrm>
            <a:off x="82296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Київ</a:t>
            </a:r>
            <a:endParaRPr lang="en-US" sz="1500" dirty="0"/>
          </a:p>
        </p:txBody>
      </p:sp>
      <p:sp>
        <p:nvSpPr>
          <p:cNvPr id="13" name="bar-91"/>
          <p:cNvSpPr/>
          <p:nvPr/>
        </p:nvSpPr>
        <p:spPr>
          <a:xfrm>
            <a:off x="1920240" y="3456432"/>
            <a:ext cx="3028493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-92"/>
          <p:cNvSpPr txBox="1"/>
          <p:nvPr/>
        </p:nvSpPr>
        <p:spPr>
          <a:xfrm>
            <a:off x="5085893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92%</a:t>
            </a:r>
            <a:endParaRPr lang="en-US" sz="1500" dirty="0"/>
          </a:p>
        </p:txBody>
      </p:sp>
      <p:sp>
        <p:nvSpPr>
          <p:cNvPr id="15" name="text-93"/>
          <p:cNvSpPr txBox="1"/>
          <p:nvPr/>
        </p:nvSpPr>
        <p:spPr>
          <a:xfrm>
            <a:off x="82296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Львів</a:t>
            </a:r>
            <a:endParaRPr lang="en-US" sz="1500" dirty="0"/>
          </a:p>
        </p:txBody>
      </p:sp>
      <p:sp>
        <p:nvSpPr>
          <p:cNvPr id="16" name="bar-94"/>
          <p:cNvSpPr/>
          <p:nvPr/>
        </p:nvSpPr>
        <p:spPr>
          <a:xfrm>
            <a:off x="1920240" y="4096512"/>
            <a:ext cx="109728" cy="310896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-95"/>
          <p:cNvSpPr txBox="1"/>
          <p:nvPr/>
        </p:nvSpPr>
        <p:spPr>
          <a:xfrm>
            <a:off x="2167128" y="4023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3%</a:t>
            </a:r>
            <a:endParaRPr lang="en-US" sz="1500" dirty="0"/>
          </a:p>
        </p:txBody>
      </p:sp>
      <p:sp>
        <p:nvSpPr>
          <p:cNvPr id="18" name="text-96"/>
          <p:cNvSpPr txBox="1"/>
          <p:nvPr/>
        </p:nvSpPr>
        <p:spPr>
          <a:xfrm>
            <a:off x="822960" y="4663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місто</a:t>
            </a:r>
            <a:endParaRPr lang="en-US" sz="1500" dirty="0"/>
          </a:p>
        </p:txBody>
      </p:sp>
      <p:sp>
        <p:nvSpPr>
          <p:cNvPr id="19" name="bar-97"/>
          <p:cNvSpPr/>
          <p:nvPr/>
        </p:nvSpPr>
        <p:spPr>
          <a:xfrm>
            <a:off x="1920240" y="4736592"/>
            <a:ext cx="109728" cy="310896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-98"/>
          <p:cNvSpPr txBox="1"/>
          <p:nvPr/>
        </p:nvSpPr>
        <p:spPr>
          <a:xfrm>
            <a:off x="2167128" y="4663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3%</a:t>
            </a:r>
            <a:endParaRPr lang="en-US" sz="1500" dirty="0"/>
          </a:p>
        </p:txBody>
      </p:sp>
      <p:sp>
        <p:nvSpPr>
          <p:cNvPr id="21" name="text-99"/>
          <p:cNvSpPr txBox="1"/>
          <p:nvPr/>
        </p:nvSpPr>
        <p:spPr>
          <a:xfrm>
            <a:off x="822960" y="5303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це</a:t>
            </a:r>
            <a:endParaRPr lang="en-US" sz="1500" dirty="0"/>
          </a:p>
        </p:txBody>
      </p:sp>
      <p:sp>
        <p:nvSpPr>
          <p:cNvPr id="22" name="bar-100"/>
          <p:cNvSpPr/>
          <p:nvPr/>
        </p:nvSpPr>
        <p:spPr>
          <a:xfrm>
            <a:off x="1920240" y="5376672"/>
            <a:ext cx="109728" cy="310896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-101"/>
          <p:cNvSpPr txBox="1"/>
          <p:nvPr/>
        </p:nvSpPr>
        <p:spPr>
          <a:xfrm>
            <a:off x="2167128" y="5303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2%</a:t>
            </a:r>
            <a:endParaRPr lang="en-US" sz="1500" dirty="0"/>
          </a:p>
        </p:txBody>
      </p:sp>
      <p:sp>
        <p:nvSpPr>
          <p:cNvPr id="24" name="text-102"/>
          <p:cNvSpPr txBox="1"/>
          <p:nvPr/>
        </p:nvSpPr>
        <p:spPr>
          <a:xfrm>
            <a:off x="822960" y="5943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Умовні значення для пояснення</a:t>
            </a:r>
            <a:endParaRPr lang="en-US" sz="1200" dirty="0"/>
          </a:p>
        </p:txBody>
      </p:sp>
      <p:sp>
        <p:nvSpPr>
          <p:cNvPr id="25" name="panel-103"/>
          <p:cNvSpPr/>
          <p:nvPr/>
        </p:nvSpPr>
        <p:spPr>
          <a:xfrm>
            <a:off x="6675120" y="2651760"/>
            <a:ext cx="4967935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text-104"/>
          <p:cNvSpPr txBox="1"/>
          <p:nvPr/>
        </p:nvSpPr>
        <p:spPr>
          <a:xfrm>
            <a:off x="694944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Цикл генерації</a:t>
            </a:r>
            <a:endParaRPr lang="en-US" sz="1600" dirty="0"/>
          </a:p>
        </p:txBody>
      </p:sp>
      <p:sp>
        <p:nvSpPr>
          <p:cNvPr id="27" name="num-105"/>
          <p:cNvSpPr txBox="1"/>
          <p:nvPr/>
        </p:nvSpPr>
        <p:spPr>
          <a:xfrm>
            <a:off x="69494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28" name="text-106"/>
          <p:cNvSpPr txBox="1"/>
          <p:nvPr/>
        </p:nvSpPr>
        <p:spPr>
          <a:xfrm>
            <a:off x="7589520" y="3383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Prompt перетворюється на tokens — частини слів</a:t>
            </a:r>
            <a:endParaRPr lang="en-US" sz="1400" dirty="0"/>
          </a:p>
        </p:txBody>
      </p:sp>
      <p:sp>
        <p:nvSpPr>
          <p:cNvPr id="29" name="num-107"/>
          <p:cNvSpPr txBox="1"/>
          <p:nvPr/>
        </p:nvSpPr>
        <p:spPr>
          <a:xfrm>
            <a:off x="6949440" y="4142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text-108"/>
          <p:cNvSpPr txBox="1"/>
          <p:nvPr/>
        </p:nvSpPr>
        <p:spPr>
          <a:xfrm>
            <a:off x="7589520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Модель оцінює ймовірність кожного можливого наступного token</a:t>
            </a:r>
            <a:endParaRPr lang="en-US" sz="1400" dirty="0"/>
          </a:p>
        </p:txBody>
      </p:sp>
      <p:sp>
        <p:nvSpPr>
          <p:cNvPr id="31" name="num-109"/>
          <p:cNvSpPr txBox="1"/>
          <p:nvPr/>
        </p:nvSpPr>
        <p:spPr>
          <a:xfrm>
            <a:off x="6949440" y="48554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32" name="text-110"/>
          <p:cNvSpPr txBox="1"/>
          <p:nvPr/>
        </p:nvSpPr>
        <p:spPr>
          <a:xfrm>
            <a:off x="7589520" y="48097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Обирається один token; як саме — залежить від temperature</a:t>
            </a:r>
            <a:endParaRPr lang="en-US" sz="1400" dirty="0"/>
          </a:p>
        </p:txBody>
      </p:sp>
      <p:sp>
        <p:nvSpPr>
          <p:cNvPr id="33" name="num-111"/>
          <p:cNvSpPr txBox="1"/>
          <p:nvPr/>
        </p:nvSpPr>
        <p:spPr>
          <a:xfrm>
            <a:off x="6949440" y="55686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34" name="text-112"/>
          <p:cNvSpPr txBox="1"/>
          <p:nvPr/>
        </p:nvSpPr>
        <p:spPr>
          <a:xfrm>
            <a:off x="7589520" y="55229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Token додається до тексту, і цикл повторюється до кінця відповіді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Hallucinations: впевнено, але хибно</a:t>
            </a:r>
            <a:endParaRPr lang="en-US" sz="3400" dirty="0"/>
          </a:p>
        </p:txBody>
      </p:sp>
      <p:sp>
        <p:nvSpPr>
          <p:cNvPr id="3" name="panel-113"/>
          <p:cNvSpPr/>
          <p:nvPr/>
        </p:nvSpPr>
        <p:spPr>
          <a:xfrm>
            <a:off x="548640" y="1417320"/>
            <a:ext cx="5852160" cy="4892040"/>
          </a:xfrm>
          <a:prstGeom prst="roundRect">
            <a:avLst>
              <a:gd name="adj" fmla="val 22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panel-114"/>
          <p:cNvSpPr/>
          <p:nvPr/>
        </p:nvSpPr>
        <p:spPr>
          <a:xfrm>
            <a:off x="822960" y="1691640"/>
            <a:ext cx="530352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-115"/>
          <p:cNvSpPr txBox="1"/>
          <p:nvPr/>
        </p:nvSpPr>
        <p:spPr>
          <a:xfrm>
            <a:off x="1051560" y="16916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Запит: Назви наукову статтю про новий метод оптимізації та дай посилання.</a:t>
            </a:r>
            <a:endParaRPr lang="en-US" sz="1400" dirty="0"/>
          </a:p>
        </p:txBody>
      </p:sp>
      <p:sp>
        <p:nvSpPr>
          <p:cNvPr id="6" name="panel-116"/>
          <p:cNvSpPr/>
          <p:nvPr/>
        </p:nvSpPr>
        <p:spPr>
          <a:xfrm>
            <a:off x="822960" y="2926080"/>
            <a:ext cx="5303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-117"/>
          <p:cNvSpPr txBox="1"/>
          <p:nvPr/>
        </p:nvSpPr>
        <p:spPr>
          <a:xfrm>
            <a:off x="1051560" y="2926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Відповідь: Звісно! «Fast Adaptive Optimization», Smith et al., 2021.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arxiv.org/abs/2105.00000</a:t>
            </a:r>
            <a:endParaRPr lang="en-US" sz="1400" dirty="0"/>
          </a:p>
        </p:txBody>
      </p:sp>
      <p:sp>
        <p:nvSpPr>
          <p:cNvPr id="8" name="chip-118"/>
          <p:cNvSpPr txBox="1"/>
          <p:nvPr/>
        </p:nvSpPr>
        <p:spPr>
          <a:xfrm>
            <a:off x="822960" y="4572000"/>
            <a:ext cx="2926080" cy="411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Такого джерела не існує</a:t>
            </a:r>
            <a:endParaRPr lang="en-US" sz="1400" dirty="0"/>
          </a:p>
        </p:txBody>
      </p:sp>
      <p:sp>
        <p:nvSpPr>
          <p:cNvPr id="9" name="text-119"/>
          <p:cNvSpPr txBox="1"/>
          <p:nvPr/>
        </p:nvSpPr>
        <p:spPr>
          <a:xfrm>
            <a:off x="822960" y="52120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Модель дописує правдоподібний текст — вона не звіряється з базою фактів.</a:t>
            </a:r>
            <a:endParaRPr lang="en-US" sz="1400" dirty="0"/>
          </a:p>
        </p:txBody>
      </p:sp>
      <p:sp>
        <p:nvSpPr>
          <p:cNvPr id="10" name="text-120"/>
          <p:cNvSpPr txBox="1"/>
          <p:nvPr/>
        </p:nvSpPr>
        <p:spPr>
          <a:xfrm>
            <a:off x="66751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Як перевіряти</a:t>
            </a:r>
            <a:endParaRPr lang="en-US" sz="2000" dirty="0"/>
          </a:p>
        </p:txBody>
      </p:sp>
      <p:sp>
        <p:nvSpPr>
          <p:cNvPr id="11" name="icon-circle-121"/>
          <p:cNvSpPr/>
          <p:nvPr/>
        </p:nvSpPr>
        <p:spPr>
          <a:xfrm>
            <a:off x="66751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con-122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48840"/>
            <a:ext cx="274320" cy="274320"/>
          </a:xfrm>
          <a:prstGeom prst="rect">
            <a:avLst/>
          </a:prstGeom>
        </p:spPr>
      </p:pic>
      <p:sp>
        <p:nvSpPr>
          <p:cNvPr id="13" name="text-123"/>
          <p:cNvSpPr txBox="1"/>
          <p:nvPr/>
        </p:nvSpPr>
        <p:spPr>
          <a:xfrm>
            <a:off x="7452360" y="1920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Звіряйте факти</a:t>
            </a:r>
            <a:endParaRPr lang="en-US" sz="1600" dirty="0"/>
          </a:p>
        </p:txBody>
      </p:sp>
      <p:sp>
        <p:nvSpPr>
          <p:cNvPr id="14" name="text-124"/>
          <p:cNvSpPr txBox="1"/>
          <p:nvPr/>
        </p:nvSpPr>
        <p:spPr>
          <a:xfrm>
            <a:off x="7452360" y="22311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Перевіряйте цифри, дати й імена у надійних джерелах</a:t>
            </a:r>
            <a:endParaRPr lang="en-US" sz="1400" dirty="0"/>
          </a:p>
        </p:txBody>
      </p:sp>
      <p:sp>
        <p:nvSpPr>
          <p:cNvPr id="15" name="icon-circle-125"/>
          <p:cNvSpPr/>
          <p:nvPr/>
        </p:nvSpPr>
        <p:spPr>
          <a:xfrm>
            <a:off x="667512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con-126" descr="Boo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063240"/>
            <a:ext cx="274320" cy="274320"/>
          </a:xfrm>
          <a:prstGeom prst="rect">
            <a:avLst/>
          </a:prstGeom>
        </p:spPr>
      </p:pic>
      <p:sp>
        <p:nvSpPr>
          <p:cNvPr id="17" name="text-127"/>
          <p:cNvSpPr txBox="1"/>
          <p:nvPr/>
        </p:nvSpPr>
        <p:spPr>
          <a:xfrm>
            <a:off x="7452360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Перевіряйте джерела</a:t>
            </a:r>
            <a:endParaRPr lang="en-US" sz="1600" dirty="0"/>
          </a:p>
        </p:txBody>
      </p:sp>
      <p:sp>
        <p:nvSpPr>
          <p:cNvPr id="18" name="text-128"/>
          <p:cNvSpPr txBox="1"/>
          <p:nvPr/>
        </p:nvSpPr>
        <p:spPr>
          <a:xfrm>
            <a:off x="7452360" y="31455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Посилання й цитати можуть бути вигаданими — відкрийте їх</a:t>
            </a:r>
            <a:endParaRPr lang="en-US" sz="1400" dirty="0"/>
          </a:p>
        </p:txBody>
      </p:sp>
      <p:sp>
        <p:nvSpPr>
          <p:cNvPr id="19" name="icon-circle-129"/>
          <p:cNvSpPr/>
          <p:nvPr/>
        </p:nvSpPr>
        <p:spPr>
          <a:xfrm>
            <a:off x="667512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con-130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977640"/>
            <a:ext cx="274320" cy="274320"/>
          </a:xfrm>
          <a:prstGeom prst="rect">
            <a:avLst/>
          </a:prstGeom>
        </p:spPr>
      </p:pic>
      <p:sp>
        <p:nvSpPr>
          <p:cNvPr id="21" name="text-131"/>
          <p:cNvSpPr txBox="1"/>
          <p:nvPr/>
        </p:nvSpPr>
        <p:spPr>
          <a:xfrm>
            <a:off x="7452360" y="3749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Дайте контекст</a:t>
            </a:r>
            <a:endParaRPr lang="en-US" sz="1600" dirty="0"/>
          </a:p>
        </p:txBody>
      </p:sp>
      <p:sp>
        <p:nvSpPr>
          <p:cNvPr id="22" name="text-132"/>
          <p:cNvSpPr txBox="1"/>
          <p:nvPr/>
        </p:nvSpPr>
        <p:spPr>
          <a:xfrm>
            <a:off x="7452360" y="40599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Вставте свої дані в prompt замість покладання на «пам'ять» моделі</a:t>
            </a:r>
            <a:endParaRPr lang="en-US" sz="1400" dirty="0"/>
          </a:p>
        </p:txBody>
      </p:sp>
      <p:sp>
        <p:nvSpPr>
          <p:cNvPr id="23" name="icon-circle-133"/>
          <p:cNvSpPr/>
          <p:nvPr/>
        </p:nvSpPr>
        <p:spPr>
          <a:xfrm>
            <a:off x="6675120" y="4754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con-134" descr="UserChe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892040"/>
            <a:ext cx="274320" cy="274320"/>
          </a:xfrm>
          <a:prstGeom prst="rect">
            <a:avLst/>
          </a:prstGeom>
        </p:spPr>
      </p:pic>
      <p:sp>
        <p:nvSpPr>
          <p:cNvPr id="25" name="text-135"/>
          <p:cNvSpPr txBox="1"/>
          <p:nvPr/>
        </p:nvSpPr>
        <p:spPr>
          <a:xfrm>
            <a:off x="7452360" y="4663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Людина вирішує</a:t>
            </a:r>
            <a:endParaRPr lang="en-US" sz="1600" dirty="0"/>
          </a:p>
        </p:txBody>
      </p:sp>
      <p:sp>
        <p:nvSpPr>
          <p:cNvPr id="26" name="text-136"/>
          <p:cNvSpPr txBox="1"/>
          <p:nvPr/>
        </p:nvSpPr>
        <p:spPr>
          <a:xfrm>
            <a:off x="7452360" y="49743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Для важливих рішень фінальна перевірка — за вами</a:t>
            </a:r>
            <a:endParaRPr lang="en-US" sz="1400" dirty="0"/>
          </a:p>
        </p:txBody>
      </p:sp>
      <p:sp>
        <p:nvSpPr>
          <p:cNvPr id="27" name="panel-137"/>
          <p:cNvSpPr/>
          <p:nvPr/>
        </p:nvSpPr>
        <p:spPr>
          <a:xfrm>
            <a:off x="6675120" y="5669280"/>
            <a:ext cx="4967935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-138"/>
          <p:cNvSpPr txBox="1"/>
          <p:nvPr/>
        </p:nvSpPr>
        <p:spPr>
          <a:xfrm>
            <a:off x="6903720" y="5669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Модель звучить однаково впевнено, і коли права, і коли помиляється.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Структура ефективного prompt</a:t>
            </a:r>
            <a:endParaRPr lang="en-US" sz="3400" dirty="0"/>
          </a:p>
        </p:txBody>
      </p:sp>
      <p:sp>
        <p:nvSpPr>
          <p:cNvPr id="3" name="panel-139"/>
          <p:cNvSpPr/>
          <p:nvPr/>
        </p:nvSpPr>
        <p:spPr>
          <a:xfrm>
            <a:off x="548640" y="141732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num-140"/>
          <p:cNvSpPr txBox="1"/>
          <p:nvPr/>
        </p:nvSpPr>
        <p:spPr>
          <a:xfrm>
            <a:off x="731520" y="16230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-141"/>
          <p:cNvSpPr txBox="1"/>
          <p:nvPr/>
        </p:nvSpPr>
        <p:spPr>
          <a:xfrm>
            <a:off x="1371600" y="15270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Задача</a:t>
            </a:r>
            <a:endParaRPr lang="en-US" sz="1600" dirty="0"/>
          </a:p>
        </p:txBody>
      </p:sp>
      <p:sp>
        <p:nvSpPr>
          <p:cNvPr id="6" name="text-142"/>
          <p:cNvSpPr txBox="1"/>
          <p:nvPr/>
        </p:nvSpPr>
        <p:spPr>
          <a:xfrm>
            <a:off x="137160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Що саме має зробити модель</a:t>
            </a:r>
            <a:endParaRPr lang="en-US" sz="1400" dirty="0"/>
          </a:p>
        </p:txBody>
      </p:sp>
      <p:sp>
        <p:nvSpPr>
          <p:cNvPr id="7" name="panel-143"/>
          <p:cNvSpPr/>
          <p:nvPr/>
        </p:nvSpPr>
        <p:spPr>
          <a:xfrm>
            <a:off x="548640" y="237744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num-144"/>
          <p:cNvSpPr txBox="1"/>
          <p:nvPr/>
        </p:nvSpPr>
        <p:spPr>
          <a:xfrm>
            <a:off x="731520" y="25831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-145"/>
          <p:cNvSpPr txBox="1"/>
          <p:nvPr/>
        </p:nvSpPr>
        <p:spPr>
          <a:xfrm>
            <a:off x="137160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Контекст</a:t>
            </a:r>
            <a:endParaRPr lang="en-US" sz="1600" dirty="0"/>
          </a:p>
        </p:txBody>
      </p:sp>
      <p:sp>
        <p:nvSpPr>
          <p:cNvPr id="10" name="text-146"/>
          <p:cNvSpPr txBox="1"/>
          <p:nvPr/>
        </p:nvSpPr>
        <p:spPr>
          <a:xfrm>
            <a:off x="137160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Вихідні дані й ситуація</a:t>
            </a:r>
            <a:endParaRPr lang="en-US" sz="1400" dirty="0"/>
          </a:p>
        </p:txBody>
      </p:sp>
      <p:sp>
        <p:nvSpPr>
          <p:cNvPr id="11" name="panel-147"/>
          <p:cNvSpPr/>
          <p:nvPr/>
        </p:nvSpPr>
        <p:spPr>
          <a:xfrm>
            <a:off x="548640" y="333756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num-148"/>
          <p:cNvSpPr txBox="1"/>
          <p:nvPr/>
        </p:nvSpPr>
        <p:spPr>
          <a:xfrm>
            <a:off x="731520" y="35433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-149"/>
          <p:cNvSpPr txBox="1"/>
          <p:nvPr/>
        </p:nvSpPr>
        <p:spPr>
          <a:xfrm>
            <a:off x="1371600" y="3447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Обмеження</a:t>
            </a:r>
            <a:endParaRPr lang="en-US" sz="1600" dirty="0"/>
          </a:p>
        </p:txBody>
      </p:sp>
      <p:sp>
        <p:nvSpPr>
          <p:cNvPr id="14" name="text-150"/>
          <p:cNvSpPr txBox="1"/>
          <p:nvPr/>
        </p:nvSpPr>
        <p:spPr>
          <a:xfrm>
            <a:off x="137160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Довжина, стиль, чого уникати</a:t>
            </a:r>
            <a:endParaRPr lang="en-US" sz="1400" dirty="0"/>
          </a:p>
        </p:txBody>
      </p:sp>
      <p:sp>
        <p:nvSpPr>
          <p:cNvPr id="15" name="panel-151"/>
          <p:cNvSpPr/>
          <p:nvPr/>
        </p:nvSpPr>
        <p:spPr>
          <a:xfrm>
            <a:off x="548640" y="429768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num-152"/>
          <p:cNvSpPr txBox="1"/>
          <p:nvPr/>
        </p:nvSpPr>
        <p:spPr>
          <a:xfrm>
            <a:off x="731520" y="45034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-153"/>
          <p:cNvSpPr txBox="1"/>
          <p:nvPr/>
        </p:nvSpPr>
        <p:spPr>
          <a:xfrm>
            <a:off x="1371600" y="4407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Формат відповіді</a:t>
            </a:r>
            <a:endParaRPr lang="en-US" sz="1600" dirty="0"/>
          </a:p>
        </p:txBody>
      </p:sp>
      <p:sp>
        <p:nvSpPr>
          <p:cNvPr id="18" name="text-154"/>
          <p:cNvSpPr txBox="1"/>
          <p:nvPr/>
        </p:nvSpPr>
        <p:spPr>
          <a:xfrm>
            <a:off x="137160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Список, таблиця, JSON</a:t>
            </a:r>
            <a:endParaRPr lang="en-US" sz="1400" dirty="0"/>
          </a:p>
        </p:txBody>
      </p:sp>
      <p:sp>
        <p:nvSpPr>
          <p:cNvPr id="19" name="panel-155"/>
          <p:cNvSpPr/>
          <p:nvPr/>
        </p:nvSpPr>
        <p:spPr>
          <a:xfrm>
            <a:off x="548640" y="525780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num-156"/>
          <p:cNvSpPr txBox="1"/>
          <p:nvPr/>
        </p:nvSpPr>
        <p:spPr>
          <a:xfrm>
            <a:off x="731520" y="54635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-157"/>
          <p:cNvSpPr txBox="1"/>
          <p:nvPr/>
        </p:nvSpPr>
        <p:spPr>
          <a:xfrm>
            <a:off x="1371600" y="5367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Приклад</a:t>
            </a:r>
            <a:endParaRPr lang="en-US" sz="1600" dirty="0"/>
          </a:p>
        </p:txBody>
      </p:sp>
      <p:sp>
        <p:nvSpPr>
          <p:cNvPr id="22" name="text-158"/>
          <p:cNvSpPr txBox="1"/>
          <p:nvPr/>
        </p:nvSpPr>
        <p:spPr>
          <a:xfrm>
            <a:off x="1371600" y="5715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Лише якщо він справді допомагає</a:t>
            </a:r>
            <a:endParaRPr lang="en-US" sz="1400" dirty="0"/>
          </a:p>
        </p:txBody>
      </p:sp>
      <p:sp>
        <p:nvSpPr>
          <p:cNvPr id="23" name="panel-159"/>
          <p:cNvSpPr/>
          <p:nvPr/>
        </p:nvSpPr>
        <p:spPr>
          <a:xfrm>
            <a:off x="5394960" y="1417320"/>
            <a:ext cx="6248095" cy="4709160"/>
          </a:xfrm>
          <a:prstGeom prst="roundRect">
            <a:avLst>
              <a:gd name="adj" fmla="val 233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-160"/>
          <p:cNvSpPr txBox="1"/>
          <p:nvPr/>
        </p:nvSpPr>
        <p:spPr>
          <a:xfrm>
            <a:off x="571500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Приклад prompt</a:t>
            </a:r>
            <a:endParaRPr lang="en-US" sz="1600" dirty="0"/>
          </a:p>
        </p:txBody>
      </p:sp>
      <p:sp>
        <p:nvSpPr>
          <p:cNvPr id="25" name="text-161"/>
          <p:cNvSpPr txBox="1"/>
          <p:nvPr/>
        </p:nvSpPr>
        <p:spPr>
          <a:xfrm>
            <a:off x="5715000" y="2148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ЗАДАЧА</a:t>
            </a:r>
            <a:endParaRPr lang="en-US" sz="1300" dirty="0"/>
          </a:p>
        </p:txBody>
      </p:sp>
      <p:sp>
        <p:nvSpPr>
          <p:cNvPr id="26" name="text-162"/>
          <p:cNvSpPr txBox="1"/>
          <p:nvPr/>
        </p:nvSpPr>
        <p:spPr>
          <a:xfrm>
            <a:off x="5715000" y="2423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Стисни конспект лекції для </a:t>
            </a:r>
            <a:r>
              <a:rPr lang="en-US" sz="1600" dirty="0" err="1">
                <a:solidFill>
                  <a:schemeClr val="bg1"/>
                </a:solidFill>
              </a:rPr>
              <a:t>студентів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7" name="text-163"/>
          <p:cNvSpPr txBox="1"/>
          <p:nvPr/>
        </p:nvSpPr>
        <p:spPr>
          <a:xfrm>
            <a:off x="5715000" y="29260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КОНТЕКСТ</a:t>
            </a:r>
            <a:endParaRPr lang="en-US" sz="1300" dirty="0"/>
          </a:p>
        </p:txBody>
      </p:sp>
      <p:sp>
        <p:nvSpPr>
          <p:cNvPr id="28" name="text-164"/>
          <p:cNvSpPr txBox="1"/>
          <p:nvPr/>
        </p:nvSpPr>
        <p:spPr>
          <a:xfrm>
            <a:off x="5715000" y="3200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Це конспект заняття про AWS Lambda (текст нижче).</a:t>
            </a:r>
            <a:endParaRPr lang="en-US" sz="1600" dirty="0"/>
          </a:p>
        </p:txBody>
      </p:sp>
      <p:sp>
        <p:nvSpPr>
          <p:cNvPr id="29" name="text-165"/>
          <p:cNvSpPr txBox="1"/>
          <p:nvPr/>
        </p:nvSpPr>
        <p:spPr>
          <a:xfrm>
            <a:off x="5715000" y="37033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ОБМЕЖЕННЯ</a:t>
            </a:r>
            <a:endParaRPr lang="en-US" sz="1300" dirty="0"/>
          </a:p>
        </p:txBody>
      </p:sp>
      <p:sp>
        <p:nvSpPr>
          <p:cNvPr id="30" name="text-166"/>
          <p:cNvSpPr txBox="1"/>
          <p:nvPr/>
        </p:nvSpPr>
        <p:spPr>
          <a:xfrm>
            <a:off x="571500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Не більше 3 речень, без жаргону.</a:t>
            </a:r>
            <a:endParaRPr lang="en-US" sz="1600" dirty="0"/>
          </a:p>
        </p:txBody>
      </p:sp>
      <p:sp>
        <p:nvSpPr>
          <p:cNvPr id="31" name="text-167"/>
          <p:cNvSpPr txBox="1"/>
          <p:nvPr/>
        </p:nvSpPr>
        <p:spPr>
          <a:xfrm>
            <a:off x="5715000" y="4480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ФОРМАТ</a:t>
            </a:r>
            <a:endParaRPr lang="en-US" sz="1300" dirty="0"/>
          </a:p>
        </p:txBody>
      </p:sp>
      <p:sp>
        <p:nvSpPr>
          <p:cNvPr id="32" name="text-168"/>
          <p:cNvSpPr txBox="1"/>
          <p:nvPr/>
        </p:nvSpPr>
        <p:spPr>
          <a:xfrm>
            <a:off x="5715000" y="4754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Маркований список із трьох пунктів.</a:t>
            </a:r>
            <a:endParaRPr lang="en-US" sz="1600" dirty="0"/>
          </a:p>
        </p:txBody>
      </p:sp>
      <p:sp>
        <p:nvSpPr>
          <p:cNvPr id="33" name="text-169"/>
          <p:cNvSpPr txBox="1"/>
          <p:nvPr/>
        </p:nvSpPr>
        <p:spPr>
          <a:xfrm>
            <a:off x="5715000" y="5257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ПРИКЛАД</a:t>
            </a:r>
            <a:endParaRPr lang="en-US" sz="1300" dirty="0"/>
          </a:p>
        </p:txBody>
      </p:sp>
      <p:sp>
        <p:nvSpPr>
          <p:cNvPr id="34" name="text-170"/>
          <p:cNvSpPr txBox="1"/>
          <p:nvPr/>
        </p:nvSpPr>
        <p:spPr>
          <a:xfrm>
            <a:off x="5715000" y="5532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«Lambda — це код, що запускається без сервера».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Inference parameters</a:t>
            </a:r>
            <a:endParaRPr lang="en-US" sz="3400" dirty="0"/>
          </a:p>
        </p:txBody>
      </p:sp>
      <p:sp>
        <p:nvSpPr>
          <p:cNvPr id="3" name="panel-171"/>
          <p:cNvSpPr/>
          <p:nvPr/>
        </p:nvSpPr>
        <p:spPr>
          <a:xfrm>
            <a:off x="548640" y="1417320"/>
            <a:ext cx="11094415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-172"/>
          <p:cNvSpPr txBox="1"/>
          <p:nvPr/>
        </p:nvSpPr>
        <p:spPr>
          <a:xfrm>
            <a:off x="8229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2000" dirty="0"/>
          </a:p>
        </p:txBody>
      </p:sp>
      <p:sp>
        <p:nvSpPr>
          <p:cNvPr id="5" name="text-173"/>
          <p:cNvSpPr txBox="1"/>
          <p:nvPr/>
        </p:nvSpPr>
        <p:spPr>
          <a:xfrm>
            <a:off x="3657600" y="1645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ступінь випадковості під час вибору наступного token</a:t>
            </a:r>
            <a:endParaRPr lang="en-US" sz="1400" dirty="0"/>
          </a:p>
        </p:txBody>
      </p:sp>
      <p:sp>
        <p:nvSpPr>
          <p:cNvPr id="6" name="chip-174"/>
          <p:cNvSpPr txBox="1"/>
          <p:nvPr/>
        </p:nvSpPr>
        <p:spPr>
          <a:xfrm>
            <a:off x="822960" y="2194560"/>
            <a:ext cx="3505200" cy="6400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0.0 – 0.3</a:t>
            </a:r>
            <a:endParaRPr lang="en-US" sz="1600" dirty="0"/>
          </a:p>
        </p:txBody>
      </p:sp>
      <p:sp>
        <p:nvSpPr>
          <p:cNvPr id="7" name="text-175"/>
          <p:cNvSpPr txBox="1"/>
          <p:nvPr/>
        </p:nvSpPr>
        <p:spPr>
          <a:xfrm>
            <a:off x="914400" y="297180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Точність: факти, класифікація, витяг даних</a:t>
            </a:r>
            <a:endParaRPr lang="en-US" sz="1400" dirty="0"/>
          </a:p>
        </p:txBody>
      </p:sp>
      <p:sp>
        <p:nvSpPr>
          <p:cNvPr id="8" name="chip-176"/>
          <p:cNvSpPr txBox="1"/>
          <p:nvPr/>
        </p:nvSpPr>
        <p:spPr>
          <a:xfrm>
            <a:off x="4328160" y="2194560"/>
            <a:ext cx="3505200" cy="64008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0.4 – 0.7</a:t>
            </a:r>
            <a:endParaRPr lang="en-US" sz="1600" dirty="0"/>
          </a:p>
        </p:txBody>
      </p:sp>
      <p:sp>
        <p:nvSpPr>
          <p:cNvPr id="9" name="text-177"/>
          <p:cNvSpPr txBox="1"/>
          <p:nvPr/>
        </p:nvSpPr>
        <p:spPr>
          <a:xfrm>
            <a:off x="4419600" y="297180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Баланс: пояснення, підсумки, відповіді</a:t>
            </a:r>
            <a:endParaRPr lang="en-US" sz="1400" dirty="0"/>
          </a:p>
        </p:txBody>
      </p:sp>
      <p:sp>
        <p:nvSpPr>
          <p:cNvPr id="10" name="chip-178"/>
          <p:cNvSpPr txBox="1"/>
          <p:nvPr/>
        </p:nvSpPr>
        <p:spPr>
          <a:xfrm>
            <a:off x="7833360" y="2194560"/>
            <a:ext cx="3505200" cy="6400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0.8 – 1.0</a:t>
            </a:r>
            <a:endParaRPr lang="en-US" sz="1600" dirty="0"/>
          </a:p>
        </p:txBody>
      </p:sp>
      <p:sp>
        <p:nvSpPr>
          <p:cNvPr id="11" name="text-179"/>
          <p:cNvSpPr txBox="1"/>
          <p:nvPr/>
        </p:nvSpPr>
        <p:spPr>
          <a:xfrm>
            <a:off x="7924800" y="297180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Різноманітність: ідеї, слогани, творчість</a:t>
            </a:r>
            <a:endParaRPr lang="en-US" sz="1400" dirty="0"/>
          </a:p>
        </p:txBody>
      </p:sp>
      <p:sp>
        <p:nvSpPr>
          <p:cNvPr id="12" name="panel-180"/>
          <p:cNvSpPr/>
          <p:nvPr/>
        </p:nvSpPr>
        <p:spPr>
          <a:xfrm>
            <a:off x="548640" y="388620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-181"/>
          <p:cNvSpPr txBox="1"/>
          <p:nvPr/>
        </p:nvSpPr>
        <p:spPr>
          <a:xfrm>
            <a:off x="822960" y="4041648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</a:t>
            </a:r>
            <a:endParaRPr lang="en-US" sz="1800" dirty="0"/>
          </a:p>
        </p:txBody>
      </p:sp>
      <p:sp>
        <p:nvSpPr>
          <p:cNvPr id="14" name="text-182"/>
          <p:cNvSpPr txBox="1"/>
          <p:nvPr/>
        </p:nvSpPr>
        <p:spPr>
          <a:xfrm>
            <a:off x="822960" y="448056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Обмежує вибір найімовірнішими tokens із сумарною ймовірністю p. Менше значення — передбачуваніша відповідь.</a:t>
            </a:r>
            <a:endParaRPr lang="en-US" sz="1400" dirty="0"/>
          </a:p>
        </p:txBody>
      </p:sp>
      <p:sp>
        <p:nvSpPr>
          <p:cNvPr id="15" name="panel-183"/>
          <p:cNvSpPr/>
          <p:nvPr/>
        </p:nvSpPr>
        <p:spPr>
          <a:xfrm>
            <a:off x="4307738" y="388620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-184"/>
          <p:cNvSpPr txBox="1"/>
          <p:nvPr/>
        </p:nvSpPr>
        <p:spPr>
          <a:xfrm>
            <a:off x="4582058" y="4041648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maxTokens</a:t>
            </a:r>
            <a:endParaRPr lang="en-US" sz="1800" dirty="0"/>
          </a:p>
        </p:txBody>
      </p:sp>
      <p:sp>
        <p:nvSpPr>
          <p:cNvPr id="17" name="text-185"/>
          <p:cNvSpPr txBox="1"/>
          <p:nvPr/>
        </p:nvSpPr>
        <p:spPr>
          <a:xfrm>
            <a:off x="4582058" y="448056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Верхня межа довжини відповіді. Захищає від надто довгого тексту й зайвих витрат.</a:t>
            </a:r>
            <a:endParaRPr lang="en-US" sz="1400" dirty="0"/>
          </a:p>
        </p:txBody>
      </p:sp>
      <p:sp>
        <p:nvSpPr>
          <p:cNvPr id="18" name="panel-186"/>
          <p:cNvSpPr/>
          <p:nvPr/>
        </p:nvSpPr>
        <p:spPr>
          <a:xfrm>
            <a:off x="8066837" y="3886200"/>
            <a:ext cx="3576218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-187"/>
          <p:cNvSpPr txBox="1"/>
          <p:nvPr/>
        </p:nvSpPr>
        <p:spPr>
          <a:xfrm>
            <a:off x="8341157" y="4041648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stopSequences</a:t>
            </a:r>
            <a:endParaRPr lang="en-US" sz="1800" dirty="0"/>
          </a:p>
        </p:txBody>
      </p:sp>
      <p:sp>
        <p:nvSpPr>
          <p:cNvPr id="20" name="text-188"/>
          <p:cNvSpPr txBox="1"/>
          <p:nvPr/>
        </p:nvSpPr>
        <p:spPr>
          <a:xfrm>
            <a:off x="8341157" y="448056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Рядки, на яких модель зупиняє генерацію, наприклад «###». Корисно для суворого формату.</a:t>
            </a:r>
            <a:endParaRPr lang="en-US" sz="1400" dirty="0"/>
          </a:p>
        </p:txBody>
      </p:sp>
      <p:sp>
        <p:nvSpPr>
          <p:cNvPr id="21" name="panel-189"/>
          <p:cNvSpPr/>
          <p:nvPr/>
        </p:nvSpPr>
        <p:spPr>
          <a:xfrm>
            <a:off x="548640" y="5715000"/>
            <a:ext cx="11094415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-190"/>
          <p:cNvSpPr txBox="1"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Змінюйте temperature або top_p, не обидва одразу, і по одному параметру за експеримент.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Amazon Bedrock і вибір моделі</a:t>
            </a:r>
            <a:endParaRPr lang="en-US" sz="3400" dirty="0"/>
          </a:p>
        </p:txBody>
      </p:sp>
      <p:sp>
        <p:nvSpPr>
          <p:cNvPr id="3" name="panel-191"/>
          <p:cNvSpPr/>
          <p:nvPr/>
        </p:nvSpPr>
        <p:spPr>
          <a:xfrm>
            <a:off x="548640" y="146304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icon-circle-192"/>
          <p:cNvSpPr/>
          <p:nvPr/>
        </p:nvSpPr>
        <p:spPr>
          <a:xfrm>
            <a:off x="128016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con-193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057400"/>
            <a:ext cx="457200" cy="457200"/>
          </a:xfrm>
          <a:prstGeom prst="rect">
            <a:avLst/>
          </a:prstGeom>
        </p:spPr>
      </p:pic>
      <p:sp>
        <p:nvSpPr>
          <p:cNvPr id="6" name="text-194"/>
          <p:cNvSpPr txBox="1"/>
          <p:nvPr/>
        </p:nvSpPr>
        <p:spPr>
          <a:xfrm>
            <a:off x="6400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Ваш застосунок</a:t>
            </a:r>
            <a:endParaRPr lang="en-US" sz="1800" dirty="0"/>
          </a:p>
        </p:txBody>
      </p:sp>
      <p:sp>
        <p:nvSpPr>
          <p:cNvPr id="7" name="text-195"/>
          <p:cNvSpPr txBox="1"/>
          <p:nvPr/>
        </p:nvSpPr>
        <p:spPr>
          <a:xfrm>
            <a:off x="6400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Python + boto3</a:t>
            </a:r>
            <a:endParaRPr lang="en-US" sz="1400" dirty="0"/>
          </a:p>
        </p:txBody>
      </p:sp>
      <p:sp>
        <p:nvSpPr>
          <p:cNvPr id="8" name="arrow-196"/>
          <p:cNvSpPr/>
          <p:nvPr/>
        </p:nvSpPr>
        <p:spPr>
          <a:xfrm>
            <a:off x="2971800" y="2834640"/>
            <a:ext cx="5943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9" name="panel-197"/>
          <p:cNvSpPr/>
          <p:nvPr/>
        </p:nvSpPr>
        <p:spPr>
          <a:xfrm>
            <a:off x="3657600" y="1463040"/>
            <a:ext cx="3291840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icon-circle-198"/>
          <p:cNvSpPr/>
          <p:nvPr/>
        </p:nvSpPr>
        <p:spPr>
          <a:xfrm>
            <a:off x="4846320" y="17373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con-199" descr="Clou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965960"/>
            <a:ext cx="457200" cy="457200"/>
          </a:xfrm>
          <a:prstGeom prst="rect">
            <a:avLst/>
          </a:prstGeom>
        </p:spPr>
      </p:pic>
      <p:sp>
        <p:nvSpPr>
          <p:cNvPr id="12" name="text-200"/>
          <p:cNvSpPr txBox="1"/>
          <p:nvPr/>
        </p:nvSpPr>
        <p:spPr>
          <a:xfrm>
            <a:off x="374904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Amazon Bedrock</a:t>
            </a:r>
            <a:endParaRPr lang="en-US" sz="2000" dirty="0"/>
          </a:p>
        </p:txBody>
      </p:sp>
      <p:sp>
        <p:nvSpPr>
          <p:cNvPr id="13" name="text-201"/>
          <p:cNvSpPr txBox="1"/>
          <p:nvPr/>
        </p:nvSpPr>
        <p:spPr>
          <a:xfrm>
            <a:off x="3886200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Керований сервіс: доступ до foundation models через API, без керування серверами</a:t>
            </a:r>
            <a:endParaRPr lang="en-US" sz="1400" dirty="0"/>
          </a:p>
        </p:txBody>
      </p:sp>
      <p:sp>
        <p:nvSpPr>
          <p:cNvPr id="14" name="arrow-202"/>
          <p:cNvSpPr/>
          <p:nvPr/>
        </p:nvSpPr>
        <p:spPr>
          <a:xfrm>
            <a:off x="6995160" y="173736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5" name="panel-203"/>
          <p:cNvSpPr/>
          <p:nvPr/>
        </p:nvSpPr>
        <p:spPr>
          <a:xfrm>
            <a:off x="7635240" y="1463040"/>
            <a:ext cx="4007815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icon-circle-204"/>
          <p:cNvSpPr/>
          <p:nvPr/>
        </p:nvSpPr>
        <p:spPr>
          <a:xfrm>
            <a:off x="7772400" y="1554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con-205" descr="Cub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645920"/>
            <a:ext cx="182880" cy="182880"/>
          </a:xfrm>
          <a:prstGeom prst="rect">
            <a:avLst/>
          </a:prstGeom>
        </p:spPr>
      </p:pic>
      <p:sp>
        <p:nvSpPr>
          <p:cNvPr id="18" name="text-206"/>
          <p:cNvSpPr txBox="1"/>
          <p:nvPr/>
        </p:nvSpPr>
        <p:spPr>
          <a:xfrm>
            <a:off x="832104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Anthropic (Claude)</a:t>
            </a:r>
            <a:endParaRPr lang="en-US" sz="1500" dirty="0"/>
          </a:p>
        </p:txBody>
      </p:sp>
      <p:sp>
        <p:nvSpPr>
          <p:cNvPr id="19" name="arrow-207"/>
          <p:cNvSpPr/>
          <p:nvPr/>
        </p:nvSpPr>
        <p:spPr>
          <a:xfrm>
            <a:off x="6995160" y="246888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0" name="panel-208"/>
          <p:cNvSpPr/>
          <p:nvPr/>
        </p:nvSpPr>
        <p:spPr>
          <a:xfrm>
            <a:off x="7635240" y="2194560"/>
            <a:ext cx="4007815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icon-circle-209"/>
          <p:cNvSpPr/>
          <p:nvPr/>
        </p:nvSpPr>
        <p:spPr>
          <a:xfrm>
            <a:off x="777240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con-210" descr="Cub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377440"/>
            <a:ext cx="182880" cy="182880"/>
          </a:xfrm>
          <a:prstGeom prst="rect">
            <a:avLst/>
          </a:prstGeom>
        </p:spPr>
      </p:pic>
      <p:sp>
        <p:nvSpPr>
          <p:cNvPr id="23" name="text-211"/>
          <p:cNvSpPr txBox="1"/>
          <p:nvPr/>
        </p:nvSpPr>
        <p:spPr>
          <a:xfrm>
            <a:off x="832104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Amazon (Nova)</a:t>
            </a:r>
            <a:endParaRPr lang="en-US" sz="1500" dirty="0"/>
          </a:p>
        </p:txBody>
      </p:sp>
      <p:sp>
        <p:nvSpPr>
          <p:cNvPr id="24" name="arrow-212"/>
          <p:cNvSpPr/>
          <p:nvPr/>
        </p:nvSpPr>
        <p:spPr>
          <a:xfrm>
            <a:off x="6995160" y="320040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5" name="panel-213"/>
          <p:cNvSpPr/>
          <p:nvPr/>
        </p:nvSpPr>
        <p:spPr>
          <a:xfrm>
            <a:off x="7635240" y="2926080"/>
            <a:ext cx="4007815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icon-circle-214"/>
          <p:cNvSpPr/>
          <p:nvPr/>
        </p:nvSpPr>
        <p:spPr>
          <a:xfrm>
            <a:off x="7772400" y="3017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con-215" descr="Cub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108960"/>
            <a:ext cx="182880" cy="182880"/>
          </a:xfrm>
          <a:prstGeom prst="rect">
            <a:avLst/>
          </a:prstGeom>
        </p:spPr>
      </p:pic>
      <p:sp>
        <p:nvSpPr>
          <p:cNvPr id="28" name="text-216"/>
          <p:cNvSpPr txBox="1"/>
          <p:nvPr/>
        </p:nvSpPr>
        <p:spPr>
          <a:xfrm>
            <a:off x="832104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Meta (Llama)</a:t>
            </a:r>
            <a:endParaRPr lang="en-US" sz="1500" dirty="0"/>
          </a:p>
        </p:txBody>
      </p:sp>
      <p:sp>
        <p:nvSpPr>
          <p:cNvPr id="29" name="arrow-217"/>
          <p:cNvSpPr/>
          <p:nvPr/>
        </p:nvSpPr>
        <p:spPr>
          <a:xfrm>
            <a:off x="6995160" y="393192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30" name="panel-218"/>
          <p:cNvSpPr/>
          <p:nvPr/>
        </p:nvSpPr>
        <p:spPr>
          <a:xfrm>
            <a:off x="7635240" y="3657600"/>
            <a:ext cx="4007815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1" name="icon-circle-219"/>
          <p:cNvSpPr/>
          <p:nvPr/>
        </p:nvSpPr>
        <p:spPr>
          <a:xfrm>
            <a:off x="7772400" y="3749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2" name="icon-220" descr="Cub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840480"/>
            <a:ext cx="182880" cy="182880"/>
          </a:xfrm>
          <a:prstGeom prst="rect">
            <a:avLst/>
          </a:prstGeom>
        </p:spPr>
      </p:pic>
      <p:sp>
        <p:nvSpPr>
          <p:cNvPr id="33" name="text-221"/>
          <p:cNvSpPr txBox="1"/>
          <p:nvPr/>
        </p:nvSpPr>
        <p:spPr>
          <a:xfrm>
            <a:off x="832104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Mistral AI, Cohere та інші</a:t>
            </a:r>
            <a:endParaRPr lang="en-US" sz="1500" dirty="0"/>
          </a:p>
        </p:txBody>
      </p:sp>
      <p:sp>
        <p:nvSpPr>
          <p:cNvPr id="34" name="text-222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Критерії вибору моделі</a:t>
            </a:r>
            <a:endParaRPr lang="en-US" sz="1600" dirty="0"/>
          </a:p>
        </p:txBody>
      </p:sp>
      <p:sp>
        <p:nvSpPr>
          <p:cNvPr id="35" name="panel-223"/>
          <p:cNvSpPr/>
          <p:nvPr/>
        </p:nvSpPr>
        <p:spPr>
          <a:xfrm>
            <a:off x="548640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icon-circle-224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7" name="icon-225" descr="Bulls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5006340"/>
            <a:ext cx="228600" cy="228600"/>
          </a:xfrm>
          <a:prstGeom prst="rect">
            <a:avLst/>
          </a:prstGeom>
        </p:spPr>
      </p:pic>
      <p:sp>
        <p:nvSpPr>
          <p:cNvPr id="38" name="text-226"/>
          <p:cNvSpPr txBox="1"/>
          <p:nvPr/>
        </p:nvSpPr>
        <p:spPr>
          <a:xfrm>
            <a:off x="731520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Задача</a:t>
            </a:r>
            <a:endParaRPr lang="en-US" sz="1600" dirty="0"/>
          </a:p>
        </p:txBody>
      </p:sp>
      <p:sp>
        <p:nvSpPr>
          <p:cNvPr id="39" name="text-227"/>
          <p:cNvSpPr txBox="1"/>
          <p:nvPr/>
        </p:nvSpPr>
        <p:spPr>
          <a:xfrm>
            <a:off x="731520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Чат, код, підсумки чи зображення?</a:t>
            </a:r>
            <a:endParaRPr lang="en-US" sz="1400" dirty="0"/>
          </a:p>
        </p:txBody>
      </p:sp>
      <p:sp>
        <p:nvSpPr>
          <p:cNvPr id="40" name="panel-228"/>
          <p:cNvSpPr/>
          <p:nvPr/>
        </p:nvSpPr>
        <p:spPr>
          <a:xfrm>
            <a:off x="2794955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1" name="icon-circle-229"/>
          <p:cNvSpPr/>
          <p:nvPr/>
        </p:nvSpPr>
        <p:spPr>
          <a:xfrm>
            <a:off x="2977835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2" name="icon-230" descr="Sta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2135" y="5006340"/>
            <a:ext cx="228600" cy="228600"/>
          </a:xfrm>
          <a:prstGeom prst="rect">
            <a:avLst/>
          </a:prstGeom>
        </p:spPr>
      </p:pic>
      <p:sp>
        <p:nvSpPr>
          <p:cNvPr id="43" name="text-231"/>
          <p:cNvSpPr txBox="1"/>
          <p:nvPr/>
        </p:nvSpPr>
        <p:spPr>
          <a:xfrm>
            <a:off x="2977835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Якість</a:t>
            </a:r>
            <a:endParaRPr lang="en-US" sz="1600" dirty="0"/>
          </a:p>
        </p:txBody>
      </p:sp>
      <p:sp>
        <p:nvSpPr>
          <p:cNvPr id="44" name="text-232"/>
          <p:cNvSpPr txBox="1"/>
          <p:nvPr/>
        </p:nvSpPr>
        <p:spPr>
          <a:xfrm>
            <a:off x="2977835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Чи точні й корисні відповіді?</a:t>
            </a:r>
            <a:endParaRPr lang="en-US" sz="1400" dirty="0"/>
          </a:p>
        </p:txBody>
      </p:sp>
      <p:sp>
        <p:nvSpPr>
          <p:cNvPr id="45" name="panel-233"/>
          <p:cNvSpPr/>
          <p:nvPr/>
        </p:nvSpPr>
        <p:spPr>
          <a:xfrm>
            <a:off x="5041270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6" name="icon-circle-234"/>
          <p:cNvSpPr/>
          <p:nvPr/>
        </p:nvSpPr>
        <p:spPr>
          <a:xfrm>
            <a:off x="522415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7" name="icon-235" descr="Bol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8450" y="5006340"/>
            <a:ext cx="228600" cy="228600"/>
          </a:xfrm>
          <a:prstGeom prst="rect">
            <a:avLst/>
          </a:prstGeom>
        </p:spPr>
      </p:pic>
      <p:sp>
        <p:nvSpPr>
          <p:cNvPr id="48" name="text-236"/>
          <p:cNvSpPr txBox="1"/>
          <p:nvPr/>
        </p:nvSpPr>
        <p:spPr>
          <a:xfrm>
            <a:off x="5224150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Швидкість</a:t>
            </a:r>
            <a:endParaRPr lang="en-US" sz="1600" dirty="0"/>
          </a:p>
        </p:txBody>
      </p:sp>
      <p:sp>
        <p:nvSpPr>
          <p:cNvPr id="49" name="text-237"/>
          <p:cNvSpPr txBox="1"/>
          <p:nvPr/>
        </p:nvSpPr>
        <p:spPr>
          <a:xfrm>
            <a:off x="5224150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Чи прийнятна затримка для користувача?</a:t>
            </a:r>
            <a:endParaRPr lang="en-US" sz="1400" dirty="0"/>
          </a:p>
        </p:txBody>
      </p:sp>
      <p:sp>
        <p:nvSpPr>
          <p:cNvPr id="50" name="panel-238"/>
          <p:cNvSpPr/>
          <p:nvPr/>
        </p:nvSpPr>
        <p:spPr>
          <a:xfrm>
            <a:off x="7287585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1" name="icon-circle-239"/>
          <p:cNvSpPr/>
          <p:nvPr/>
        </p:nvSpPr>
        <p:spPr>
          <a:xfrm>
            <a:off x="7470465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2" name="icon-240" descr="LayerGrou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4765" y="5006340"/>
            <a:ext cx="228600" cy="228600"/>
          </a:xfrm>
          <a:prstGeom prst="rect">
            <a:avLst/>
          </a:prstGeom>
        </p:spPr>
      </p:pic>
      <p:sp>
        <p:nvSpPr>
          <p:cNvPr id="53" name="text-241"/>
          <p:cNvSpPr txBox="1"/>
          <p:nvPr/>
        </p:nvSpPr>
        <p:spPr>
          <a:xfrm>
            <a:off x="7470465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Context</a:t>
            </a:r>
            <a:endParaRPr lang="en-US" sz="1600" dirty="0"/>
          </a:p>
        </p:txBody>
      </p:sp>
      <p:sp>
        <p:nvSpPr>
          <p:cNvPr id="54" name="text-242"/>
          <p:cNvSpPr txBox="1"/>
          <p:nvPr/>
        </p:nvSpPr>
        <p:spPr>
          <a:xfrm>
            <a:off x="7470465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Скільки тексту влізе в один запит?</a:t>
            </a:r>
            <a:endParaRPr lang="en-US" sz="1400" dirty="0"/>
          </a:p>
        </p:txBody>
      </p:sp>
      <p:sp>
        <p:nvSpPr>
          <p:cNvPr id="55" name="panel-243"/>
          <p:cNvSpPr/>
          <p:nvPr/>
        </p:nvSpPr>
        <p:spPr>
          <a:xfrm>
            <a:off x="9533900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6" name="icon-circle-244"/>
          <p:cNvSpPr/>
          <p:nvPr/>
        </p:nvSpPr>
        <p:spPr>
          <a:xfrm>
            <a:off x="971678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7" name="icon-245" descr="Coin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1080" y="5006340"/>
            <a:ext cx="228600" cy="228600"/>
          </a:xfrm>
          <a:prstGeom prst="rect">
            <a:avLst/>
          </a:prstGeom>
        </p:spPr>
      </p:pic>
      <p:sp>
        <p:nvSpPr>
          <p:cNvPr id="58" name="text-246"/>
          <p:cNvSpPr txBox="1"/>
          <p:nvPr/>
        </p:nvSpPr>
        <p:spPr>
          <a:xfrm>
            <a:off x="9716780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Вартість</a:t>
            </a:r>
            <a:endParaRPr lang="en-US" sz="1600" dirty="0"/>
          </a:p>
        </p:txBody>
      </p:sp>
      <p:sp>
        <p:nvSpPr>
          <p:cNvPr id="59" name="text-247"/>
          <p:cNvSpPr txBox="1"/>
          <p:nvPr/>
        </p:nvSpPr>
        <p:spPr>
          <a:xfrm>
            <a:off x="9716780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Ціна за input і output tokens</a:t>
            </a:r>
            <a:endParaRPr lang="en-US" sz="14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Практика: Bedrock Runtime через boto3</a:t>
            </a:r>
            <a:endParaRPr lang="en-US" sz="3400" dirty="0"/>
          </a:p>
        </p:txBody>
      </p:sp>
      <p:sp>
        <p:nvSpPr>
          <p:cNvPr id="3" name="panel-248"/>
          <p:cNvSpPr/>
          <p:nvPr/>
        </p:nvSpPr>
        <p:spPr>
          <a:xfrm>
            <a:off x="548640" y="1417320"/>
            <a:ext cx="7223760" cy="4892040"/>
          </a:xfrm>
          <a:prstGeom prst="roundRect">
            <a:avLst>
              <a:gd name="adj" fmla="val 224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-249"/>
          <p:cNvSpPr txBox="1"/>
          <p:nvPr/>
        </p:nvSpPr>
        <p:spPr>
          <a:xfrm>
            <a:off x="8229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bedrock_demo.py</a:t>
            </a:r>
            <a:endParaRPr lang="en-US" sz="1200" dirty="0"/>
          </a:p>
        </p:txBody>
      </p:sp>
      <p:sp>
        <p:nvSpPr>
          <p:cNvPr id="5" name="text-250"/>
          <p:cNvSpPr txBox="1"/>
          <p:nvPr/>
        </p:nvSpPr>
        <p:spPr>
          <a:xfrm>
            <a:off x="822960" y="19202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boto3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 = "amazon.nova-lite-v1:0"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boto3.client("bedrock-runtime", region_name="us-east-1")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"Поясни, що таке token, у двох реченнях."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client.converse(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modelId=MODEL_ID,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[{"text": prompt}]}],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inferenceConfig={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"maxTokens": 300,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"temperature": 0.3,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"topP": 0.9,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print(response["output"]["message"]["content"][0]["text"])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print(response["usage"])</a:t>
            </a:r>
            <a:endParaRPr lang="en-US" sz="1300" dirty="0"/>
          </a:p>
        </p:txBody>
      </p:sp>
      <p:sp>
        <p:nvSpPr>
          <p:cNvPr id="6" name="num-251"/>
          <p:cNvSpPr txBox="1"/>
          <p:nvPr/>
        </p:nvSpPr>
        <p:spPr>
          <a:xfrm>
            <a:off x="80467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252"/>
          <p:cNvSpPr txBox="1"/>
          <p:nvPr/>
        </p:nvSpPr>
        <p:spPr>
          <a:xfrm>
            <a:off x="8686800" y="137160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Створюємо клієнт bedrock-runtime — він надсилає запити моделі</a:t>
            </a:r>
            <a:endParaRPr lang="en-US" sz="1400" dirty="0"/>
          </a:p>
        </p:txBody>
      </p:sp>
      <p:sp>
        <p:nvSpPr>
          <p:cNvPr id="8" name="num-253"/>
          <p:cNvSpPr txBox="1"/>
          <p:nvPr/>
        </p:nvSpPr>
        <p:spPr>
          <a:xfrm>
            <a:off x="804672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254"/>
          <p:cNvSpPr txBox="1"/>
          <p:nvPr/>
        </p:nvSpPr>
        <p:spPr>
          <a:xfrm>
            <a:off x="8686800" y="219456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Передаємо modelId, prompt і inferenceConfig з параметрами</a:t>
            </a:r>
            <a:endParaRPr lang="en-US" sz="1400" dirty="0"/>
          </a:p>
        </p:txBody>
      </p:sp>
      <p:sp>
        <p:nvSpPr>
          <p:cNvPr id="10" name="num-255"/>
          <p:cNvSpPr txBox="1"/>
          <p:nvPr/>
        </p:nvSpPr>
        <p:spPr>
          <a:xfrm>
            <a:off x="80467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-256"/>
          <p:cNvSpPr txBox="1"/>
          <p:nvPr/>
        </p:nvSpPr>
        <p:spPr>
          <a:xfrm>
            <a:off x="8686800" y="301752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Дістаємо текст відповіді з output → message → content</a:t>
            </a:r>
            <a:endParaRPr lang="en-US" sz="1400" dirty="0"/>
          </a:p>
        </p:txBody>
      </p:sp>
      <p:sp>
        <p:nvSpPr>
          <p:cNvPr id="12" name="num-257"/>
          <p:cNvSpPr txBox="1"/>
          <p:nvPr/>
        </p:nvSpPr>
        <p:spPr>
          <a:xfrm>
            <a:off x="804672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text-258"/>
          <p:cNvSpPr txBox="1"/>
          <p:nvPr/>
        </p:nvSpPr>
        <p:spPr>
          <a:xfrm>
            <a:off x="8686800" y="3840480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usage показує кількість input і output tokens</a:t>
            </a:r>
            <a:endParaRPr lang="en-US" sz="1400" dirty="0"/>
          </a:p>
        </p:txBody>
      </p:sp>
      <p:sp>
        <p:nvSpPr>
          <p:cNvPr id="14" name="panel-259"/>
          <p:cNvSpPr/>
          <p:nvPr/>
        </p:nvSpPr>
        <p:spPr>
          <a:xfrm>
            <a:off x="8046720" y="4846320"/>
            <a:ext cx="3596335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-260"/>
          <p:cNvSpPr txBox="1"/>
          <p:nvPr/>
        </p:nvSpPr>
        <p:spPr>
          <a:xfrm>
            <a:off x="8275320" y="48463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Перед запуском: налаштуйте AWS-облікові дані, перевірте доступ до моделі у вашому регіоні та дозвіл bedrock:InvokeModel.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Tokens і вартість запиту</a:t>
            </a:r>
            <a:endParaRPr lang="en-US" sz="3400" dirty="0"/>
          </a:p>
        </p:txBody>
      </p:sp>
      <p:sp>
        <p:nvSpPr>
          <p:cNvPr id="3" name="panel-261"/>
          <p:cNvSpPr/>
          <p:nvPr/>
        </p:nvSpPr>
        <p:spPr>
          <a:xfrm>
            <a:off x="548640" y="1417320"/>
            <a:ext cx="576072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text-262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Скільки коштує один запит</a:t>
            </a:r>
            <a:endParaRPr lang="en-US" sz="1800" dirty="0"/>
          </a:p>
        </p:txBody>
      </p:sp>
      <p:sp>
        <p:nvSpPr>
          <p:cNvPr id="5" name="chip-263"/>
          <p:cNvSpPr txBox="1"/>
          <p:nvPr/>
        </p:nvSpPr>
        <p:spPr>
          <a:xfrm>
            <a:off x="822960" y="2148840"/>
            <a:ext cx="521208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Вартість = input × ціна input + output × ціна output</a:t>
            </a:r>
            <a:endParaRPr lang="en-US" sz="1500" dirty="0"/>
          </a:p>
        </p:txBody>
      </p:sp>
      <p:sp>
        <p:nvSpPr>
          <p:cNvPr id="6" name="text-264"/>
          <p:cNvSpPr txBox="1"/>
          <p:nvPr/>
        </p:nvSpPr>
        <p:spPr>
          <a:xfrm>
            <a:off x="82296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Приклад з умовними цінами</a:t>
            </a:r>
            <a:endParaRPr lang="en-US" sz="1400" dirty="0"/>
          </a:p>
        </p:txBody>
      </p:sp>
      <p:sp>
        <p:nvSpPr>
          <p:cNvPr id="7" name="text-265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· 1 200</a:t>
            </a:r>
            <a:endParaRPr lang="en-US" sz="1400" dirty="0"/>
          </a:p>
        </p:txBody>
      </p:sp>
      <p:sp>
        <p:nvSpPr>
          <p:cNvPr id="8" name="bar-266"/>
          <p:cNvSpPr/>
          <p:nvPr/>
        </p:nvSpPr>
        <p:spPr>
          <a:xfrm>
            <a:off x="2468880" y="3639312"/>
            <a:ext cx="1261872" cy="31089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-267"/>
          <p:cNvSpPr txBox="1"/>
          <p:nvPr/>
        </p:nvSpPr>
        <p:spPr>
          <a:xfrm>
            <a:off x="3867912" y="3566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$0.0036</a:t>
            </a:r>
            <a:endParaRPr lang="en-US" sz="1400" dirty="0"/>
          </a:p>
        </p:txBody>
      </p:sp>
      <p:sp>
        <p:nvSpPr>
          <p:cNvPr id="10" name="text-268"/>
          <p:cNvSpPr txBox="1"/>
          <p:nvPr/>
        </p:nvSpPr>
        <p:spPr>
          <a:xfrm>
            <a:off x="82296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 · 400</a:t>
            </a:r>
            <a:endParaRPr lang="en-US" sz="1400" dirty="0"/>
          </a:p>
        </p:txBody>
      </p:sp>
      <p:sp>
        <p:nvSpPr>
          <p:cNvPr id="11" name="bar-269"/>
          <p:cNvSpPr/>
          <p:nvPr/>
        </p:nvSpPr>
        <p:spPr>
          <a:xfrm>
            <a:off x="2468880" y="4233672"/>
            <a:ext cx="210312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-270"/>
          <p:cNvSpPr txBox="1"/>
          <p:nvPr/>
        </p:nvSpPr>
        <p:spPr>
          <a:xfrm>
            <a:off x="4709160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$0.0060</a:t>
            </a:r>
            <a:endParaRPr lang="en-US" sz="1400" dirty="0"/>
          </a:p>
        </p:txBody>
      </p:sp>
      <p:sp>
        <p:nvSpPr>
          <p:cNvPr id="13" name="text-271"/>
          <p:cNvSpPr txBox="1"/>
          <p:nvPr/>
        </p:nvSpPr>
        <p:spPr>
          <a:xfrm>
            <a:off x="822960" y="4846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Разом: $0.0096 за запит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≈ $96 за 10 000 запитів</a:t>
            </a:r>
            <a:endParaRPr lang="en-US" sz="1600" dirty="0"/>
          </a:p>
        </p:txBody>
      </p:sp>
      <p:sp>
        <p:nvSpPr>
          <p:cNvPr id="14" name="text-272"/>
          <p:cNvSpPr txBox="1"/>
          <p:nvPr/>
        </p:nvSpPr>
        <p:spPr>
          <a:xfrm>
            <a:off x="822960" y="56235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Ціни умовні: $0.003 за 1 000 input і $0.015 за 1 000 output tokens. Актуальні дивіться на сторінці Bedrock Pricing.</a:t>
            </a:r>
            <a:endParaRPr lang="en-US" sz="1200" dirty="0"/>
          </a:p>
        </p:txBody>
      </p:sp>
      <p:sp>
        <p:nvSpPr>
          <p:cNvPr id="15" name="panel-273"/>
          <p:cNvSpPr/>
          <p:nvPr/>
        </p:nvSpPr>
        <p:spPr>
          <a:xfrm>
            <a:off x="6583680" y="1417320"/>
            <a:ext cx="5059375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-274"/>
          <p:cNvSpPr txBox="1"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Як зменшити вартість</a:t>
            </a:r>
            <a:endParaRPr lang="en-US" sz="1800" dirty="0"/>
          </a:p>
        </p:txBody>
      </p:sp>
      <p:sp>
        <p:nvSpPr>
          <p:cNvPr id="17" name="icon-circle-275"/>
          <p:cNvSpPr/>
          <p:nvPr/>
        </p:nvSpPr>
        <p:spPr>
          <a:xfrm>
            <a:off x="6858000" y="2331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con-276" descr="Cu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468880"/>
            <a:ext cx="274320" cy="274320"/>
          </a:xfrm>
          <a:prstGeom prst="rect">
            <a:avLst/>
          </a:prstGeom>
        </p:spPr>
      </p:pic>
      <p:sp>
        <p:nvSpPr>
          <p:cNvPr id="19" name="text-277"/>
          <p:cNvSpPr txBox="1"/>
          <p:nvPr/>
        </p:nvSpPr>
        <p:spPr>
          <a:xfrm>
            <a:off x="7635240" y="22402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Скорочуйте prompt: без зайвого контексту й повторів</a:t>
            </a:r>
            <a:endParaRPr lang="en-US" sz="1500" dirty="0"/>
          </a:p>
        </p:txBody>
      </p:sp>
      <p:sp>
        <p:nvSpPr>
          <p:cNvPr id="20" name="icon-circle-278"/>
          <p:cNvSpPr/>
          <p:nvPr/>
        </p:nvSpPr>
        <p:spPr>
          <a:xfrm>
            <a:off x="685800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con-279" descr="Stop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474720"/>
            <a:ext cx="274320" cy="274320"/>
          </a:xfrm>
          <a:prstGeom prst="rect">
            <a:avLst/>
          </a:prstGeom>
        </p:spPr>
      </p:pic>
      <p:sp>
        <p:nvSpPr>
          <p:cNvPr id="22" name="text-280"/>
          <p:cNvSpPr txBox="1"/>
          <p:nvPr/>
        </p:nvSpPr>
        <p:spPr>
          <a:xfrm>
            <a:off x="7635240" y="32461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Обмежуйте maxTokens, щоб відповідь не розтягувалась</a:t>
            </a:r>
            <a:endParaRPr lang="en-US" sz="1500" dirty="0"/>
          </a:p>
        </p:txBody>
      </p:sp>
      <p:sp>
        <p:nvSpPr>
          <p:cNvPr id="23" name="icon-circle-281"/>
          <p:cNvSpPr/>
          <p:nvPr/>
        </p:nvSpPr>
        <p:spPr>
          <a:xfrm>
            <a:off x="6858000" y="4343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con-282" descr="Coin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4480560"/>
            <a:ext cx="274320" cy="274320"/>
          </a:xfrm>
          <a:prstGeom prst="rect">
            <a:avLst/>
          </a:prstGeom>
        </p:spPr>
      </p:pic>
      <p:sp>
        <p:nvSpPr>
          <p:cNvPr id="25" name="text-283"/>
          <p:cNvSpPr txBox="1"/>
          <p:nvPr/>
        </p:nvSpPr>
        <p:spPr>
          <a:xfrm>
            <a:off x="7635240" y="42519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Для простих задач обирайте меншу й дешевшу модель</a:t>
            </a:r>
            <a:endParaRPr lang="en-US" sz="1500" dirty="0"/>
          </a:p>
        </p:txBody>
      </p:sp>
      <p:sp>
        <p:nvSpPr>
          <p:cNvPr id="26" name="icon-circle-284"/>
          <p:cNvSpPr/>
          <p:nvPr/>
        </p:nvSpPr>
        <p:spPr>
          <a:xfrm>
            <a:off x="6858000" y="5349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con-285" descr="ChartB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5486400"/>
            <a:ext cx="274320" cy="274320"/>
          </a:xfrm>
          <a:prstGeom prst="rect">
            <a:avLst/>
          </a:prstGeom>
        </p:spPr>
      </p:pic>
      <p:sp>
        <p:nvSpPr>
          <p:cNvPr id="28" name="text-286"/>
          <p:cNvSpPr txBox="1"/>
          <p:nvPr/>
        </p:nvSpPr>
        <p:spPr>
          <a:xfrm>
            <a:off x="7635240" y="52578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Перевіряйте response["usage"] у кожному експерименті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Navy Orange">
  <a:themeElements>
    <a:clrScheme name="AWS Navy Orange">
      <a:dk1>
        <a:srgbClr val="16213A"/>
      </a:dk1>
      <a:lt1>
        <a:srgbClr val="FFFFFF"/>
      </a:lt1>
      <a:dk2>
        <a:srgbClr val="2B3C63"/>
      </a:dk2>
      <a:lt2>
        <a:srgbClr val="EEF1F5"/>
      </a:lt2>
      <a:accent1>
        <a:srgbClr val="FF9900"/>
      </a:accent1>
      <a:accent2>
        <a:srgbClr val="3B82C4"/>
      </a:accent2>
      <a:accent3>
        <a:srgbClr val="1F8A7C"/>
      </a:accent3>
      <a:accent4>
        <a:srgbClr val="7A8AA6"/>
      </a:accent4>
      <a:accent5>
        <a:srgbClr val="C0392B"/>
      </a:accent5>
      <a:accent6>
        <a:srgbClr val="5B6B8C"/>
      </a:accent6>
      <a:hlink>
        <a:srgbClr val="3B82C4"/>
      </a:hlink>
      <a:folHlink>
        <a:srgbClr val="7A8AA6"/>
      </a:folHlink>
    </a:clrScheme>
    <a:fontScheme name="AWS Navy Oran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1789</Words>
  <Application>Microsoft Macintosh PowerPoint</Application>
  <PresentationFormat>Widescreen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AWS Navy Orange</vt:lpstr>
      <vt:lpstr>Generative AI, LLM та Amazon Bedrock</vt:lpstr>
      <vt:lpstr>Задачі заняття та зв'язок із життям</vt:lpstr>
      <vt:lpstr>Generative AI та LLM: основні поняття</vt:lpstr>
      <vt:lpstr>Як LLM генерує відповідь</vt:lpstr>
      <vt:lpstr>Hallucinations: впевнено, але хибно</vt:lpstr>
      <vt:lpstr>Структура ефективного prompt</vt:lpstr>
      <vt:lpstr>Inference parameters</vt:lpstr>
      <vt:lpstr>Amazon Bedrock і вибір моделі</vt:lpstr>
      <vt:lpstr>Практика: Bedrock Runtime через boto3</vt:lpstr>
      <vt:lpstr>Tokens і вартість запиту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AI, LLM та Amazon Bedrock</dc:title>
  <dc:subject>Generative AI, LLM, Amazon Bedrock</dc:subject>
  <dc:creator>PptxGenJS</dc:creator>
  <cp:lastModifiedBy>Дмитро Штефан</cp:lastModifiedBy>
  <cp:revision>2</cp:revision>
  <dcterms:created xsi:type="dcterms:W3CDTF">2026-10-04T21:49:17Z</dcterms:created>
  <dcterms:modified xsi:type="dcterms:W3CDTF">2026-10-05T16:33:08Z</dcterms:modified>
</cp:coreProperties>
</file>