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2" r:id="rId8"/>
    <p:sldId id="261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40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занятті з безпеки AWS! Сьогодні розбираємо IAM — Identity and Access Management, сервіс, без якого не обходиться жоден AWS-акаунт. Це та тема, яку я особисто вважаю найважливішою у всьому курсі: неправильно налаштований доступ — головна причина витоків даних і зламів хмарної інфраструктури на практиці. До кінця заняття ви розумітимете, як влаштовані користувачі, групи, ролі та політики, як увімкнути MFA, як AWS-сервіси автентифікують один одного, і як відстежити, хто і що робив у вашому акаунті.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IAM вирішує рівно дві задачі: автентифікація — перевірка "хто ти" (логін-пароль, ключі доступу, MFA), і авторизація — перевірка "що тобі можна" за допомогою політик. Важливо зрозуміти: IAM не шифрує дані і не захищає мережу — за це відповідають інші сервіси, наприклад KMS чи Security Groups. IAM — це виключно про особи (identities) і їхні права. Сама рецепція безкоштовна: ви не платите за користувачів, групи, ролі чи політики — платите тільки за ресурси, до яких вони отримують доступ. Це робить впровадження правильної моделі доступу дешевим "по замовчуванню" рішенням — немає причин цим нехтувати.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заглиблюватись у деталі IAM, важливо зрозуміти загальний контекст — модель спільної відповідальності AWS. Це фундаментальний принцип: AWS відповідає за безпеку "самої хмари" — фізичні дата-центри, глобальну мережу, апаратне забезпечення, шар віртуалізації. Ви як клієнт ніколи не побачите ці рівні і не можете на них вплинути, але й не повинні про них турбуватись — AWS гарантує їхню безпеку контрактно, через SLA. А от усе, що "в хмарі" — тобто як ви налаштували свої ресурси всередині акаунту — це вже повністю ваша зона відповідальності: які користувачі й ролі IAM існують, які політики їм призначені, як налаштована мережа через Security Groups, чи зашифровані дані, чи оновлена операційна система на ваших EC2-інстансах. Простими словами: AWS відповідає, щоб замок на дверях під'їзду був міцним, а от чи замкнені двері у вашій квартирі і кому ви дали ключі — вирішуєте тільки ви. Саме тому весь сьогоднішній матеріал про IAM — це не просто теорія, а ваша пряма зона відповідальності: жодна хмарна платформа не візьме це на себе за вас.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Розберемо на прикладі команди. Кожен розробник отримує окремого користувача (User) — так ми завжди знаємо, хто саме виконав дію. Замість того, щоб кожному вручну призначати десяток політик, ми об'єднуємо розробників у групу "Developers" і призначаємо політики один раз групі — додали нову людину в команду, додали в групу, і вона автоматично отримала всі потрібні права. Роль — це особливий випадок: вона не належить конкретній людині назавжди, а видається тимчасово. Наприклад, розробник може "прийняти" роль адміністратора на 1 годину для термінового виправлення, або, що частіше на практиці, роль призначається не людині, а сервісу AWS — про це поговоримо на слайді про ролі для сервісів. Запам'ятайте просте правило: користувачі — для постійної ідентичності, групи — для зручного масового керування правами, ролі — для тимчасового чи міжсервісного доступу.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так виглядає найпростіша політика IAM у форматі JSON. Розберемо по частинах: Effect визначає, дозволяємо ми дію чи забороняємо — Allow або Deny. Action — конкретна операція API, у прикладі це s3:GetObject, тобто читання об'єкта з S3. Resource — ARN, тобто унікальний ідентифікатор ресурсу, на який дозвіл поширюється, у нашому прикладі — усі об'єкти в бакеті "my-bucket". Є ще необов'язковий блок Condition, який дозволяє додати умови, наприклад "тільки якщо запит іде з офісної IP-адреси" чи "тільки якщо увімкнено MFA". Дуже важливе правило, яке часто питають на співбесідах: якщо одна політика дозволяє дію, а інша явно її забороняє — забороняє завжди перемагає. Це базовий принцип безпеки AWS: за замовчуванням усе заборонено, і лише явний Allow відкриває доступ, а явний Deny ніколи не можна перебити іншим дозволом.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Це, мабуть, найважливіший принцип безпеки в хмарі взагалі, не тільки в AWS. Дуже поширена помилка новачків — видати всім розробникам AdministratorAccess, "щоб нічого не заважало розробці". Проблема в тому, що коли (не якщо, а коли) один з ключів доступу витече — наприклад, випадково потрапить у публічний репозиторій на GitHub — зловмисник отримає повний контроль над усім акаунтом: зможе видалити бази даних, підняти дорогі ресурси для майнінгу криптовалюти, вкрасти дані клієнтів. Натомість правильний підхід — видавати вузько заточені політики: якщо розробнику потрібен лише доступ на читання до одного S3-бакета, саме таку політику він і отримує, більше нічого. AWS навіть має спеціальний інструмент — IAM Access Analyzer, — який аналізує реальне використання прав і підказує, які дозволи можна безпечно прибрати, бо ними ніхто не користується.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Дуже поширений на практиці сценарій — коли один сервіс AWS повинен звернутись до іншого. Наприклад, застосунок на EC2-інстансі повинен прочитати файл конфігурації з S3, або Lambda-функція повинна записати результат обробки в DynamoDB. Найгірший спосіб це зробити — захардкодити ключі доступу IAM-користувача прямо в коді застосунку: якщо код колись потрапить у публічний репозиторій, ключі буде скомпрометовано. Правильний спосіб — прив'язати до EC2-інстансу чи Lambda-функції IAM-роль. AWS сам, "під капотом", видає застосунку тимчасові облікові дані, які автоматично ротуються, — розробнику взагалі не потрібно керувати жодними ключами. Технічно це відбувається через AWS Security Token Service (STS), який видає токени з обмеженим часом дії. Це і безпечніше, і зручніше: якщо роль скомпрометована, тимчасові токени самі стануть недійсними за лічені години, на відміну від постійних ключів доступу, які потрібно вручну відкликати.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Покажу, як це виглядає на практиці, крок за кроком — так само, як ви робитимете це самі під час лабораторної роботи. Найперше: root-користувач — це особливий акаунт з повним доступом, створений при реєстрації AWS, і для нього MFA обов'язковий буквально з першого дня, як і для всіх адміністраторів. Далі заходимо в консоль IAM, обираємо потрібного користувача і в розділі Security credentials знаходимо пункт Assign MFA device. AWS запропонує кілька варіантів: найпростіший — віртуальний MFA-пристрій, тобто застосунок-автентифікатор на телефоні, на кшталт Google Authenticator чи Authy; є й апаратні ключі, типу YubiKey, для ще вищого рівня безпеки. Скануємо QR-код застосунком — він почне генерувати одноразові 6-значні коди, що змінюються кожні 30 секунд. AWS попросить ввести два коди підряд, щоб переконатись, що синхронізація пройшла коректно — і </a:t>
            </a:r>
            <a:r>
              <a:rPr lang="en-US" dirty="0" err="1"/>
              <a:t>після</a:t>
            </a:r>
            <a:r>
              <a:rPr lang="en-US" dirty="0"/>
              <a:t> цього при кожному вході, окрім пароля, потрібно буде ввести код з телефону.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CloudTrail — це, по суті, повний журнал подій вашого AWS-акаунту: кожного разу, коли хтось або щось звертається до API AWS — створює сервер, видаляє бакет, змінює політику IAM — CloudTrail записує це у вигляді події з повним контекстом: хто саме це зробив, яким методом автентифікації, з якої IP-адреси, у який час і який був результат. На екрані — спрощений приклад такого запису: видно, що користувач dmytro.k видалив бакет my-old-project-bucket о 14:32 за UTC з певної IP-адреси. Уявіть ситуацію: вранці команда виявляє, що зник важливий S3-бакет із даними. Без CloudTrail — це загадка. З CloudTrail — один запит у консолі, і за хвилину ви знаєте, хто, коли і звідки це зробив. Важлива практична порада: CloudTrail за замовчуванням зберігає останні 90 днів подій безкоштовно, але для довгострокового зберігання й аналізу логи варто виводити в окремий S3-бакет або підключати до Amazon Athena для SQL-запитів по історії подій.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 заняття у форматі короткого чек-листа, який раджу тримати перед очима під час роботи з будь-яким AWS-акаунтом. Ніколи не використовуйте root-акаунт у повсякденній роботі — він потрібен лише для рідкісних адміністративних дій, на кшталт зміни платіжних даних. Обов'язково MFA — це найдешевший спосіб радикально підвищити безпеку. Групи замість індивідуальних політик — це і безпечніше, і просто економить ваш час. Мінімальні привілеї — золоте правило, яке варто перевіряти регулярно, а не один раз при створенні користувача. Ролі замість постійних ключів для сервісів — особливо важливо, бо витік ключа з коду застосунку — одна з найпоширеніших причин зламів. І нарешті CloudTrail — ваші очі й вуха в акаунті, які варто тримати увімкненими завжди. На наступному занятті ми перейдемо від контролю доступу до безпеки мережі — Security Groups, NACL і VPC.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shield_slate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8686800" y="3200400"/>
            <a:ext cx="3931920" cy="3931920"/>
          </a:xfrm>
          <a:prstGeom prst="rect">
            <a:avLst/>
          </a:prstGeom>
        </p:spPr>
      </p:pic>
      <p:pic>
        <p:nvPicPr>
          <p:cNvPr id="3" name="Image 1" descr="/home/claude/icons/key_slate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7315200" y="466344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8288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Безпека та керування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доступом (IAM)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Хто, до чого і на яких умовах має доступ у вашій AWS-інфраструктурі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/home/claude/icons/users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449824"/>
            <a:ext cx="301752" cy="3017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4360" y="5897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 й ролі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265176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/home/claude/icons/lock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5449824"/>
            <a:ext cx="301752" cy="30175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423160" y="5897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Політики доступу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48056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/home/claude/icons/history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5449824"/>
            <a:ext cx="301752" cy="30175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251960" y="5897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дій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Навіщо потрібен IAM?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(Identity and Access Management) </a:t>
            </a: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безкоштовний сервіс AWS, що відповідає на два питання для кожного запиту в акаунті: </a:t>
            </a:r>
            <a:r>
              <a:rPr lang="en-US" sz="15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"Хто ти?" </a:t>
            </a: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(автентифікація) і </a:t>
            </a:r>
            <a:r>
              <a:rPr lang="en-US" sz="15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"Що тобі дозволено?" </a:t>
            </a: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(авторизація).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IAM — це рецепція та служба охорони бізнес-центру. Рецепція перевіряє перепустку (хто ви), а охорона за списком дозволів вирішує, на які поверхи вас пустити (що вам можна).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720840" y="1810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відповідає за: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2331720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users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4414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0" y="235000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Ідентифікацію користувачів і сервісів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2990088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lock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0998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300837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Дозволи на дії з ресурсами AWS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20840" y="3648456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/home/claude/icons/fingerprint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37581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0" y="366674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Додаткові фактори перевірки (MFA)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720840" y="4306824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icons/history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41655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0" y="432511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Простежуваність — хто що зробив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20840" y="5010912"/>
            <a:ext cx="4572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5"/>
          <p:cNvSpPr txBox="1"/>
          <p:nvPr/>
        </p:nvSpPr>
        <p:spPr>
          <a:xfrm>
            <a:off x="6720840" y="519379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Головне: IAM керує доступом усередині акаунту, а не самими даними — це "хто може", а не "де зберігається".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429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спільної відповідальності (Shared Responsibility Model)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і клієнт відповідають за безпеку різних "шарів" — важливо чітко розуміти, де проходить межа.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91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 "ХМАРИ" (OF the Cloud)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0896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Фізична безпека дата-центрів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 мережа AWS (регіони, AZ)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Апаратне забезпечення й сховища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Гіпервізор і шар віртуалізації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05740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6492240" y="233172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user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4597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Клієнт (ви)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6791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 "В ХМАРІ" (IN the Cloud)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10896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Користувачі, ролі й політики IAM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 мережі (Security Groups)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Шифрування та класифікація даних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 ОС і застосунку (для EC2)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34924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/home/claude/icons/ke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5321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534924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це саме та межа, за яку відповідаєте ви: AWS не може знати, кому має бути дозволений доступ до ваших ресурсів.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3949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Користувачі, групи та ролі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624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базові типи "особи" (identity) в IAM — кожен з власним призначенням.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users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1546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Користувач (User)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1188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Постійна особа для людини або застосунку. Має власний логін/пароль та/або ключі доступу. Створюється один раз і існує, доки його не видалять.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539496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 txBox="1"/>
          <p:nvPr/>
        </p:nvSpPr>
        <p:spPr>
          <a:xfrm>
            <a:off x="868680" y="5394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людей та сервісних акаунтів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4709160" y="22860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icons/lay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688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9160" y="31546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Група (Group)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61188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Набір користувачів з однаковими правами. Політика призначається групі — усі учасники отримують її автоматично.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539496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 txBox="1"/>
          <p:nvPr/>
        </p:nvSpPr>
        <p:spPr>
          <a:xfrm>
            <a:off x="4709160" y="5394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Зручне масове керування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22960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8549640" y="22860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icons/userTag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4688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9640" y="31546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Роль (Role)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361188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Тимчасовий набір прав, який "надягає" на себе користувач або сервіс AWS на час виконання задачі, без постійних облікових даних.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549640" y="539496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0"/>
          <p:cNvSpPr txBox="1"/>
          <p:nvPr/>
        </p:nvSpPr>
        <p:spPr>
          <a:xfrm>
            <a:off x="8549640" y="5394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Тимчасовий, безпечніший доступ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886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Політики та дозволи (Policies і Permissions)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87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Політика — це документ у форматі JSON, що описує, які дії дозволені чи заборонені для яких ресурсів.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[{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"Effect": "Allow",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"s3:GetObject",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"Resource":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"arn:aws:s3:::my-bucket/*"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2214153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 txBox="1"/>
          <p:nvPr/>
        </p:nvSpPr>
        <p:spPr>
          <a:xfrm>
            <a:off x="6355080" y="2214153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1305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або Deny — дозволити чи заборонити дію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872521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 txBox="1"/>
          <p:nvPr/>
        </p:nvSpPr>
        <p:spPr>
          <a:xfrm>
            <a:off x="6355080" y="2872521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78892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Конкретна дія API, наприклад s3:GetObject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530889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 txBox="1"/>
          <p:nvPr/>
        </p:nvSpPr>
        <p:spPr>
          <a:xfrm>
            <a:off x="6355080" y="3530889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4472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який саме ресурс (ARN) поширюється дія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189257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 txBox="1"/>
          <p:nvPr/>
        </p:nvSpPr>
        <p:spPr>
          <a:xfrm>
            <a:off x="6355080" y="4189257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10565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Необов'язкові умови — наприклад, лише з IP-офісу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919472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 txBox="1"/>
          <p:nvPr/>
        </p:nvSpPr>
        <p:spPr>
          <a:xfrm>
            <a:off x="6629400" y="5056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Явна заборона (Deny) завжди перемагає — навіть якщо інша політика дозволяє ту саму дію.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434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 мінімальних привілеїв (Least Privilege)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64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надавайте користувачу чи сервісу лише ті права, які реально потрібні для виконання задачі — і жодного більше.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67712"/>
            <a:ext cx="5212080" cy="3218688"/>
          </a:xfrm>
          <a:prstGeom prst="roundRect">
            <a:avLst>
              <a:gd name="adj" fmla="val 3077"/>
            </a:avLst>
          </a:prstGeom>
          <a:solidFill>
            <a:srgbClr val="FDEEEC"/>
          </a:solidFill>
          <a:ln w="12700">
            <a:solidFill>
              <a:srgbClr val="F1C3B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exclamatio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67" y="26151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5687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Погана практика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9771"/>
            <a:ext cx="4572000" cy="1959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AdministratorAccess для всіх розробників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"На всяк випадок" — розширені права назавжди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спільний ключ доступу на всю команду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видаються, але ніколи не переглядаються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2267712"/>
            <a:ext cx="5212080" cy="3218688"/>
          </a:xfrm>
          <a:prstGeom prst="roundRect">
            <a:avLst>
              <a:gd name="adj" fmla="val 3077"/>
            </a:avLst>
          </a:prstGeom>
          <a:solidFill>
            <a:srgbClr val="EAF7EC"/>
          </a:solidFill>
          <a:ln w="12700">
            <a:solidFill>
              <a:srgbClr val="BFE3C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icons/checkDouble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927" y="26151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7847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Правильна практика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3069771"/>
            <a:ext cx="4572000" cy="1959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Окрема вузька політика під конкретну задачу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Тимчасові права через ролі, коли це можливо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Персональні облікові дані для кожного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Регулярний перегляд і відкликання зайвих прав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886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Ролі для сервісів: як AWS-сервіси довіряють одне одному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2165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Сервісні ролі дозволяють одному сервісу AWS звертатись до іншого без збереження постійних ключів доступу в коді.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erve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2926080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3547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3337560"/>
            <a:ext cx="53035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5120640" y="257403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 txBox="1"/>
          <p:nvPr/>
        </p:nvSpPr>
        <p:spPr>
          <a:xfrm>
            <a:off x="5120640" y="25740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3410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7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 файли конфігурації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961120" y="27432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cub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926080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61120" y="3547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280160" y="4663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icons/cogs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248" y="4846320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5468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429000" y="5257800"/>
            <a:ext cx="53035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5120640" y="4457701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5"/>
          <p:cNvSpPr txBox="1"/>
          <p:nvPr/>
        </p:nvSpPr>
        <p:spPr>
          <a:xfrm>
            <a:off x="5120640" y="4457701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53309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7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записує результат обробки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61120" y="4663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3" name="Image 3" descr="/home/claude/icons/databas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4846320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61120" y="5468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Багатофакторна автентифікація (MFA)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84632" y="112928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додає другий фактор перевірки особи — навіть якщо пароль скомпрометовано, зловмисник не зможе увійти без другого фактора.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30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548640" y="19653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422508"/>
            <a:ext cx="914" cy="173736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 txBox="1"/>
          <p:nvPr/>
        </p:nvSpPr>
        <p:spPr>
          <a:xfrm>
            <a:off x="1325880" y="19522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і привілейовані користувачі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522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 увімкнути MFA для root-акаунту та всіх, хто має розширені права.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2623676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 txBox="1"/>
          <p:nvPr/>
        </p:nvSpPr>
        <p:spPr>
          <a:xfrm>
            <a:off x="548640" y="26236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080876"/>
            <a:ext cx="914" cy="173736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 txBox="1"/>
          <p:nvPr/>
        </p:nvSpPr>
        <p:spPr>
          <a:xfrm>
            <a:off x="1325880" y="26106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Security credentials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106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консолі AWS відкрити профіль користувача та розділ "Assign MFA device".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48640" y="3282044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 txBox="1"/>
          <p:nvPr/>
        </p:nvSpPr>
        <p:spPr>
          <a:xfrm>
            <a:off x="548640" y="32820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739244"/>
            <a:ext cx="914" cy="173736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 txBox="1"/>
          <p:nvPr/>
        </p:nvSpPr>
        <p:spPr>
          <a:xfrm>
            <a:off x="1325880" y="32689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тип пристрою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2689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Застосунок-автентифікатор (Google Authenticator, Authy) або апаратний ключ безпеки.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3940412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548640" y="39404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4397612"/>
            <a:ext cx="914" cy="173736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 txBox="1"/>
          <p:nvPr/>
        </p:nvSpPr>
        <p:spPr>
          <a:xfrm>
            <a:off x="1325880" y="39273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Сканування QR-коду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92734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Прив'язати пристрій, відсканувавши QR-код у застосунку-автентифікаторі.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459878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 txBox="1"/>
          <p:nvPr/>
        </p:nvSpPr>
        <p:spPr>
          <a:xfrm>
            <a:off x="548640" y="4598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5857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кодами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58571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два послідовні одноразові коди, щоб підтвердити коректне налаштування.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0" descr="/home/claude/icons/key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71600" y="55321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налаштування MFA збережіть резервні коди відновлення в надійному місці — вони знадобляться, якщо телефон з автентифікатором буде втрачено.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4747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Відстеження дій через AWS CloudTrail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 </a:t>
            </a:r>
            <a:r>
              <a:rPr lang="en-US" sz="14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сервіс, що автоматично записує кожен виклик API в акаунті: хто, що, коли і звідки зробив.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ey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099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944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безпеки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видалив ресурс, змінив політику чи створив нового користувача.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icons/exclamatio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9684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8130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Розслідування інцидентів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Відновити повну картину дій під час підозрілої активності.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/home/claude/icons/checkDoubl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8371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4681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Комплаєнс і звітність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4983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Підтвердити відповідність внутрішнім і зовнішнім вимогам.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0" y="169164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icons/history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659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23760" y="1984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запису події (Event)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720840" y="2606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(User)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8823960" y="2606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dmytro.k@company.com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720840" y="3035808"/>
            <a:ext cx="4572000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17"/>
          <p:cNvSpPr txBox="1"/>
          <p:nvPr/>
        </p:nvSpPr>
        <p:spPr>
          <a:xfrm>
            <a:off x="6720840" y="3108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 (Event name)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8823960" y="3108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DeleteBucket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720840" y="3538728"/>
            <a:ext cx="4572000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 txBox="1"/>
          <p:nvPr/>
        </p:nvSpPr>
        <p:spPr>
          <a:xfrm>
            <a:off x="6720840" y="36118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882396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my-old-project-bucket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720840" y="4041648"/>
            <a:ext cx="4572000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3"/>
          <p:cNvSpPr txBox="1"/>
          <p:nvPr/>
        </p:nvSpPr>
        <p:spPr>
          <a:xfrm>
            <a:off x="6720840" y="4114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(Source IP)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8823960" y="4114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93.184.216.34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720840" y="4544568"/>
            <a:ext cx="4572000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26"/>
          <p:cNvSpPr txBox="1"/>
          <p:nvPr/>
        </p:nvSpPr>
        <p:spPr>
          <a:xfrm>
            <a:off x="6720840" y="4617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8823960" y="4617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2026-09-15 14:32 UTC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720840" y="5047488"/>
            <a:ext cx="4572000" cy="0"/>
          </a:xfrm>
          <a:prstGeom prst="line">
            <a:avLst/>
          </a:prstGeom>
          <a:noFill/>
          <a:ln w="9525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29"/>
          <p:cNvSpPr txBox="1"/>
          <p:nvPr/>
        </p:nvSpPr>
        <p:spPr>
          <a:xfrm>
            <a:off x="6720840" y="51206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Регіон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8823960" y="5120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eu-central-1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 безпеки IAM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ba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використовувати root-акаунт для повсякденної роботи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46520" y="18745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6675120" y="20574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icons/fingerprin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1671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8745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Увімкнути MFA для root та всіх привілейованих користувачів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/home/claude/icons/lay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218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Групувати права через групи, а не призначати кожному окремо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46520" y="292608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6675120" y="31089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icons/checkDoub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218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Дотримуватись принципу мінімальних привілеїв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4" descr="/home/claude/icons/userTa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27024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39776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Використовувати ролі замість постійних ключів для сервісів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46520" y="39776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18"/>
          <p:cNvSpPr/>
          <p:nvPr/>
        </p:nvSpPr>
        <p:spPr>
          <a:xfrm>
            <a:off x="6675120" y="416052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5" descr="/home/claude/icons/history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427024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15200" y="39776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Тримати CloudTrail увімкненим і регулярно переглядати логи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безпека мережі в AWS — Security Groups, NACL та VPC.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IAM: Безпека та керування доступом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2613</TotalTime>
  <Words>2493</Words>
  <Application>Microsoft Macintosh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3</cp:revision>
  <dcterms:created xsi:type="dcterms:W3CDTF">2026-09-18T20:10:28Z</dcterms:created>
  <dcterms:modified xsi:type="dcterms:W3CDTF">2026-09-20T15:46:41Z</dcterms:modified>
</cp:coreProperties>
</file>