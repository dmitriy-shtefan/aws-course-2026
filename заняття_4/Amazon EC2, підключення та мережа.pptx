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39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7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новому занятті! Сьогодні розглянемо Amazon EC2 — сервіс віртуальних серверів, з якого для більшості людей і починається практичне знайомство з AWS. Ми розберемо, що таке інстанс, які бувають типи інстансів і для чого кожен призначений, як запустити свій перший сервер і підключитись до нього — і через SSH для Linux, і через RDP для Windows. Поговоримо про те, як економити на вартості за допомогою Spot та Reserved Instances. А другу половину заняття присвятимо мережі: як Security Groups захищають ваш інстанс, як влаштовані VPC і підмережі, і як керувати мережевими ресурсами — включно з Elastic IP та мережевими інтерфейсами. Це заняття логічно продовжує тему IAM: там ми говорили, хто має доступ, а сьогодні — як технічно влаштований сам сервер і мережа навколо нього.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EC2 — один з найстаріших і найважливіших сервісів AWS, тому термінологію варто засвоїти одразу. Instance — це, власне, ваш запущений сервер: коли ви "запускаєте EC2", у результаті отримуєте інстанс. AMI, Amazon Machine Image — це шаблон, з якого інстанс стартує: у ньому вже "запечена" операційна система і, за бажанням, попередньо встановлене програмне забезпечення; AWS надає готові AMI для Amazon Linux, Ubuntu, Windows Server, а ви можете створювати й власні. Instance Type визначає "залізо" — скільки віртуальних CPU, скільки оперативної пам'яті й яка пропускна здатність мережі буде у вашого сервера, про це детальніше поговоримо на наступному слайді. Key Pair — це механізм автентифікації без пароля: приватний ключ залишається у вас, публічний AWS кладе на сервер, і саме комбінація цих ключів дозволяє підключитись по SSH. І нарешті EBS Volume — диск, який зберігає дані інстансу; важливо, що диск EBS існує окремо від інстансу й може пережити його видалення, якщо налаштувати відповідну опцію.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пропонує сотні комбінацій типів інстансів, але всі вони групуються у кілька зрозумілих родин. Родина M та T — загального призначення: збалансоване співвідношення CPU, пам'яті й мережі, ідеально для веб-серверів, невеликих баз даних, більшості типових застосунків — t3.micro, до речі, входить у безкоштовний рівень AWS і чудово підходить для навчання. Родина C — оптимізована під CPU: більше обчислювальної потужності на ту саму вартість, підходить для задач, де процесор — вузьке місце: кодування відео, наукові симуляції, обробка великих потоків даних. Родина R та X — оптимізована під оперативну пам'ять: для баз даних, що тримають дані в RAM, наприклад Redis чи SAP HANA, або аналітичних навантажень з великими датасетами. І нарешті родини P та G — прискорені обчислення з GPU: тут живе машинне навчання, тренування нейромереж, рендеринг графіки. Практична порада: завжди починайте з найдешевшого t3.micro чи t3.small для розробки й тестування, і масштабуйтесь до потужнішого типу лише коли вимірювання показують реальну потребу.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Пройдемо шлях від порожнього акаунту до працюючого сервера — так само, як ми зробимо на практичному занятті. Крок перший — обрати AMI, тобто базовий образ: найчастіше це Amazon Linux або Ubuntu для Linux-серверів, або Windows Server, якщо застосунок вимагає саме Windows. Крок другий — обрати Instance Type відповідно до навантаження, про типи ми щойно детально поговорили. Крок третій — мережа: обираємо VPC і підмережу, куди потрапить сервер, і Security Group, яка визначить, який трафік дозволений — детально розберемо це у другій половині заняття. Крок четвертий — Key Pair: якщо у вас вже є ключ з попереднього інстансу, можна перевикористати, або створити новий, і AWS одразу запропонує завантажити приватну частину ключа — це єдиний момент, коли ви її бачите, тому зберігайте одразу в надійному місці. І нарешті крок п'ятий — натискаємо Launch, і за кілька хвилин статус інстансу зміниться з "pending" на "running" — тоді сервер готовий приймати підключення.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Спосіб підключення повністю залежить від того, яка операційна система на інстансі. Для Linux-серверів використовується SSH — Secure Shell. Спочатку потрібно обмежити права доступу до файлу приватного ключа командою chmod 400, інакше SSH-клієнт відмовиться його використовувати з міркувань безпеки. Далі команда ssh з прапорцем -i, що вказує на файл ключа, і адресою у форматі користувач@ip-адреса — стандартний користувач для Amazon Linux називається ec2-user, для Ubuntu — ubuntu. Для Windows-серверів все інакше: використовується протокол RDP, Remote Desktop Protocol, через стандартний застосунок Remote Desktop Connection, вбудований у Windows, або сторонній клієнт на macOS чи Linux. Пароль адміністратора спочатку зашифрований, і щоб його отримати, у консолі AWS є кнопка "Get Windows Password" — вона просить завантажити той самий .pem-файл, яким AWS локально, у вашому браузері, розшифровує пароль. Зверніть увагу: приватний ключ ніколи не передається на сервери AWS повторно — він використовується лише локально для розшифрування.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пропонує три моделі оплати, і вибір правильної суттєво впливає на рахунок наприкінці місяця. On-Demand — базова модель, платите за кожну секунду роботи інстансу за стандартним тарифом, без жодних зобов'язань — ідеально для тестування чи непередбачуваних навантажень. Reserved Instances — ви зобов'язуєтесь використовувати конкретний тип інстансу протягом 1 або 3 років і натомість отримуєте знижку до 72% — це має сенс для продакшн-навантажень, які працюють постійно й передбачувано, наприклад основна база даних компанії. Spot Instances — найдешевший варіант, до 90% знижки, але з важливим застереженням: AWS може забрати цей інстанс назад буквально за 2 хвилини попередження, якщо потужність знадобиться іншому клієнту, готовому платити повну ціну. Тому Spot підходить лише для навантажень, стійких до переривання: фонова обробка даних, CI/CD-пайплайни, батч-задачі, які можна перезапустити. На практиці досвідчені команди комбінують усі три моделі: Reserved для бази, On-Demand для сплесків, Spot для всього іншого — це і є ключ до оптимізації витрат на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Group — це перша лінія захисту вашого EC2-інстансу, і розуміти її критично важливо. Головна особливість — вона stateful: якщо ви дозволили вхідний запит, наприклад на порт 443, відповідь на цей запит автоматично дозволяється у зворотному напрямку, вам не потрібно окремо прописувати вихідне правило. Це відрізняє Security Group від Network ACL, про яку поговоримо трохи пізніше. За замовчуванням нова Security Group блокує весь вхідний трафік — ви явно дозволяєте лише те, що потрібно. Подивімось на типовий набір правил веб-сервера: SSH на порту 22 — але зверніть увагу, джерело обмежене конкретною IP-адресою, а не всім інтернетом; HTTP на 80 і HTTPS на 443 відкриті для всіх, бо це публічний вебсайт; і Custom TCP на 5432, порт PostgreSQL, дозволений не з конкретної IP, а з іншої Security Group — це дуже потужна практика: замість того, щоб дозволяти доступ за IP-адресами, які можуть змінюватись, ви дозволяєте доступ будь-якому інстансу, що належить до групи "app servers". Найпоширеніша й найнебезпечніша помилка новачків — відкрити SSH-порт 22 для 0.0.0.0/0, тобто для всього інтернету: за лічені хвилини після цього сервер починає отримувати тисячі спроб підбору пароля від ботів.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VPC — це ваша власна ізольована мережа всередині AWS, повний аналог мережі в традиційному дата-центрі, тільки віртуальна. Коли ви створюєте VPC, ви задаєте діапазон IP-адрес у форматі CIDR, наприклад 10.0.0.0/16 — це майже 65 тисяч можливих адрес. Але сам VPC — це лише простір: щоб у ньому щось розмістити, потрібні підмережі, subnets, і кожна підмережа прив'язана до конкретної зони доступності, яку ми обговорювали на занятті про архітектуру AWS. Ключова відмінність — публічна підмережа vs приватна. Публічна має маршрут до Internet Gateway — компонента, що з'єднує VPC із зовнішнім інтернетом, тому ресурси в публічній підмережі можуть отримувати вхідні з'єднання з інтернету, якщо це дозволено Security Group. Приватна підмережа такого маршруту не має: ресурси там, наприклад бази даних, повністю ізольовані від прямих вхідних з'єднань з інтернету — типова й правильна практика для розміщення баз даних, внутрішніх сервісів, усього, що не повинно бути публічно доступним. Якщо ресурсам у приватній підмережі все ж потрібен вихід в інтернет, наприклад для встановлення оновлень, використовується NAT Gateway — про нього і решту мережевих компонентів поговоримо на наступному слайді.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Розберемо ще чотири компоненти, які разом визначають, як рухається трафік у вашій мережі. Route Table — це таблиця маршрутизації, прив'язана до підмережі: вона каже, куди йде трафік залежно від адреси призначення — саме наявність чи відсутність маршруту до Internet Gateway технічно і робить підмережу публічною чи приватною, це не окрема настройка, а результат таблиці маршрутів. Internet Gateway ми вже згадували — єдина точка входу й виходу між VPC і зовнішнім інтернетом, приєднується безпосередньо до VPC, а не до конкретної підмережі. NAT Gateway вирішує іншу задачу: він дозволяє ресурсам у приватній підмережі, наприклад серверу застосунку, самостійно "постукати" в інтернет — завантажити оновлення, звернутись до зовнішнього API — але жоден зовнішній ресурс не може ініціювати з'єднання назад до цього сервера. І нарешті Network ACL — ще один рівень фаєрвола, але цього разу на рівні підмережі, а не інстансу, і, на відміну від Security Group, він stateless: якщо ви дозволяєте вхідний трафік на порт 80, вам потрібно окремо дозволити і вихідний трафік для відповіді — це додатковий рівень захисту, який спрацьовує ще до того, як трафік дістанеться Security Group конкретного інстансу.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Завершимо заняття двома важливими мережевими інструментами. Elastic IP — це статична публічна IP-адреса, яку ви фактично орендуєте у AWS окремо від інстансу. Проблема, яку вона вирішує: звичайна публічна IP-адреса, яку AWS автоматично видає інстансу, змінюється щоразу, коли ви зупиняєте й знову запускаєте сервер — незручно, якщо ця адреса, наприклад, прописана в DNS. Elastic IP закріплена за вашим акаунтом і залишається незмінною; більше того, ви можете миттєво від'єднати її від одного інстансу й приєднати до іншого — це основа простого сценарію failover: якщо основний сервер падає, ви за секунди перемикаєте Elastic IP на резервний, і користувачі навіть не помітять перемикання на рівні DNS. Є нюанс: AWS стягує невелику плату саме за невикористовувані Elastic IP, щоб заохотити відв'язувати їх, коли вони не потрібні. Мережевий інтерфейс, ENI — Elastic Network Interface — це вже сама віртуальна мережева карта: вона має власну приватну IP-адресу, MAC-адресу і власний набір Security Groups, і так само, як Elastic IP, може існувати незалежно від конкретного інстансу. Просунутий сценарій використання — кілька ENI на одному інстансі, наприклад, коли потрібно розділити мережевий трафік керування і трафік даних на різні мережеві картки з різними правилами безпеки. Сьогодні ми пройшли шлях від запуску сервера до повноцінної мережевої архітектури навколо нього — на наступному занятті розберемо, де і як AWS зберігає дані.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server_slate.png"/>
          <p:cNvPicPr>
            <a:picLocks noChangeAspect="1"/>
          </p:cNvPicPr>
          <p:nvPr/>
        </p:nvPicPr>
        <p:blipFill>
          <a:blip r:embed="rId3">
            <a:alphaModFix amt="26000"/>
          </a:blip>
          <a:stretch>
            <a:fillRect/>
          </a:stretch>
        </p:blipFill>
        <p:spPr>
          <a:xfrm>
            <a:off x="8503920" y="3200400"/>
            <a:ext cx="4023360" cy="4023360"/>
          </a:xfrm>
          <a:prstGeom prst="rect">
            <a:avLst/>
          </a:prstGeom>
        </p:spPr>
      </p:pic>
      <p:pic>
        <p:nvPicPr>
          <p:cNvPr id="3" name="Image 1" descr="/home/claude/icons/projectDiagram_slate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040880" y="4663440"/>
            <a:ext cx="2377440" cy="23774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ХМАРНИХ </a:t>
            </a:r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РІШЕНЬ З ВИКОРИСТАННЯМ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18288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EC2, підключення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 мережа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1605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запуску віртуального сервера до безпечної мережевої архітектури навколо нього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04973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2" descr="/home/claude/icons/serve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557" y="5449824"/>
            <a:ext cx="301752" cy="30175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76373" y="5897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EC2-інстанси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3025213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3" descr="/home/claude/icons/shield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5797" y="5449824"/>
            <a:ext cx="301752" cy="30175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796613" y="5897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4945453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4" descr="/home/claude/icons/projectDiagram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6037" y="5449824"/>
            <a:ext cx="301752" cy="30175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716853" y="5897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і мережа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800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EC2: основні поняття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 (Elastic Compute Cloud) </a:t>
            </a: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сервіс, що надає віртуальні сервери в хмарі, потужність яких можна змінити за лічені хвилини.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EC2 — це оренда самого комп'ютера, на якому ви вирішуєте, що встановлювати й запускати.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5468112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 txBox="1"/>
          <p:nvPr/>
        </p:nvSpPr>
        <p:spPr>
          <a:xfrm>
            <a:off x="6492240" y="181051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П'ять базових понять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286000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icons/play_dark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38658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40880" y="2276258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2430934"/>
            <a:ext cx="4279392" cy="36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Запущений віртуальний сервер — робоча одиниця EC2.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92240" y="2907792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icons/boxOpen_dark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300837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2898050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(Amazon Machine Image)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0" y="3052726"/>
            <a:ext cx="4279392" cy="36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з ОС і попередньо встановленим ПЗ, з якого стартує інстанс.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92240" y="3529584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icons/microchip_dark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63016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40880" y="3519842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3674518"/>
            <a:ext cx="4279392" cy="36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Конфігурація CPU, RAM і мережі, наприклад t3.micro чи m5.large.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92240" y="4151376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/home/claude/icons/key_dark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25196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4141634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040880" y="4296310"/>
            <a:ext cx="4279392" cy="36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криптографічних ключів для безпечного доступу без пароля.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92240" y="4773168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4" descr="/home/claude/icons/hdd_dark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487375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40880" y="4763426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Volume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040880" y="4918102"/>
            <a:ext cx="4279392" cy="36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Постійний диск, підключений до інстансу, що зберігає дані.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підключення та мережа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6521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Типи інстансів і призначення кожного типу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8041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 типу складається з родини (призначення), покоління і розміру: наприклад, m5.large.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92036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04672" y="2166356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tachometer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317232"/>
            <a:ext cx="29260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77440" y="2212076"/>
            <a:ext cx="548640" cy="365760"/>
          </a:xfrm>
          <a:prstGeom prst="roundRect">
            <a:avLst>
              <a:gd name="adj" fmla="val 2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 txBox="1"/>
          <p:nvPr/>
        </p:nvSpPr>
        <p:spPr>
          <a:xfrm>
            <a:off x="2377440" y="22120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M, 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9787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Загального призначення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92236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CPU, RAM і мережі. Веб-сервери, невеликі бази даних, більшість типових застосунків.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1892036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3639312" y="2166356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icons/microchip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88" y="2317232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12080" y="2212076"/>
            <a:ext cx="548640" cy="365760"/>
          </a:xfrm>
          <a:prstGeom prst="roundRect">
            <a:avLst>
              <a:gd name="adj" fmla="val 2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 txBox="1"/>
          <p:nvPr/>
        </p:nvSpPr>
        <p:spPr>
          <a:xfrm>
            <a:off x="5212080" y="22120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289787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Оптимізовані під CPU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11880" y="3492236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Високопродуктивні процесори для обчислень, кодування відео, наукових розрахунків.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7920" y="1892036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6473952" y="2166356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2" descr="/home/claude/icons/memor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2317232"/>
            <a:ext cx="292608" cy="29260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046720" y="2212076"/>
            <a:ext cx="548640" cy="365760"/>
          </a:xfrm>
          <a:prstGeom prst="roundRect">
            <a:avLst>
              <a:gd name="adj" fmla="val 2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18"/>
          <p:cNvSpPr txBox="1"/>
          <p:nvPr/>
        </p:nvSpPr>
        <p:spPr>
          <a:xfrm>
            <a:off x="8046720" y="22120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R, X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289787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Оптимізовані під RAM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446520" y="3492236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 оперативної пам'яті для баз даних у пам'яті, аналітики великих датасетів.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052560" y="1892036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2"/>
          <p:cNvSpPr/>
          <p:nvPr/>
        </p:nvSpPr>
        <p:spPr>
          <a:xfrm>
            <a:off x="9308592" y="2166356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8" name="Image 3" descr="/home/claude/icons/brain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468" y="2317232"/>
            <a:ext cx="292608" cy="29260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881360" y="2212076"/>
            <a:ext cx="548640" cy="365760"/>
          </a:xfrm>
          <a:prstGeom prst="roundRect">
            <a:avLst>
              <a:gd name="adj" fmla="val 2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4"/>
          <p:cNvSpPr txBox="1"/>
          <p:nvPr/>
        </p:nvSpPr>
        <p:spPr>
          <a:xfrm>
            <a:off x="10881360" y="22120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G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9281160" y="289787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Прискорені обчислення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9281160" y="3492236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GPU-інстанси для машинного навчання, рендерингу, ігрових серверів.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підключення та мережа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27124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Створення та запуск EC2-інстансу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276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П'ять кроків, які проходить кожен новий сервер — від вибору образу до стану "running".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8002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 txBox="1"/>
          <p:nvPr/>
        </p:nvSpPr>
        <p:spPr>
          <a:xfrm>
            <a:off x="548640" y="199800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0100" y="2500922"/>
            <a:ext cx="914" cy="228600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371600" y="1952282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icons/boxOpen_dark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2098586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48840" y="206218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AMI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2062184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Linux, Ubuntu, Windows Server або власний збережений образ.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775242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 txBox="1"/>
          <p:nvPr/>
        </p:nvSpPr>
        <p:spPr>
          <a:xfrm>
            <a:off x="548640" y="277524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00100" y="3278162"/>
            <a:ext cx="914" cy="228600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1371600" y="2729522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6" name="Image 1" descr="/home/claude/icons/microchip_dark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2875826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148840" y="283942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Instance Type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120640" y="2839424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Наприклад, t3.micro для тестів або m5.large для продакшн-навантаження.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3552482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 txBox="1"/>
          <p:nvPr/>
        </p:nvSpPr>
        <p:spPr>
          <a:xfrm>
            <a:off x="548640" y="355248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00100" y="4055402"/>
            <a:ext cx="914" cy="228600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18"/>
          <p:cNvSpPr/>
          <p:nvPr/>
        </p:nvSpPr>
        <p:spPr>
          <a:xfrm>
            <a:off x="1371600" y="3506762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3" name="Image 2" descr="/home/claude/icons/projectDiagram_dark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904" y="3653066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148840" y="361666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Налаштувати мережу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5120640" y="3616664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VPC, підмережу та Security Group, яка контролюватиме трафік.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48640" y="4329722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2"/>
          <p:cNvSpPr txBox="1"/>
          <p:nvPr/>
        </p:nvSpPr>
        <p:spPr>
          <a:xfrm>
            <a:off x="548640" y="432972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800100" y="4832642"/>
            <a:ext cx="914" cy="228600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4"/>
          <p:cNvSpPr/>
          <p:nvPr/>
        </p:nvSpPr>
        <p:spPr>
          <a:xfrm>
            <a:off x="1371600" y="4284002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0" name="Image 3" descr="/home/claude/icons/key_dark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" y="4430306"/>
            <a:ext cx="301752" cy="30175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148840" y="439390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або обрати Key Pair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5120640" y="4393904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нього неможливо буде безпечно підключитись до інстансу.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548640" y="5106962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4" name="Text 28"/>
          <p:cNvSpPr txBox="1"/>
          <p:nvPr/>
        </p:nvSpPr>
        <p:spPr>
          <a:xfrm>
            <a:off x="548640" y="510696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1371600" y="5061242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6" name="Image 4" descr="/home/claude/icons/play_dark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7904" y="5207546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148840" y="517114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Запустити (Launch)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5120640" y="5171144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готує сервер; за кілька хвилин статус зміниться на "running".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підключення та мережа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6339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Підключення через SSH та RDP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1011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Спосіб підключення залежить від операційної системи інстансу.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Windows — через SSH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68112" cy="3657600"/>
          </a:xfrm>
          <a:prstGeom prst="roundRect">
            <a:avLst>
              <a:gd name="adj" fmla="val 2500"/>
            </a:avLst>
          </a:prstGeom>
          <a:solidFill>
            <a:srgbClr val="1A2431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777240" y="2578608"/>
            <a:ext cx="128016" cy="128016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987552" y="2578608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197864" y="2578608"/>
            <a:ext cx="128016" cy="128016"/>
          </a:xfrm>
          <a:prstGeom prst="ellipse">
            <a:avLst/>
          </a:prstGeom>
          <a:solidFill>
            <a:srgbClr val="5CB8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 txBox="1"/>
          <p:nvPr/>
        </p:nvSpPr>
        <p:spPr>
          <a:xfrm>
            <a:off x="548640" y="2505456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Terminal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880360"/>
            <a:ext cx="482803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400 my-key.pem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 -i my-key.pem \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ec2-user@3.64.1.10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Amazon Linux 2023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[ec2-user@ip-10-0-1-5 ~]$ █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011680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— через RDP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377440"/>
            <a:ext cx="5468112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6172200" y="2377440"/>
            <a:ext cx="5468112" cy="457200"/>
          </a:xfrm>
          <a:prstGeom prst="rect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6373368" y="2542032"/>
            <a:ext cx="128016" cy="128016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6592824" y="2542032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6812280" y="2542032"/>
            <a:ext cx="128016" cy="128016"/>
          </a:xfrm>
          <a:prstGeom prst="ellipse">
            <a:avLst/>
          </a:prstGeom>
          <a:solidFill>
            <a:srgbClr val="5CB8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 txBox="1"/>
          <p:nvPr/>
        </p:nvSpPr>
        <p:spPr>
          <a:xfrm>
            <a:off x="6172200" y="2468880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Desktop Connection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154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Комп'ютер: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75320" y="3172968"/>
            <a:ext cx="2999232" cy="329184"/>
          </a:xfrm>
          <a:prstGeom prst="roundRect">
            <a:avLst>
              <a:gd name="adj" fmla="val 16667"/>
            </a:avLst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 txBox="1"/>
          <p:nvPr/>
        </p:nvSpPr>
        <p:spPr>
          <a:xfrm>
            <a:off x="8412480" y="3172968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3.64.1.10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7216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користувача: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75320" y="3739896"/>
            <a:ext cx="2999232" cy="329184"/>
          </a:xfrm>
          <a:prstGeom prst="roundRect">
            <a:avLst>
              <a:gd name="adj" fmla="val 16667"/>
            </a:avLst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 txBox="1"/>
          <p:nvPr/>
        </p:nvSpPr>
        <p:spPr>
          <a:xfrm>
            <a:off x="8412480" y="3739896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Administrator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28853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Пароль: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75320" y="4306824"/>
            <a:ext cx="2999232" cy="329184"/>
          </a:xfrm>
          <a:prstGeom prst="roundRect">
            <a:avLst>
              <a:gd name="adj" fmla="val 16667"/>
            </a:avLst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 txBox="1"/>
          <p:nvPr/>
        </p:nvSpPr>
        <p:spPr>
          <a:xfrm>
            <a:off x="8412480" y="4306824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отриманий через .pem-ключ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720072" y="52578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 txBox="1"/>
          <p:nvPr/>
        </p:nvSpPr>
        <p:spPr>
          <a:xfrm>
            <a:off x="9720072" y="5257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5177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 розшифровується локально за допомогою .pem-ключа через кнопку "Get Windows Password" у консолі.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підключення та мережа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6521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Оптимізація вартості: Spot і Reserved Instances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8041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моделі оплати EC2 — оберіть залежно від передбачуваності й гнучкості навантаження.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1954"/>
            <a:ext cx="2468880" cy="502920"/>
          </a:xfrm>
          <a:prstGeom prst="rect">
            <a:avLst/>
          </a:prstGeom>
          <a:solidFill>
            <a:srgbClr val="232F3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6" name="Text 4"/>
          <p:cNvSpPr txBox="1"/>
          <p:nvPr/>
        </p:nvSpPr>
        <p:spPr>
          <a:xfrm>
            <a:off x="548640" y="1871954"/>
            <a:ext cx="2468880" cy="50292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871954"/>
            <a:ext cx="2834640" cy="502920"/>
          </a:xfrm>
          <a:prstGeom prst="rect">
            <a:avLst/>
          </a:prstGeom>
          <a:solidFill>
            <a:srgbClr val="232F3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8" name="Text 6"/>
          <p:cNvSpPr txBox="1"/>
          <p:nvPr/>
        </p:nvSpPr>
        <p:spPr>
          <a:xfrm>
            <a:off x="3017520" y="1871954"/>
            <a:ext cx="2834640" cy="50292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871954"/>
            <a:ext cx="2880360" cy="502920"/>
          </a:xfrm>
          <a:prstGeom prst="rect">
            <a:avLst/>
          </a:prstGeom>
          <a:solidFill>
            <a:srgbClr val="232F3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10" name="Text 8"/>
          <p:cNvSpPr txBox="1"/>
          <p:nvPr/>
        </p:nvSpPr>
        <p:spPr>
          <a:xfrm>
            <a:off x="5852160" y="1871954"/>
            <a:ext cx="2880360" cy="50292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Instances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32520" y="1871954"/>
            <a:ext cx="2880360" cy="502920"/>
          </a:xfrm>
          <a:prstGeom prst="rect">
            <a:avLst/>
          </a:prstGeom>
          <a:solidFill>
            <a:srgbClr val="232F3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12" name="Text 10"/>
          <p:cNvSpPr txBox="1"/>
          <p:nvPr/>
        </p:nvSpPr>
        <p:spPr>
          <a:xfrm>
            <a:off x="8732520" y="1871954"/>
            <a:ext cx="2880360" cy="50292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Instances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374874"/>
            <a:ext cx="2468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14" name="Text 12"/>
          <p:cNvSpPr txBox="1"/>
          <p:nvPr/>
        </p:nvSpPr>
        <p:spPr>
          <a:xfrm>
            <a:off x="548640" y="2374874"/>
            <a:ext cx="246888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Знижка проти On-Demand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2374874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16" name="Text 14"/>
          <p:cNvSpPr txBox="1"/>
          <p:nvPr/>
        </p:nvSpPr>
        <p:spPr>
          <a:xfrm>
            <a:off x="3017520" y="2374874"/>
            <a:ext cx="283464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2374874"/>
            <a:ext cx="2880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18" name="Text 16"/>
          <p:cNvSpPr txBox="1"/>
          <p:nvPr/>
        </p:nvSpPr>
        <p:spPr>
          <a:xfrm>
            <a:off x="5852160" y="2374874"/>
            <a:ext cx="288036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72%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32520" y="2374874"/>
            <a:ext cx="288036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20" name="Text 18"/>
          <p:cNvSpPr txBox="1"/>
          <p:nvPr/>
        </p:nvSpPr>
        <p:spPr>
          <a:xfrm>
            <a:off x="8732520" y="2374874"/>
            <a:ext cx="288036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90%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033242"/>
            <a:ext cx="2468880" cy="65836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22" name="Text 20"/>
          <p:cNvSpPr txBox="1"/>
          <p:nvPr/>
        </p:nvSpPr>
        <p:spPr>
          <a:xfrm>
            <a:off x="548640" y="3033242"/>
            <a:ext cx="246888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Гарантія доступності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3033242"/>
            <a:ext cx="2834640" cy="65836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24" name="Text 22"/>
          <p:cNvSpPr txBox="1"/>
          <p:nvPr/>
        </p:nvSpPr>
        <p:spPr>
          <a:xfrm>
            <a:off x="3017520" y="3033242"/>
            <a:ext cx="283464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52160" y="3033242"/>
            <a:ext cx="2880360" cy="65836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26" name="Text 24"/>
          <p:cNvSpPr txBox="1"/>
          <p:nvPr/>
        </p:nvSpPr>
        <p:spPr>
          <a:xfrm>
            <a:off x="5852160" y="3033242"/>
            <a:ext cx="288036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32520" y="3033242"/>
            <a:ext cx="288036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28" name="Text 26"/>
          <p:cNvSpPr txBox="1"/>
          <p:nvPr/>
        </p:nvSpPr>
        <p:spPr>
          <a:xfrm>
            <a:off x="8732520" y="3033242"/>
            <a:ext cx="288036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 — може перериватись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691610"/>
            <a:ext cx="2468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30" name="Text 28"/>
          <p:cNvSpPr txBox="1"/>
          <p:nvPr/>
        </p:nvSpPr>
        <p:spPr>
          <a:xfrm>
            <a:off x="548640" y="3691610"/>
            <a:ext cx="246888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Зобов'язання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17520" y="3691610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32" name="Text 30"/>
          <p:cNvSpPr txBox="1"/>
          <p:nvPr/>
        </p:nvSpPr>
        <p:spPr>
          <a:xfrm>
            <a:off x="3017520" y="3691610"/>
            <a:ext cx="283464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52160" y="3691610"/>
            <a:ext cx="2880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34" name="Text 32"/>
          <p:cNvSpPr txBox="1"/>
          <p:nvPr/>
        </p:nvSpPr>
        <p:spPr>
          <a:xfrm>
            <a:off x="5852160" y="3691610"/>
            <a:ext cx="288036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або 3 роки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732520" y="3691610"/>
            <a:ext cx="288036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36" name="Text 34"/>
          <p:cNvSpPr txBox="1"/>
          <p:nvPr/>
        </p:nvSpPr>
        <p:spPr>
          <a:xfrm>
            <a:off x="8732520" y="3691610"/>
            <a:ext cx="288036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349978"/>
            <a:ext cx="2468880" cy="65836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38" name="Text 36"/>
          <p:cNvSpPr txBox="1"/>
          <p:nvPr/>
        </p:nvSpPr>
        <p:spPr>
          <a:xfrm>
            <a:off x="548640" y="4349978"/>
            <a:ext cx="246888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Найкраще для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17520" y="4349978"/>
            <a:ext cx="2834640" cy="65836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40" name="Text 38"/>
          <p:cNvSpPr txBox="1"/>
          <p:nvPr/>
        </p:nvSpPr>
        <p:spPr>
          <a:xfrm>
            <a:off x="3017520" y="4349978"/>
            <a:ext cx="283464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Короткострокові тести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52160" y="4349978"/>
            <a:ext cx="2880360" cy="65836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42" name="Text 40"/>
          <p:cNvSpPr txBox="1"/>
          <p:nvPr/>
        </p:nvSpPr>
        <p:spPr>
          <a:xfrm>
            <a:off x="5852160" y="4349978"/>
            <a:ext cx="288036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Стабільний продакшн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732520" y="4349978"/>
            <a:ext cx="288036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 sz="2000"/>
          </a:p>
        </p:txBody>
      </p:sp>
      <p:sp>
        <p:nvSpPr>
          <p:cNvPr id="44" name="Text 42"/>
          <p:cNvSpPr txBox="1"/>
          <p:nvPr/>
        </p:nvSpPr>
        <p:spPr>
          <a:xfrm>
            <a:off x="8732520" y="4349978"/>
            <a:ext cx="288036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Гнучкі batch-завдання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282666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 sz="2000"/>
          </a:p>
        </p:txBody>
      </p:sp>
      <p:pic>
        <p:nvPicPr>
          <p:cNvPr id="46" name="Image 0" descr="/home/claude/icons/checkDoubl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65546"/>
            <a:ext cx="320040" cy="320040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1325880" y="5282666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Комбінований підхід: базове навантаження на Reserved Instances, пікові сплески — на On-Demand, фонові batch-задачі — на Spot.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підключення та мережа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53255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Налаштування Security Groups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віртуальний stateful firewall на рівні інстансу: контролює вхідний і вихідний трафік за правилами.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120640" cy="1554480"/>
          </a:xfrm>
          <a:prstGeom prst="roundRect">
            <a:avLst>
              <a:gd name="adj" fmla="val 6667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shield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08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правило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вхідний запит дозволено, відповідь на нього дозволяється автоматично — на відміну від NACL, де правила симетричні для обох напрямків.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9943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правило: за замовчуванням увесь вхідний трафік заборонено, кожен дозвіл додається явно.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468112" cy="4434840"/>
          </a:xfrm>
          <a:prstGeom prst="roundRect">
            <a:avLst>
              <a:gd name="adj" fmla="val 2474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icons/listAl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892808"/>
            <a:ext cx="4370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Rules — приклад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514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25146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2514600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28986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89864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203.0.113.5/32 (Моя IP)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92240" y="3282696"/>
            <a:ext cx="4828032" cy="0"/>
          </a:xfrm>
          <a:prstGeom prst="line">
            <a:avLst/>
          </a:prstGeom>
          <a:noFill/>
          <a:ln w="9525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 txBox="1"/>
          <p:nvPr/>
        </p:nvSpPr>
        <p:spPr>
          <a:xfrm>
            <a:off x="6492240" y="33558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680960" y="33558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35584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0.0.0.0/0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92240" y="3739896"/>
            <a:ext cx="4828032" cy="0"/>
          </a:xfrm>
          <a:prstGeom prst="line">
            <a:avLst/>
          </a:prstGeom>
          <a:noFill/>
          <a:ln w="9525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0"/>
          <p:cNvSpPr txBox="1"/>
          <p:nvPr/>
        </p:nvSpPr>
        <p:spPr>
          <a:xfrm>
            <a:off x="6492240" y="38130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680960" y="38130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443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8503920" y="381304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0.0.0.0/0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92240" y="4197096"/>
            <a:ext cx="4828032" cy="0"/>
          </a:xfrm>
          <a:prstGeom prst="line">
            <a:avLst/>
          </a:prstGeom>
          <a:noFill/>
          <a:ln w="9525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4"/>
          <p:cNvSpPr txBox="1"/>
          <p:nvPr/>
        </p:nvSpPr>
        <p:spPr>
          <a:xfrm>
            <a:off x="6492240" y="42702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TCP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680960" y="42702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5432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8503920" y="427024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sg-0a1b2c3 (App servers)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92240" y="4654296"/>
            <a:ext cx="4828032" cy="0"/>
          </a:xfrm>
          <a:prstGeom prst="line">
            <a:avLst/>
          </a:prstGeom>
          <a:noFill/>
          <a:ln w="9525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28"/>
          <p:cNvSpPr txBox="1"/>
          <p:nvPr/>
        </p:nvSpPr>
        <p:spPr>
          <a:xfrm>
            <a:off x="6492240" y="4910328"/>
            <a:ext cx="4828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відкривайте SSH лише зі своєї IP, а не з 0.0.0.0/0 — інакше сервер намагатиметься зламати весь інтернет.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підключення та мережа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84887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Налаштування VPC і Subnet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7816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(Virtual Private Cloud) </a:t>
            </a: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ізольована віртуальна мережа у вашому акаунті. </a:t>
            </a: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</a:t>
            </a: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діапазон IP-адрес усередині VPC, прив'язаний до конкретної зони доступності.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sitemap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Публічна vs приватна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Публічна підмережа має маршрут до Internet Gateway. Приватна — не має прямого маршруту назовні, доступ в інтернет лише через NAT Gateway.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0" y="1600200"/>
            <a:ext cx="6583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25400">
            <a:solidFill>
              <a:srgbClr val="232F3E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 txBox="1"/>
          <p:nvPr/>
        </p:nvSpPr>
        <p:spPr>
          <a:xfrm>
            <a:off x="5303520" y="17647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VPC: 10.0.0.0/16 (eu-central-1)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835640" y="109728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icons/glob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68" y="120700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378440" y="158191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Інтернет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303520" y="228600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FFF3E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1"/>
          <p:cNvSpPr txBox="1"/>
          <p:nvPr/>
        </p:nvSpPr>
        <p:spPr>
          <a:xfrm>
            <a:off x="5303520" y="23957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303520" y="26517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10.0.1.0/24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64808" y="306324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2" descr="/home/claude/icons/serve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1729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Bastion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806440" y="480060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6"/>
          <p:cNvSpPr txBox="1"/>
          <p:nvPr/>
        </p:nvSpPr>
        <p:spPr>
          <a:xfrm>
            <a:off x="5806440" y="4800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503920" y="228600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EAF0F7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18"/>
          <p:cNvSpPr txBox="1"/>
          <p:nvPr/>
        </p:nvSpPr>
        <p:spPr>
          <a:xfrm>
            <a:off x="8503920" y="23957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503920" y="26517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10.0.2.0/24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665208" y="306324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3" descr="/home/claude/icons/database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36" y="317296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50392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869680" y="480060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3"/>
          <p:cNvSpPr txBox="1"/>
          <p:nvPr/>
        </p:nvSpPr>
        <p:spPr>
          <a:xfrm>
            <a:off x="8869680" y="4800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прямого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доступу назовні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підключення та мережа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63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Керування мережевими ресурсами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93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Компоненти, що визначають, куди й як рухається трафік усередині та за межі VPC.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rout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5054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3134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2432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маршрутизації: визначає, куди прямує трафік із підмережі — в іншу підмережу, в інтернет чи в іншу мережу.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6720840" y="23774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icons/doorOpe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50545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23134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62432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Компонент, що з'єднує VPC із зовнішнім інтернетом. Один на VPC, приєднується до публічних підмереж.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5661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icons/shareAl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92277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373075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508760" y="404164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Дозволяє ресурсам приватної підмережі ініціювати вихідні з'єднання в інтернет без прямого вхідного доступу.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46520" y="35661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6720840" y="37947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3" descr="/home/claude/icons/ban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392277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06640" y="373075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406640" y="404164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firewall на рівні підмережі — на відміну від Security Group, правила симетричні для in/out.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0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Разом ці компоненти й формують "дорожню карту" трафіку: Route Table вирішує напрямок, шлюзи — межу з зовнішнім світом, а NACL — додатковий фільтр на вході в підмережу.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підключення та мережа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8743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IP і керування мережевими інтерфейсами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lin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IP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889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публічна IP-адреса, яку ви орендуєте у AWS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змінюється при зупинці/перезапуску інстансу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від'єднати від одного інстансу й приєднати до іншого за секунди — зручно для failover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стягує невелику плату, якщо адреса не прикріплена до працюючого інстансу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173736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720840" y="201168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icons/etherne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488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Мережевий інтерфейс (ENI)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27889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Віртуальна мережева карта з приватною IP, MAC-адресою й власними Security Groups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від'єднати від інстансу й приєднати до іншого — конфігурація мережі "живе" окремо від сервера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інстанс може мати кілька ENI — наприклад, окремо для керування й окремо для даних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1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ELB, Auto Scaling </a:t>
            </a:r>
            <a:r>
              <a:rPr lang="ru-RU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оптимізація </a:t>
            </a:r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підключення та мережа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2917</Words>
  <Application>Microsoft Macintosh PowerPoint</Application>
  <PresentationFormat>Widescreen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Дмитро Штефан</cp:lastModifiedBy>
  <cp:revision>3</cp:revision>
  <dcterms:created xsi:type="dcterms:W3CDTF">2026-09-19T20:26:17Z</dcterms:created>
  <dcterms:modified xsi:type="dcterms:W3CDTF">2026-09-20T16:02:07Z</dcterms:modified>
</cp:coreProperties>
</file>