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A2FCCF95-9852-9DDD-3F02-B71575CEDA6D}">
          <p14:sldIdLst>
            <p14:sldId id="256"/>
            <p14:sldId id="257"/>
          </p14:sldIdLst>
        </p14:section>
        <p14:section name="Теорія" id="{83317B9B-D524-2DF6-2441-F316152556EB}">
          <p14:sldIdLst>
            <p14:sldId id="258"/>
            <p14:sldId id="259"/>
          </p14:sldIdLst>
        </p14:section>
        <p14:section name="Практика" id="{1684F9DC-A154-0CB2-60E7-53790352AFD7}">
          <p14:sldIdLst>
            <p14:sldId id="262"/>
            <p14:sldId id="263"/>
          </p14:sldIdLst>
        </p14:section>
        <p14:section name="Закріплення" id="{82F84A8E-8171-F540-30E2-0688D7E88214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23"/>
    <p:restoredTop sz="94610"/>
  </p:normalViewPr>
  <p:slideViewPr>
    <p:cSldViewPr snapToGrid="0" snapToObjects="1">
      <p:cViewPr varScale="1">
        <p:scale>
          <a:sx n="208" d="100"/>
          <a:sy n="208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370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Вітаю! Сьогодні розберемо, як перестати «клікати» в консолі AWS і описувати інфраструктуру текстовим файлом. Мета заняття: до кінця ви самі створите, оновите і видалите стек.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Спитайте групу: хто створював ресурси кліками? А якщо треба те саме ще раз, у іншому регіоні? Наголосіть: шаблон — це рецепт, а не страва.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Шаблон → стек → ресурси. Стек — одиниця керування: видалили стек — зникли всі його ресурси. Це зручно для навчальних стендів.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Покажіть, що обов'язкова тільки секція Resources. Решта — зручності: Parameters роблять шаблон гнучким, Outputs повертають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Навмисно зламайте шаблон (наприклад, неправильне ім'я бакета) і покажіть студентам відкат наживо. Це найкраще запам'ятовується.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Set — це «попередній перегляд» змін, як git diff. Особливо уважно дивіться на Replacement: для бази даних це може означати втрату даних.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Drift — це розбіжність між шаблоном і реальністю, коли хтось змінив ресурс руками. Тому правило: усі зміни тільки через шаблон.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Підсумуйте за схемою: шаблон → стек → ресурси. Домашнє завдання повторює весь цикл: змінити, переглянути, виконати, прибрати. Запитання?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40080" y="20116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</a:t>
            </a:r>
            <a:r>
              <a:rPr lang="uk-UA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CloudFormation</a:t>
            </a:r>
            <a:endParaRPr lang="en-US" sz="4000" dirty="0"/>
          </a:p>
        </p:txBody>
      </p:sp>
      <p:sp>
        <p:nvSpPr>
          <p:cNvPr id="3" name="text-2"/>
          <p:cNvSpPr txBox="1"/>
          <p:nvPr/>
        </p:nvSpPr>
        <p:spPr>
          <a:xfrm>
            <a:off x="640080" y="30175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Інфраструктура як код: від шаблону до працюючого стека</a:t>
            </a:r>
          </a:p>
        </p:txBody>
      </p:sp>
      <p:sp>
        <p:nvSpPr>
          <p:cNvPr id="4" name="text-3"/>
          <p:cNvSpPr txBox="1"/>
          <p:nvPr/>
        </p:nvSpPr>
        <p:spPr>
          <a:xfrm>
            <a:off x="640080" y="737921"/>
            <a:ext cx="5525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uk-UA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</a:t>
            </a:r>
            <a:r>
              <a:rPr lang="en-US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ХМАРНИХ </a:t>
            </a:r>
            <a:r>
              <a:rPr lang="uk-UA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РІШЕНЬ З ВИКОРИСТАННЯМ </a:t>
            </a:r>
            <a:r>
              <a:rPr lang="en-US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400" dirty="0"/>
          </a:p>
        </p:txBody>
      </p:sp>
      <p:sp>
        <p:nvSpPr>
          <p:cNvPr id="5" name="hero-4"/>
          <p:cNvSpPr/>
          <p:nvPr/>
        </p:nvSpPr>
        <p:spPr>
          <a:xfrm>
            <a:off x="6126480" y="1097280"/>
            <a:ext cx="2377440" cy="237744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6" name="Image 0" descr="clou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737360"/>
            <a:ext cx="1097280" cy="1097280"/>
          </a:xfrm>
          <a:prstGeom prst="rect">
            <a:avLst/>
          </a:prstGeom>
        </p:spPr>
      </p:pic>
      <p:sp>
        <p:nvSpPr>
          <p:cNvPr id="7" name="badge-5"/>
          <p:cNvSpPr/>
          <p:nvPr/>
        </p:nvSpPr>
        <p:spPr>
          <a:xfrm>
            <a:off x="5943600" y="36576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con-6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799" y="3879799"/>
            <a:ext cx="378562" cy="378562"/>
          </a:xfrm>
          <a:prstGeom prst="rect">
            <a:avLst/>
          </a:prstGeom>
        </p:spPr>
      </p:pic>
      <p:sp>
        <p:nvSpPr>
          <p:cNvPr id="9" name="badge-7"/>
          <p:cNvSpPr/>
          <p:nvPr/>
        </p:nvSpPr>
        <p:spPr>
          <a:xfrm>
            <a:off x="7863840" y="36576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con-8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039" y="3879799"/>
            <a:ext cx="378562" cy="378562"/>
          </a:xfrm>
          <a:prstGeom prst="rect">
            <a:avLst/>
          </a:prstGeom>
        </p:spPr>
      </p:pic>
      <p:sp>
        <p:nvSpPr>
          <p:cNvPr id="11" name="arrow-9"/>
          <p:cNvSpPr/>
          <p:nvPr/>
        </p:nvSpPr>
        <p:spPr>
          <a:xfrm>
            <a:off x="6812280" y="4069080"/>
            <a:ext cx="91440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Навіщо потрібен CloudFormation?</a:t>
            </a:r>
            <a:endParaRPr lang="en-US" sz="3000" dirty="0"/>
          </a:p>
        </p:txBody>
      </p:sp>
      <p:sp>
        <p:nvSpPr>
          <p:cNvPr id="3" name="card-10"/>
          <p:cNvSpPr/>
          <p:nvPr/>
        </p:nvSpPr>
        <p:spPr>
          <a:xfrm>
            <a:off x="457200" y="1234440"/>
            <a:ext cx="3931920" cy="256032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badge-11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con-12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3" y="1611173"/>
            <a:ext cx="252374" cy="252374"/>
          </a:xfrm>
          <a:prstGeom prst="rect">
            <a:avLst/>
          </a:prstGeom>
        </p:spPr>
      </p:pic>
      <p:sp>
        <p:nvSpPr>
          <p:cNvPr id="6" name="text-13"/>
          <p:cNvSpPr txBox="1"/>
          <p:nvPr/>
        </p:nvSpPr>
        <p:spPr>
          <a:xfrm>
            <a:off x="141732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Вручну в консолі</a:t>
            </a:r>
            <a:endParaRPr lang="en-US" sz="2000" dirty="0"/>
          </a:p>
        </p:txBody>
      </p:sp>
      <p:sp>
        <p:nvSpPr>
          <p:cNvPr id="7" name="text-14"/>
          <p:cNvSpPr txBox="1"/>
          <p:nvPr/>
        </p:nvSpPr>
        <p:spPr>
          <a:xfrm>
            <a:off x="731520" y="22860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Багато кліків — легко помилитись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Важко повторити в іншому акаунті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Незрозуміло, хто що змінив</a:t>
            </a:r>
            <a:endParaRPr lang="en-US" sz="1500" dirty="0"/>
          </a:p>
        </p:txBody>
      </p:sp>
      <p:sp>
        <p:nvSpPr>
          <p:cNvPr id="8" name="card-15"/>
          <p:cNvSpPr/>
          <p:nvPr/>
        </p:nvSpPr>
        <p:spPr>
          <a:xfrm>
            <a:off x="4754880" y="1234440"/>
            <a:ext cx="3931920" cy="256032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badge-16"/>
          <p:cNvSpPr/>
          <p:nvPr/>
        </p:nvSpPr>
        <p:spPr>
          <a:xfrm>
            <a:off x="4983480" y="14630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con-17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1613" y="1611173"/>
            <a:ext cx="252374" cy="252374"/>
          </a:xfrm>
          <a:prstGeom prst="rect">
            <a:avLst/>
          </a:prstGeom>
        </p:spPr>
      </p:pic>
      <p:sp>
        <p:nvSpPr>
          <p:cNvPr id="11" name="text-18"/>
          <p:cNvSpPr txBox="1"/>
          <p:nvPr/>
        </p:nvSpPr>
        <p:spPr>
          <a:xfrm>
            <a:off x="571500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З CloudFormation</a:t>
            </a:r>
            <a:endParaRPr lang="en-US" sz="2000" dirty="0"/>
          </a:p>
        </p:txBody>
      </p:sp>
      <p:sp>
        <p:nvSpPr>
          <p:cNvPr id="12" name="text-19"/>
          <p:cNvSpPr txBox="1"/>
          <p:nvPr/>
        </p:nvSpPr>
        <p:spPr>
          <a:xfrm>
            <a:off x="5029200" y="22860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Один файл описує всю інфраструктуру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Однаково працює для dev і prod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Зміни видно в Git, як у коді</a:t>
            </a:r>
            <a:endParaRPr lang="en-US" sz="1500" dirty="0"/>
          </a:p>
        </p:txBody>
      </p:sp>
      <p:sp>
        <p:nvSpPr>
          <p:cNvPr id="13" name="card-20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-21"/>
          <p:cNvSpPr txBox="1"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Аналогія: </a:t>
            </a:r>
            <a:r>
              <a:rPr lang="en-US" sz="1500" dirty="0">
                <a:solidFill>
                  <a:schemeClr val="bg1"/>
                </a:solidFill>
              </a:rPr>
              <a:t>консоль — готуємо «на око», а шаблон — рецепт, за яким щоразу виходить однаково.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Три ключові поняття</a:t>
            </a:r>
            <a:endParaRPr lang="en-US" sz="3000" dirty="0"/>
          </a:p>
        </p:txBody>
      </p:sp>
      <p:sp>
        <p:nvSpPr>
          <p:cNvPr id="3" name="card-22"/>
          <p:cNvSpPr/>
          <p:nvPr/>
        </p:nvSpPr>
        <p:spPr>
          <a:xfrm>
            <a:off x="457200" y="1234440"/>
            <a:ext cx="2377440" cy="2514600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badge-23"/>
          <p:cNvSpPr/>
          <p:nvPr/>
        </p:nvSpPr>
        <p:spPr>
          <a:xfrm>
            <a:off x="731520" y="1463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con-24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1660550"/>
            <a:ext cx="336499" cy="336499"/>
          </a:xfrm>
          <a:prstGeom prst="rect">
            <a:avLst/>
          </a:prstGeom>
        </p:spPr>
      </p:pic>
      <p:sp>
        <p:nvSpPr>
          <p:cNvPr id="6" name="text-25"/>
          <p:cNvSpPr txBox="1"/>
          <p:nvPr/>
        </p:nvSpPr>
        <p:spPr>
          <a:xfrm>
            <a:off x="73152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1. Шаблон</a:t>
            </a:r>
            <a:endParaRPr lang="en-US" sz="2000" dirty="0"/>
          </a:p>
        </p:txBody>
      </p:sp>
      <p:sp>
        <p:nvSpPr>
          <p:cNvPr id="7" name="text-26"/>
          <p:cNvSpPr txBox="1"/>
          <p:nvPr/>
        </p:nvSpPr>
        <p:spPr>
          <a:xfrm>
            <a:off x="731520" y="2743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Файл YAML або JSON. Описує, ЩО потрібно створити</a:t>
            </a:r>
            <a:endParaRPr lang="en-US" sz="1400" dirty="0"/>
          </a:p>
        </p:txBody>
      </p:sp>
      <p:sp>
        <p:nvSpPr>
          <p:cNvPr id="8" name="arrow-27"/>
          <p:cNvSpPr/>
          <p:nvPr/>
        </p:nvSpPr>
        <p:spPr>
          <a:xfrm>
            <a:off x="2926080" y="2468880"/>
            <a:ext cx="3657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9" name="card-28"/>
          <p:cNvSpPr/>
          <p:nvPr/>
        </p:nvSpPr>
        <p:spPr>
          <a:xfrm>
            <a:off x="3383280" y="1234440"/>
            <a:ext cx="2377440" cy="2514600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badge-29"/>
          <p:cNvSpPr/>
          <p:nvPr/>
        </p:nvSpPr>
        <p:spPr>
          <a:xfrm>
            <a:off x="3657600" y="1463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con-30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5110" y="1660550"/>
            <a:ext cx="336499" cy="336499"/>
          </a:xfrm>
          <a:prstGeom prst="rect">
            <a:avLst/>
          </a:prstGeom>
        </p:spPr>
      </p:pic>
      <p:sp>
        <p:nvSpPr>
          <p:cNvPr id="12" name="text-31"/>
          <p:cNvSpPr txBox="1"/>
          <p:nvPr/>
        </p:nvSpPr>
        <p:spPr>
          <a:xfrm>
            <a:off x="365760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2. Стек</a:t>
            </a:r>
            <a:endParaRPr lang="en-US" sz="2000" dirty="0"/>
          </a:p>
        </p:txBody>
      </p:sp>
      <p:sp>
        <p:nvSpPr>
          <p:cNvPr id="13" name="text-32"/>
          <p:cNvSpPr txBox="1"/>
          <p:nvPr/>
        </p:nvSpPr>
        <p:spPr>
          <a:xfrm>
            <a:off x="3657600" y="2743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Одна «коробка» з ресурсами: створюється, оновлюється й видаляється разом</a:t>
            </a:r>
            <a:endParaRPr lang="en-US" sz="1400" dirty="0"/>
          </a:p>
        </p:txBody>
      </p:sp>
      <p:sp>
        <p:nvSpPr>
          <p:cNvPr id="14" name="arrow-33"/>
          <p:cNvSpPr/>
          <p:nvPr/>
        </p:nvSpPr>
        <p:spPr>
          <a:xfrm>
            <a:off x="5852160" y="2468880"/>
            <a:ext cx="3657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5" name="card-34"/>
          <p:cNvSpPr/>
          <p:nvPr/>
        </p:nvSpPr>
        <p:spPr>
          <a:xfrm>
            <a:off x="6309360" y="1234440"/>
            <a:ext cx="2377440" cy="2514600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badge-35"/>
          <p:cNvSpPr/>
          <p:nvPr/>
        </p:nvSpPr>
        <p:spPr>
          <a:xfrm>
            <a:off x="6583680" y="1463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con-36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190" y="1660550"/>
            <a:ext cx="336499" cy="336499"/>
          </a:xfrm>
          <a:prstGeom prst="rect">
            <a:avLst/>
          </a:prstGeom>
        </p:spPr>
      </p:pic>
      <p:sp>
        <p:nvSpPr>
          <p:cNvPr id="18" name="text-37"/>
          <p:cNvSpPr txBox="1"/>
          <p:nvPr/>
        </p:nvSpPr>
        <p:spPr>
          <a:xfrm>
            <a:off x="658368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3. Ресурси</a:t>
            </a:r>
            <a:endParaRPr lang="en-US" sz="2000" dirty="0"/>
          </a:p>
        </p:txBody>
      </p:sp>
      <p:sp>
        <p:nvSpPr>
          <p:cNvPr id="19" name="text-38"/>
          <p:cNvSpPr txBox="1"/>
          <p:nvPr/>
        </p:nvSpPr>
        <p:spPr>
          <a:xfrm>
            <a:off x="6583680" y="2743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Реальні сервіси AWS: S3, EC2, Lambda, DynamoDB…</a:t>
            </a:r>
            <a:endParaRPr lang="en-US" sz="1400" dirty="0"/>
          </a:p>
        </p:txBody>
      </p:sp>
      <p:sp>
        <p:nvSpPr>
          <p:cNvPr id="20" name="text-39"/>
          <p:cNvSpPr txBox="1"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CloudFormation </a:t>
            </a:r>
            <a:r>
              <a:rPr lang="en-US" sz="1500" dirty="0">
                <a:solidFill>
                  <a:schemeClr val="bg1"/>
                </a:solidFill>
              </a:rPr>
              <a:t>сам читає шаблон і викликає потрібні API AWS у правильному порядку — вам не треба думати, що створювати першим.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Анатомія шаблону</a:t>
            </a:r>
            <a:endParaRPr lang="en-US" sz="3000" dirty="0"/>
          </a:p>
        </p:txBody>
      </p:sp>
      <p:sp>
        <p:nvSpPr>
          <p:cNvPr id="3" name="card-40"/>
          <p:cNvSpPr/>
          <p:nvPr/>
        </p:nvSpPr>
        <p:spPr>
          <a:xfrm>
            <a:off x="457200" y="1234440"/>
            <a:ext cx="4297680" cy="3337560"/>
          </a:xfrm>
          <a:prstGeom prst="roundRect">
            <a:avLst>
              <a:gd name="adj" fmla="val 2192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-41"/>
          <p:cNvSpPr txBox="1"/>
          <p:nvPr/>
        </p:nvSpPr>
        <p:spPr>
          <a:xfrm>
            <a:off x="640080" y="1371600"/>
            <a:ext cx="39319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AWSTemplateFormatVersion: '2010-09-09'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My first stack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EnvName: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String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MyBucket: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AWS::S3::Bucket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BucketName: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!Ref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MyBucket</a:t>
            </a:r>
            <a:endParaRPr lang="en-US" sz="1300" dirty="0"/>
          </a:p>
        </p:txBody>
      </p:sp>
      <p:sp>
        <p:nvSpPr>
          <p:cNvPr id="5" name="card-42"/>
          <p:cNvSpPr/>
          <p:nvPr/>
        </p:nvSpPr>
        <p:spPr>
          <a:xfrm>
            <a:off x="5029200" y="1234440"/>
            <a:ext cx="36576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-43"/>
          <p:cNvSpPr txBox="1"/>
          <p:nvPr/>
        </p:nvSpPr>
        <p:spPr>
          <a:xfrm>
            <a:off x="5212080" y="1307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AWSTemplateFormatVersion</a:t>
            </a:r>
            <a:endParaRPr lang="en-US" sz="1500" dirty="0"/>
          </a:p>
        </p:txBody>
      </p:sp>
      <p:sp>
        <p:nvSpPr>
          <p:cNvPr id="7" name="text-44"/>
          <p:cNvSpPr txBox="1"/>
          <p:nvPr/>
        </p:nvSpPr>
        <p:spPr>
          <a:xfrm>
            <a:off x="521208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Версія формату, завжди 2010-09-09</a:t>
            </a:r>
            <a:endParaRPr lang="en-US" sz="1400" dirty="0"/>
          </a:p>
        </p:txBody>
      </p:sp>
      <p:sp>
        <p:nvSpPr>
          <p:cNvPr id="8" name="card-45"/>
          <p:cNvSpPr/>
          <p:nvPr/>
        </p:nvSpPr>
        <p:spPr>
          <a:xfrm>
            <a:off x="5029200" y="2103120"/>
            <a:ext cx="36576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text-46"/>
          <p:cNvSpPr txBox="1"/>
          <p:nvPr/>
        </p:nvSpPr>
        <p:spPr>
          <a:xfrm>
            <a:off x="5212080" y="2176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Parameters</a:t>
            </a:r>
            <a:endParaRPr lang="en-US" sz="1500" dirty="0"/>
          </a:p>
        </p:txBody>
      </p:sp>
      <p:sp>
        <p:nvSpPr>
          <p:cNvPr id="10" name="text-47"/>
          <p:cNvSpPr txBox="1"/>
          <p:nvPr/>
        </p:nvSpPr>
        <p:spPr>
          <a:xfrm>
            <a:off x="5212080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Вхідні значення: ім'я, середовище</a:t>
            </a:r>
            <a:endParaRPr lang="en-US" sz="1400" dirty="0"/>
          </a:p>
        </p:txBody>
      </p:sp>
      <p:sp>
        <p:nvSpPr>
          <p:cNvPr id="11" name="card-48"/>
          <p:cNvSpPr/>
          <p:nvPr/>
        </p:nvSpPr>
        <p:spPr>
          <a:xfrm>
            <a:off x="5029200" y="2971800"/>
            <a:ext cx="36576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text-49"/>
          <p:cNvSpPr txBox="1"/>
          <p:nvPr/>
        </p:nvSpPr>
        <p:spPr>
          <a:xfrm>
            <a:off x="5212080" y="3044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Resources (обов'язкова)</a:t>
            </a:r>
            <a:endParaRPr lang="en-US" sz="1500" dirty="0"/>
          </a:p>
        </p:txBody>
      </p:sp>
      <p:sp>
        <p:nvSpPr>
          <p:cNvPr id="13" name="text-50"/>
          <p:cNvSpPr txBox="1"/>
          <p:nvPr/>
        </p:nvSpPr>
        <p:spPr>
          <a:xfrm>
            <a:off x="521208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Головне: що саме створити в AWS</a:t>
            </a:r>
            <a:endParaRPr lang="en-US" sz="1400" dirty="0"/>
          </a:p>
        </p:txBody>
      </p:sp>
      <p:sp>
        <p:nvSpPr>
          <p:cNvPr id="14" name="card-51"/>
          <p:cNvSpPr/>
          <p:nvPr/>
        </p:nvSpPr>
        <p:spPr>
          <a:xfrm>
            <a:off x="5029200" y="3840480"/>
            <a:ext cx="36576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text-52"/>
          <p:cNvSpPr txBox="1"/>
          <p:nvPr/>
        </p:nvSpPr>
        <p:spPr>
          <a:xfrm>
            <a:off x="5212080" y="3913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Outputs</a:t>
            </a:r>
            <a:endParaRPr lang="en-US" sz="1500" dirty="0"/>
          </a:p>
        </p:txBody>
      </p:sp>
      <p:sp>
        <p:nvSpPr>
          <p:cNvPr id="16" name="text-53"/>
          <p:cNvSpPr txBox="1"/>
          <p:nvPr/>
        </p:nvSpPr>
        <p:spPr>
          <a:xfrm>
            <a:off x="5212080" y="4206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Що повернути: ARN, URL, ідентифікатори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Життєвий цикл стека і відкат</a:t>
            </a:r>
            <a:endParaRPr lang="en-US" sz="3000" dirty="0"/>
          </a:p>
        </p:txBody>
      </p:sp>
      <p:sp>
        <p:nvSpPr>
          <p:cNvPr id="3" name="card-90"/>
          <p:cNvSpPr/>
          <p:nvPr/>
        </p:nvSpPr>
        <p:spPr>
          <a:xfrm>
            <a:off x="457200" y="1325880"/>
            <a:ext cx="27432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-91"/>
          <p:cNvSpPr txBox="1"/>
          <p:nvPr/>
        </p:nvSpPr>
        <p:spPr>
          <a:xfrm>
            <a:off x="457200" y="1325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CREATE_IN_PROGRESS</a:t>
            </a:r>
            <a:endParaRPr lang="en-US" sz="1500" dirty="0"/>
          </a:p>
        </p:txBody>
      </p:sp>
      <p:sp>
        <p:nvSpPr>
          <p:cNvPr id="5" name="card-92"/>
          <p:cNvSpPr/>
          <p:nvPr/>
        </p:nvSpPr>
        <p:spPr>
          <a:xfrm>
            <a:off x="5943600" y="1325880"/>
            <a:ext cx="27432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317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-93"/>
          <p:cNvSpPr txBox="1"/>
          <p:nvPr/>
        </p:nvSpPr>
        <p:spPr>
          <a:xfrm>
            <a:off x="5943600" y="1325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CREATE_COMPLETE</a:t>
            </a:r>
            <a:endParaRPr lang="en-US" sz="1500" dirty="0"/>
          </a:p>
        </p:txBody>
      </p:sp>
      <p:sp>
        <p:nvSpPr>
          <p:cNvPr id="7" name="card-94"/>
          <p:cNvSpPr/>
          <p:nvPr/>
        </p:nvSpPr>
        <p:spPr>
          <a:xfrm>
            <a:off x="457200" y="2788920"/>
            <a:ext cx="27432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317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-95"/>
          <p:cNvSpPr txBox="1"/>
          <p:nvPr/>
        </p:nvSpPr>
        <p:spPr>
          <a:xfrm>
            <a:off x="457200" y="2788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CREATE_FAILED</a:t>
            </a:r>
            <a:endParaRPr lang="en-US" sz="1500" dirty="0"/>
          </a:p>
        </p:txBody>
      </p:sp>
      <p:sp>
        <p:nvSpPr>
          <p:cNvPr id="9" name="card-96"/>
          <p:cNvSpPr/>
          <p:nvPr/>
        </p:nvSpPr>
        <p:spPr>
          <a:xfrm>
            <a:off x="5943600" y="2788920"/>
            <a:ext cx="27432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317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-97"/>
          <p:cNvSpPr txBox="1"/>
          <p:nvPr/>
        </p:nvSpPr>
        <p:spPr>
          <a:xfrm>
            <a:off x="5943600" y="2788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ROLLBACK_COMPLETE</a:t>
            </a:r>
            <a:endParaRPr lang="en-US" sz="1500" dirty="0"/>
          </a:p>
        </p:txBody>
      </p:sp>
      <p:sp>
        <p:nvSpPr>
          <p:cNvPr id="11" name="arrow-98"/>
          <p:cNvSpPr/>
          <p:nvPr/>
        </p:nvSpPr>
        <p:spPr>
          <a:xfrm>
            <a:off x="3291840" y="1691640"/>
            <a:ext cx="2560320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-99"/>
          <p:cNvSpPr txBox="1"/>
          <p:nvPr/>
        </p:nvSpPr>
        <p:spPr>
          <a:xfrm>
            <a:off x="329184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усе успішно</a:t>
            </a:r>
            <a:endParaRPr lang="en-US" sz="1400" dirty="0"/>
          </a:p>
        </p:txBody>
      </p:sp>
      <p:sp>
        <p:nvSpPr>
          <p:cNvPr id="13" name="arrow-100"/>
          <p:cNvSpPr/>
          <p:nvPr/>
        </p:nvSpPr>
        <p:spPr>
          <a:xfrm>
            <a:off x="1828800" y="2103120"/>
            <a:ext cx="0" cy="64008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-101"/>
          <p:cNvSpPr txBox="1"/>
          <p:nvPr/>
        </p:nvSpPr>
        <p:spPr>
          <a:xfrm>
            <a:off x="201168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помилка в ресурсі</a:t>
            </a:r>
            <a:endParaRPr lang="en-US" sz="1400" dirty="0"/>
          </a:p>
        </p:txBody>
      </p:sp>
      <p:sp>
        <p:nvSpPr>
          <p:cNvPr id="15" name="arrow-102"/>
          <p:cNvSpPr/>
          <p:nvPr/>
        </p:nvSpPr>
        <p:spPr>
          <a:xfrm>
            <a:off x="3291840" y="3154680"/>
            <a:ext cx="2560320" cy="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-103"/>
          <p:cNvSpPr txBox="1"/>
          <p:nvPr/>
        </p:nvSpPr>
        <p:spPr>
          <a:xfrm>
            <a:off x="3291840" y="2788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автовідкат</a:t>
            </a:r>
            <a:endParaRPr lang="en-US" sz="1400" dirty="0"/>
          </a:p>
        </p:txBody>
      </p:sp>
      <p:sp>
        <p:nvSpPr>
          <p:cNvPr id="17" name="text-104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Помилка в одному ресурсі — відкат усього стека: «напівготової» інфраструктури не буде. Причину шукайте у вкладці </a:t>
            </a:r>
            <a:r>
              <a:rPr lang="en-US" sz="1500" b="1" dirty="0">
                <a:solidFill>
                  <a:schemeClr val="accent1"/>
                </a:solidFill>
              </a:rPr>
              <a:t>Events</a:t>
            </a:r>
            <a:r>
              <a:rPr lang="en-US" sz="1500" dirty="0">
                <a:solidFill>
                  <a:schemeClr val="bg1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Оновлення стека: Change Set</a:t>
            </a:r>
            <a:endParaRPr lang="en-US" sz="3000" dirty="0"/>
          </a:p>
        </p:txBody>
      </p:sp>
      <p:sp>
        <p:nvSpPr>
          <p:cNvPr id="3" name="card-105"/>
          <p:cNvSpPr/>
          <p:nvPr/>
        </p:nvSpPr>
        <p:spPr>
          <a:xfrm>
            <a:off x="457200" y="1188720"/>
            <a:ext cx="237744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badge-106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con-107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68" y="1461668"/>
            <a:ext cx="231343" cy="231343"/>
          </a:xfrm>
          <a:prstGeom prst="rect">
            <a:avLst/>
          </a:prstGeom>
        </p:spPr>
      </p:pic>
      <p:sp>
        <p:nvSpPr>
          <p:cNvPr id="6" name="text-108"/>
          <p:cNvSpPr txBox="1"/>
          <p:nvPr/>
        </p:nvSpPr>
        <p:spPr>
          <a:xfrm>
            <a:off x="1280160" y="1325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Змінили шаблон</a:t>
            </a:r>
            <a:endParaRPr lang="en-US" sz="1600" dirty="0"/>
          </a:p>
        </p:txBody>
      </p:sp>
      <p:sp>
        <p:nvSpPr>
          <p:cNvPr id="7" name="text-109"/>
          <p:cNvSpPr txBox="1"/>
          <p:nvPr/>
        </p:nvSpPr>
        <p:spPr>
          <a:xfrm>
            <a:off x="640080" y="1965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Додали ресурс чи параметр</a:t>
            </a:r>
            <a:endParaRPr lang="en-US" sz="1400" dirty="0"/>
          </a:p>
        </p:txBody>
      </p:sp>
      <p:sp>
        <p:nvSpPr>
          <p:cNvPr id="8" name="arrow-110"/>
          <p:cNvSpPr/>
          <p:nvPr/>
        </p:nvSpPr>
        <p:spPr>
          <a:xfrm>
            <a:off x="2926080" y="1874520"/>
            <a:ext cx="3657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9" name="card-111"/>
          <p:cNvSpPr/>
          <p:nvPr/>
        </p:nvSpPr>
        <p:spPr>
          <a:xfrm>
            <a:off x="3383280" y="1188720"/>
            <a:ext cx="237744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badge-112"/>
          <p:cNvSpPr/>
          <p:nvPr/>
        </p:nvSpPr>
        <p:spPr>
          <a:xfrm>
            <a:off x="3566160" y="1325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con-113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1948" y="1461668"/>
            <a:ext cx="231343" cy="231343"/>
          </a:xfrm>
          <a:prstGeom prst="rect">
            <a:avLst/>
          </a:prstGeom>
        </p:spPr>
      </p:pic>
      <p:sp>
        <p:nvSpPr>
          <p:cNvPr id="12" name="text-114"/>
          <p:cNvSpPr txBox="1"/>
          <p:nvPr/>
        </p:nvSpPr>
        <p:spPr>
          <a:xfrm>
            <a:off x="4206240" y="1325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Change Set</a:t>
            </a:r>
            <a:endParaRPr lang="en-US" sz="1600" dirty="0"/>
          </a:p>
        </p:txBody>
      </p:sp>
      <p:sp>
        <p:nvSpPr>
          <p:cNvPr id="13" name="text-115"/>
          <p:cNvSpPr txBox="1"/>
          <p:nvPr/>
        </p:nvSpPr>
        <p:spPr>
          <a:xfrm>
            <a:off x="3566160" y="1965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Перегляд змін до виконання</a:t>
            </a:r>
            <a:endParaRPr lang="en-US" sz="1400" dirty="0"/>
          </a:p>
        </p:txBody>
      </p:sp>
      <p:sp>
        <p:nvSpPr>
          <p:cNvPr id="14" name="arrow-116"/>
          <p:cNvSpPr/>
          <p:nvPr/>
        </p:nvSpPr>
        <p:spPr>
          <a:xfrm>
            <a:off x="5852160" y="1874520"/>
            <a:ext cx="3657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5" name="card-117"/>
          <p:cNvSpPr/>
          <p:nvPr/>
        </p:nvSpPr>
        <p:spPr>
          <a:xfrm>
            <a:off x="6309360" y="1188720"/>
            <a:ext cx="237744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badge-118"/>
          <p:cNvSpPr/>
          <p:nvPr/>
        </p:nvSpPr>
        <p:spPr>
          <a:xfrm>
            <a:off x="6492240" y="1325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con-119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028" y="1461668"/>
            <a:ext cx="231343" cy="231343"/>
          </a:xfrm>
          <a:prstGeom prst="rect">
            <a:avLst/>
          </a:prstGeom>
        </p:spPr>
      </p:pic>
      <p:sp>
        <p:nvSpPr>
          <p:cNvPr id="18" name="text-120"/>
          <p:cNvSpPr txBox="1"/>
          <p:nvPr/>
        </p:nvSpPr>
        <p:spPr>
          <a:xfrm>
            <a:off x="7132320" y="1325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Execute</a:t>
            </a:r>
            <a:endParaRPr lang="en-US" sz="1600" dirty="0"/>
          </a:p>
        </p:txBody>
      </p:sp>
      <p:sp>
        <p:nvSpPr>
          <p:cNvPr id="19" name="text-121"/>
          <p:cNvSpPr txBox="1"/>
          <p:nvPr/>
        </p:nvSpPr>
        <p:spPr>
          <a:xfrm>
            <a:off x="6492240" y="1965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Зміни застосовано до стека</a:t>
            </a:r>
            <a:endParaRPr lang="en-US" sz="1400" dirty="0"/>
          </a:p>
        </p:txBody>
      </p:sp>
      <p:graphicFrame>
        <p:nvGraphicFramePr>
          <p:cNvPr id="20" name="table-1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5120640" cy="14630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Дія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Ресурс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Replacement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Add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LogBucket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Modify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DataBucket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False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Modify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AppTable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True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card-123"/>
          <p:cNvSpPr/>
          <p:nvPr/>
        </p:nvSpPr>
        <p:spPr>
          <a:xfrm>
            <a:off x="5852160" y="2834640"/>
            <a:ext cx="2834640" cy="146304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text-124"/>
          <p:cNvSpPr txBox="1"/>
          <p:nvPr/>
        </p:nvSpPr>
        <p:spPr>
          <a:xfrm>
            <a:off x="6035040" y="29260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Увага!
</a:t>
            </a:r>
            <a:r>
              <a:rPr lang="en-US" sz="1400" dirty="0">
                <a:solidFill>
                  <a:schemeClr val="tx1"/>
                </a:solidFill>
              </a:rPr>
              <a:t>Replacement = True: ресурс буде видалено й створено заново — дані можуть зникнути.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Кращі практики</a:t>
            </a:r>
            <a:endParaRPr lang="en-US" sz="3000" dirty="0"/>
          </a:p>
        </p:txBody>
      </p:sp>
      <p:sp>
        <p:nvSpPr>
          <p:cNvPr id="3" name="card-125"/>
          <p:cNvSpPr/>
          <p:nvPr/>
        </p:nvSpPr>
        <p:spPr>
          <a:xfrm>
            <a:off x="457200" y="1188720"/>
            <a:ext cx="2624328" cy="1508760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badge-126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con-127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449324"/>
            <a:ext cx="210312" cy="210312"/>
          </a:xfrm>
          <a:prstGeom prst="rect">
            <a:avLst/>
          </a:prstGeom>
        </p:spPr>
      </p:pic>
      <p:sp>
        <p:nvSpPr>
          <p:cNvPr id="6" name="text-128"/>
          <p:cNvSpPr txBox="1"/>
          <p:nvPr/>
        </p:nvSpPr>
        <p:spPr>
          <a:xfrm>
            <a:off x="64008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Шаблон у Git</a:t>
            </a:r>
            <a:endParaRPr lang="en-US" sz="1600" dirty="0"/>
          </a:p>
        </p:txBody>
      </p:sp>
      <p:sp>
        <p:nvSpPr>
          <p:cNvPr id="7" name="text-129"/>
          <p:cNvSpPr txBox="1"/>
          <p:nvPr/>
        </p:nvSpPr>
        <p:spPr>
          <a:xfrm>
            <a:off x="640080" y="2167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Це код: версії, review, історія змін</a:t>
            </a:r>
            <a:endParaRPr lang="en-US" sz="1400" dirty="0"/>
          </a:p>
        </p:txBody>
      </p:sp>
      <p:sp>
        <p:nvSpPr>
          <p:cNvPr id="8" name="card-130"/>
          <p:cNvSpPr/>
          <p:nvPr/>
        </p:nvSpPr>
        <p:spPr>
          <a:xfrm>
            <a:off x="3264408" y="1188720"/>
            <a:ext cx="2624328" cy="1508760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badge-131"/>
          <p:cNvSpPr/>
          <p:nvPr/>
        </p:nvSpPr>
        <p:spPr>
          <a:xfrm>
            <a:off x="3447288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con-132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0732" y="1449324"/>
            <a:ext cx="210312" cy="210312"/>
          </a:xfrm>
          <a:prstGeom prst="rect">
            <a:avLst/>
          </a:prstGeom>
        </p:spPr>
      </p:pic>
      <p:sp>
        <p:nvSpPr>
          <p:cNvPr id="11" name="text-133"/>
          <p:cNvSpPr txBox="1"/>
          <p:nvPr/>
        </p:nvSpPr>
        <p:spPr>
          <a:xfrm>
            <a:off x="3447288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Параметри</a:t>
            </a:r>
            <a:endParaRPr lang="en-US" sz="1600" dirty="0"/>
          </a:p>
        </p:txBody>
      </p:sp>
      <p:sp>
        <p:nvSpPr>
          <p:cNvPr id="12" name="text-134"/>
          <p:cNvSpPr txBox="1"/>
          <p:nvPr/>
        </p:nvSpPr>
        <p:spPr>
          <a:xfrm>
            <a:off x="3447288" y="2167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Один шаблон для dev, test і prod</a:t>
            </a:r>
            <a:endParaRPr lang="en-US" sz="1400" dirty="0"/>
          </a:p>
        </p:txBody>
      </p:sp>
      <p:sp>
        <p:nvSpPr>
          <p:cNvPr id="13" name="card-135"/>
          <p:cNvSpPr/>
          <p:nvPr/>
        </p:nvSpPr>
        <p:spPr>
          <a:xfrm>
            <a:off x="6071616" y="1188720"/>
            <a:ext cx="2624328" cy="1508760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badge-136"/>
          <p:cNvSpPr/>
          <p:nvPr/>
        </p:nvSpPr>
        <p:spPr>
          <a:xfrm>
            <a:off x="6254496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5" name="icon-137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1449324"/>
            <a:ext cx="210312" cy="210312"/>
          </a:xfrm>
          <a:prstGeom prst="rect">
            <a:avLst/>
          </a:prstGeom>
        </p:spPr>
      </p:pic>
      <p:sp>
        <p:nvSpPr>
          <p:cNvPr id="16" name="text-138"/>
          <p:cNvSpPr txBox="1"/>
          <p:nvPr/>
        </p:nvSpPr>
        <p:spPr>
          <a:xfrm>
            <a:off x="6254496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Change Set</a:t>
            </a:r>
            <a:endParaRPr lang="en-US" sz="1600" dirty="0"/>
          </a:p>
        </p:txBody>
      </p:sp>
      <p:sp>
        <p:nvSpPr>
          <p:cNvPr id="17" name="text-139"/>
          <p:cNvSpPr txBox="1"/>
          <p:nvPr/>
        </p:nvSpPr>
        <p:spPr>
          <a:xfrm>
            <a:off x="6254496" y="2167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Завжди дивіться зміни перед оновленням</a:t>
            </a:r>
            <a:endParaRPr lang="en-US" sz="1400" dirty="0"/>
          </a:p>
        </p:txBody>
      </p:sp>
      <p:sp>
        <p:nvSpPr>
          <p:cNvPr id="18" name="card-140"/>
          <p:cNvSpPr/>
          <p:nvPr/>
        </p:nvSpPr>
        <p:spPr>
          <a:xfrm>
            <a:off x="457200" y="2880360"/>
            <a:ext cx="2624328" cy="1508760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badge-141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con-142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" y="3140964"/>
            <a:ext cx="210312" cy="210312"/>
          </a:xfrm>
          <a:prstGeom prst="rect">
            <a:avLst/>
          </a:prstGeom>
        </p:spPr>
      </p:pic>
      <p:sp>
        <p:nvSpPr>
          <p:cNvPr id="21" name="text-143"/>
          <p:cNvSpPr txBox="1"/>
          <p:nvPr/>
        </p:nvSpPr>
        <p:spPr>
          <a:xfrm>
            <a:off x="64008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Без ручних змін</a:t>
            </a:r>
            <a:endParaRPr lang="en-US" sz="1600" dirty="0"/>
          </a:p>
        </p:txBody>
      </p:sp>
      <p:sp>
        <p:nvSpPr>
          <p:cNvPr id="22" name="text-144"/>
          <p:cNvSpPr txBox="1"/>
          <p:nvPr/>
        </p:nvSpPr>
        <p:spPr>
          <a:xfrm>
            <a:off x="640080" y="3858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Правки в консолі створюють drift</a:t>
            </a:r>
            <a:endParaRPr lang="en-US" sz="1400" dirty="0"/>
          </a:p>
        </p:txBody>
      </p:sp>
      <p:sp>
        <p:nvSpPr>
          <p:cNvPr id="23" name="card-145"/>
          <p:cNvSpPr/>
          <p:nvPr/>
        </p:nvSpPr>
        <p:spPr>
          <a:xfrm>
            <a:off x="3264408" y="2880360"/>
            <a:ext cx="2624328" cy="1508760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badge-146"/>
          <p:cNvSpPr/>
          <p:nvPr/>
        </p:nvSpPr>
        <p:spPr>
          <a:xfrm>
            <a:off x="3447288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5" name="icon-147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0732" y="3140964"/>
            <a:ext cx="210312" cy="210312"/>
          </a:xfrm>
          <a:prstGeom prst="rect">
            <a:avLst/>
          </a:prstGeom>
        </p:spPr>
      </p:pic>
      <p:sp>
        <p:nvSpPr>
          <p:cNvPr id="26" name="text-148"/>
          <p:cNvSpPr txBox="1"/>
          <p:nvPr/>
        </p:nvSpPr>
        <p:spPr>
          <a:xfrm>
            <a:off x="3447288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Теги й імена</a:t>
            </a:r>
            <a:endParaRPr lang="en-US" sz="1600" dirty="0"/>
          </a:p>
        </p:txBody>
      </p:sp>
      <p:sp>
        <p:nvSpPr>
          <p:cNvPr id="27" name="text-149"/>
          <p:cNvSpPr txBox="1"/>
          <p:nvPr/>
        </p:nvSpPr>
        <p:spPr>
          <a:xfrm>
            <a:off x="3447288" y="3858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Легко знайти власника і вартість</a:t>
            </a:r>
            <a:endParaRPr lang="en-US" sz="1400" dirty="0"/>
          </a:p>
        </p:txBody>
      </p:sp>
      <p:sp>
        <p:nvSpPr>
          <p:cNvPr id="28" name="card-150"/>
          <p:cNvSpPr/>
          <p:nvPr/>
        </p:nvSpPr>
        <p:spPr>
          <a:xfrm>
            <a:off x="6071616" y="2880360"/>
            <a:ext cx="2624328" cy="1508760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9" name="badge-151"/>
          <p:cNvSpPr/>
          <p:nvPr/>
        </p:nvSpPr>
        <p:spPr>
          <a:xfrm>
            <a:off x="6254496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0" name="icon-152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7940" y="3140964"/>
            <a:ext cx="210312" cy="210312"/>
          </a:xfrm>
          <a:prstGeom prst="rect">
            <a:avLst/>
          </a:prstGeom>
        </p:spPr>
      </p:pic>
      <p:sp>
        <p:nvSpPr>
          <p:cNvPr id="31" name="text-153"/>
          <p:cNvSpPr txBox="1"/>
          <p:nvPr/>
        </p:nvSpPr>
        <p:spPr>
          <a:xfrm>
            <a:off x="6254496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Видаляйте стеки</a:t>
            </a:r>
            <a:endParaRPr lang="en-US" sz="1600" dirty="0"/>
          </a:p>
        </p:txBody>
      </p:sp>
      <p:sp>
        <p:nvSpPr>
          <p:cNvPr id="32" name="text-154"/>
          <p:cNvSpPr txBox="1"/>
          <p:nvPr/>
        </p:nvSpPr>
        <p:spPr>
          <a:xfrm>
            <a:off x="6254496" y="3858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delete-stack, щоб не платити зайве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02676" y="430618"/>
            <a:ext cx="5618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Підсумки</a:t>
            </a:r>
            <a:endParaRPr lang="en-US" sz="3000" dirty="0"/>
          </a:p>
        </p:txBody>
      </p:sp>
      <p:sp>
        <p:nvSpPr>
          <p:cNvPr id="4" name="badge-156"/>
          <p:cNvSpPr/>
          <p:nvPr/>
        </p:nvSpPr>
        <p:spPr>
          <a:xfrm>
            <a:off x="653581" y="1605111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con-157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81" y="1716211"/>
            <a:ext cx="189281" cy="189281"/>
          </a:xfrm>
          <a:prstGeom prst="rect">
            <a:avLst/>
          </a:prstGeom>
        </p:spPr>
      </p:pic>
      <p:sp>
        <p:nvSpPr>
          <p:cNvPr id="6" name="text-158"/>
          <p:cNvSpPr txBox="1"/>
          <p:nvPr/>
        </p:nvSpPr>
        <p:spPr>
          <a:xfrm>
            <a:off x="1247941" y="147623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Шаблон — рецепт, стек — готова страва</a:t>
            </a:r>
            <a:endParaRPr lang="en-US" sz="1500" dirty="0"/>
          </a:p>
        </p:txBody>
      </p:sp>
      <p:sp>
        <p:nvSpPr>
          <p:cNvPr id="7" name="badge-159"/>
          <p:cNvSpPr/>
          <p:nvPr/>
        </p:nvSpPr>
        <p:spPr>
          <a:xfrm>
            <a:off x="653581" y="2318343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con-16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81" y="2429443"/>
            <a:ext cx="189281" cy="189281"/>
          </a:xfrm>
          <a:prstGeom prst="rect">
            <a:avLst/>
          </a:prstGeom>
        </p:spPr>
      </p:pic>
      <p:sp>
        <p:nvSpPr>
          <p:cNvPr id="9" name="text-161"/>
          <p:cNvSpPr txBox="1"/>
          <p:nvPr/>
        </p:nvSpPr>
        <p:spPr>
          <a:xfrm>
            <a:off x="1247941" y="218946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Resources — єдина обов'язкова секція</a:t>
            </a:r>
            <a:endParaRPr lang="en-US" sz="1500" dirty="0"/>
          </a:p>
        </p:txBody>
      </p:sp>
      <p:sp>
        <p:nvSpPr>
          <p:cNvPr id="10" name="badge-162"/>
          <p:cNvSpPr/>
          <p:nvPr/>
        </p:nvSpPr>
        <p:spPr>
          <a:xfrm>
            <a:off x="653581" y="3031575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con-163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81" y="3142675"/>
            <a:ext cx="189281" cy="189281"/>
          </a:xfrm>
          <a:prstGeom prst="rect">
            <a:avLst/>
          </a:prstGeom>
        </p:spPr>
      </p:pic>
      <p:sp>
        <p:nvSpPr>
          <p:cNvPr id="12" name="text-164"/>
          <p:cNvSpPr txBox="1"/>
          <p:nvPr/>
        </p:nvSpPr>
        <p:spPr>
          <a:xfrm>
            <a:off x="1247941" y="290269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Помилка веде до автоматичного відкату</a:t>
            </a:r>
            <a:endParaRPr lang="en-US" sz="1500" dirty="0"/>
          </a:p>
        </p:txBody>
      </p:sp>
      <p:sp>
        <p:nvSpPr>
          <p:cNvPr id="13" name="badge-165"/>
          <p:cNvSpPr/>
          <p:nvPr/>
        </p:nvSpPr>
        <p:spPr>
          <a:xfrm>
            <a:off x="653581" y="3744807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con-166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81" y="3855907"/>
            <a:ext cx="189281" cy="189281"/>
          </a:xfrm>
          <a:prstGeom prst="rect">
            <a:avLst/>
          </a:prstGeom>
        </p:spPr>
      </p:pic>
      <p:sp>
        <p:nvSpPr>
          <p:cNvPr id="15" name="text-167"/>
          <p:cNvSpPr txBox="1"/>
          <p:nvPr/>
        </p:nvSpPr>
        <p:spPr>
          <a:xfrm>
            <a:off x="1247941" y="361593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Зміни вносимо через Change Set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Navy">
  <a:themeElements>
    <a:clrScheme name="AWS Navy">
      <a:dk1>
        <a:srgbClr val="0F1B2D"/>
      </a:dk1>
      <a:lt1>
        <a:srgbClr val="FFFFFF"/>
      </a:lt1>
      <a:dk2>
        <a:srgbClr val="1B2B45"/>
      </a:dk2>
      <a:lt2>
        <a:srgbClr val="F2F4F7"/>
      </a:lt2>
      <a:accent1>
        <a:srgbClr val="FF9900"/>
      </a:accent1>
      <a:accent2>
        <a:srgbClr val="3B82C4"/>
      </a:accent2>
      <a:accent3>
        <a:srgbClr val="2BB38A"/>
      </a:accent3>
      <a:accent4>
        <a:srgbClr val="E5534B"/>
      </a:accent4>
      <a:accent5>
        <a:srgbClr val="8A94A6"/>
      </a:accent5>
      <a:accent6>
        <a:srgbClr val="FFD27A"/>
      </a:accent6>
      <a:hlink>
        <a:srgbClr val="3B82C4"/>
      </a:hlink>
      <a:folHlink>
        <a:srgbClr val="8A94A6"/>
      </a:folHlink>
    </a:clrScheme>
    <a:fontScheme name="AWS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630</Words>
  <Application>Microsoft Macintosh PowerPoint</Application>
  <PresentationFormat>On-screen Show (16:9)</PresentationFormat>
  <Paragraphs>114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AWS Navy</vt:lpstr>
      <vt:lpstr>PowerPoint Presentation</vt:lpstr>
      <vt:lpstr>Навіщо потрібен CloudFormation?</vt:lpstr>
      <vt:lpstr>Три ключові поняття</vt:lpstr>
      <vt:lpstr>Анатомія шаблону</vt:lpstr>
      <vt:lpstr>Життєвий цикл стека і відкат</vt:lpstr>
      <vt:lpstr>Оновлення стека: Change Set</vt:lpstr>
      <vt:lpstr>Кращі практики</vt:lpstr>
      <vt:lpstr>Підсумки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CloudFormation</dc:title>
  <dc:subject>PptxGenJS Presentation</dc:subject>
  <dc:creator>PptxGenJS</dc:creator>
  <cp:lastModifiedBy>Дмитро Штефан</cp:lastModifiedBy>
  <cp:revision>2</cp:revision>
  <dcterms:created xsi:type="dcterms:W3CDTF">2026-10-09T20:26:05Z</dcterms:created>
  <dcterms:modified xsi:type="dcterms:W3CDTF">2026-10-09T20:40:06Z</dcterms:modified>
</cp:coreProperties>
</file>