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6949"/>
  </p:normalViewPr>
  <p:slideViewPr>
    <p:cSldViewPr snapToGrid="0">
      <p:cViewPr varScale="1">
        <p:scale>
          <a:sx n="149" d="100"/>
          <a:sy n="14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Вступ, 3 хв. Оголосити тему першої пари. Основний акцент: Studio, JumpStart та виклик готової моделі.</a:t>
            </a:r>
          </a:p>
          <a:p>
            <a:endParaRPr/>
          </a:p>
          <a:p>
            <a:r>
              <a:t>Джерела: https://docs.aws.amazon.com/sagemaker/latest/dg/whatis.html</a:t>
            </a:r>
          </a:p>
          <a:p>
            <a:r>
              <a:t>Іконки: Lucide, ISC License. https://github.com/lucide-icons/lucide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 хв. Звернення покупця: оплату списано двічі. Очікуваний результат: категорія PAYMENT і чернетка відповіді. Наголосити, що працівник перевіряє текст і модель не повертає кошти автоматично. Це навчальний сценарій, а не твердження про впроваджену систему.</a:t>
            </a:r>
          </a:p>
          <a:p>
            <a:endParaRPr/>
          </a:p>
          <a:p>
            <a:r>
              <a:t>Джерела: Навчальний сценарій курсу</a:t>
            </a:r>
          </a:p>
          <a:p>
            <a:r>
              <a:t>Іконки: Lucide, ISC License. https://github.com/lucide-icons/lucide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 хв. SageMaker AI є керованим ML-сервісом. SageMaker також є назвою ширшої платформи даних, аналітики та AI. На цій парі розглядаємо SageMaker AI. Навчання та inference є окремими етапами. AWS керує інфраструктурою сервісу, але команда обирає ресурси, дані та модель.</a:t>
            </a:r>
          </a:p>
          <a:p>
            <a:endParaRPr/>
          </a:p>
          <a:p>
            <a:r>
              <a:t>Джерела: https://docs.aws.amazon.com/sagemaker/latest/dg/whatis.html</a:t>
            </a:r>
          </a:p>
          <a:p>
            <a:r>
              <a:t>Іконки: Lucide, ISC License. https://github.com/lucide-icons/lucide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 хв. Показувати SageMaker Studio, відрізняючи його від Studio Classic та SageMaker Unified Studio. 1. У Console відкрити SageMaker AI і Domains. 2. Переглянути наявний domain, user profiles і settings. 3. Запустити Studio для дозволеного профілю. 4. У застосунках JupyterLab або Code Editor показати Spaces, тип доступу, instance і стан. 5. Відкрити JumpStart. UI і назви пунктів можуть відрізнятися за версією та дозволами. Не створювати domain без необхідності. Якщо Sandbox не дозволяє запуск, використати демонстрацію викладача. Після заняття зупинити запущені застосунки.</a:t>
            </a:r>
          </a:p>
          <a:p>
            <a:endParaRPr/>
          </a:p>
          <a:p>
            <a:r>
              <a:t>Джерела: https://docs.aws.amazon.com/sagemaker/latest/dg/machine-learning-environments.html</a:t>
            </a:r>
          </a:p>
          <a:p>
            <a:r>
              <a:t>https://docs.aws.amazon.com/sagemaker/latest/APIReference/API_CreateDomain.html</a:t>
            </a:r>
          </a:p>
          <a:p>
            <a:r>
              <a:t>Іконки: Lucide, ISC License. https://github.com/lucide-icons/lucide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 хв. Відкрити каталог, вибрати доступну текстову модель, показати model card, ліцензію, приклади запитів і підтримку налаштування. JumpStart містить foundation models та інші попередньо навчені моделі. Fine-tuning залежить від моделі. Перед Deploy перевірити IAM role, instance type, квоту, регіон та ціну. У лабораторії використовувати надану роль і дозволені ресурси. Якщо deployment недоступний, показати готовий endpoint викладача або підготовлений результат. Дочекатися InService. Для слайду з кодом скопіювати payload із прикладу саме обраної моделі.</a:t>
            </a:r>
          </a:p>
          <a:p>
            <a:endParaRPr/>
          </a:p>
          <a:p>
            <a:r>
              <a:t>Джерела: https://docs.aws.amazon.com/sagemaker/latest/dg/studio-jumpstart.html</a:t>
            </a:r>
          </a:p>
          <a:p>
            <a:r>
              <a:t>https://docs.aws.amazon.com/sagemaker/latest/dg/jumpstart-deploy.html</a:t>
            </a:r>
          </a:p>
          <a:p>
            <a:r>
              <a:t>https://aws.amazon.com/sagemaker/ai/pricing/</a:t>
            </a:r>
          </a:p>
          <a:p>
            <a:r>
              <a:t>Іконки: Lucide, ISC License. https://github.com/lucide-icons/lucide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хв. Це AWS SDK for Python, boto3, а не високорівневий SageMaker Python SDK. Код використовує стандартний ланцюжок AWS credentials, без ключів у коді. Потрібен дозвіл sagemaker:InvokeEndpoint на відповідний endpoint. Замінити REGION і ENDPOINT_NAME. Схема inputs/parameters є прикладом для сумісного текстового контейнера, не універсальною схемою JumpStart. Перед запуском звірити payload із model card або example notebook. Відповідь декодуємо як JSON лише для endpoint з JSON-відповіддю. Описати AccessDenied, неправильний формат, неправильний регіон і стан endpoint.</a:t>
            </a:r>
          </a:p>
          <a:p>
            <a:endParaRPr/>
          </a:p>
          <a:p>
            <a:r>
              <a:t>Джерела: https://docs.aws.amazon.com/sagemaker/latest/APIReference/API_runtime_InvokeEndpoint.html</a:t>
            </a:r>
          </a:p>
          <a:p>
            <a:r>
              <a:t>https://docs.aws.amazon.com/botocore/latest/reference/services/sagemaker-runtime/client/invoke_endpoint.html</a:t>
            </a:r>
          </a:p>
          <a:p>
            <a:r>
              <a:t>Іконки: Lucide, ISC License. https://github.com/lucide-icons/lucide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хв. Порівнюємо типовий on-demand доступ до моделей Bedrock та стандартне розгортання JumpStart на real-time endpoint. У Bedrock є інші режими оплати та налаштування, тому не стверджувати, що він завжди оплачується тільки за токени. Обидва підходи підтримують кастомізацію для певних моделей. JumpStart є можливістю SageMaker AI, а не окремим рівнозначним ML-сервісом. Питання для завершення: який підхід підійде для швидкого прототипу і який дає більше контролю над serving? Після демонстрації видалити endpoint, endpoint configuration та непотрібну model, зупинити apps, перевірити залишкове зберігання.</a:t>
            </a:r>
          </a:p>
          <a:p>
            <a:endParaRPr/>
          </a:p>
          <a:p>
            <a:r>
              <a:t>Джерела: https://docs.aws.amazon.com/decision-guides/latest/decision-guides/bedrock-or-sagemaker.html</a:t>
            </a:r>
          </a:p>
          <a:p>
            <a:r>
              <a:t>https://aws.amazon.com/sagemaker/ai/pricing/</a:t>
            </a:r>
          </a:p>
          <a:p>
            <a:r>
              <a:t>Іконки: Lucide, ISC License. https://github.com/lucide-icons/lucide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B1FA37-D465-4A46-BF7E-2262FD435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21168B5-498E-40A6-AA00-9D5C4E72C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5BE72DD-B6C8-4B6B-B542-032213A4C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421111E-8BA8-43AB-A23B-2EBEB8EC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19BA932-7D81-4402-B1F8-E90123DF0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F6E218C-8BA2-45F3-B18C-3763BC7D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21ED524-39C7-479F-BC85-7748B7D7B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8A67DB9-4777-4A48-A232-816879B7929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977B4F2-FD5B-42A9-A44F-FBAACBCC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FC0CD8B-3083-48B9-8E31-0EF4A4DB8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5B1C68-8DDA-433D-BE55-4B9943926779}"/>
              </a:ext>
            </a:extLst>
          </p:cNvPr>
          <p:cNvSpPr>
            <a:spLocks noGrp="1"/>
          </p:cNvSpPr>
          <p:nvPr/>
        </p:nvSpPr>
        <p:spPr>
          <a:xfrm>
            <a:off x="609600" y="652462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Amazon SageMaker 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F1626E-139B-4ADF-8061-E72CCFB4CC82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7715250" cy="2333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58D7C5"/>
                </a:solidFill>
              </a:rPr>
              <a:t>Готові моделі</a:t>
            </a:r>
            <a:br>
              <a:rPr b="1">
                <a:solidFill>
                  <a:srgbClr val="FFFFFF"/>
                </a:solidFill>
              </a:rPr>
            </a:br>
            <a:r>
              <a:rPr b="1">
                <a:solidFill>
                  <a:srgbClr val="FFFFFF"/>
                </a:solidFill>
              </a:rPr>
              <a:t>та їх використання</a:t>
            </a:r>
            <a:br>
              <a:rPr b="1">
                <a:solidFill>
                  <a:srgbClr val="FFFFFF"/>
                </a:solidFill>
              </a:rPr>
            </a:br>
            <a:r>
              <a:rPr b="1">
                <a:solidFill>
                  <a:srgbClr val="FFFFFF"/>
                </a:solidFill>
              </a:rPr>
              <a:t>через Python SDK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286FC-2BE0-44F1-BB64-E5D8BE8B3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96375" y="2286000"/>
            <a:ext cx="1857375" cy="18573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529FC0-2B55-4D6C-9E4D-1CA2913DC1E1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9480698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FB875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uk-UA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ХМАРНИХ </a:t>
            </a:r>
            <a:r>
              <a:rPr lang="uk-UA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РІШЕНЬ З ВИКОРИСТАННЯМ </a:t>
            </a:r>
            <a:r>
              <a:rPr lang="en-US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06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8EF082F-3E97-40DF-9802-CC14E8D6FDA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Задачі та зв'язок з реальним життям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BEE59-1D5F-46A3-9B4B-FAB012796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4086" y="1724025"/>
            <a:ext cx="514350" cy="5143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1FFF60-67E4-4D73-BAFA-B4E235886CDD}"/>
              </a:ext>
            </a:extLst>
          </p:cNvPr>
          <p:cNvSpPr>
            <a:spLocks noGrp="1"/>
          </p:cNvSpPr>
          <p:nvPr/>
        </p:nvSpPr>
        <p:spPr>
          <a:xfrm>
            <a:off x="1457986" y="178117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lang="uk-UA" sz="2400" b="1" dirty="0">
                <a:solidFill>
                  <a:srgbClr val="087F83"/>
                </a:solidFill>
                <a:latin typeface="Arial"/>
                <a:ea typeface="Arial"/>
                <a:cs typeface="Arial"/>
              </a:rPr>
              <a:t>План заняття</a:t>
            </a:r>
            <a:endParaRPr sz="2400" b="1" dirty="0">
              <a:solidFill>
                <a:srgbClr val="087F8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C721B6-159C-46F7-B81D-F3CB91F77147}"/>
              </a:ext>
            </a:extLst>
          </p:cNvPr>
          <p:cNvSpPr>
            <a:spLocks noGrp="1"/>
          </p:cNvSpPr>
          <p:nvPr/>
        </p:nvSpPr>
        <p:spPr>
          <a:xfrm>
            <a:off x="819150" y="2667000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087F83"/>
                </a:solidFill>
              </a:rPr>
              <a:t>Studio</a:t>
            </a:r>
            <a:r>
              <a:rPr dirty="0"/>
              <a:t>: Domains і Spaces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8618B-0F46-408F-A5CB-3158A08A7091}"/>
              </a:ext>
            </a:extLst>
          </p:cNvPr>
          <p:cNvSpPr>
            <a:spLocks noGrp="1"/>
          </p:cNvSpPr>
          <p:nvPr/>
        </p:nvSpPr>
        <p:spPr>
          <a:xfrm>
            <a:off x="819150" y="3362325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087F83"/>
                </a:solidFill>
              </a:rPr>
              <a:t>JumpStart</a:t>
            </a:r>
            <a:r>
              <a:rPr dirty="0"/>
              <a:t>: </a:t>
            </a:r>
            <a:r>
              <a:rPr dirty="0" err="1"/>
              <a:t>вибір</a:t>
            </a:r>
            <a:r>
              <a:rPr dirty="0"/>
              <a:t> </a:t>
            </a:r>
            <a:r>
              <a:rPr dirty="0" err="1"/>
              <a:t>готової</a:t>
            </a:r>
            <a:r>
              <a:rPr dirty="0"/>
              <a:t> </a:t>
            </a:r>
            <a:r>
              <a:rPr dirty="0" err="1"/>
              <a:t>моделі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AE71D5-6261-4573-AFD3-4DA0F933055F}"/>
              </a:ext>
            </a:extLst>
          </p:cNvPr>
          <p:cNvSpPr>
            <a:spLocks noGrp="1"/>
          </p:cNvSpPr>
          <p:nvPr/>
        </p:nvSpPr>
        <p:spPr>
          <a:xfrm>
            <a:off x="819150" y="4057650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87F83"/>
                </a:solidFill>
              </a:rPr>
              <a:t>Python SDK</a:t>
            </a:r>
            <a:r>
              <a:t>: виклик endpoint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2348BE-D464-4697-AF39-7322DEDD85B5}"/>
              </a:ext>
            </a:extLst>
          </p:cNvPr>
          <p:cNvSpPr>
            <a:spLocks noGrp="1"/>
          </p:cNvSpPr>
          <p:nvPr/>
        </p:nvSpPr>
        <p:spPr>
          <a:xfrm>
            <a:off x="819150" y="4752975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87F83"/>
                </a:solidFill>
              </a:rPr>
              <a:t>Bedrock</a:t>
            </a:r>
            <a:r>
              <a:t>: порівняння підходів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5DA7C3-35A6-45F3-86C4-3904C30D1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05575" y="1754815"/>
            <a:ext cx="514350" cy="5143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741115-4442-4C59-8D8A-AD6C8BC92976}"/>
              </a:ext>
            </a:extLst>
          </p:cNvPr>
          <p:cNvSpPr>
            <a:spLocks noGrp="1"/>
          </p:cNvSpPr>
          <p:nvPr/>
        </p:nvSpPr>
        <p:spPr>
          <a:xfrm>
            <a:off x="7229475" y="1811965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B9561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B956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95616"/>
                </a:solidFill>
                <a:latin typeface="Arial"/>
                <a:ea typeface="Arial"/>
                <a:cs typeface="Arial"/>
              </a:rPr>
              <a:t>Інтернет-магазин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A13A56-6602-45F2-B6D9-05FBF6C55214}"/>
              </a:ext>
            </a:extLst>
          </p:cNvPr>
          <p:cNvSpPr>
            <a:spLocks noGrp="1"/>
          </p:cNvSpPr>
          <p:nvPr/>
        </p:nvSpPr>
        <p:spPr>
          <a:xfrm>
            <a:off x="6590639" y="2697790"/>
            <a:ext cx="4667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t>Покупець надсилає </a:t>
            </a:r>
            <a:r>
              <a:rPr b="1">
                <a:solidFill>
                  <a:srgbClr val="B95616"/>
                </a:solidFill>
              </a:rPr>
              <a:t>звернення</a:t>
            </a:r>
            <a: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C1E59-3B02-46D6-BFDD-2A38BCCB54B2}"/>
              </a:ext>
            </a:extLst>
          </p:cNvPr>
          <p:cNvSpPr>
            <a:spLocks noGrp="1"/>
          </p:cNvSpPr>
          <p:nvPr/>
        </p:nvSpPr>
        <p:spPr>
          <a:xfrm>
            <a:off x="6590639" y="3321775"/>
            <a:ext cx="4667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t>Модель визначає </a:t>
            </a:r>
            <a:r>
              <a:rPr b="1">
                <a:solidFill>
                  <a:srgbClr val="B95616"/>
                </a:solidFill>
              </a:rPr>
              <a:t>категорію</a:t>
            </a:r>
            <a:br/>
            <a:r>
              <a:t>та готує </a:t>
            </a:r>
            <a:r>
              <a:rPr b="1">
                <a:solidFill>
                  <a:srgbClr val="B95616"/>
                </a:solidFill>
              </a:rPr>
              <a:t>чернетку відповіді</a:t>
            </a:r>
            <a: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59E5B5-1B86-4253-BEEA-BF1A3140D7F2}"/>
              </a:ext>
            </a:extLst>
          </p:cNvPr>
          <p:cNvSpPr>
            <a:spLocks noGrp="1"/>
          </p:cNvSpPr>
          <p:nvPr/>
        </p:nvSpPr>
        <p:spPr>
          <a:xfrm>
            <a:off x="6590639" y="4274275"/>
            <a:ext cx="46672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B95616"/>
                </a:solidFill>
              </a:rPr>
              <a:t>Працівник </a:t>
            </a:r>
            <a:r>
              <a:rPr b="1" dirty="0" err="1">
                <a:solidFill>
                  <a:srgbClr val="B95616"/>
                </a:solidFill>
              </a:rPr>
              <a:t>перевіряє</a:t>
            </a:r>
            <a:r>
              <a:rPr dirty="0"/>
              <a:t> </a:t>
            </a:r>
            <a:r>
              <a:rPr dirty="0" err="1"/>
              <a:t>результат</a:t>
            </a:r>
            <a:br>
              <a:rPr dirty="0"/>
            </a:b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надсиланням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180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D128E27-5515-4707-B460-AC7F3A4CFB4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Що таке SageMaker 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E44F50-07C2-4A66-A3A3-3DD0FA47B4A8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 dirty="0" err="1">
                <a:solidFill>
                  <a:srgbClr val="087F83"/>
                </a:solidFill>
              </a:rPr>
              <a:t>Керований</a:t>
            </a:r>
            <a:r>
              <a:rPr b="1" dirty="0">
                <a:solidFill>
                  <a:srgbClr val="087F83"/>
                </a:solidFill>
              </a:rPr>
              <a:t> ML-</a:t>
            </a:r>
            <a:r>
              <a:rPr b="1" dirty="0" err="1">
                <a:solidFill>
                  <a:srgbClr val="087F83"/>
                </a:solidFill>
              </a:rPr>
              <a:t>сервіс</a:t>
            </a:r>
            <a:r>
              <a:rPr dirty="0"/>
              <a:t> для створення, </a:t>
            </a:r>
            <a:r>
              <a:rPr dirty="0" err="1"/>
              <a:t>навчання</a:t>
            </a:r>
            <a:br>
              <a:rPr dirty="0"/>
            </a:br>
            <a:r>
              <a:rPr dirty="0"/>
              <a:t>та </a:t>
            </a:r>
            <a:r>
              <a:rPr dirty="0" err="1"/>
              <a:t>розгортання</a:t>
            </a:r>
            <a:r>
              <a:rPr dirty="0"/>
              <a:t> </a:t>
            </a:r>
            <a:r>
              <a:rPr dirty="0" err="1"/>
              <a:t>моделей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728F9-B405-4C76-A27B-7C4760EC5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886075"/>
            <a:ext cx="43815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B821F4-0866-4F2F-86FE-C4374CE59D05}"/>
              </a:ext>
            </a:extLst>
          </p:cNvPr>
          <p:cNvSpPr>
            <a:spLocks noGrp="1"/>
          </p:cNvSpPr>
          <p:nvPr/>
        </p:nvSpPr>
        <p:spPr>
          <a:xfrm>
            <a:off x="1285875" y="29146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Підготовка даних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F0149-484D-4ED7-805B-753E572AC14C}"/>
              </a:ext>
            </a:extLst>
          </p:cNvPr>
          <p:cNvSpPr>
            <a:spLocks noGrp="1"/>
          </p:cNvSpPr>
          <p:nvPr/>
        </p:nvSpPr>
        <p:spPr>
          <a:xfrm>
            <a:off x="5048250" y="2933700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Робота з даними та notebooks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EC0D7E-210D-44CD-8CD8-1DD5D7BAF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3657600"/>
            <a:ext cx="438150" cy="438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1F6827-E019-47EC-B1D9-0E6D25CB3902}"/>
              </a:ext>
            </a:extLst>
          </p:cNvPr>
          <p:cNvSpPr>
            <a:spLocks noGrp="1"/>
          </p:cNvSpPr>
          <p:nvPr/>
        </p:nvSpPr>
        <p:spPr>
          <a:xfrm>
            <a:off x="1285875" y="3686175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Навчання моделей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B91436-3B81-4305-BE77-B8DA8BBFCB88}"/>
              </a:ext>
            </a:extLst>
          </p:cNvPr>
          <p:cNvSpPr>
            <a:spLocks noGrp="1"/>
          </p:cNvSpPr>
          <p:nvPr/>
        </p:nvSpPr>
        <p:spPr>
          <a:xfrm>
            <a:off x="5048250" y="370522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Алгоритми та налаштування параметрів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3C334B-7132-4C46-8CF2-6DC972661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9600" y="4429125"/>
            <a:ext cx="438150" cy="4381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3EB7FC6-9D67-4DAF-B1D6-3825C03EBFCB}"/>
              </a:ext>
            </a:extLst>
          </p:cNvPr>
          <p:cNvSpPr>
            <a:spLocks noGrp="1"/>
          </p:cNvSpPr>
          <p:nvPr/>
        </p:nvSpPr>
        <p:spPr>
          <a:xfrm>
            <a:off x="1285875" y="445770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Розгортання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6578B6-BAAD-4E51-B8BB-C0891B45688C}"/>
              </a:ext>
            </a:extLst>
          </p:cNvPr>
          <p:cNvSpPr>
            <a:spLocks noGrp="1"/>
          </p:cNvSpPr>
          <p:nvPr/>
        </p:nvSpPr>
        <p:spPr>
          <a:xfrm>
            <a:off x="5048250" y="4476750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Модель отримує запити та формує прогноз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BA87E0-7544-4354-9F61-9775FD864C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9600" y="5200650"/>
            <a:ext cx="438150" cy="438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6CAD02-DFC3-4A17-BFF4-E2CC26B1C8C9}"/>
              </a:ext>
            </a:extLst>
          </p:cNvPr>
          <p:cNvSpPr>
            <a:spLocks noGrp="1"/>
          </p:cNvSpPr>
          <p:nvPr/>
        </p:nvSpPr>
        <p:spPr>
          <a:xfrm>
            <a:off x="1285875" y="5229225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Моніторинг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77E949-AC06-40D7-81F3-C24C5F9EE54D}"/>
              </a:ext>
            </a:extLst>
          </p:cNvPr>
          <p:cNvSpPr>
            <a:spLocks noGrp="1"/>
          </p:cNvSpPr>
          <p:nvPr/>
        </p:nvSpPr>
        <p:spPr>
          <a:xfrm>
            <a:off x="5048250" y="524827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Контроль роботи моделей після запуску</a:t>
            </a:r>
          </a:p>
        </p:txBody>
      </p:sp>
    </p:spTree>
    <p:extLst>
      <p:ext uri="{BB962C8B-B14F-4D97-AF65-F5344CB8AC3E}">
        <p14:creationId xmlns:p14="http://schemas.microsoft.com/office/powerpoint/2010/main" val="213931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974DDA7-CFA1-4E89-85AA-9DE284C24DE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4283F"/>
                </a:solidFill>
                <a:latin typeface="Arial"/>
                <a:ea typeface="Arial"/>
                <a:cs typeface="Arial"/>
              </a:rPr>
              <a:t>SageMaker Studio UI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C701F-9B75-4817-8337-BB5F70943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762125"/>
            <a:ext cx="666750" cy="6667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C4EE63C-39FD-485D-A48F-18B8C5631E31}"/>
              </a:ext>
            </a:extLst>
          </p:cNvPr>
          <p:cNvSpPr>
            <a:spLocks noGrp="1"/>
          </p:cNvSpPr>
          <p:nvPr/>
        </p:nvSpPr>
        <p:spPr>
          <a:xfrm>
            <a:off x="1543050" y="18478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213F4-7E04-4C42-A6E7-D16EEA160CF9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5048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t>Середовище з налаштуваннями</a:t>
            </a:r>
            <a:br/>
            <a:r>
              <a:rPr b="1">
                <a:solidFill>
                  <a:srgbClr val="087F83"/>
                </a:solidFill>
              </a:rPr>
              <a:t>доступу та мережі</a:t>
            </a:r>
            <a:r>
              <a:t> і профілями</a:t>
            </a:r>
            <a:br/>
            <a:r>
              <a:t>користувачів.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FEA28A-9D3A-4585-9DFC-CB953BC3F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05600" y="1762125"/>
            <a:ext cx="666750" cy="666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F59ACB0-DEC3-4C21-B432-5500A32F59AA}"/>
              </a:ext>
            </a:extLst>
          </p:cNvPr>
          <p:cNvSpPr>
            <a:spLocks noGrp="1"/>
          </p:cNvSpPr>
          <p:nvPr/>
        </p:nvSpPr>
        <p:spPr>
          <a:xfrm>
            <a:off x="7639050" y="1847850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B9561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rgbClr val="B956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95616"/>
                </a:solidFill>
                <a:latin typeface="Arial"/>
                <a:ea typeface="Arial"/>
                <a:cs typeface="Arial"/>
              </a:rPr>
              <a:t>Space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06B302-016B-4E6F-9C45-2F307745B8D8}"/>
              </a:ext>
            </a:extLst>
          </p:cNvPr>
          <p:cNvSpPr>
            <a:spLocks noGrp="1"/>
          </p:cNvSpPr>
          <p:nvPr/>
        </p:nvSpPr>
        <p:spPr>
          <a:xfrm>
            <a:off x="6705600" y="2819400"/>
            <a:ext cx="48577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t>Робочий простір застосунку,</a:t>
            </a:r>
            <a:br/>
            <a:r>
              <a:t>наприклад </a:t>
            </a:r>
            <a:r>
              <a:rPr b="1">
                <a:solidFill>
                  <a:srgbClr val="B95616"/>
                </a:solidFill>
              </a:rPr>
              <a:t>JupyterLab</a:t>
            </a:r>
            <a:r>
              <a:t>,</a:t>
            </a:r>
            <a:br/>
            <a:r>
              <a:t>із власними файлами та ресурсами.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AB36-CBD7-4F4E-8FA3-8A916D2B9B74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950" b="1" dirty="0" err="1">
                <a:solidFill>
                  <a:srgbClr val="506176"/>
                </a:solidFill>
                <a:latin typeface="Arial"/>
                <a:ea typeface="Arial"/>
                <a:cs typeface="Arial"/>
              </a:rPr>
              <a:t>Маршрут</a:t>
            </a:r>
            <a:endParaRPr sz="1950" b="1" dirty="0">
              <a:solidFill>
                <a:srgbClr val="5061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B6A394-6BD9-4E4A-B8DE-DCE894F91F8A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87F83"/>
                </a:solidFill>
              </a:rPr>
              <a:t>Domains</a:t>
            </a:r>
            <a:r>
              <a:t>   /   Профіль   /   Studio   /   </a:t>
            </a:r>
            <a:r>
              <a:rPr b="1">
                <a:solidFill>
                  <a:srgbClr val="087F83"/>
                </a:solidFill>
              </a:rPr>
              <a:t>Spaces</a:t>
            </a:r>
            <a:r>
              <a:t>   /   JumpStart</a:t>
            </a:r>
          </a:p>
        </p:txBody>
      </p:sp>
    </p:spTree>
    <p:extLst>
      <p:ext uri="{BB962C8B-B14F-4D97-AF65-F5344CB8AC3E}">
        <p14:creationId xmlns:p14="http://schemas.microsoft.com/office/powerpoint/2010/main" val="1589088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FB9B58B-80E1-4FC7-B453-112080C7FC5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SageMaker JumpStart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85DE05-4ECC-4797-8FEB-7D9852646811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87F83"/>
                </a:solidFill>
              </a:rPr>
              <a:t>Каталог готових моделей</a:t>
            </a:r>
            <a:r>
              <a:t> і прикладів</a:t>
            </a:r>
            <a:br/>
            <a:r>
              <a:t>для роботи з ML та генеративним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AA745-12B0-4543-BEFF-DBC6C02CE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3086100"/>
            <a:ext cx="552450" cy="552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901729-E953-4F19-9AAF-F158778D87D1}"/>
              </a:ext>
            </a:extLst>
          </p:cNvPr>
          <p:cNvSpPr>
            <a:spLocks noGrp="1"/>
          </p:cNvSpPr>
          <p:nvPr/>
        </p:nvSpPr>
        <p:spPr>
          <a:xfrm>
            <a:off x="1390650" y="314325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85FE0C-9BE5-4939-9869-C310321CC743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352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Вибір моделі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65DA2-6A95-4B89-8372-7C6A6C08FC51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3524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Можливості та ліцензія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342C99-22BA-4957-9E6D-7A5737A08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0" y="3086100"/>
            <a:ext cx="552450" cy="5524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F8C4583-74FA-489A-AB90-4AD3C28F8BA4}"/>
              </a:ext>
            </a:extLst>
          </p:cNvPr>
          <p:cNvSpPr>
            <a:spLocks noGrp="1"/>
          </p:cNvSpPr>
          <p:nvPr/>
        </p:nvSpPr>
        <p:spPr>
          <a:xfrm>
            <a:off x="5162550" y="314325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636218-CAC3-40B3-8103-B4E8FF580084}"/>
              </a:ext>
            </a:extLst>
          </p:cNvPr>
          <p:cNvSpPr>
            <a:spLocks noGrp="1"/>
          </p:cNvSpPr>
          <p:nvPr/>
        </p:nvSpPr>
        <p:spPr>
          <a:xfrm>
            <a:off x="4381500" y="3962400"/>
            <a:ext cx="352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Розгортання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A043F9-F1C7-4AAD-8486-95AD38FC7CB0}"/>
              </a:ext>
            </a:extLst>
          </p:cNvPr>
          <p:cNvSpPr>
            <a:spLocks noGrp="1"/>
          </p:cNvSpPr>
          <p:nvPr/>
        </p:nvSpPr>
        <p:spPr>
          <a:xfrm>
            <a:off x="4381500" y="4572000"/>
            <a:ext cx="3524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Ресурси й налаштування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BC12E7-CA46-4C64-9532-123B8083C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53400" y="3086100"/>
            <a:ext cx="552450" cy="5524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A38FE11-D356-4C78-BE80-6A02CB6181B7}"/>
              </a:ext>
            </a:extLst>
          </p:cNvPr>
          <p:cNvSpPr>
            <a:spLocks noGrp="1"/>
          </p:cNvSpPr>
          <p:nvPr/>
        </p:nvSpPr>
        <p:spPr>
          <a:xfrm>
            <a:off x="8934450" y="314325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3D9A39-FA05-446A-A505-DBC58FFA14B4}"/>
              </a:ext>
            </a:extLst>
          </p:cNvPr>
          <p:cNvSpPr>
            <a:spLocks noGrp="1"/>
          </p:cNvSpPr>
          <p:nvPr/>
        </p:nvSpPr>
        <p:spPr>
          <a:xfrm>
            <a:off x="8153400" y="3962400"/>
            <a:ext cx="352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Тестовий запит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70D9E2-0622-47AF-9778-7ACB5A6A9DAC}"/>
              </a:ext>
            </a:extLst>
          </p:cNvPr>
          <p:cNvSpPr>
            <a:spLocks noGrp="1"/>
          </p:cNvSpPr>
          <p:nvPr/>
        </p:nvSpPr>
        <p:spPr>
          <a:xfrm>
            <a:off x="8153400" y="4572000"/>
            <a:ext cx="3524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Endpoint у стані InService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96E195-B5B1-4435-A294-05A813C5668D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B95616"/>
                </a:solidFill>
              </a:rPr>
              <a:t>Витрати:</a:t>
            </a:r>
            <a:r>
              <a:t> real-time endpoint оплачується, поки працює.</a:t>
            </a:r>
            <a:br/>
            <a:r>
              <a:t>Після демо його потрібно видалити.</a:t>
            </a:r>
          </a:p>
        </p:txBody>
      </p:sp>
    </p:spTree>
    <p:extLst>
      <p:ext uri="{BB962C8B-B14F-4D97-AF65-F5344CB8AC3E}">
        <p14:creationId xmlns:p14="http://schemas.microsoft.com/office/powerpoint/2010/main" val="150342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EF3FA18-AF7F-478F-8A28-FE19533FDDF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Виклик endpoint із Python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0E2B5-7C53-4442-AC29-AB0AE5526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58500" y="495300"/>
            <a:ext cx="514350" cy="5143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A2A58E-0A26-4146-B767-1FC60475340B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CDB8FF"/>
                </a:solidFill>
              </a:rPr>
              <a:t>import</a:t>
            </a:r>
            <a:r>
              <a:rPr>
                <a:solidFill>
                  <a:srgbClr val="E8F0F8"/>
                </a:solidFill>
              </a:rPr>
              <a:t> json, boto3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313EC8-25A1-4642-9C4F-6DC42302EA8F}"/>
              </a:ext>
            </a:extLst>
          </p:cNvPr>
          <p:cNvSpPr>
            <a:spLocks noGrp="1"/>
          </p:cNvSpPr>
          <p:nvPr/>
        </p:nvSpPr>
        <p:spPr>
          <a:xfrm>
            <a:off x="609600" y="1900238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runtime = boto3.client(</a:t>
            </a:r>
            <a:r>
              <a:rPr>
                <a:solidFill>
                  <a:srgbClr val="8DE4C0"/>
                </a:solidFill>
              </a:rPr>
              <a:t>"sagemaker-runtime"</a:t>
            </a:r>
            <a:r>
              <a:rPr>
                <a:solidFill>
                  <a:srgbClr val="E8F0F8"/>
                </a:solidFill>
              </a:rPr>
              <a:t>, region_name=</a:t>
            </a:r>
            <a:r>
              <a:rPr>
                <a:solidFill>
                  <a:srgbClr val="FFBD7B"/>
                </a:solidFill>
              </a:rPr>
              <a:t>REGION</a:t>
            </a:r>
            <a:r>
              <a:rPr>
                <a:solidFill>
                  <a:srgbClr val="E8F0F8"/>
                </a:solidFill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718E7-7A88-4667-A7AD-AA653F024CE8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payload = {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37F35-7EE0-4FE8-8382-854954EE77D0}"/>
              </a:ext>
            </a:extLst>
          </p:cNvPr>
          <p:cNvSpPr>
            <a:spLocks noGrp="1"/>
          </p:cNvSpPr>
          <p:nvPr/>
        </p:nvSpPr>
        <p:spPr>
          <a:xfrm>
            <a:off x="609600" y="2424113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    </a:t>
            </a:r>
            <a:r>
              <a:rPr>
                <a:solidFill>
                  <a:srgbClr val="8DE4C0"/>
                </a:solidFill>
              </a:rPr>
              <a:t>"inputs"</a:t>
            </a:r>
            <a:r>
              <a:rPr>
                <a:solidFill>
                  <a:srgbClr val="E8F0F8"/>
                </a:solidFill>
              </a:rPr>
              <a:t>: </a:t>
            </a:r>
            <a:r>
              <a:rPr>
                <a:solidFill>
                  <a:srgbClr val="8DE4C0"/>
                </a:solidFill>
              </a:rPr>
              <a:t>"Визначте категорію: оплату списано двічі."</a:t>
            </a:r>
            <a:r>
              <a:rPr>
                <a:solidFill>
                  <a:srgbClr val="E8F0F8"/>
                </a:solidFill>
              </a:rPr>
              <a:t>,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2323D9-2E9C-42B9-9B1B-C0BB9E6628D9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    </a:t>
            </a:r>
            <a:r>
              <a:rPr>
                <a:solidFill>
                  <a:srgbClr val="8DE4C0"/>
                </a:solidFill>
              </a:rPr>
              <a:t>"parameters"</a:t>
            </a:r>
            <a:r>
              <a:rPr>
                <a:solidFill>
                  <a:srgbClr val="E8F0F8"/>
                </a:solidFill>
              </a:rPr>
              <a:t>: {</a:t>
            </a:r>
            <a:r>
              <a:rPr>
                <a:solidFill>
                  <a:srgbClr val="8DE4C0"/>
                </a:solidFill>
              </a:rPr>
              <a:t>"max_new_tokens"</a:t>
            </a:r>
            <a:r>
              <a:rPr>
                <a:solidFill>
                  <a:srgbClr val="E8F0F8"/>
                </a:solidFill>
              </a:rPr>
              <a:t>: </a:t>
            </a:r>
            <a:r>
              <a:rPr>
                <a:solidFill>
                  <a:srgbClr val="FFBD7B"/>
                </a:solidFill>
              </a:rPr>
              <a:t>80</a:t>
            </a:r>
            <a:r>
              <a:rPr>
                <a:solidFill>
                  <a:srgbClr val="E8F0F8"/>
                </a:solidFill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C4801B-3EA0-432D-BDFE-EF1E7F0C89CA}"/>
              </a:ext>
            </a:extLst>
          </p:cNvPr>
          <p:cNvSpPr>
            <a:spLocks noGrp="1"/>
          </p:cNvSpPr>
          <p:nvPr/>
        </p:nvSpPr>
        <p:spPr>
          <a:xfrm>
            <a:off x="609600" y="2947988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1811A-C0ED-4F86-BFC6-56C133FDABCB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response = runtime.</a:t>
            </a:r>
            <a:r>
              <a:rPr>
                <a:solidFill>
                  <a:srgbClr val="73D7F3"/>
                </a:solidFill>
              </a:rPr>
              <a:t>invoke_endpoint</a:t>
            </a:r>
            <a:r>
              <a:rPr>
                <a:solidFill>
                  <a:srgbClr val="E8F0F8"/>
                </a:solidFill>
              </a:rPr>
              <a:t>(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1048D1-2C48-4DC2-B5D2-9425B0E4E8E9}"/>
              </a:ext>
            </a:extLst>
          </p:cNvPr>
          <p:cNvSpPr>
            <a:spLocks noGrp="1"/>
          </p:cNvSpPr>
          <p:nvPr/>
        </p:nvSpPr>
        <p:spPr>
          <a:xfrm>
            <a:off x="609600" y="3471863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    EndpointName=</a:t>
            </a:r>
            <a:r>
              <a:rPr>
                <a:solidFill>
                  <a:srgbClr val="FFBD7B"/>
                </a:solidFill>
              </a:rPr>
              <a:t>ENDPOINT_NAME</a:t>
            </a:r>
            <a:r>
              <a:rPr>
                <a:solidFill>
                  <a:srgbClr val="E8F0F8"/>
                </a:solidFill>
              </a:rPr>
              <a:t>,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8E8FEE-8183-4D88-859A-B3ADBAA31BF1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    ContentType=</a:t>
            </a:r>
            <a:r>
              <a:rPr>
                <a:solidFill>
                  <a:srgbClr val="8DE4C0"/>
                </a:solidFill>
              </a:rPr>
              <a:t>"application/json"</a:t>
            </a:r>
            <a:r>
              <a:rPr>
                <a:solidFill>
                  <a:srgbClr val="E8F0F8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AA55F9-F599-4E0C-9E2B-F3B48FBB3586}"/>
              </a:ext>
            </a:extLst>
          </p:cNvPr>
          <p:cNvSpPr>
            <a:spLocks noGrp="1"/>
          </p:cNvSpPr>
          <p:nvPr/>
        </p:nvSpPr>
        <p:spPr>
          <a:xfrm>
            <a:off x="609600" y="3995738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    Accept=</a:t>
            </a:r>
            <a:r>
              <a:rPr>
                <a:solidFill>
                  <a:srgbClr val="8DE4C0"/>
                </a:solidFill>
              </a:rPr>
              <a:t>"application/json"</a:t>
            </a:r>
            <a:r>
              <a:rPr>
                <a:solidFill>
                  <a:srgbClr val="E8F0F8"/>
                </a:solidFill>
              </a:rPr>
              <a:t>,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348630-3E1E-4CD7-9124-B9993B078261}"/>
              </a:ext>
            </a:extLst>
          </p:cNvPr>
          <p:cNvSpPr>
            <a:spLocks noGrp="1"/>
          </p:cNvSpPr>
          <p:nvPr/>
        </p:nvSpPr>
        <p:spPr>
          <a:xfrm>
            <a:off x="609600" y="4257675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    Body=json.dumps(payload, ensure_ascii=</a:t>
            </a:r>
            <a:r>
              <a:rPr>
                <a:solidFill>
                  <a:srgbClr val="CDB8FF"/>
                </a:solidFill>
              </a:rPr>
              <a:t>False</a:t>
            </a:r>
            <a:r>
              <a:rPr>
                <a:solidFill>
                  <a:srgbClr val="E8F0F8"/>
                </a:solidFill>
              </a:rPr>
              <a:t>).encode(</a:t>
            </a:r>
            <a:r>
              <a:rPr>
                <a:solidFill>
                  <a:srgbClr val="8DE4C0"/>
                </a:solidFill>
              </a:rPr>
              <a:t>"utf-8"</a:t>
            </a:r>
            <a:r>
              <a:rPr>
                <a:solidFill>
                  <a:srgbClr val="E8F0F8"/>
                </a:solidFill>
              </a:rPr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05DACD-56AB-481E-B01A-6A08FB43CE11}"/>
              </a:ext>
            </a:extLst>
          </p:cNvPr>
          <p:cNvSpPr>
            <a:spLocks noGrp="1"/>
          </p:cNvSpPr>
          <p:nvPr/>
        </p:nvSpPr>
        <p:spPr>
          <a:xfrm>
            <a:off x="609600" y="4519613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69164B-3B51-48D2-803B-871584BCFE47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result = json.loads(response[</a:t>
            </a:r>
            <a:r>
              <a:rPr>
                <a:solidFill>
                  <a:srgbClr val="8DE4C0"/>
                </a:solidFill>
              </a:rPr>
              <a:t>"Body"</a:t>
            </a:r>
            <a:r>
              <a:rPr>
                <a:solidFill>
                  <a:srgbClr val="E8F0F8"/>
                </a:solidFill>
              </a:rPr>
              <a:t>].read().decode(</a:t>
            </a:r>
            <a:r>
              <a:rPr>
                <a:solidFill>
                  <a:srgbClr val="8DE4C0"/>
                </a:solidFill>
              </a:rPr>
              <a:t>"utf-8"</a:t>
            </a:r>
            <a:r>
              <a:rPr>
                <a:solidFill>
                  <a:srgbClr val="E8F0F8"/>
                </a:solidFill>
              </a:rPr>
              <a:t>))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2FAD4B-B5AA-44AD-A47B-600116DA7913}"/>
              </a:ext>
            </a:extLst>
          </p:cNvPr>
          <p:cNvSpPr>
            <a:spLocks noGrp="1"/>
          </p:cNvSpPr>
          <p:nvPr/>
        </p:nvSpPr>
        <p:spPr>
          <a:xfrm>
            <a:off x="609600" y="5043488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650" b="0">
                <a:solidFill>
                  <a:srgbClr val="E8F0F8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E8F0F8"/>
                </a:solidFill>
              </a:rPr>
              <a:t>print(result)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C8E773-9F1B-45F4-9C0F-86A90BA1392B}"/>
              </a:ext>
            </a:extLst>
          </p:cNvPr>
          <p:cNvSpPr>
            <a:spLocks noGrp="1"/>
          </p:cNvSpPr>
          <p:nvPr/>
        </p:nvSpPr>
        <p:spPr>
          <a:xfrm>
            <a:off x="609600" y="5826199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FFBD7B"/>
                </a:solidFill>
              </a:rPr>
              <a:t>REGION і ENDPOINT_NAME</a:t>
            </a:r>
            <a:r>
              <a:rPr dirty="0"/>
              <a:t> </a:t>
            </a:r>
            <a:r>
              <a:rPr lang="uk-UA" dirty="0"/>
              <a:t>потрібно </a:t>
            </a:r>
            <a:r>
              <a:rPr dirty="0" err="1"/>
              <a:t>замін</a:t>
            </a:r>
            <a:r>
              <a:rPr lang="uk-UA" dirty="0" err="1"/>
              <a:t>ити</a:t>
            </a:r>
            <a:r>
              <a:rPr dirty="0"/>
              <a:t> </a:t>
            </a:r>
            <a:r>
              <a:rPr lang="uk-UA" dirty="0"/>
              <a:t>власними</a:t>
            </a:r>
            <a:r>
              <a:rPr dirty="0"/>
              <a:t> </a:t>
            </a:r>
            <a:r>
              <a:rPr dirty="0" err="1"/>
              <a:t>значеннями</a:t>
            </a:r>
            <a:r>
              <a:rPr dirty="0"/>
              <a:t>.</a:t>
            </a:r>
            <a:br>
              <a:rPr dirty="0"/>
            </a:br>
            <a:r>
              <a:rPr b="1" dirty="0">
                <a:solidFill>
                  <a:srgbClr val="58D7C5"/>
                </a:solidFill>
              </a:rPr>
              <a:t>Payload</a:t>
            </a:r>
            <a:r>
              <a:rPr dirty="0"/>
              <a:t> </a:t>
            </a:r>
            <a:r>
              <a:rPr dirty="0" err="1"/>
              <a:t>залежить</a:t>
            </a:r>
            <a:r>
              <a:rPr dirty="0"/>
              <a:t> </a:t>
            </a:r>
            <a:r>
              <a:rPr dirty="0" err="1"/>
              <a:t>від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: </a:t>
            </a:r>
            <a:r>
              <a:rPr dirty="0" err="1"/>
              <a:t>звірте</a:t>
            </a:r>
            <a:r>
              <a:rPr dirty="0"/>
              <a:t> </a:t>
            </a:r>
            <a:r>
              <a:rPr dirty="0" err="1"/>
              <a:t>його</a:t>
            </a:r>
            <a:r>
              <a:rPr dirty="0"/>
              <a:t> </a:t>
            </a:r>
            <a:r>
              <a:rPr dirty="0" err="1"/>
              <a:t>з</a:t>
            </a:r>
            <a:r>
              <a:rPr dirty="0"/>
              <a:t> її </a:t>
            </a:r>
            <a:r>
              <a:rPr dirty="0" err="1"/>
              <a:t>прикладом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007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56DDE6-F482-43C0-9868-B5CBF84E2C1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Bedrock та SageMaker JumpStart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357B1C-A060-42DA-9E10-1D8CE0A21E98}"/>
              </a:ext>
            </a:extLst>
          </p:cNvPr>
          <p:cNvSpPr>
            <a:spLocks noGrp="1"/>
          </p:cNvSpPr>
          <p:nvPr/>
        </p:nvSpPr>
        <p:spPr>
          <a:xfrm>
            <a:off x="10668000" y="6353175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E002B4-7C5C-4AB5-A69F-779C26F9B5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8966775"/>
              </p:ext>
            </p:extLst>
          </p:nvPr>
        </p:nvGraphicFramePr>
        <p:xfrm>
          <a:off x="609600" y="1524000"/>
          <a:ext cx="10972800" cy="3381378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Критерій</a:t>
                      </a:r>
                    </a:p>
                  </a:txBody>
                  <a:tcPr>
                    <a:solidFill>
                      <a:srgbClr val="087F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Amazon Bedrock</a:t>
                      </a:r>
                    </a:p>
                  </a:txBody>
                  <a:tcPr>
                    <a:solidFill>
                      <a:srgbClr val="087F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SageMaker JumpStart</a:t>
                      </a:r>
                    </a:p>
                  </a:txBody>
                  <a:tcPr>
                    <a:solidFill>
                      <a:srgbClr val="B95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Доступ</a:t>
                      </a:r>
                    </a:p>
                  </a:txBody>
                  <a:tcPr>
                    <a:solidFill>
                      <a:srgbClr val="E6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API керованих моделей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Модель на SageMaker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Обчислення</a:t>
                      </a:r>
                    </a:p>
                  </a:txBody>
                  <a:tcPr>
                    <a:solidFill>
                      <a:srgbClr val="E6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AWS керує serving</a:t>
                      </a:r>
                    </a:p>
                  </a:txBody>
                  <a:tcPr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Команда обирає ресурси</a:t>
                      </a:r>
                    </a:p>
                  </a:txBody>
                  <a:tcPr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Налаштування</a:t>
                      </a:r>
                    </a:p>
                  </a:txBody>
                  <a:tcPr>
                    <a:solidFill>
                      <a:srgbClr val="E6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Залежить від моделі й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Модель, serving, fine-tuning*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Типові витрати</a:t>
                      </a:r>
                    </a:p>
                  </a:txBody>
                  <a:tcPr>
                    <a:solidFill>
                      <a:srgbClr val="E6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On-demand: використання*</a:t>
                      </a:r>
                    </a:p>
                  </a:txBody>
                  <a:tcPr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Real-time: </a:t>
                      </a:r>
                      <a:r>
                        <a:rPr sz="1800" b="0" dirty="0" err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час</a:t>
                      </a:r>
                      <a:r>
                        <a:rPr sz="1800" b="0" dirty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 роботи </a:t>
                      </a:r>
                      <a:r>
                        <a:rPr sz="1800" b="0" dirty="0" err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ресурсів</a:t>
                      </a:r>
                      <a:endParaRPr sz="1800" b="0" dirty="0">
                        <a:solidFill>
                          <a:srgbClr val="14283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Сценарій</a:t>
                      </a:r>
                    </a:p>
                  </a:txBody>
                  <a:tcPr>
                    <a:solidFill>
                      <a:srgbClr val="E6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Швидке</a:t>
                      </a:r>
                      <a:r>
                        <a:rPr sz="1800" b="0" dirty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підключення</a:t>
                      </a:r>
                      <a:r>
                        <a:rPr sz="18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 GenAI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Більше </a:t>
                      </a:r>
                      <a:r>
                        <a:rPr sz="1800" b="0" dirty="0" err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контролю</a:t>
                      </a:r>
                      <a:r>
                        <a:rPr sz="1800" b="0" dirty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над</a:t>
                      </a:r>
                      <a:r>
                        <a:rPr sz="1800" b="0" dirty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моделлю</a:t>
                      </a:r>
                      <a:endParaRPr sz="1800" b="0" dirty="0">
                        <a:solidFill>
                          <a:srgbClr val="14283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1381966-E224-45AE-9EBC-D5756B64DA99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1086214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b="1" dirty="0" err="1">
                <a:solidFill>
                  <a:srgbClr val="087F83"/>
                </a:solidFill>
              </a:rPr>
              <a:t>Вибір</a:t>
            </a:r>
            <a:r>
              <a:rPr b="1" dirty="0">
                <a:solidFill>
                  <a:srgbClr val="087F83"/>
                </a:solidFill>
              </a:rPr>
              <a:t> </a:t>
            </a:r>
            <a:r>
              <a:rPr b="1" dirty="0" err="1">
                <a:solidFill>
                  <a:srgbClr val="087F83"/>
                </a:solidFill>
              </a:rPr>
              <a:t>підходу</a:t>
            </a:r>
            <a:r>
              <a:rPr b="1" dirty="0">
                <a:solidFill>
                  <a:srgbClr val="087F83"/>
                </a:solidFill>
              </a:rPr>
              <a:t>:</a:t>
            </a:r>
            <a:r>
              <a:rPr dirty="0"/>
              <a:t> </a:t>
            </a:r>
            <a:r>
              <a:rPr dirty="0" err="1"/>
              <a:t>швидкий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API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більше</a:t>
            </a:r>
            <a:r>
              <a:rPr dirty="0"/>
              <a:t> </a:t>
            </a:r>
            <a:r>
              <a:rPr dirty="0" err="1"/>
              <a:t>контролю</a:t>
            </a:r>
            <a:r>
              <a:rPr lang="uk-UA" dirty="0"/>
              <a:t> </a:t>
            </a:r>
            <a:r>
              <a:rPr dirty="0" err="1"/>
              <a:t>над</a:t>
            </a:r>
            <a:r>
              <a:rPr dirty="0"/>
              <a:t> </a:t>
            </a:r>
            <a:r>
              <a:rPr dirty="0" err="1"/>
              <a:t>моделлю</a:t>
            </a:r>
            <a:r>
              <a:rPr dirty="0"/>
              <a:t> та </a:t>
            </a:r>
            <a:r>
              <a:rPr dirty="0" err="1"/>
              <a:t>ресурсами</a:t>
            </a:r>
            <a:r>
              <a:rPr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BFBE00-1900-46EF-8661-2EBA1CCDFC5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9906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* Можливості та оплата залежать від моделі й режиму.</a:t>
            </a:r>
          </a:p>
        </p:txBody>
      </p:sp>
    </p:spTree>
    <p:extLst>
      <p:ext uri="{BB962C8B-B14F-4D97-AF65-F5344CB8AC3E}">
        <p14:creationId xmlns:p14="http://schemas.microsoft.com/office/powerpoint/2010/main" val="11505667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1260</Words>
  <Application>Microsoft Macintosh PowerPoint</Application>
  <DocSecurity>0</DocSecurity>
  <PresentationFormat>Widescreen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Дмитро Штефан</cp:lastModifiedBy>
  <cp:revision>4</cp:revision>
  <dcterms:created xsi:type="dcterms:W3CDTF">2026-10-09T21:03:42Z</dcterms:created>
  <dcterms:modified xsi:type="dcterms:W3CDTF">2026-10-10T07:49:52Z</dcterms:modified>
</cp:coreProperties>
</file>