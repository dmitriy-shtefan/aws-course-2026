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6" r:id="rId3"/>
    <p:sldId id="257" r:id="rId4"/>
    <p:sldId id="258" r:id="rId5"/>
    <p:sldId id="259" r:id="rId6"/>
    <p:sldId id="260" r:id="rId7"/>
    <p:sldId id="261" r:id="rId8"/>
    <p:sldId id="267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222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023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964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всіх на першому занятті з хмарних технологій! Сьогодні ми розберемось, що таке хмарні обчислення взагалі, з чого складається AWS — найбільша хмарна платформа у світі — і подивимось на практиці, як виглядає робота з нею. Мета заняття — щоб після нього ви впевнено орієнтувались у базовій термінології та розуміли логіку побудови хмарних сервісів.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1492D-7C74-18F1-754A-B2310419B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F2F525-0CD7-A0A0-B290-B2FE2BED90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26DA1-BEED-E64A-17D0-898A4D54A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всіх на першому занятті з хмарних технологій! Сьогодні ми розберемось, що таке хмарні обчислення взагалі, з чого складається AWS — найбільша хмарна платформа у світі — і подивимось на практиці, як виглядає робота з нею. Мета заняття — щоб після нього ви впевнено орієнтувались у базовій термінології та розуміли логіку побудови хмарних сервісів.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E105E-BE68-4482-89BF-82A89FFECF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8380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визначення. Хмарні обчислення — це, по суті, оренда обчислювальних потужностей: ви не купуєте фізичний сервер, а орендуєте віртуальні ресурси в дата-центрі провайдера, і платите тільки за те, що реально використали. Наведу аналогію з електрикою: до появи електромереж кожна фабрика мала свій генератор. Коли з'явились електромережі — генератор став непотрібним, платиш за кіловат-години. Так само AWS, Google Cloud чи Azure — це "електромережа" для обчислень. Зверніть увагу на праву картку: саме різниця у швидкості масштабування і моделі оплати — це те, що робить хмару настільки привабливою для бізнесу.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один з найважливіших слайдів курсу, тому зупинимось детально. Уявіть вертикальний "пиріг" з восьми шарів — від мережі й серверів внизу до застосунків і даних вгорі. У власній інфраструктурі весь цей пиріг — ваша відповідальність: ви самі купуєте залізо, ставите операційну систему, оновлюєте її. В IaaS, наприклад Amazon EC2, AWS бере на себе фізику: сервери, мережу, віртуалізацію — а ви й далі відповідаєте за ОС і застосунок. В PaaS, як Elastic Beanstalk, AWS додатково керує операційною системою й середовищем виконання — ви просто завантажуєте код. А в SaaS, наприклад Gmail чи Office 365, ви взагалі не думаєте про інфраструктуру — тільки користуєтесь готовим застосунком. Головне правило для співбесід і практики: чим вище рівень абстракції — тим менше контролю, але і менше клопоту.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про типи розгортання. Публічна хмара — це те, про що ми говоримо на цьому курсі: інфраструктура AWS спільна для мільйонів клієнтів, але логічно ізольована — ваші дані ніхто інший не бачить. Приватна хмара — коли компанія з підвищеними вимогами до безпеки чи регуляторики (банки, державні установи) тримає інфраструктуру виключно для себе. А гібридна модель — дуже поширений сценарій на практиці: частину систем компанія залишає у власному дата-центрі, а частину, наприклад аналітику чи сплески навантаження, виносить у публічну хмару. AWS має спеціальні сервіси для гібридних сценаріїв, наприклад AWS Outposts — фізично встановлене обладнання AWS у вашому власному дата-центрі.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Цікавий факт: AWS з'явився не як стратегічний план, а фактично як побічний ефект. У 2000-х Amazon-розробники витрачали занадто багато часу на розгортання базової інфраструктури для кожного нового проєкту всередині компанії, тому інженери стандартизували внутрішні сервіси — обчислення, сховище, бази даних. У 2006 році компанія вирішила продавати доступ до цих внутрішніх напрацювань зовнішнім розробникам — так з'явились S3 та EC2, і це офіційна дата народження AWS. Сьогодні це вже екосистема з понад 200 сервісів — від простих віртуальних машин до інструментів машинного навчання, і саме масштаб та швидкість інновацій утримують AWS на першому місці серед хмарних провайдерів.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про фізичну географію AWS. Регіон — це кластер дата-центрів у певній географічній точці, наприклад Франкфурт чи Ірландія; ви обираєте регіон під час створення ресурсу, зазвичай орієнтуючись на близькість до користувачів або вимоги законодавства щодо зберігання даних. Усередині кожного регіону є декілька зон доступності — фізично відокремлених груп дата-центрів із власним живленням, охолодженням і мережею, з'єднаних між собою швидкісними каналами з низькою затримкою. На практиці правило таке: критичний застосунок ніколи не варто розгортати лише в одній AZ — якщо ця зона впаде через аварію чи відключення живлення, впаде і ваш сервіс. Розподіливши навантаження на 2-3 AZ, ви отримуєте відмовостійкість "з коробки".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440FB-D929-B19C-FAF9-4E0652D8C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1DB07A-973E-8FE3-B6BE-FF4D883489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B43F88-6640-FCB7-178F-86A91A234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про фізичну географію AWS. Регіон — це кластер дата-центрів у певній географічній точці, наприклад Франкфурт чи Ірландія; ви обираєте регіон під час створення ресурсу, зазвичай орієнтуючись на близькість до користувачів або вимоги законодавства щодо зберігання даних. Усередині кожного регіону є декілька зон доступності — фізично відокремлених груп дата-центрів із власним живленням, охолодженням і мережею, з'єднаних між собою швидкісними каналами з низькою затримкою. На практиці правило таке: критичний застосунок ніколи не варто розгортати лише в одній AZ — якщо ця зона впаде через аварію чи відключення живлення, впаде і ваш сервіс. Розподіливши навантаження на 2-3 AZ, ви отримуєте відмовостійкість "з коробки".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5D1446-821E-99CB-D602-D4E046E814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3885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Регіони й зони доступності — це, так би мовити, "важка" інфраструктура: повноцінні дата-центри. Але є ще один рівень — edge locations, невеликі точки присутності, яких значно більше і розташовані вони значно ближче до користувачів, навіть у містах, де немає повноцінного регіону AWS. Головний сценарій використання — CloudFront, CDN-сервіс AWS: коли користувач із Києва відкриває сайт, статичний контент — картинки, відео, скрипти — віддається йому не з дата-центру в Ірландії, а з найближчого edge-вузла, що суттєво зменшує затримку. Це та сама причина, чому Netflix чи YouTube працюють плавно незалежно від того, де ви перебуваєте у світі.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переваги, які найчастіше згадують на співбесідах — і які справді є ключовими на практиці. Масштабованість: сервіс на кшталт Auto Scaling сам додає сервери, коли зростає навантаження, наприклад під час розпродажу, і прибирає їх, коли навантаження спадає — вам не потрібно вручну щось перемикати. Надійність: завдяки тому, що ми обговорювали на попередніх слайдах — кільком зонам доступності й регіонам — AWS гарантує дуже високий відсоток безвідмовної роботи для більшості сервісів. І оплата за фактом використання — це, мабуть, найбільша зміна мислення порівняно зі своєю інфраструктурою: більше не потрібно вгадувати наперед, скільки серверів купити на рік вперед, ви просто масштабуєтесь відповідно до реального попиту й платите відповідно.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 тепер практична частина — покажу типовий "хід виконання" завдання, з яким ви зіткнетесь у реальному проєкті. Уявімо: потрібно розгорнути звичайний вебзастосунок. Крок перший — код опиняється в репозиторії і збирається в артефакт чи Docker-образ. Крок другий — цей артефакт запускається на обчислювальному ресурсі: найпростіше — віртуальна машина EC2, або, якщо хочемо менше адміністрування, Elastic Beanstalk сам підніме сервери, балансувальник і навіть автоскейлінг. Крок третій — застосунку потрібна база даних: замість того, щоб самим встановлювати й патчити PostgreSQL чи MySQL на сервері, ми беремо Amazon RDS — керовану базу даних, де AWS сам робить бекапи й оновлення. Крок четвертий — усі статичні файли, картинки, відео, бекапи виносимо в S3, це дешевше й надійніше, ніж тримати їх на диску сервера. І нарешті крок п'ятий — щоб контент швидко довантажувався користувачам з будь-якої точки світу, підключаємо CloudFront, про який ми говорили на попередньому слайді. Це база, яку варто запам'ятати: EC2 + RDS + S3 + CloudFront — класичний "стартовий набір" для більшості вебпроєктів на AWS.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завершення — коротке порівняння трьох головних хмарних провайдерів. AWS зберігає лідерство за часткою ринку, головним чином завдяки найдовшій історії на ринку — з 2006 року — і найширшому портфелю сервісів. Google Cloud традиційно сильний у сфері даних та машинного навчання, оскільки виріс з внутрішніх напрацювань Google. Azure ж має природну перевагу для компаній, які вже активно використовують продукти Microsoft — Active Directory, Office 365, .NET — інтеграція там буде найглибшою. На практиці базові поняття, які ми сьогодні розглянули — регіони, зони доступності, IaaS/PaaS/SaaS, оплата за використання — однаково застосовні до всіх трьох платформ, тому знання AWS дає вам добру базу для швидкого переходу на будь-яку іншу хмару. На цьому закінчуємо теоретичну частину — на наступному занятті створимо перший обліковий запис і розгорнемо перший EC2-інстанс на практиці.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cons/cloud_slate.png"/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8503920" y="3291840"/>
            <a:ext cx="4206240" cy="4206240"/>
          </a:xfrm>
          <a:prstGeom prst="rect">
            <a:avLst/>
          </a:prstGeom>
        </p:spPr>
      </p:pic>
      <p:pic>
        <p:nvPicPr>
          <p:cNvPr id="3" name="Image 1" descr="/home/claude/icons/cloud_slate.png"/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6949440" y="4572000"/>
            <a:ext cx="2743200" cy="2743200"/>
          </a:xfrm>
          <a:prstGeom prst="rect">
            <a:avLst/>
          </a:prstGeom>
        </p:spPr>
      </p:pic>
      <p:sp>
        <p:nvSpPr>
          <p:cNvPr id="16" name="Name">
            <a:extLst>
              <a:ext uri="{FF2B5EF4-FFF2-40B4-BE49-F238E27FC236}">
                <a16:creationId xmlns:a16="http://schemas.microsoft.com/office/drawing/2014/main" id="{354BE631-F9DE-9680-093E-9C4681B8DDEC}"/>
              </a:ext>
            </a:extLst>
          </p:cNvPr>
          <p:cNvSpPr/>
          <p:nvPr/>
        </p:nvSpPr>
        <p:spPr>
          <a:xfrm>
            <a:off x="609128" y="576113"/>
            <a:ext cx="581732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anose="02040503050406030204" pitchFamily="18" charset="0"/>
              </a:rPr>
              <a:t>Дмитро </a:t>
            </a:r>
            <a:r>
              <a:rPr lang="uk-UA" sz="4000" b="1" dirty="0">
                <a:solidFill>
                  <a:srgbClr val="FFFFFF"/>
                </a:solidFill>
                <a:latin typeface="Cambria" panose="02040503050406030204" pitchFamily="18" charset="0"/>
              </a:rPr>
              <a:t>Штефан</a:t>
            </a:r>
            <a:endParaRPr lang="en-US" sz="4000" b="1" dirty="0">
              <a:solidFill>
                <a:srgbClr val="FFFFFF"/>
              </a:solidFill>
              <a:latin typeface="Cambria" panose="02040503050406030204" pitchFamily="18" charset="0"/>
            </a:endParaRPr>
          </a:p>
        </p:txBody>
      </p:sp>
      <p:sp>
        <p:nvSpPr>
          <p:cNvPr id="17" name="Role">
            <a:extLst>
              <a:ext uri="{FF2B5EF4-FFF2-40B4-BE49-F238E27FC236}">
                <a16:creationId xmlns:a16="http://schemas.microsoft.com/office/drawing/2014/main" id="{53F7734F-EA0F-819F-8DCC-F514E8D7A4C6}"/>
              </a:ext>
            </a:extLst>
          </p:cNvPr>
          <p:cNvSpPr/>
          <p:nvPr/>
        </p:nvSpPr>
        <p:spPr>
          <a:xfrm>
            <a:off x="609128" y="1591097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5A623"/>
                </a:solidFill>
                <a:latin typeface="Cambria" panose="02040503050406030204" pitchFamily="18" charset="0"/>
              </a:rPr>
              <a:t>Data Team Technical Lead @ Gameloft</a:t>
            </a:r>
          </a:p>
        </p:txBody>
      </p:sp>
      <p:sp>
        <p:nvSpPr>
          <p:cNvPr id="18" name="CardBg">
            <a:extLst>
              <a:ext uri="{FF2B5EF4-FFF2-40B4-BE49-F238E27FC236}">
                <a16:creationId xmlns:a16="http://schemas.microsoft.com/office/drawing/2014/main" id="{6A3DD95C-A35D-8852-D84A-F34E38B2CD57}"/>
              </a:ext>
            </a:extLst>
          </p:cNvPr>
          <p:cNvSpPr/>
          <p:nvPr/>
        </p:nvSpPr>
        <p:spPr>
          <a:xfrm>
            <a:off x="496389" y="2266446"/>
            <a:ext cx="6538903" cy="3894867"/>
          </a:xfrm>
          <a:prstGeom prst="rect">
            <a:avLst/>
          </a:prstGeom>
          <a:solidFill>
            <a:srgbClr val="243559">
              <a:alpha val="49000"/>
            </a:srgbClr>
          </a:solidFill>
          <a:ln w="12700">
            <a:solidFill>
              <a:srgbClr val="2E44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InfoText">
            <a:extLst>
              <a:ext uri="{FF2B5EF4-FFF2-40B4-BE49-F238E27FC236}">
                <a16:creationId xmlns:a16="http://schemas.microsoft.com/office/drawing/2014/main" id="{B5334899-F3E2-3ED0-48AF-9F1A2968EDBB}"/>
              </a:ext>
            </a:extLst>
          </p:cNvPr>
          <p:cNvSpPr/>
          <p:nvPr/>
        </p:nvSpPr>
        <p:spPr>
          <a:xfrm>
            <a:off x="609128" y="2449327"/>
            <a:ext cx="6538903" cy="376985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5A623"/>
                </a:solidFill>
                <a:latin typeface="Cambria" panose="02040503050406030204" pitchFamily="18" charset="0"/>
              </a:rPr>
              <a:t>💼 Досвід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dirty="0">
                <a:solidFill>
                  <a:srgbClr val="FFFFFF"/>
                </a:solidFill>
                <a:latin typeface="Cambria" panose="02040503050406030204" pitchFamily="18" charset="0"/>
              </a:rPr>
              <a:t>13+ років у Gameloft — PHP → eCommerce TL → Data TL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FFFFFF"/>
                </a:solidFill>
                <a:latin typeface="Cambria" panose="02040503050406030204" pitchFamily="18" charset="0"/>
              </a:rPr>
              <a:t>PHP · Python · AWS · ML · Data Engineering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>
              <a:latin typeface="Cambria" panose="02040503050406030204" pitchFamily="18" charset="0"/>
            </a:endParaRPr>
          </a:p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5A623"/>
                </a:solidFill>
                <a:latin typeface="Cambria" panose="02040503050406030204" pitchFamily="18" charset="0"/>
              </a:rPr>
              <a:t>💬 Telegram</a:t>
            </a:r>
          </a:p>
          <a:p>
            <a:pPr>
              <a:spcAft>
                <a:spcPts val="800"/>
              </a:spcAft>
            </a:pPr>
            <a:r>
              <a:rPr lang="en-US" dirty="0">
                <a:solidFill>
                  <a:srgbClr val="A8D8FF"/>
                </a:solidFill>
                <a:latin typeface="Cambria" panose="02040503050406030204" pitchFamily="18" charset="0"/>
              </a:rPr>
              <a:t>@dmitriy_shtefan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5A623"/>
                </a:solidFill>
                <a:latin typeface="Cambria" panose="02040503050406030204" pitchFamily="18" charset="0"/>
              </a:rPr>
              <a:t>🔗 LinkedIn</a:t>
            </a:r>
          </a:p>
          <a:p>
            <a:pPr>
              <a:spcAft>
                <a:spcPts val="400"/>
              </a:spcAft>
            </a:pPr>
            <a:r>
              <a:rPr lang="en-US" dirty="0">
                <a:solidFill>
                  <a:srgbClr val="A8D8FF"/>
                </a:solidFill>
                <a:latin typeface="Cambria" panose="02040503050406030204" pitchFamily="18" charset="0"/>
              </a:rPr>
              <a:t>linkedin.com/in/dmitry-shtefan/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F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45CC08-301D-378B-2595-7BAA51580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cons/cloud_slate.png">
            <a:extLst>
              <a:ext uri="{FF2B5EF4-FFF2-40B4-BE49-F238E27FC236}">
                <a16:creationId xmlns:a16="http://schemas.microsoft.com/office/drawing/2014/main" id="{45AED4B0-26EB-B2A4-E95E-F9B688847BE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30000"/>
          </a:blip>
          <a:stretch>
            <a:fillRect/>
          </a:stretch>
        </p:blipFill>
        <p:spPr>
          <a:xfrm>
            <a:off x="8503920" y="3291840"/>
            <a:ext cx="4206240" cy="4206240"/>
          </a:xfrm>
          <a:prstGeom prst="rect">
            <a:avLst/>
          </a:prstGeom>
        </p:spPr>
      </p:pic>
      <p:pic>
        <p:nvPicPr>
          <p:cNvPr id="3" name="Image 1" descr="/home/claude/icons/cloud_slate.png">
            <a:extLst>
              <a:ext uri="{FF2B5EF4-FFF2-40B4-BE49-F238E27FC236}">
                <a16:creationId xmlns:a16="http://schemas.microsoft.com/office/drawing/2014/main" id="{4F394380-0FF0-B583-7B91-A24E93812F7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2000"/>
          </a:blip>
          <a:stretch>
            <a:fillRect/>
          </a:stretch>
        </p:blipFill>
        <p:spPr>
          <a:xfrm>
            <a:off x="6949440" y="4572000"/>
            <a:ext cx="2743200" cy="2743200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03DEDDF0-C311-7BA7-3C63-3C4B325229F0}"/>
              </a:ext>
            </a:extLst>
          </p:cNvPr>
          <p:cNvSpPr txBox="1"/>
          <p:nvPr/>
        </p:nvSpPr>
        <p:spPr>
          <a:xfrm>
            <a:off x="82296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СТВОРЕННЯ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ХМАРНИХ </a:t>
            </a:r>
            <a:r>
              <a:rPr lang="uk-UA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РІШЕНЬ З ВИКОРИСТАННЯМ </a:t>
            </a:r>
            <a:r>
              <a:rPr lang="en-US" sz="14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4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BBE8F80A-DBBC-2B60-96D1-531BC7BFE889}"/>
              </a:ext>
            </a:extLst>
          </p:cNvPr>
          <p:cNvSpPr txBox="1"/>
          <p:nvPr/>
        </p:nvSpPr>
        <p:spPr>
          <a:xfrm>
            <a:off x="822960" y="1531620"/>
            <a:ext cx="9875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Вступ до хмарних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обчислень та AWS</a:t>
            </a:r>
            <a:endParaRPr lang="en-US" sz="46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0A4BFCB2-BFC6-F0D6-3315-98C6E46C3546}"/>
              </a:ext>
            </a:extLst>
          </p:cNvPr>
          <p:cNvSpPr txBox="1"/>
          <p:nvPr/>
        </p:nvSpPr>
        <p:spPr>
          <a:xfrm>
            <a:off x="822960" y="41605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таке хмара, як влаштований Amazon Web Services і чому саме він став стандартом індустрії</a:t>
            </a:r>
            <a:endParaRPr lang="en-US" sz="1600" dirty="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658EA52C-4E88-05D1-312B-7FB2EC68C9A9}"/>
              </a:ext>
            </a:extLst>
          </p:cNvPr>
          <p:cNvSpPr/>
          <p:nvPr/>
        </p:nvSpPr>
        <p:spPr>
          <a:xfrm>
            <a:off x="822960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8" name="Image 2" descr="/home/claude/icons/cloud_orange.png">
            <a:extLst>
              <a:ext uri="{FF2B5EF4-FFF2-40B4-BE49-F238E27FC236}">
                <a16:creationId xmlns:a16="http://schemas.microsoft.com/office/drawing/2014/main" id="{D31624A6-C85F-16A0-00B3-EBC90CD9C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544" y="5449824"/>
            <a:ext cx="301752" cy="301752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529B7984-4F8D-B79C-4F4E-BD687BE3B889}"/>
              </a:ext>
            </a:extLst>
          </p:cNvPr>
          <p:cNvSpPr txBox="1"/>
          <p:nvPr/>
        </p:nvSpPr>
        <p:spPr>
          <a:xfrm>
            <a:off x="594360" y="58978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Хмарні сервіси</a:t>
            </a:r>
            <a:endParaRPr lang="en-US" sz="1050" dirty="0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C593F923-1143-33D8-F245-268DCA6E3E9B}"/>
              </a:ext>
            </a:extLst>
          </p:cNvPr>
          <p:cNvSpPr/>
          <p:nvPr/>
        </p:nvSpPr>
        <p:spPr>
          <a:xfrm>
            <a:off x="2560320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3" descr="/home/claude/icons/server_orange.png">
            <a:extLst>
              <a:ext uri="{FF2B5EF4-FFF2-40B4-BE49-F238E27FC236}">
                <a16:creationId xmlns:a16="http://schemas.microsoft.com/office/drawing/2014/main" id="{826156AD-3540-2091-B43C-E0FADE1A9B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5449824"/>
            <a:ext cx="301752" cy="301752"/>
          </a:xfrm>
          <a:prstGeom prst="rect">
            <a:avLst/>
          </a:prstGeom>
        </p:spPr>
      </p:pic>
      <p:sp>
        <p:nvSpPr>
          <p:cNvPr id="12" name="Text 6">
            <a:extLst>
              <a:ext uri="{FF2B5EF4-FFF2-40B4-BE49-F238E27FC236}">
                <a16:creationId xmlns:a16="http://schemas.microsoft.com/office/drawing/2014/main" id="{53610014-0420-9290-1C4E-C34F167BC0F4}"/>
              </a:ext>
            </a:extLst>
          </p:cNvPr>
          <p:cNvSpPr txBox="1"/>
          <p:nvPr/>
        </p:nvSpPr>
        <p:spPr>
          <a:xfrm>
            <a:off x="2331720" y="58978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Інфраструктура</a:t>
            </a:r>
            <a:endParaRPr lang="en-US" sz="1050" dirty="0"/>
          </a:p>
        </p:txBody>
      </p:sp>
      <p:sp>
        <p:nvSpPr>
          <p:cNvPr id="13" name="Shape 7">
            <a:extLst>
              <a:ext uri="{FF2B5EF4-FFF2-40B4-BE49-F238E27FC236}">
                <a16:creationId xmlns:a16="http://schemas.microsoft.com/office/drawing/2014/main" id="{6C175CAE-9811-7845-4DF0-7A1D5F27BE86}"/>
              </a:ext>
            </a:extLst>
          </p:cNvPr>
          <p:cNvSpPr/>
          <p:nvPr/>
        </p:nvSpPr>
        <p:spPr>
          <a:xfrm>
            <a:off x="4297680" y="5349240"/>
            <a:ext cx="502920" cy="502920"/>
          </a:xfrm>
          <a:prstGeom prst="ellipse">
            <a:avLst/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4" descr="/home/claude/icons/globe_orange.png">
            <a:extLst>
              <a:ext uri="{FF2B5EF4-FFF2-40B4-BE49-F238E27FC236}">
                <a16:creationId xmlns:a16="http://schemas.microsoft.com/office/drawing/2014/main" id="{5A1F711F-7B93-C9EA-51DD-FE6E013F09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264" y="5449824"/>
            <a:ext cx="301752" cy="301752"/>
          </a:xfrm>
          <a:prstGeom prst="rect">
            <a:avLst/>
          </a:prstGeom>
        </p:spPr>
      </p:pic>
      <p:sp>
        <p:nvSpPr>
          <p:cNvPr id="15" name="Text 8">
            <a:extLst>
              <a:ext uri="{FF2B5EF4-FFF2-40B4-BE49-F238E27FC236}">
                <a16:creationId xmlns:a16="http://schemas.microsoft.com/office/drawing/2014/main" id="{8D3620CD-9741-0FCE-E0B6-1D6903BEFD90}"/>
              </a:ext>
            </a:extLst>
          </p:cNvPr>
          <p:cNvSpPr txBox="1"/>
          <p:nvPr/>
        </p:nvSpPr>
        <p:spPr>
          <a:xfrm>
            <a:off x="4069080" y="58978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Глобальна мережа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230246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02920" y="5577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Що таке хмарні обчислення?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Хмарні обчислення (cloud computing) — </a:t>
            </a:r>
            <a:r>
              <a:rPr lang="en-US" sz="150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надання обчислювальних ресурсів (серверів, сховищ, баз даних, мереж) через інтернет "за запитом", без потреби купувати й обслуговувати власне обладнання.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590203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Простими словами: ви не купуєте генератор електроенергії — ви просто вмикаєте розетку і платите за кіловат-години. Так само й з обчисленнями в хмарі.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 txBox="1"/>
          <p:nvPr/>
        </p:nvSpPr>
        <p:spPr>
          <a:xfrm>
            <a:off x="6720840" y="181051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Власна інфраструктура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2212848"/>
            <a:ext cx="45720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✗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Купівля серверів наперед, "про запас"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✗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Свій дата-центр або серверна кімната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✗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Обслуговування — власна ІТ-команда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✗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Масштабування — тижні або місяці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720840" y="3794760"/>
            <a:ext cx="457200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 txBox="1"/>
          <p:nvPr/>
        </p:nvSpPr>
        <p:spPr>
          <a:xfrm>
            <a:off x="6720840" y="3931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Хмарні обчислення (AWS)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4334256"/>
            <a:ext cx="4572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Ресурси створюються за хвилини, на вимогу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Дата-центри провайдера по всьому світу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Обслуговування апаратної частини — на AWS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лише за фактично використане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5029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Моделі хмарних сервісів: IaaS, PaaS, SaaS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відрізняються тим, скільки роботи бере на себе провайдер, а скільки залишається вам.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69748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 txBox="1"/>
          <p:nvPr/>
        </p:nvSpPr>
        <p:spPr>
          <a:xfrm>
            <a:off x="548640" y="2039112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Власна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інфраструктура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5000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власний дата-центр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 txBox="1"/>
          <p:nvPr/>
        </p:nvSpPr>
        <p:spPr>
          <a:xfrm>
            <a:off x="548640" y="26883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Застосунки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30403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 txBox="1"/>
          <p:nvPr/>
        </p:nvSpPr>
        <p:spPr>
          <a:xfrm>
            <a:off x="548640" y="30312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 txBox="1"/>
          <p:nvPr/>
        </p:nvSpPr>
        <p:spPr>
          <a:xfrm>
            <a:off x="548640" y="33741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Виконавче середовище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7261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 txBox="1"/>
          <p:nvPr/>
        </p:nvSpPr>
        <p:spPr>
          <a:xfrm>
            <a:off x="548640" y="37170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 txBox="1"/>
          <p:nvPr/>
        </p:nvSpPr>
        <p:spPr>
          <a:xfrm>
            <a:off x="548640" y="40599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Віртуалізація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44119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 txBox="1"/>
          <p:nvPr/>
        </p:nvSpPr>
        <p:spPr>
          <a:xfrm>
            <a:off x="548640" y="44028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Сервери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 txBox="1"/>
          <p:nvPr/>
        </p:nvSpPr>
        <p:spPr>
          <a:xfrm>
            <a:off x="548640" y="47457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8640" y="50977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 txBox="1"/>
          <p:nvPr/>
        </p:nvSpPr>
        <p:spPr>
          <a:xfrm>
            <a:off x="548640" y="50886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Мережа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49554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— ви самі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55848" y="2011680"/>
            <a:ext cx="269748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6" name="Text 24"/>
          <p:cNvSpPr txBox="1"/>
          <p:nvPr/>
        </p:nvSpPr>
        <p:spPr>
          <a:xfrm>
            <a:off x="3355848" y="2039112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401568" y="235000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as a Service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355848" y="26974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 txBox="1"/>
          <p:nvPr/>
        </p:nvSpPr>
        <p:spPr>
          <a:xfrm>
            <a:off x="3355848" y="26883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Застосунки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355848" y="30403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 txBox="1"/>
          <p:nvPr/>
        </p:nvSpPr>
        <p:spPr>
          <a:xfrm>
            <a:off x="3355848" y="30312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55848" y="33832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 txBox="1"/>
          <p:nvPr/>
        </p:nvSpPr>
        <p:spPr>
          <a:xfrm>
            <a:off x="3355848" y="33741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Виконавче середовище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55848" y="37261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 txBox="1"/>
          <p:nvPr/>
        </p:nvSpPr>
        <p:spPr>
          <a:xfrm>
            <a:off x="3355848" y="37170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55848" y="40690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 txBox="1"/>
          <p:nvPr/>
        </p:nvSpPr>
        <p:spPr>
          <a:xfrm>
            <a:off x="3355848" y="40599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Віртуалізація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355848" y="44119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 txBox="1"/>
          <p:nvPr/>
        </p:nvSpPr>
        <p:spPr>
          <a:xfrm>
            <a:off x="3355848" y="44028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Сервери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355848" y="47548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 txBox="1"/>
          <p:nvPr/>
        </p:nvSpPr>
        <p:spPr>
          <a:xfrm>
            <a:off x="3355848" y="47457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355848" y="50977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 txBox="1"/>
          <p:nvPr/>
        </p:nvSpPr>
        <p:spPr>
          <a:xfrm>
            <a:off x="3355848" y="50886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Мережа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3355848" y="549554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EC2, EBS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163056" y="2011680"/>
            <a:ext cx="269748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46" name="Text 44"/>
          <p:cNvSpPr txBox="1"/>
          <p:nvPr/>
        </p:nvSpPr>
        <p:spPr>
          <a:xfrm>
            <a:off x="6163056" y="2039112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6208776" y="235000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as a Service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63056" y="26974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9" name="Text 47"/>
          <p:cNvSpPr txBox="1"/>
          <p:nvPr/>
        </p:nvSpPr>
        <p:spPr>
          <a:xfrm>
            <a:off x="6163056" y="26883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Застосунки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163056" y="3040380"/>
            <a:ext cx="2697480" cy="30632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1" name="Text 49"/>
          <p:cNvSpPr txBox="1"/>
          <p:nvPr/>
        </p:nvSpPr>
        <p:spPr>
          <a:xfrm>
            <a:off x="6163056" y="30312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163056" y="33832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3" name="Text 51"/>
          <p:cNvSpPr txBox="1"/>
          <p:nvPr/>
        </p:nvSpPr>
        <p:spPr>
          <a:xfrm>
            <a:off x="6163056" y="33741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Виконавче середовище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163056" y="37261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5" name="Text 53"/>
          <p:cNvSpPr txBox="1"/>
          <p:nvPr/>
        </p:nvSpPr>
        <p:spPr>
          <a:xfrm>
            <a:off x="6163056" y="37170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163056" y="40690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7" name="Text 55"/>
          <p:cNvSpPr txBox="1"/>
          <p:nvPr/>
        </p:nvSpPr>
        <p:spPr>
          <a:xfrm>
            <a:off x="6163056" y="40599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Віртуалізація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6163056" y="44119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9" name="Text 57"/>
          <p:cNvSpPr txBox="1"/>
          <p:nvPr/>
        </p:nvSpPr>
        <p:spPr>
          <a:xfrm>
            <a:off x="6163056" y="44028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Сервери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163056" y="47548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1" name="Text 59"/>
          <p:cNvSpPr txBox="1"/>
          <p:nvPr/>
        </p:nvSpPr>
        <p:spPr>
          <a:xfrm>
            <a:off x="6163056" y="47457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6163056" y="50977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3" name="Text 61"/>
          <p:cNvSpPr txBox="1"/>
          <p:nvPr/>
        </p:nvSpPr>
        <p:spPr>
          <a:xfrm>
            <a:off x="6163056" y="50886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Мережа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6163056" y="549554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Beanstalk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8970264" y="2011680"/>
            <a:ext cx="2697480" cy="594360"/>
          </a:xfrm>
          <a:prstGeom prst="roundRect">
            <a:avLst>
              <a:gd name="adj" fmla="val 12308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6" name="Text 64"/>
          <p:cNvSpPr txBox="1"/>
          <p:nvPr/>
        </p:nvSpPr>
        <p:spPr>
          <a:xfrm>
            <a:off x="8970264" y="2039112"/>
            <a:ext cx="2697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400" dirty="0"/>
          </a:p>
        </p:txBody>
      </p:sp>
      <p:sp>
        <p:nvSpPr>
          <p:cNvPr id="67" name="Text 65"/>
          <p:cNvSpPr txBox="1"/>
          <p:nvPr/>
        </p:nvSpPr>
        <p:spPr>
          <a:xfrm>
            <a:off x="9015984" y="2350008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as a Service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8970264" y="26974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9" name="Text 67"/>
          <p:cNvSpPr txBox="1"/>
          <p:nvPr/>
        </p:nvSpPr>
        <p:spPr>
          <a:xfrm>
            <a:off x="8970264" y="26883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Застосунки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8970264" y="30403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1" name="Text 69"/>
          <p:cNvSpPr txBox="1"/>
          <p:nvPr/>
        </p:nvSpPr>
        <p:spPr>
          <a:xfrm>
            <a:off x="8970264" y="30312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8970264" y="33832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3" name="Text 71"/>
          <p:cNvSpPr txBox="1"/>
          <p:nvPr/>
        </p:nvSpPr>
        <p:spPr>
          <a:xfrm>
            <a:off x="8970264" y="33741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Виконавче середовище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8970264" y="37261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5" name="Text 73"/>
          <p:cNvSpPr txBox="1"/>
          <p:nvPr/>
        </p:nvSpPr>
        <p:spPr>
          <a:xfrm>
            <a:off x="8970264" y="37170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8970264" y="40690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7" name="Text 75"/>
          <p:cNvSpPr txBox="1"/>
          <p:nvPr/>
        </p:nvSpPr>
        <p:spPr>
          <a:xfrm>
            <a:off x="8970264" y="40599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Віртуалізація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8970264" y="44119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9" name="Text 77"/>
          <p:cNvSpPr txBox="1"/>
          <p:nvPr/>
        </p:nvSpPr>
        <p:spPr>
          <a:xfrm>
            <a:off x="8970264" y="44028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Сервери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8970264" y="47548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1" name="Text 79"/>
          <p:cNvSpPr txBox="1"/>
          <p:nvPr/>
        </p:nvSpPr>
        <p:spPr>
          <a:xfrm>
            <a:off x="8970264" y="47457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Сховище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8970264" y="5097780"/>
            <a:ext cx="2697480" cy="306324"/>
          </a:xfrm>
          <a:prstGeom prst="rect">
            <a:avLst/>
          </a:prstGeom>
          <a:solidFill>
            <a:srgbClr val="FF9900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3" name="Text 81"/>
          <p:cNvSpPr txBox="1"/>
          <p:nvPr/>
        </p:nvSpPr>
        <p:spPr>
          <a:xfrm>
            <a:off x="8970264" y="5088636"/>
            <a:ext cx="2697480" cy="3063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Мережа</a:t>
            </a:r>
            <a:endParaRPr lang="en-US" sz="950" dirty="0"/>
          </a:p>
        </p:txBody>
      </p:sp>
      <p:sp>
        <p:nvSpPr>
          <p:cNvPr id="84" name="Text 82"/>
          <p:cNvSpPr txBox="1"/>
          <p:nvPr/>
        </p:nvSpPr>
        <p:spPr>
          <a:xfrm>
            <a:off x="8970264" y="5495544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Gmail, Office 365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548640" y="5852160"/>
            <a:ext cx="256032" cy="201168"/>
          </a:xfrm>
          <a:prstGeom prst="rect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86" name="Text 84"/>
          <p:cNvSpPr txBox="1"/>
          <p:nvPr/>
        </p:nvSpPr>
        <p:spPr>
          <a:xfrm>
            <a:off x="868680" y="5806440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керує провайдер (AWS)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3566160" y="5852160"/>
            <a:ext cx="256032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8" name="Text 86"/>
          <p:cNvSpPr txBox="1"/>
          <p:nvPr/>
        </p:nvSpPr>
        <p:spPr>
          <a:xfrm>
            <a:off x="3886200" y="58064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керуєте ви</a:t>
            </a:r>
            <a:endParaRPr lang="en-US" sz="1050" dirty="0"/>
          </a:p>
        </p:txBody>
      </p:sp>
      <p:sp>
        <p:nvSpPr>
          <p:cNvPr id="89" name="Text 8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90" name="Text 8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Типи хмарних рішень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globe_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331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017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Публічна хмара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47472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Ресурси спільні для всіх клієнтів провайдера, доступні через інтернет. Приклад: AWS, GCP, Azure.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530352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0" name="Text 7"/>
          <p:cNvSpPr txBox="1"/>
          <p:nvPr/>
        </p:nvSpPr>
        <p:spPr>
          <a:xfrm>
            <a:off x="868680" y="5303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Гнучкість і масштаб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89120" y="18288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2" name="Shape 9"/>
          <p:cNvSpPr/>
          <p:nvPr/>
        </p:nvSpPr>
        <p:spPr>
          <a:xfrm>
            <a:off x="4709160" y="2148840"/>
            <a:ext cx="685800" cy="6858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3" name="Image 1" descr="/home/claude/icons/lock_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33172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09160" y="3017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Приватна хмара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47472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Інфраструктура виділена для однієї організації — власний дата-центр або орендований виділений сегмент.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709160" y="530352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7" name="Text 13"/>
          <p:cNvSpPr txBox="1"/>
          <p:nvPr/>
        </p:nvSpPr>
        <p:spPr>
          <a:xfrm>
            <a:off x="4709160" y="5303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і безпека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229600" y="18288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9" name="Shape 15"/>
          <p:cNvSpPr/>
          <p:nvPr/>
        </p:nvSpPr>
        <p:spPr>
          <a:xfrm>
            <a:off x="8549640" y="2148840"/>
            <a:ext cx="685800" cy="68580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mage 2" descr="/home/claude/icons/network_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233172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549640" y="3017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Гібридна хмара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549640" y="347472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Поєднання власної інфраструктури й публічної хмари з єдиним керуванням та обміном даними.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8549640" y="530352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2F3F3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4" name="Text 19"/>
          <p:cNvSpPr txBox="1"/>
          <p:nvPr/>
        </p:nvSpPr>
        <p:spPr>
          <a:xfrm>
            <a:off x="8549640" y="5303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C7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Баланс і поступовий перехід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Amazon Web Services: від ідеї до лідера ринку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— хмарний підрозділ Amazon, запущений як побічний продукт внутрішньої інфраструктури інтернет-магазину.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" y="3931920"/>
            <a:ext cx="10515600" cy="0"/>
          </a:xfrm>
          <a:prstGeom prst="line">
            <a:avLst/>
          </a:prstGeom>
          <a:noFill/>
          <a:ln w="38100">
            <a:solidFill>
              <a:srgbClr val="37475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6" name="Shape 4"/>
          <p:cNvSpPr/>
          <p:nvPr/>
        </p:nvSpPr>
        <p:spPr>
          <a:xfrm>
            <a:off x="722376" y="3831336"/>
            <a:ext cx="201168" cy="201168"/>
          </a:xfrm>
          <a:prstGeom prst="ellipse">
            <a:avLst/>
          </a:prstGeom>
          <a:solidFill>
            <a:srgbClr val="FF990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 txBox="1"/>
          <p:nvPr/>
        </p:nvSpPr>
        <p:spPr>
          <a:xfrm>
            <a:off x="457200" y="3108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сервіси Amazon для розробників (API до каталогу товарів)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27576" y="3831336"/>
            <a:ext cx="201168" cy="201168"/>
          </a:xfrm>
          <a:prstGeom prst="ellipse">
            <a:avLst/>
          </a:prstGeom>
          <a:solidFill>
            <a:srgbClr val="FF990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8"/>
          <p:cNvSpPr txBox="1"/>
          <p:nvPr/>
        </p:nvSpPr>
        <p:spPr>
          <a:xfrm>
            <a:off x="3093720" y="4297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093720" y="46634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S3 (сховище) та EC2 (віртуальні сервери) — старт AWS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32776" y="3831336"/>
            <a:ext cx="201168" cy="201168"/>
          </a:xfrm>
          <a:prstGeom prst="ellipse">
            <a:avLst/>
          </a:prstGeom>
          <a:solidFill>
            <a:srgbClr val="FF990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 txBox="1"/>
          <p:nvPr/>
        </p:nvSpPr>
        <p:spPr>
          <a:xfrm>
            <a:off x="6598920" y="3108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598920" y="242316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Перша конференція re:Invent, портфель зростає до сотень сервісів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1237976" y="3831336"/>
            <a:ext cx="201168" cy="201168"/>
          </a:xfrm>
          <a:prstGeom prst="ellipse">
            <a:avLst/>
          </a:prstGeom>
          <a:solidFill>
            <a:srgbClr val="FF9900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Text 14"/>
          <p:cNvSpPr txBox="1"/>
          <p:nvPr/>
        </p:nvSpPr>
        <p:spPr>
          <a:xfrm>
            <a:off x="9262872" y="42976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Сьогодні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9262872" y="4663440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сервісів, десятки регіонів, лідер ринку хмарних послуг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AWS</a:t>
            </a:r>
            <a:endParaRPr lang="en-US" sz="1300" dirty="0"/>
          </a:p>
        </p:txBody>
      </p:sp>
      <p:sp>
        <p:nvSpPr>
          <p:cNvPr id="44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4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B2B3A0EE-0742-02F7-ACD0-DBA31D2420C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430"/>
          <a:stretch>
            <a:fillRect/>
          </a:stretch>
        </p:blipFill>
        <p:spPr>
          <a:xfrm>
            <a:off x="457200" y="888762"/>
            <a:ext cx="10201970" cy="521989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03E60-A89E-9CDD-876F-99F333847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93F72D7-5E90-FE82-2BDA-50591ECDDB5C}"/>
              </a:ext>
            </a:extLst>
          </p:cNvPr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AWS</a:t>
            </a: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07A9E75-B810-70A9-3505-54BFB9043B11}"/>
              </a:ext>
            </a:extLst>
          </p:cNvPr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Регіони та зони доступності (Availability Zones)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7EF6C00-338F-638B-4565-E7538AF90B26}"/>
              </a:ext>
            </a:extLst>
          </p:cNvPr>
          <p:cNvSpPr txBox="1"/>
          <p:nvPr/>
        </p:nvSpPr>
        <p:spPr>
          <a:xfrm>
            <a:off x="548640" y="169164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Регіон (Region) </a:t>
            </a:r>
            <a:r>
              <a:rPr lang="en-US" sz="13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окремий географічний майданчик AWS (наприклад, Frankfurt, Ireland).</a:t>
            </a:r>
            <a:endParaRPr lang="en-US" sz="1350" dirty="0"/>
          </a:p>
          <a:p>
            <a:pPr marL="0" indent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Зона доступності (AZ) </a:t>
            </a:r>
            <a:r>
              <a:rPr lang="en-US" sz="13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один або декілька ізольованих дата-центрів усередині регіону, зі своїм живленням і мережею.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936A27C-CF7F-6EB5-86E8-4A6C268E0DF0}"/>
              </a:ext>
            </a:extLst>
          </p:cNvPr>
          <p:cNvSpPr/>
          <p:nvPr/>
        </p:nvSpPr>
        <p:spPr>
          <a:xfrm>
            <a:off x="548640" y="3977640"/>
            <a:ext cx="4114800" cy="1965960"/>
          </a:xfrm>
          <a:prstGeom prst="roundRect">
            <a:avLst>
              <a:gd name="adj" fmla="val 4651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shield_orange.png">
            <a:extLst>
              <a:ext uri="{FF2B5EF4-FFF2-40B4-BE49-F238E27FC236}">
                <a16:creationId xmlns:a16="http://schemas.microsoft.com/office/drawing/2014/main" id="{A381373D-95D2-8FBD-9E94-2B5CD071C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206240"/>
            <a:ext cx="365760" cy="365760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5CDE751A-94BF-F943-1888-E66CF06183BC}"/>
              </a:ext>
            </a:extLst>
          </p:cNvPr>
          <p:cNvSpPr txBox="1"/>
          <p:nvPr/>
        </p:nvSpPr>
        <p:spPr>
          <a:xfrm>
            <a:off x="1325880" y="42062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це важливо</a:t>
            </a:r>
            <a:endParaRPr lang="en-US" sz="13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DD3B62CC-AD54-8808-6A53-455444921F4B}"/>
              </a:ext>
            </a:extLst>
          </p:cNvPr>
          <p:cNvSpPr txBox="1"/>
          <p:nvPr/>
        </p:nvSpPr>
        <p:spPr>
          <a:xfrm>
            <a:off x="822960" y="4709160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Розгортаючи застосунок у кількох AZ одного регіону, ви захищаєтесь від збою окремого дата-центру — це основа відмовостійкості (high availability) в AWS.</a:t>
            </a:r>
            <a:endParaRPr lang="en-US" sz="115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A37F04E-6F84-9D99-6BDF-F98E71443F2F}"/>
              </a:ext>
            </a:extLst>
          </p:cNvPr>
          <p:cNvSpPr/>
          <p:nvPr/>
        </p:nvSpPr>
        <p:spPr>
          <a:xfrm>
            <a:off x="5029200" y="1691640"/>
            <a:ext cx="658368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25400">
            <a:solidFill>
              <a:srgbClr val="232F3E"/>
            </a:solidFill>
            <a:prstDash val="dash"/>
          </a:ln>
        </p:spPr>
        <p:txBody>
          <a:bodyPr/>
          <a:lstStyle/>
          <a:p>
            <a:endParaRPr lang="en-UA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4DE5DCA-D849-592A-EA94-B1C00F8448AC}"/>
              </a:ext>
            </a:extLst>
          </p:cNvPr>
          <p:cNvSpPr txBox="1"/>
          <p:nvPr/>
        </p:nvSpPr>
        <p:spPr>
          <a:xfrm>
            <a:off x="5303520" y="1856232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РЕГІОН: eu-central-1 (Frankfurt)</a:t>
            </a:r>
            <a:endParaRPr lang="en-US" sz="125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6AA2F54-B01A-73A0-288D-E99ABC1A8C6C}"/>
              </a:ext>
            </a:extLst>
          </p:cNvPr>
          <p:cNvSpPr/>
          <p:nvPr/>
        </p:nvSpPr>
        <p:spPr>
          <a:xfrm>
            <a:off x="5280660" y="2377440"/>
            <a:ext cx="1874520" cy="3246120"/>
          </a:xfrm>
          <a:prstGeom prst="roundRect">
            <a:avLst>
              <a:gd name="adj" fmla="val 3902"/>
            </a:avLst>
          </a:prstGeom>
          <a:solidFill>
            <a:srgbClr val="F2F3F3"/>
          </a:solidFill>
          <a:ln w="12700">
            <a:solidFill>
              <a:srgbClr val="C7CDD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CB554CD-22EF-82AE-BB29-90DDC7AC3DCC}"/>
              </a:ext>
            </a:extLst>
          </p:cNvPr>
          <p:cNvSpPr txBox="1"/>
          <p:nvPr/>
        </p:nvSpPr>
        <p:spPr>
          <a:xfrm>
            <a:off x="5280660" y="24871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a</a:t>
            </a:r>
            <a:endParaRPr lang="en-US" sz="1200" dirty="0"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655D1038-BB13-0F97-78AE-0138BFC2B0A2}"/>
              </a:ext>
            </a:extLst>
          </p:cNvPr>
          <p:cNvSpPr/>
          <p:nvPr/>
        </p:nvSpPr>
        <p:spPr>
          <a:xfrm>
            <a:off x="5536692" y="29718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4" name="Image 1" descr="/home/claude/icons/server_orange.png">
            <a:extLst>
              <a:ext uri="{FF2B5EF4-FFF2-40B4-BE49-F238E27FC236}">
                <a16:creationId xmlns:a16="http://schemas.microsoft.com/office/drawing/2014/main" id="{0BFA747A-B098-5582-E73A-23F5AFD0D9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9844" y="3044952"/>
            <a:ext cx="237744" cy="237744"/>
          </a:xfrm>
          <a:prstGeom prst="rect">
            <a:avLst/>
          </a:prstGeom>
        </p:spPr>
      </p:pic>
      <p:sp>
        <p:nvSpPr>
          <p:cNvPr id="15" name="Shape 11">
            <a:extLst>
              <a:ext uri="{FF2B5EF4-FFF2-40B4-BE49-F238E27FC236}">
                <a16:creationId xmlns:a16="http://schemas.microsoft.com/office/drawing/2014/main" id="{034DCBDB-A871-E5A2-0E37-8C5A6EED73AE}"/>
              </a:ext>
            </a:extLst>
          </p:cNvPr>
          <p:cNvSpPr/>
          <p:nvPr/>
        </p:nvSpPr>
        <p:spPr>
          <a:xfrm>
            <a:off x="6240780" y="29718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6" name="Image 2" descr="/home/claude/icons/server_orange.png">
            <a:extLst>
              <a:ext uri="{FF2B5EF4-FFF2-40B4-BE49-F238E27FC236}">
                <a16:creationId xmlns:a16="http://schemas.microsoft.com/office/drawing/2014/main" id="{48E5ACA7-4A5C-77BE-C4E4-BBD991615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932" y="3044952"/>
            <a:ext cx="237744" cy="237744"/>
          </a:xfrm>
          <a:prstGeom prst="rect">
            <a:avLst/>
          </a:prstGeom>
        </p:spPr>
      </p:pic>
      <p:sp>
        <p:nvSpPr>
          <p:cNvPr id="17" name="Shape 12">
            <a:extLst>
              <a:ext uri="{FF2B5EF4-FFF2-40B4-BE49-F238E27FC236}">
                <a16:creationId xmlns:a16="http://schemas.microsoft.com/office/drawing/2014/main" id="{049D7C87-81CD-2BC8-E12B-5D81AFA22FC9}"/>
              </a:ext>
            </a:extLst>
          </p:cNvPr>
          <p:cNvSpPr/>
          <p:nvPr/>
        </p:nvSpPr>
        <p:spPr>
          <a:xfrm>
            <a:off x="5536692" y="35204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8" name="Image 3" descr="/home/claude/icons/server_orange.png">
            <a:extLst>
              <a:ext uri="{FF2B5EF4-FFF2-40B4-BE49-F238E27FC236}">
                <a16:creationId xmlns:a16="http://schemas.microsoft.com/office/drawing/2014/main" id="{E57CEE17-7862-AE57-E27A-771A7FB115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9844" y="3593592"/>
            <a:ext cx="237744" cy="237744"/>
          </a:xfrm>
          <a:prstGeom prst="rect">
            <a:avLst/>
          </a:prstGeom>
        </p:spPr>
      </p:pic>
      <p:sp>
        <p:nvSpPr>
          <p:cNvPr id="19" name="Shape 13">
            <a:extLst>
              <a:ext uri="{FF2B5EF4-FFF2-40B4-BE49-F238E27FC236}">
                <a16:creationId xmlns:a16="http://schemas.microsoft.com/office/drawing/2014/main" id="{5183BE22-2279-CB42-293E-FECC4BFD4A36}"/>
              </a:ext>
            </a:extLst>
          </p:cNvPr>
          <p:cNvSpPr/>
          <p:nvPr/>
        </p:nvSpPr>
        <p:spPr>
          <a:xfrm>
            <a:off x="6240780" y="35204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0" name="Image 4" descr="/home/claude/icons/server_orange.png">
            <a:extLst>
              <a:ext uri="{FF2B5EF4-FFF2-40B4-BE49-F238E27FC236}">
                <a16:creationId xmlns:a16="http://schemas.microsoft.com/office/drawing/2014/main" id="{6393CC88-FB0C-387C-B30C-08A10EB9E4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932" y="3593592"/>
            <a:ext cx="237744" cy="237744"/>
          </a:xfrm>
          <a:prstGeom prst="rect">
            <a:avLst/>
          </a:prstGeom>
        </p:spPr>
      </p:pic>
      <p:sp>
        <p:nvSpPr>
          <p:cNvPr id="21" name="Text 14">
            <a:extLst>
              <a:ext uri="{FF2B5EF4-FFF2-40B4-BE49-F238E27FC236}">
                <a16:creationId xmlns:a16="http://schemas.microsoft.com/office/drawing/2014/main" id="{2C202216-F526-4ED3-DFE3-DA927E397E60}"/>
              </a:ext>
            </a:extLst>
          </p:cNvPr>
          <p:cNvSpPr txBox="1"/>
          <p:nvPr/>
        </p:nvSpPr>
        <p:spPr>
          <a:xfrm>
            <a:off x="5280660" y="523951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Дата-центр(и)</a:t>
            </a:r>
            <a:endParaRPr lang="en-US" sz="950" dirty="0"/>
          </a:p>
        </p:txBody>
      </p:sp>
      <p:sp>
        <p:nvSpPr>
          <p:cNvPr id="22" name="Shape 15">
            <a:extLst>
              <a:ext uri="{FF2B5EF4-FFF2-40B4-BE49-F238E27FC236}">
                <a16:creationId xmlns:a16="http://schemas.microsoft.com/office/drawing/2014/main" id="{200F751A-BC17-EBCD-A0C8-643C61A3D2A5}"/>
              </a:ext>
            </a:extLst>
          </p:cNvPr>
          <p:cNvSpPr/>
          <p:nvPr/>
        </p:nvSpPr>
        <p:spPr>
          <a:xfrm>
            <a:off x="7383780" y="2377440"/>
            <a:ext cx="1874520" cy="3246120"/>
          </a:xfrm>
          <a:prstGeom prst="roundRect">
            <a:avLst>
              <a:gd name="adj" fmla="val 3902"/>
            </a:avLst>
          </a:prstGeom>
          <a:solidFill>
            <a:srgbClr val="F2F3F3"/>
          </a:solidFill>
          <a:ln w="12700">
            <a:solidFill>
              <a:srgbClr val="C7CDD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16">
            <a:extLst>
              <a:ext uri="{FF2B5EF4-FFF2-40B4-BE49-F238E27FC236}">
                <a16:creationId xmlns:a16="http://schemas.microsoft.com/office/drawing/2014/main" id="{02E7BC5E-D862-4B87-F785-332E5D3F0912}"/>
              </a:ext>
            </a:extLst>
          </p:cNvPr>
          <p:cNvSpPr txBox="1"/>
          <p:nvPr/>
        </p:nvSpPr>
        <p:spPr>
          <a:xfrm>
            <a:off x="7383780" y="24871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b</a:t>
            </a:r>
            <a:endParaRPr lang="en-US" sz="1200" dirty="0"/>
          </a:p>
        </p:txBody>
      </p:sp>
      <p:sp>
        <p:nvSpPr>
          <p:cNvPr id="24" name="Shape 17">
            <a:extLst>
              <a:ext uri="{FF2B5EF4-FFF2-40B4-BE49-F238E27FC236}">
                <a16:creationId xmlns:a16="http://schemas.microsoft.com/office/drawing/2014/main" id="{56D0D013-A95E-C3A0-7AC8-258DF3D46CED}"/>
              </a:ext>
            </a:extLst>
          </p:cNvPr>
          <p:cNvSpPr/>
          <p:nvPr/>
        </p:nvSpPr>
        <p:spPr>
          <a:xfrm>
            <a:off x="7639812" y="29718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5" name="Image 5" descr="/home/claude/icons/server_orange.png">
            <a:extLst>
              <a:ext uri="{FF2B5EF4-FFF2-40B4-BE49-F238E27FC236}">
                <a16:creationId xmlns:a16="http://schemas.microsoft.com/office/drawing/2014/main" id="{354E39DB-0347-33C4-1760-016F631DE7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2964" y="3044952"/>
            <a:ext cx="237744" cy="237744"/>
          </a:xfrm>
          <a:prstGeom prst="rect">
            <a:avLst/>
          </a:prstGeom>
        </p:spPr>
      </p:pic>
      <p:sp>
        <p:nvSpPr>
          <p:cNvPr id="26" name="Shape 18">
            <a:extLst>
              <a:ext uri="{FF2B5EF4-FFF2-40B4-BE49-F238E27FC236}">
                <a16:creationId xmlns:a16="http://schemas.microsoft.com/office/drawing/2014/main" id="{8FC878DE-66FB-BD34-787D-638703E91FEE}"/>
              </a:ext>
            </a:extLst>
          </p:cNvPr>
          <p:cNvSpPr/>
          <p:nvPr/>
        </p:nvSpPr>
        <p:spPr>
          <a:xfrm>
            <a:off x="8343900" y="29718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7" name="Image 6" descr="/home/claude/icons/server_orange.png">
            <a:extLst>
              <a:ext uri="{FF2B5EF4-FFF2-40B4-BE49-F238E27FC236}">
                <a16:creationId xmlns:a16="http://schemas.microsoft.com/office/drawing/2014/main" id="{D50DD881-CFDA-4FB8-BC3D-F39FBE6A98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3044952"/>
            <a:ext cx="237744" cy="237744"/>
          </a:xfrm>
          <a:prstGeom prst="rect">
            <a:avLst/>
          </a:prstGeom>
        </p:spPr>
      </p:pic>
      <p:sp>
        <p:nvSpPr>
          <p:cNvPr id="28" name="Shape 19">
            <a:extLst>
              <a:ext uri="{FF2B5EF4-FFF2-40B4-BE49-F238E27FC236}">
                <a16:creationId xmlns:a16="http://schemas.microsoft.com/office/drawing/2014/main" id="{A8651593-D670-08CD-7787-0B039F744C1E}"/>
              </a:ext>
            </a:extLst>
          </p:cNvPr>
          <p:cNvSpPr/>
          <p:nvPr/>
        </p:nvSpPr>
        <p:spPr>
          <a:xfrm>
            <a:off x="7639812" y="35204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29" name="Image 7" descr="/home/claude/icons/server_orange.png">
            <a:extLst>
              <a:ext uri="{FF2B5EF4-FFF2-40B4-BE49-F238E27FC236}">
                <a16:creationId xmlns:a16="http://schemas.microsoft.com/office/drawing/2014/main" id="{3B32B3A3-B426-82ED-BD4D-3F83FFBB51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2964" y="3593592"/>
            <a:ext cx="237744" cy="237744"/>
          </a:xfrm>
          <a:prstGeom prst="rect">
            <a:avLst/>
          </a:prstGeom>
        </p:spPr>
      </p:pic>
      <p:sp>
        <p:nvSpPr>
          <p:cNvPr id="30" name="Shape 20">
            <a:extLst>
              <a:ext uri="{FF2B5EF4-FFF2-40B4-BE49-F238E27FC236}">
                <a16:creationId xmlns:a16="http://schemas.microsoft.com/office/drawing/2014/main" id="{7F73D291-A40D-9E47-902E-5B574F782CDB}"/>
              </a:ext>
            </a:extLst>
          </p:cNvPr>
          <p:cNvSpPr/>
          <p:nvPr/>
        </p:nvSpPr>
        <p:spPr>
          <a:xfrm>
            <a:off x="8343900" y="35204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1" name="Image 8" descr="/home/claude/icons/server_orange.png">
            <a:extLst>
              <a:ext uri="{FF2B5EF4-FFF2-40B4-BE49-F238E27FC236}">
                <a16:creationId xmlns:a16="http://schemas.microsoft.com/office/drawing/2014/main" id="{9003F671-F7A3-E970-174A-187EFBB9DD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3593592"/>
            <a:ext cx="237744" cy="237744"/>
          </a:xfrm>
          <a:prstGeom prst="rect">
            <a:avLst/>
          </a:prstGeom>
        </p:spPr>
      </p:pic>
      <p:sp>
        <p:nvSpPr>
          <p:cNvPr id="32" name="Text 21">
            <a:extLst>
              <a:ext uri="{FF2B5EF4-FFF2-40B4-BE49-F238E27FC236}">
                <a16:creationId xmlns:a16="http://schemas.microsoft.com/office/drawing/2014/main" id="{F8E63632-20F5-339B-11F9-3C11F4CBF5DB}"/>
              </a:ext>
            </a:extLst>
          </p:cNvPr>
          <p:cNvSpPr txBox="1"/>
          <p:nvPr/>
        </p:nvSpPr>
        <p:spPr>
          <a:xfrm>
            <a:off x="7383780" y="523951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Дата-центр(и)</a:t>
            </a:r>
            <a:endParaRPr lang="en-US" sz="950" dirty="0"/>
          </a:p>
        </p:txBody>
      </p:sp>
      <p:sp>
        <p:nvSpPr>
          <p:cNvPr id="33" name="Shape 22">
            <a:extLst>
              <a:ext uri="{FF2B5EF4-FFF2-40B4-BE49-F238E27FC236}">
                <a16:creationId xmlns:a16="http://schemas.microsoft.com/office/drawing/2014/main" id="{28726022-9B16-79D7-5EFE-0FF4BB75D9A4}"/>
              </a:ext>
            </a:extLst>
          </p:cNvPr>
          <p:cNvSpPr/>
          <p:nvPr/>
        </p:nvSpPr>
        <p:spPr>
          <a:xfrm>
            <a:off x="9486900" y="2377440"/>
            <a:ext cx="1874520" cy="3246120"/>
          </a:xfrm>
          <a:prstGeom prst="roundRect">
            <a:avLst>
              <a:gd name="adj" fmla="val 3902"/>
            </a:avLst>
          </a:prstGeom>
          <a:solidFill>
            <a:srgbClr val="F2F3F3"/>
          </a:solidFill>
          <a:ln w="12700">
            <a:solidFill>
              <a:srgbClr val="C7CDD4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4" name="Text 23">
            <a:extLst>
              <a:ext uri="{FF2B5EF4-FFF2-40B4-BE49-F238E27FC236}">
                <a16:creationId xmlns:a16="http://schemas.microsoft.com/office/drawing/2014/main" id="{86BEF9BB-CB9F-E5FB-9A35-530AAD557903}"/>
              </a:ext>
            </a:extLst>
          </p:cNvPr>
          <p:cNvSpPr txBox="1"/>
          <p:nvPr/>
        </p:nvSpPr>
        <p:spPr>
          <a:xfrm>
            <a:off x="9486900" y="2487168"/>
            <a:ext cx="1874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c</a:t>
            </a:r>
            <a:endParaRPr lang="en-US" sz="1200" dirty="0"/>
          </a:p>
        </p:txBody>
      </p:sp>
      <p:sp>
        <p:nvSpPr>
          <p:cNvPr id="35" name="Shape 24">
            <a:extLst>
              <a:ext uri="{FF2B5EF4-FFF2-40B4-BE49-F238E27FC236}">
                <a16:creationId xmlns:a16="http://schemas.microsoft.com/office/drawing/2014/main" id="{D7528950-FC7A-78B6-1568-7F7B49E433E2}"/>
              </a:ext>
            </a:extLst>
          </p:cNvPr>
          <p:cNvSpPr/>
          <p:nvPr/>
        </p:nvSpPr>
        <p:spPr>
          <a:xfrm>
            <a:off x="9742932" y="29718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6" name="Image 9" descr="/home/claude/icons/server_orange.png">
            <a:extLst>
              <a:ext uri="{FF2B5EF4-FFF2-40B4-BE49-F238E27FC236}">
                <a16:creationId xmlns:a16="http://schemas.microsoft.com/office/drawing/2014/main" id="{20BEA030-F6FF-E547-F340-A49D3D35D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3044952"/>
            <a:ext cx="237744" cy="237744"/>
          </a:xfrm>
          <a:prstGeom prst="rect">
            <a:avLst/>
          </a:prstGeom>
        </p:spPr>
      </p:pic>
      <p:sp>
        <p:nvSpPr>
          <p:cNvPr id="37" name="Shape 25">
            <a:extLst>
              <a:ext uri="{FF2B5EF4-FFF2-40B4-BE49-F238E27FC236}">
                <a16:creationId xmlns:a16="http://schemas.microsoft.com/office/drawing/2014/main" id="{DBF436B8-C5E4-92D9-800D-7F588F9038E5}"/>
              </a:ext>
            </a:extLst>
          </p:cNvPr>
          <p:cNvSpPr/>
          <p:nvPr/>
        </p:nvSpPr>
        <p:spPr>
          <a:xfrm>
            <a:off x="10447020" y="297180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38" name="Image 10" descr="/home/claude/icons/server_orange.png">
            <a:extLst>
              <a:ext uri="{FF2B5EF4-FFF2-40B4-BE49-F238E27FC236}">
                <a16:creationId xmlns:a16="http://schemas.microsoft.com/office/drawing/2014/main" id="{1270F73C-8A15-75DC-8BF5-E827BACD82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0172" y="3044952"/>
            <a:ext cx="237744" cy="237744"/>
          </a:xfrm>
          <a:prstGeom prst="rect">
            <a:avLst/>
          </a:prstGeom>
        </p:spPr>
      </p:pic>
      <p:sp>
        <p:nvSpPr>
          <p:cNvPr id="39" name="Shape 26">
            <a:extLst>
              <a:ext uri="{FF2B5EF4-FFF2-40B4-BE49-F238E27FC236}">
                <a16:creationId xmlns:a16="http://schemas.microsoft.com/office/drawing/2014/main" id="{1A6AEDE2-8AD9-E1E2-5653-EA7F94C924AB}"/>
              </a:ext>
            </a:extLst>
          </p:cNvPr>
          <p:cNvSpPr/>
          <p:nvPr/>
        </p:nvSpPr>
        <p:spPr>
          <a:xfrm>
            <a:off x="9742932" y="35204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0" name="Image 11" descr="/home/claude/icons/server_orange.png">
            <a:extLst>
              <a:ext uri="{FF2B5EF4-FFF2-40B4-BE49-F238E27FC236}">
                <a16:creationId xmlns:a16="http://schemas.microsoft.com/office/drawing/2014/main" id="{29F1905E-E63D-6658-11BF-AFBC55654D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3593592"/>
            <a:ext cx="237744" cy="237744"/>
          </a:xfrm>
          <a:prstGeom prst="rect">
            <a:avLst/>
          </a:prstGeom>
        </p:spPr>
      </p:pic>
      <p:sp>
        <p:nvSpPr>
          <p:cNvPr id="41" name="Shape 27">
            <a:extLst>
              <a:ext uri="{FF2B5EF4-FFF2-40B4-BE49-F238E27FC236}">
                <a16:creationId xmlns:a16="http://schemas.microsoft.com/office/drawing/2014/main" id="{57A66256-7F22-7D87-2111-E2423ADDA363}"/>
              </a:ext>
            </a:extLst>
          </p:cNvPr>
          <p:cNvSpPr/>
          <p:nvPr/>
        </p:nvSpPr>
        <p:spPr>
          <a:xfrm>
            <a:off x="10447020" y="35204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42" name="Image 12" descr="/home/claude/icons/server_orange.png">
            <a:extLst>
              <a:ext uri="{FF2B5EF4-FFF2-40B4-BE49-F238E27FC236}">
                <a16:creationId xmlns:a16="http://schemas.microsoft.com/office/drawing/2014/main" id="{9F7421B9-9B79-581C-506C-E833E5E2E5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20172" y="3593592"/>
            <a:ext cx="237744" cy="237744"/>
          </a:xfrm>
          <a:prstGeom prst="rect">
            <a:avLst/>
          </a:prstGeom>
        </p:spPr>
      </p:pic>
      <p:sp>
        <p:nvSpPr>
          <p:cNvPr id="43" name="Text 28">
            <a:extLst>
              <a:ext uri="{FF2B5EF4-FFF2-40B4-BE49-F238E27FC236}">
                <a16:creationId xmlns:a16="http://schemas.microsoft.com/office/drawing/2014/main" id="{C8DB6A2A-3B2E-5FA1-C8B1-CEDC35D64856}"/>
              </a:ext>
            </a:extLst>
          </p:cNvPr>
          <p:cNvSpPr txBox="1"/>
          <p:nvPr/>
        </p:nvSpPr>
        <p:spPr>
          <a:xfrm>
            <a:off x="9486900" y="5239512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Дата-центр(и)</a:t>
            </a:r>
            <a:endParaRPr lang="en-US" sz="950" dirty="0"/>
          </a:p>
        </p:txBody>
      </p:sp>
      <p:sp>
        <p:nvSpPr>
          <p:cNvPr id="44" name="Text 29">
            <a:extLst>
              <a:ext uri="{FF2B5EF4-FFF2-40B4-BE49-F238E27FC236}">
                <a16:creationId xmlns:a16="http://schemas.microsoft.com/office/drawing/2014/main" id="{45B65B70-FF79-F4F1-4E72-47A4F6FE1DDC}"/>
              </a:ext>
            </a:extLst>
          </p:cNvPr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45" name="Text 30">
            <a:extLst>
              <a:ext uri="{FF2B5EF4-FFF2-40B4-BE49-F238E27FC236}">
                <a16:creationId xmlns:a16="http://schemas.microsoft.com/office/drawing/2014/main" id="{738A3AF9-08E3-3E46-2659-7D1EFF005834}"/>
              </a:ext>
            </a:extLst>
          </p:cNvPr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421476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AWS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498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Locations і глобальна мережа AWS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486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 — невеликий вузол доставки контенту, розташований ближче до кінцевого користувача, ніж повноцінний регіон. Використовується сервісом Amazon CloudFront (CDN) та Route 53 (DNS).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349300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регіонів AWS у світі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60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600+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427024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зон доступності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93776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400+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423160" y="5047488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locations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675120" y="1600200"/>
            <a:ext cx="4937760" cy="4206240"/>
          </a:xfrm>
          <a:prstGeom prst="roundRect">
            <a:avLst>
              <a:gd name="adj" fmla="val 2609"/>
            </a:avLst>
          </a:prstGeom>
          <a:solidFill>
            <a:srgbClr val="37475A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2" name="Shape 10"/>
          <p:cNvSpPr/>
          <p:nvPr/>
        </p:nvSpPr>
        <p:spPr>
          <a:xfrm>
            <a:off x="7315200" y="2240280"/>
            <a:ext cx="1828800" cy="1463040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Shape 11"/>
          <p:cNvSpPr/>
          <p:nvPr/>
        </p:nvSpPr>
        <p:spPr>
          <a:xfrm>
            <a:off x="8778240" y="2057400"/>
            <a:ext cx="365760" cy="1645920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4" name="Shape 12"/>
          <p:cNvSpPr/>
          <p:nvPr/>
        </p:nvSpPr>
        <p:spPr>
          <a:xfrm flipH="1">
            <a:off x="9143999" y="2274546"/>
            <a:ext cx="662427" cy="1427859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3"/>
          <p:cNvSpPr/>
          <p:nvPr/>
        </p:nvSpPr>
        <p:spPr>
          <a:xfrm>
            <a:off x="7772400" y="3520440"/>
            <a:ext cx="1371600" cy="182880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6" name="Shape 14"/>
          <p:cNvSpPr/>
          <p:nvPr/>
        </p:nvSpPr>
        <p:spPr>
          <a:xfrm flipH="1">
            <a:off x="9102852" y="3429000"/>
            <a:ext cx="315468" cy="300838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Shape 15"/>
          <p:cNvSpPr/>
          <p:nvPr/>
        </p:nvSpPr>
        <p:spPr>
          <a:xfrm>
            <a:off x="9144000" y="3703320"/>
            <a:ext cx="1737360" cy="914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8" name="Shape 16"/>
          <p:cNvSpPr/>
          <p:nvPr/>
        </p:nvSpPr>
        <p:spPr>
          <a:xfrm flipV="1">
            <a:off x="7456932" y="3730752"/>
            <a:ext cx="1687068" cy="749808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Shape 17"/>
          <p:cNvSpPr/>
          <p:nvPr/>
        </p:nvSpPr>
        <p:spPr>
          <a:xfrm>
            <a:off x="9144000" y="3703320"/>
            <a:ext cx="1371600" cy="777240"/>
          </a:xfrm>
          <a:prstGeom prst="line">
            <a:avLst/>
          </a:prstGeom>
          <a:noFill/>
          <a:ln w="12700">
            <a:solidFill>
              <a:srgbClr val="4C5C7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0" name="Shape 18"/>
          <p:cNvSpPr/>
          <p:nvPr/>
        </p:nvSpPr>
        <p:spPr>
          <a:xfrm>
            <a:off x="7251192" y="2176272"/>
            <a:ext cx="128016" cy="12801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1" name="Shape 19"/>
          <p:cNvSpPr/>
          <p:nvPr/>
        </p:nvSpPr>
        <p:spPr>
          <a:xfrm>
            <a:off x="8737092" y="2016252"/>
            <a:ext cx="82296" cy="8229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2" name="Shape 20"/>
          <p:cNvSpPr/>
          <p:nvPr/>
        </p:nvSpPr>
        <p:spPr>
          <a:xfrm>
            <a:off x="9765279" y="2226518"/>
            <a:ext cx="82296" cy="8229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3" name="Shape 21"/>
          <p:cNvSpPr/>
          <p:nvPr/>
        </p:nvSpPr>
        <p:spPr>
          <a:xfrm>
            <a:off x="7731252" y="3479292"/>
            <a:ext cx="82296" cy="8229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4" name="Shape 22"/>
          <p:cNvSpPr/>
          <p:nvPr/>
        </p:nvSpPr>
        <p:spPr>
          <a:xfrm>
            <a:off x="9377172" y="3387852"/>
            <a:ext cx="82296" cy="8229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5" name="Shape 23"/>
          <p:cNvSpPr/>
          <p:nvPr/>
        </p:nvSpPr>
        <p:spPr>
          <a:xfrm>
            <a:off x="10840212" y="3662172"/>
            <a:ext cx="82296" cy="8229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6" name="Shape 24"/>
          <p:cNvSpPr/>
          <p:nvPr/>
        </p:nvSpPr>
        <p:spPr>
          <a:xfrm>
            <a:off x="7456932" y="4439412"/>
            <a:ext cx="82296" cy="8229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7" name="Shape 25"/>
          <p:cNvSpPr/>
          <p:nvPr/>
        </p:nvSpPr>
        <p:spPr>
          <a:xfrm>
            <a:off x="10474452" y="4439412"/>
            <a:ext cx="82296" cy="82296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8" name="Shape 26"/>
          <p:cNvSpPr/>
          <p:nvPr/>
        </p:nvSpPr>
        <p:spPr>
          <a:xfrm>
            <a:off x="9025128" y="35844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F990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 txBox="1"/>
          <p:nvPr/>
        </p:nvSpPr>
        <p:spPr>
          <a:xfrm>
            <a:off x="7040880" y="45720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Користувач звертається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найближчого edge-вузла,</a:t>
            </a:r>
            <a:endParaRPr lang="en-US" sz="11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до віддаленого регіону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9B7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6388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переваги AWS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5" name="Shape 3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6" name="Image 0" descr="/home/claude/icons/scale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33172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017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Масштабованість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47472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Ресурси можна збільшувати або зменшувати автоматично, залежно від реального навантаження — від одного сервера до тисяч.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89120" y="18288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0" name="Shape 7"/>
          <p:cNvSpPr/>
          <p:nvPr/>
        </p:nvSpPr>
        <p:spPr>
          <a:xfrm>
            <a:off x="4709160" y="2148840"/>
            <a:ext cx="685800" cy="6858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1" name="Image 1" descr="/home/claude/icons/shield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33172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09160" y="3017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Надійність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347472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до 99,99% доступності завдяки розподілу навантаження між кількома зонами доступності та регіонами.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0" y="18288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A"/>
          </a:p>
        </p:txBody>
      </p:sp>
      <p:sp>
        <p:nvSpPr>
          <p:cNvPr id="15" name="Shape 11"/>
          <p:cNvSpPr/>
          <p:nvPr/>
        </p:nvSpPr>
        <p:spPr>
          <a:xfrm>
            <a:off x="8549640" y="2148840"/>
            <a:ext cx="685800" cy="685800"/>
          </a:xfrm>
          <a:prstGeom prst="ellipse">
            <a:avLst/>
          </a:prstGeom>
          <a:solidFill>
            <a:srgbClr val="FF9900"/>
          </a:solidFill>
          <a:ln/>
        </p:spPr>
        <p:txBody>
          <a:bodyPr/>
          <a:lstStyle/>
          <a:p>
            <a:endParaRPr lang="en-UA"/>
          </a:p>
        </p:txBody>
      </p:sp>
      <p:pic>
        <p:nvPicPr>
          <p:cNvPr id="16" name="Image 2" descr="/home/claude/icons/dollar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23317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549640" y="301752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Оплата за фактом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549640" y="3474720"/>
            <a:ext cx="28803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pay-as-you-go: платите лише за ресурси, які реально використали — без капітальних витрат наперед.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443484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Типовий сценарій розгортання застосунку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789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uk-UA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Сервіси</a:t>
            </a:r>
            <a:r>
              <a:rPr lang="en-US" sz="13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AWS, які зазвичай задіюються, коли розробник розгортає стандартний веб-застосунок із базою даних.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85700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6" name="Text 4"/>
          <p:cNvSpPr txBox="1"/>
          <p:nvPr/>
        </p:nvSpPr>
        <p:spPr>
          <a:xfrm>
            <a:off x="548640" y="20857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00100" y="2588620"/>
            <a:ext cx="914" cy="292608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8" name="Shape 6"/>
          <p:cNvSpPr/>
          <p:nvPr/>
        </p:nvSpPr>
        <p:spPr>
          <a:xfrm>
            <a:off x="1371600" y="2039980"/>
            <a:ext cx="594360" cy="594360"/>
          </a:xfrm>
          <a:prstGeom prst="ellipse">
            <a:avLst/>
          </a:prstGeom>
          <a:solidFill>
            <a:srgbClr val="F2F3F3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9" name="Image 0" descr="/home/claude/icons/code_darkoran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7904" y="2186284"/>
            <a:ext cx="301752" cy="3017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148840" y="213055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і образ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4983480" y="2130552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Розробник пушить код у репозиторій; збирається контейнер / артефакт застосунку.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926948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13" name="Text 10"/>
          <p:cNvSpPr txBox="1"/>
          <p:nvPr/>
        </p:nvSpPr>
        <p:spPr>
          <a:xfrm>
            <a:off x="548640" y="29269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00100" y="3429868"/>
            <a:ext cx="914" cy="292608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Shape 12"/>
          <p:cNvSpPr/>
          <p:nvPr/>
        </p:nvSpPr>
        <p:spPr>
          <a:xfrm>
            <a:off x="1371600" y="2881228"/>
            <a:ext cx="594360" cy="594360"/>
          </a:xfrm>
          <a:prstGeom prst="ellipse">
            <a:avLst/>
          </a:prstGeom>
          <a:solidFill>
            <a:srgbClr val="F2F3F3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16" name="Image 1" descr="/home/claude/icons/server_darkoran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7904" y="3027532"/>
            <a:ext cx="301752" cy="3017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148840" y="29718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4983480" y="29718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Застосунок розгортається на Amazon EC2 (або Elastic Beanstalk / ECS для контейнерів).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48640" y="3768196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0" name="Text 16"/>
          <p:cNvSpPr txBox="1"/>
          <p:nvPr/>
        </p:nvSpPr>
        <p:spPr>
          <a:xfrm>
            <a:off x="548640" y="37681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800100" y="4271116"/>
            <a:ext cx="914" cy="292608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2" name="Shape 18"/>
          <p:cNvSpPr/>
          <p:nvPr/>
        </p:nvSpPr>
        <p:spPr>
          <a:xfrm>
            <a:off x="1371600" y="3722476"/>
            <a:ext cx="594360" cy="594360"/>
          </a:xfrm>
          <a:prstGeom prst="ellipse">
            <a:avLst/>
          </a:prstGeom>
          <a:solidFill>
            <a:srgbClr val="F2F3F3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23" name="Image 2" descr="/home/claude/icons/database_darkoran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17904" y="3868780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2148840" y="381304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даних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3813048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зберігаються в керованій базі Amazon RDS — без ручного адміністрування СУБД.</a:t>
            </a:r>
            <a:endParaRPr lang="en-US" sz="1400" dirty="0"/>
          </a:p>
        </p:txBody>
      </p:sp>
      <p:sp>
        <p:nvSpPr>
          <p:cNvPr id="26" name="Shape 21"/>
          <p:cNvSpPr/>
          <p:nvPr/>
        </p:nvSpPr>
        <p:spPr>
          <a:xfrm>
            <a:off x="548640" y="4609444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27" name="Text 22"/>
          <p:cNvSpPr txBox="1"/>
          <p:nvPr/>
        </p:nvSpPr>
        <p:spPr>
          <a:xfrm>
            <a:off x="548640" y="46094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800100" y="5112364"/>
            <a:ext cx="914" cy="292608"/>
          </a:xfrm>
          <a:prstGeom prst="line">
            <a:avLst/>
          </a:prstGeom>
          <a:noFill/>
          <a:ln w="25400">
            <a:solidFill>
              <a:srgbClr val="D5DAE0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Shape 24"/>
          <p:cNvSpPr/>
          <p:nvPr/>
        </p:nvSpPr>
        <p:spPr>
          <a:xfrm>
            <a:off x="1371600" y="4563724"/>
            <a:ext cx="594360" cy="594360"/>
          </a:xfrm>
          <a:prstGeom prst="ellipse">
            <a:avLst/>
          </a:prstGeom>
          <a:solidFill>
            <a:srgbClr val="F2F3F3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0" name="Image 3" descr="/home/claude/icons/cube_darkora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7904" y="4710028"/>
            <a:ext cx="301752" cy="301752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2148840" y="465429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Статичні файли</a:t>
            </a:r>
            <a:endParaRPr lang="en-US" sz="1350" dirty="0"/>
          </a:p>
        </p:txBody>
      </p:sp>
      <p:sp>
        <p:nvSpPr>
          <p:cNvPr id="32" name="Text 26"/>
          <p:cNvSpPr txBox="1"/>
          <p:nvPr/>
        </p:nvSpPr>
        <p:spPr>
          <a:xfrm>
            <a:off x="4983480" y="4654296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Картинки, відео та бекапи зберігаються в Amazon S3 — надійному об'єктному сховищі.</a:t>
            </a:r>
            <a:endParaRPr lang="en-US" sz="1400" dirty="0"/>
          </a:p>
        </p:txBody>
      </p:sp>
      <p:sp>
        <p:nvSpPr>
          <p:cNvPr id="33" name="Shape 27"/>
          <p:cNvSpPr/>
          <p:nvPr/>
        </p:nvSpPr>
        <p:spPr>
          <a:xfrm>
            <a:off x="548640" y="5450692"/>
            <a:ext cx="502920" cy="502920"/>
          </a:xfrm>
          <a:prstGeom prst="ellipse">
            <a:avLst/>
          </a:prstGeom>
          <a:solidFill>
            <a:srgbClr val="232F3E"/>
          </a:solidFill>
          <a:ln/>
        </p:spPr>
        <p:txBody>
          <a:bodyPr/>
          <a:lstStyle/>
          <a:p>
            <a:endParaRPr lang="en-UA"/>
          </a:p>
        </p:txBody>
      </p:sp>
      <p:sp>
        <p:nvSpPr>
          <p:cNvPr id="34" name="Text 28"/>
          <p:cNvSpPr txBox="1"/>
          <p:nvPr/>
        </p:nvSpPr>
        <p:spPr>
          <a:xfrm>
            <a:off x="548640" y="54506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99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35" name="Shape 29"/>
          <p:cNvSpPr/>
          <p:nvPr/>
        </p:nvSpPr>
        <p:spPr>
          <a:xfrm>
            <a:off x="1371600" y="5404972"/>
            <a:ext cx="594360" cy="594360"/>
          </a:xfrm>
          <a:prstGeom prst="ellipse">
            <a:avLst/>
          </a:prstGeom>
          <a:solidFill>
            <a:srgbClr val="F2F3F3"/>
          </a:solidFill>
          <a:ln w="12700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pic>
        <p:nvPicPr>
          <p:cNvPr id="36" name="Image 4" descr="/home/claude/icons/globe_darkoran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7904" y="5551276"/>
            <a:ext cx="301752" cy="301752"/>
          </a:xfrm>
          <a:prstGeom prst="rect">
            <a:avLst/>
          </a:prstGeom>
        </p:spPr>
      </p:pic>
      <p:sp>
        <p:nvSpPr>
          <p:cNvPr id="37" name="Text 30"/>
          <p:cNvSpPr txBox="1"/>
          <p:nvPr/>
        </p:nvSpPr>
        <p:spPr>
          <a:xfrm>
            <a:off x="2148840" y="549554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Доставка користувачу</a:t>
            </a:r>
            <a:endParaRPr lang="en-US" sz="1350" dirty="0"/>
          </a:p>
        </p:txBody>
      </p:sp>
      <p:sp>
        <p:nvSpPr>
          <p:cNvPr id="38" name="Text 31"/>
          <p:cNvSpPr txBox="1"/>
          <p:nvPr/>
        </p:nvSpPr>
        <p:spPr>
          <a:xfrm>
            <a:off x="4983480" y="5495544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CloudFront кешує контент у edge locations для швидкого доступу з будь-якої точки світу.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608076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61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AWS, Google Cloud та Microsoft Azure: коротке порівняння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377440" cy="566928"/>
          </a:xfrm>
          <a:prstGeom prst="rect">
            <a:avLst/>
          </a:prstGeom>
          <a:solidFill>
            <a:srgbClr val="232F3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2377440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926080" y="1874520"/>
            <a:ext cx="2898648" cy="566928"/>
          </a:xfrm>
          <a:prstGeom prst="rect">
            <a:avLst/>
          </a:prstGeom>
          <a:solidFill>
            <a:srgbClr val="232F3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7" name="Text 5"/>
          <p:cNvSpPr txBox="1"/>
          <p:nvPr/>
        </p:nvSpPr>
        <p:spPr>
          <a:xfrm>
            <a:off x="2926080" y="1874520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824728" y="1874520"/>
            <a:ext cx="2898648" cy="566928"/>
          </a:xfrm>
          <a:prstGeom prst="rect">
            <a:avLst/>
          </a:prstGeom>
          <a:solidFill>
            <a:srgbClr val="232F3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9" name="Text 7"/>
          <p:cNvSpPr txBox="1"/>
          <p:nvPr/>
        </p:nvSpPr>
        <p:spPr>
          <a:xfrm>
            <a:off x="5824728" y="1874520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723376" y="1874520"/>
            <a:ext cx="2889504" cy="566928"/>
          </a:xfrm>
          <a:prstGeom prst="rect">
            <a:avLst/>
          </a:prstGeom>
          <a:solidFill>
            <a:srgbClr val="232F3E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1" name="Text 9"/>
          <p:cNvSpPr txBox="1"/>
          <p:nvPr/>
        </p:nvSpPr>
        <p:spPr>
          <a:xfrm>
            <a:off x="8723376" y="1874520"/>
            <a:ext cx="2889504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41448"/>
            <a:ext cx="2377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3" name="Text 11"/>
          <p:cNvSpPr txBox="1"/>
          <p:nvPr/>
        </p:nvSpPr>
        <p:spPr>
          <a:xfrm>
            <a:off x="548640" y="2441448"/>
            <a:ext cx="2377440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ринку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926080" y="2441448"/>
            <a:ext cx="2898648" cy="566928"/>
          </a:xfrm>
          <a:prstGeom prst="rect">
            <a:avLst/>
          </a:prstGeom>
          <a:solidFill>
            <a:srgbClr val="FFF3E0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5" name="Text 13"/>
          <p:cNvSpPr txBox="1"/>
          <p:nvPr/>
        </p:nvSpPr>
        <p:spPr>
          <a:xfrm>
            <a:off x="2926080" y="2441448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~31% (лідер)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24728" y="2441448"/>
            <a:ext cx="2898648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7" name="Text 15"/>
          <p:cNvSpPr txBox="1"/>
          <p:nvPr/>
        </p:nvSpPr>
        <p:spPr>
          <a:xfrm>
            <a:off x="5824728" y="2441448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~11%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723376" y="2441448"/>
            <a:ext cx="288950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19" name="Text 17"/>
          <p:cNvSpPr txBox="1"/>
          <p:nvPr/>
        </p:nvSpPr>
        <p:spPr>
          <a:xfrm>
            <a:off x="8723376" y="2441448"/>
            <a:ext cx="2889504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~24%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08376"/>
            <a:ext cx="2377440" cy="566928"/>
          </a:xfrm>
          <a:prstGeom prst="rect">
            <a:avLst/>
          </a:prstGeom>
          <a:solidFill>
            <a:srgbClr val="F2F3F3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1" name="Text 19"/>
          <p:cNvSpPr txBox="1"/>
          <p:nvPr/>
        </p:nvSpPr>
        <p:spPr>
          <a:xfrm>
            <a:off x="548640" y="3008376"/>
            <a:ext cx="2377440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запуску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926080" y="3008376"/>
            <a:ext cx="2898648" cy="566928"/>
          </a:xfrm>
          <a:prstGeom prst="rect">
            <a:avLst/>
          </a:prstGeom>
          <a:solidFill>
            <a:srgbClr val="FFF3E0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3" name="Text 21"/>
          <p:cNvSpPr txBox="1"/>
          <p:nvPr/>
        </p:nvSpPr>
        <p:spPr>
          <a:xfrm>
            <a:off x="2926080" y="3008376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824728" y="3008376"/>
            <a:ext cx="2898648" cy="566928"/>
          </a:xfrm>
          <a:prstGeom prst="rect">
            <a:avLst/>
          </a:prstGeom>
          <a:solidFill>
            <a:srgbClr val="F2F3F3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5" name="Text 23"/>
          <p:cNvSpPr txBox="1"/>
          <p:nvPr/>
        </p:nvSpPr>
        <p:spPr>
          <a:xfrm>
            <a:off x="5824728" y="3008376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2008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23376" y="3008376"/>
            <a:ext cx="2889504" cy="566928"/>
          </a:xfrm>
          <a:prstGeom prst="rect">
            <a:avLst/>
          </a:prstGeom>
          <a:solidFill>
            <a:srgbClr val="F2F3F3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7" name="Text 25"/>
          <p:cNvSpPr txBox="1"/>
          <p:nvPr/>
        </p:nvSpPr>
        <p:spPr>
          <a:xfrm>
            <a:off x="8723376" y="3008376"/>
            <a:ext cx="2889504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575304"/>
            <a:ext cx="2377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29" name="Text 27"/>
          <p:cNvSpPr txBox="1"/>
          <p:nvPr/>
        </p:nvSpPr>
        <p:spPr>
          <a:xfrm>
            <a:off x="548640" y="3575304"/>
            <a:ext cx="2377440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Сильна сторона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926080" y="3575304"/>
            <a:ext cx="2898648" cy="566928"/>
          </a:xfrm>
          <a:prstGeom prst="rect">
            <a:avLst/>
          </a:prstGeom>
          <a:solidFill>
            <a:srgbClr val="FFF3E0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1" name="Text 29"/>
          <p:cNvSpPr txBox="1"/>
          <p:nvPr/>
        </p:nvSpPr>
        <p:spPr>
          <a:xfrm>
            <a:off x="2926080" y="3575304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Найширший спектр сервісів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824728" y="3575304"/>
            <a:ext cx="2898648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3" name="Text 31"/>
          <p:cNvSpPr txBox="1"/>
          <p:nvPr/>
        </p:nvSpPr>
        <p:spPr>
          <a:xfrm>
            <a:off x="5824728" y="3575304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Дані та ML/AI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8723376" y="3575304"/>
            <a:ext cx="288950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5" name="Text 33"/>
          <p:cNvSpPr txBox="1"/>
          <p:nvPr/>
        </p:nvSpPr>
        <p:spPr>
          <a:xfrm>
            <a:off x="8723376" y="3575304"/>
            <a:ext cx="2889504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Інтеграція з екосистемою Microsoft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548640" y="4142232"/>
            <a:ext cx="2377440" cy="566928"/>
          </a:xfrm>
          <a:prstGeom prst="rect">
            <a:avLst/>
          </a:prstGeom>
          <a:solidFill>
            <a:srgbClr val="F2F3F3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7" name="Text 35"/>
          <p:cNvSpPr txBox="1"/>
          <p:nvPr/>
        </p:nvSpPr>
        <p:spPr>
          <a:xfrm>
            <a:off x="548640" y="4142232"/>
            <a:ext cx="2377440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2926080" y="4142232"/>
            <a:ext cx="2898648" cy="566928"/>
          </a:xfrm>
          <a:prstGeom prst="rect">
            <a:avLst/>
          </a:prstGeom>
          <a:solidFill>
            <a:srgbClr val="FFF3E0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39" name="Text 37"/>
          <p:cNvSpPr txBox="1"/>
          <p:nvPr/>
        </p:nvSpPr>
        <p:spPr>
          <a:xfrm>
            <a:off x="2926080" y="4142232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824728" y="4142232"/>
            <a:ext cx="2898648" cy="566928"/>
          </a:xfrm>
          <a:prstGeom prst="rect">
            <a:avLst/>
          </a:prstGeom>
          <a:solidFill>
            <a:srgbClr val="F2F3F3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1" name="Text 39"/>
          <p:cNvSpPr txBox="1"/>
          <p:nvPr/>
        </p:nvSpPr>
        <p:spPr>
          <a:xfrm>
            <a:off x="5824728" y="4142232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Engine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723376" y="4142232"/>
            <a:ext cx="2889504" cy="566928"/>
          </a:xfrm>
          <a:prstGeom prst="rect">
            <a:avLst/>
          </a:prstGeom>
          <a:solidFill>
            <a:srgbClr val="F2F3F3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3" name="Text 41"/>
          <p:cNvSpPr txBox="1"/>
          <p:nvPr/>
        </p:nvSpPr>
        <p:spPr>
          <a:xfrm>
            <a:off x="8723376" y="4142232"/>
            <a:ext cx="2889504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48640" y="4709160"/>
            <a:ext cx="23774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5" name="Text 43"/>
          <p:cNvSpPr txBox="1"/>
          <p:nvPr/>
        </p:nvSpPr>
        <p:spPr>
          <a:xfrm>
            <a:off x="548640" y="4709160"/>
            <a:ext cx="2377440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Об'єктне сховище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926080" y="4709160"/>
            <a:ext cx="2898648" cy="566928"/>
          </a:xfrm>
          <a:prstGeom prst="rect">
            <a:avLst/>
          </a:prstGeom>
          <a:solidFill>
            <a:srgbClr val="FFF3E0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7" name="Text 45"/>
          <p:cNvSpPr txBox="1"/>
          <p:nvPr/>
        </p:nvSpPr>
        <p:spPr>
          <a:xfrm>
            <a:off x="2926080" y="4709160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824728" y="4709160"/>
            <a:ext cx="2898648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49" name="Text 47"/>
          <p:cNvSpPr txBox="1"/>
          <p:nvPr/>
        </p:nvSpPr>
        <p:spPr>
          <a:xfrm>
            <a:off x="5824728" y="4709160"/>
            <a:ext cx="2898648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723376" y="4709160"/>
            <a:ext cx="2889504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E3E6EA"/>
            </a:solidFill>
            <a:prstDash val="solid"/>
          </a:ln>
        </p:spPr>
        <p:txBody>
          <a:bodyPr/>
          <a:lstStyle/>
          <a:p>
            <a:endParaRPr lang="en-UA"/>
          </a:p>
        </p:txBody>
      </p:sp>
      <p:sp>
        <p:nvSpPr>
          <p:cNvPr id="51" name="Text 49"/>
          <p:cNvSpPr txBox="1"/>
          <p:nvPr/>
        </p:nvSpPr>
        <p:spPr>
          <a:xfrm>
            <a:off x="8723376" y="4709160"/>
            <a:ext cx="2889504" cy="566928"/>
          </a:xfrm>
          <a:prstGeom prst="rect">
            <a:avLst/>
          </a:prstGeom>
          <a:noFill/>
          <a:ln/>
        </p:spPr>
        <p:txBody>
          <a:bodyPr wrap="square" lIns="109728" tIns="109728" rIns="109728" bIns="109728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161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Blob Storage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548640" y="555040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uk-UA" sz="12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</a:t>
            </a:r>
            <a:r>
              <a:rPr lang="en-US" sz="1200" i="1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сі три платформи покривають подібний базовий набір сервісів — обчислення, сховище, мережу, бази даних. Вибір частіше залежить від наявної експертизи команди, вимог замовника та вже використовуваної екосистеми (наприклад, Azure — типовий вибір для компаній на стеку Microsoft).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AWS: Вступ до хмарних обчислень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A66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9900</TotalTime>
  <Words>2361</Words>
  <Application>Microsoft Macintosh PowerPoint</Application>
  <PresentationFormat>Widescreen</PresentationFormat>
  <Paragraphs>218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Дмитро Штефан</cp:lastModifiedBy>
  <cp:revision>4</cp:revision>
  <dcterms:created xsi:type="dcterms:W3CDTF">2026-09-12T11:17:18Z</dcterms:created>
  <dcterms:modified xsi:type="dcterms:W3CDTF">2026-09-19T08:21:04Z</dcterms:modified>
</cp:coreProperties>
</file>